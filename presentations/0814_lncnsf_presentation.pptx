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 id="2147483658" r:id="rId5"/>
    <p:sldMasterId id="2147483670" r:id="rId6"/>
  </p:sldMasterIdLst>
  <p:notesMasterIdLst>
    <p:notesMasterId r:id="rId38"/>
  </p:notesMasterIdLst>
  <p:handoutMasterIdLst>
    <p:handoutMasterId r:id="rId39"/>
  </p:handoutMasterIdLst>
  <p:sldIdLst>
    <p:sldId id="256" r:id="rId7"/>
    <p:sldId id="2147474911" r:id="rId8"/>
    <p:sldId id="2147474952" r:id="rId9"/>
    <p:sldId id="2147474950" r:id="rId10"/>
    <p:sldId id="2147474951" r:id="rId11"/>
    <p:sldId id="2147474968" r:id="rId12"/>
    <p:sldId id="2147474969" r:id="rId13"/>
    <p:sldId id="2147474953" r:id="rId14"/>
    <p:sldId id="2147474978" r:id="rId15"/>
    <p:sldId id="2147474970" r:id="rId16"/>
    <p:sldId id="2147474954" r:id="rId17"/>
    <p:sldId id="2147474976" r:id="rId18"/>
    <p:sldId id="2147474972" r:id="rId19"/>
    <p:sldId id="2147474973" r:id="rId20"/>
    <p:sldId id="2147474955" r:id="rId21"/>
    <p:sldId id="2147474979" r:id="rId22"/>
    <p:sldId id="2147474983" r:id="rId23"/>
    <p:sldId id="2147474984" r:id="rId24"/>
    <p:sldId id="2147474986" r:id="rId25"/>
    <p:sldId id="2147474985" r:id="rId26"/>
    <p:sldId id="2147474987" r:id="rId27"/>
    <p:sldId id="2147474956" r:id="rId28"/>
    <p:sldId id="2147474974" r:id="rId29"/>
    <p:sldId id="2147474988" r:id="rId30"/>
    <p:sldId id="2147474975" r:id="rId31"/>
    <p:sldId id="2147474966" r:id="rId32"/>
    <p:sldId id="2147474967" r:id="rId33"/>
    <p:sldId id="2147474977" r:id="rId34"/>
    <p:sldId id="2147474990" r:id="rId35"/>
    <p:sldId id="2147474991" r:id="rId36"/>
    <p:sldId id="214747498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ournal Club" id="{4843FCC7-26C9-DC48-8F9C-EF62BA7B7BB0}">
          <p14:sldIdLst>
            <p14:sldId id="256"/>
            <p14:sldId id="2147474911"/>
            <p14:sldId id="2147474952"/>
            <p14:sldId id="2147474950"/>
            <p14:sldId id="2147474951"/>
            <p14:sldId id="2147474968"/>
            <p14:sldId id="2147474969"/>
            <p14:sldId id="2147474953"/>
            <p14:sldId id="2147474978"/>
            <p14:sldId id="2147474970"/>
            <p14:sldId id="2147474954"/>
            <p14:sldId id="2147474976"/>
            <p14:sldId id="2147474972"/>
            <p14:sldId id="2147474973"/>
            <p14:sldId id="2147474955"/>
            <p14:sldId id="2147474979"/>
            <p14:sldId id="2147474983"/>
            <p14:sldId id="2147474984"/>
            <p14:sldId id="2147474986"/>
            <p14:sldId id="2147474985"/>
            <p14:sldId id="2147474987"/>
            <p14:sldId id="2147474956"/>
            <p14:sldId id="2147474974"/>
            <p14:sldId id="2147474988"/>
            <p14:sldId id="2147474975"/>
            <p14:sldId id="2147474966"/>
            <p14:sldId id="2147474967"/>
          </p14:sldIdLst>
        </p14:section>
        <p14:section name="Supplemental" id="{D16925C2-F530-1A49-983D-8BBD5E3E14DE}">
          <p14:sldIdLst>
            <p14:sldId id="2147474977"/>
            <p14:sldId id="2147474990"/>
            <p14:sldId id="2147474991"/>
            <p14:sldId id="21474749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4ACD38-47BA-3EDC-7A1D-0C4F83D3BF81}" name="Nurik, Jody (NIH/NLM) [E]" initials="NJ([" userId="S::nurikjl@nih.gov::49b2bdca-6fe7-48dd-ab42-7db317df6e4c" providerId="AD"/>
  <p188:author id="{332541D7-3D88-A461-9CB6-85B213F49D30}" name="Manco, Dina (NIH/NLM) [E]" initials="MD([" userId="S::mancodm@nih.gov::a2db41b2-3247-4a42-8663-e1f3c84e0c6f" providerId="AD"/>
  <p188:author id="{EB3167FA-192F-ADE3-DF06-19FCEA52E3FA}" name="Winderlin, Christine (NIH/NLM) [E]" initials="WC([" userId="S::winderlinca@nih.gov::ba9aa90f-88c9-4a91-bc78-820f3b7eba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lly, Sarah Ashley (NIH/NLM) [C]" initials="JSA([" lastIdx="4" clrIdx="0">
    <p:extLst>
      <p:ext uri="{19B8F6BF-5375-455C-9EA6-DF929625EA0E}">
        <p15:presenceInfo xmlns:p15="http://schemas.microsoft.com/office/powerpoint/2012/main" userId="Jolly, Sarah Ashley (NIH/NLM) [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F34"/>
    <a:srgbClr val="FFF200"/>
    <a:srgbClr val="FFFC00"/>
    <a:srgbClr val="601AB9"/>
    <a:srgbClr val="523279"/>
    <a:srgbClr val="0433FF"/>
    <a:srgbClr val="FFC0CA"/>
    <a:srgbClr val="B85826"/>
    <a:srgbClr val="A99C00"/>
    <a:srgbClr val="AD58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27797-89B8-F641-BF7B-588FF41355E7}" v="1" dt="2026-05-21T17:41:10.3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5" autoAdjust="0"/>
    <p:restoredTop sz="82951" autoAdjust="0"/>
  </p:normalViewPr>
  <p:slideViewPr>
    <p:cSldViewPr snapToGrid="0">
      <p:cViewPr>
        <p:scale>
          <a:sx n="110" d="100"/>
          <a:sy n="110" d="100"/>
        </p:scale>
        <p:origin x="224" y="240"/>
      </p:cViewPr>
      <p:guideLst/>
    </p:cSldViewPr>
  </p:slideViewPr>
  <p:outlineViewPr>
    <p:cViewPr>
      <p:scale>
        <a:sx n="33" d="100"/>
        <a:sy n="33" d="100"/>
      </p:scale>
      <p:origin x="0" y="-64"/>
    </p:cViewPr>
  </p:outlineViewPr>
  <p:notesTextViewPr>
    <p:cViewPr>
      <p:scale>
        <a:sx n="105" d="100"/>
        <a:sy n="105" d="100"/>
      </p:scale>
      <p:origin x="0" y="0"/>
    </p:cViewPr>
  </p:notesTextViewPr>
  <p:sorterViewPr>
    <p:cViewPr>
      <p:scale>
        <a:sx n="1" d="1"/>
        <a:sy n="1" d="1"/>
      </p:scale>
      <p:origin x="0" y="0"/>
    </p:cViewPr>
  </p:sorterViewPr>
  <p:notesViewPr>
    <p:cSldViewPr snapToGrid="0">
      <p:cViewPr varScale="1">
        <p:scale>
          <a:sx n="114" d="100"/>
          <a:sy n="114" d="100"/>
        </p:scale>
        <p:origin x="420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 Bingfang (NIH/NLM) [E]" userId="ce1900a6-3365-42de-a169-a870b60e0921" providerId="ADAL" clId="{9D948869-DCA7-50CB-AB37-14AEC053A445}"/>
    <pc:docChg chg="modSld">
      <pc:chgData name="Xu, Bingfang (NIH/NLM) [E]" userId="ce1900a6-3365-42de-a169-a870b60e0921" providerId="ADAL" clId="{9D948869-DCA7-50CB-AB37-14AEC053A445}" dt="2026-05-21T17:41:10.344" v="0" actId="767"/>
      <pc:docMkLst>
        <pc:docMk/>
      </pc:docMkLst>
      <pc:sldChg chg="addSp modSp">
        <pc:chgData name="Xu, Bingfang (NIH/NLM) [E]" userId="ce1900a6-3365-42de-a169-a870b60e0921" providerId="ADAL" clId="{9D948869-DCA7-50CB-AB37-14AEC053A445}" dt="2026-05-21T17:41:10.344" v="0" actId="767"/>
        <pc:sldMkLst>
          <pc:docMk/>
          <pc:sldMk cId="3056230570" sldId="405"/>
        </pc:sldMkLst>
        <pc:spChg chg="add mod">
          <ac:chgData name="Xu, Bingfang (NIH/NLM) [E]" userId="ce1900a6-3365-42de-a169-a870b60e0921" providerId="ADAL" clId="{9D948869-DCA7-50CB-AB37-14AEC053A445}" dt="2026-05-21T17:41:10.344" v="0" actId="767"/>
          <ac:spMkLst>
            <pc:docMk/>
            <pc:sldMk cId="3056230570" sldId="405"/>
            <ac:spMk id="19" creationId="{E43DE35A-6FB3-CB38-16F6-3CF5D570D0E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D8B876-C59D-4E87-8065-05E60B40C7AE}"/>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D186FF-3B33-44DF-BC06-A6BEDEA5BC4A}"/>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0652C7D-D774-47DB-8A60-CED9713D1233}" type="datetimeFigureOut">
              <a:rPr lang="en-US" smtClean="0"/>
              <a:t>8/13/26</a:t>
            </a:fld>
            <a:endParaRPr lang="en-US"/>
          </a:p>
        </p:txBody>
      </p:sp>
      <p:sp>
        <p:nvSpPr>
          <p:cNvPr id="4" name="Footer Placeholder 3">
            <a:extLst>
              <a:ext uri="{FF2B5EF4-FFF2-40B4-BE49-F238E27FC236}">
                <a16:creationId xmlns:a16="http://schemas.microsoft.com/office/drawing/2014/main" id="{3EA4AF60-A001-46D4-8D3F-49E3CDA623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7426134-311D-476E-A38C-949E8092E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B2D407-E3A5-4537-889B-49E0FF2CA630}" type="slidenum">
              <a:rPr lang="en-US" smtClean="0"/>
              <a:t>‹#›</a:t>
            </a:fld>
            <a:endParaRPr lang="en-US"/>
          </a:p>
        </p:txBody>
      </p:sp>
    </p:spTree>
    <p:extLst>
      <p:ext uri="{BB962C8B-B14F-4D97-AF65-F5344CB8AC3E}">
        <p14:creationId xmlns:p14="http://schemas.microsoft.com/office/powerpoint/2010/main" val="963670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EFACEE6-9C36-5843-8332-3A0FA88FCC83}" type="datetimeFigureOut">
              <a:rPr lang="en-US" smtClean="0"/>
              <a:t>8/13/26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5EF54A-9134-8641-A991-457FAC8A6344}" type="slidenum">
              <a:rPr lang="en-US" smtClean="0"/>
              <a:t>‹#›</a:t>
            </a:fld>
            <a:endParaRPr lang="en-US"/>
          </a:p>
        </p:txBody>
      </p:sp>
    </p:spTree>
    <p:extLst>
      <p:ext uri="{BB962C8B-B14F-4D97-AF65-F5344CB8AC3E}">
        <p14:creationId xmlns:p14="http://schemas.microsoft.com/office/powerpoint/2010/main" val="358604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B9649504-AEB8-4325-8A2D-55FA0AD00220}" type="slidenum">
              <a:rPr lang="en-US" smtClean="0"/>
              <a:t>0</a:t>
            </a:fld>
            <a:endParaRPr lang="en-US" dirty="0"/>
          </a:p>
        </p:txBody>
      </p:sp>
    </p:spTree>
    <p:extLst>
      <p:ext uri="{BB962C8B-B14F-4D97-AF65-F5344CB8AC3E}">
        <p14:creationId xmlns:p14="http://schemas.microsoft.com/office/powerpoint/2010/main" val="2232174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1F2E-924B-825B-42F4-010D54388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A8604-D99A-E77A-D051-6608C8036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22089E-446A-179C-DB8D-8B9902BE0D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1C91A-AC16-E541-6142-6E6195DD9C1C}"/>
              </a:ext>
            </a:extLst>
          </p:cNvPr>
          <p:cNvSpPr>
            <a:spLocks noGrp="1"/>
          </p:cNvSpPr>
          <p:nvPr>
            <p:ph type="sldNum" sz="quarter" idx="5"/>
          </p:nvPr>
        </p:nvSpPr>
        <p:spPr/>
        <p:txBody>
          <a:bodyPr/>
          <a:lstStyle/>
          <a:p>
            <a:fld id="{225EF54A-9134-8641-A991-457FAC8A6344}" type="slidenum">
              <a:rPr lang="en-US" smtClean="0"/>
              <a:t>1</a:t>
            </a:fld>
            <a:endParaRPr lang="en-US" dirty="0"/>
          </a:p>
        </p:txBody>
      </p:sp>
    </p:spTree>
    <p:extLst>
      <p:ext uri="{BB962C8B-B14F-4D97-AF65-F5344CB8AC3E}">
        <p14:creationId xmlns:p14="http://schemas.microsoft.com/office/powerpoint/2010/main" val="2426006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CA040-93FF-03FD-6119-05FFDC007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4434A-5EED-D0D9-13C2-50560F8B5E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A5E187-EC8D-528B-9632-CDF820523D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01BB80-32FF-FF08-D0EF-A263CDBC7882}"/>
              </a:ext>
            </a:extLst>
          </p:cNvPr>
          <p:cNvSpPr>
            <a:spLocks noGrp="1"/>
          </p:cNvSpPr>
          <p:nvPr>
            <p:ph type="sldNum" sz="quarter" idx="5"/>
          </p:nvPr>
        </p:nvSpPr>
        <p:spPr/>
        <p:txBody>
          <a:bodyPr/>
          <a:lstStyle/>
          <a:p>
            <a:fld id="{225EF54A-9134-8641-A991-457FAC8A6344}" type="slidenum">
              <a:rPr lang="en-US" smtClean="0"/>
              <a:t>2</a:t>
            </a:fld>
            <a:endParaRPr lang="en-US" dirty="0"/>
          </a:p>
        </p:txBody>
      </p:sp>
    </p:spTree>
    <p:extLst>
      <p:ext uri="{BB962C8B-B14F-4D97-AF65-F5344CB8AC3E}">
        <p14:creationId xmlns:p14="http://schemas.microsoft.com/office/powerpoint/2010/main" val="3410047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FAA79-13CA-F70A-058E-FDAC14C37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46E3D-FBE3-FF61-F3AC-C963743E90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C9E74-67B5-73D7-ACF9-5F7207F1D6CE}"/>
              </a:ext>
            </a:extLst>
          </p:cNvPr>
          <p:cNvSpPr>
            <a:spLocks noGrp="1"/>
          </p:cNvSpPr>
          <p:nvPr>
            <p:ph type="body" idx="1"/>
          </p:nvPr>
        </p:nvSpPr>
        <p:spPr/>
        <p:txBody>
          <a:bodyPr/>
          <a:lstStyle/>
          <a:p>
            <a:pPr marL="171450" indent="-171450">
              <a:buFont typeface="Arial" panose="020B0604020202020204" pitchFamily="34" charset="0"/>
              <a:buChar char="•"/>
            </a:pPr>
            <a:r>
              <a:rPr lang="en-US" dirty="0"/>
              <a:t>To date, the human </a:t>
            </a:r>
            <a:r>
              <a:rPr lang="en-US" dirty="0" err="1"/>
              <a:t>ENCyclopedia</a:t>
            </a:r>
            <a:r>
              <a:rPr lang="en-US" dirty="0"/>
              <a:t> Of DNA Elements (GENCODE) database has cataloged over 20,000 lncRNA genes while other databases have estimated the existence of more than 100,000 human lncRNAs.</a:t>
            </a:r>
          </a:p>
          <a:p>
            <a:pPr marL="628650" lvl="1" indent="-171450">
              <a:buFont typeface="Arial" panose="020B0604020202020204" pitchFamily="34" charset="0"/>
              <a:buChar char="•"/>
            </a:pPr>
            <a:r>
              <a:rPr lang="en-US" dirty="0"/>
              <a:t>Chen et al</a:t>
            </a:r>
          </a:p>
          <a:p>
            <a:pPr marL="171450" lvl="0" indent="-171450">
              <a:buFont typeface="Arial" panose="020B0604020202020204" pitchFamily="34" charset="0"/>
              <a:buChar char="•"/>
            </a:pPr>
            <a:r>
              <a:rPr lang="en-US" dirty="0"/>
              <a:t>Only about 500-1500 lncRNAs have been functionally characterized (Poloni et al)</a:t>
            </a:r>
          </a:p>
          <a:p>
            <a:pPr marL="171450" lvl="0" indent="-171450">
              <a:buFont typeface="Arial" panose="020B0604020202020204" pitchFamily="34" charset="0"/>
              <a:buChar char="•"/>
            </a:pPr>
            <a:r>
              <a:rPr lang="en-US" dirty="0"/>
              <a:t>The introduction of additional copies of the </a:t>
            </a:r>
            <a:r>
              <a:rPr lang="en-US" i="1" dirty="0"/>
              <a:t>H19</a:t>
            </a:r>
            <a:r>
              <a:rPr lang="en-US" dirty="0"/>
              <a:t> gene into transgenic mice led to prenatal lethality, indicating its critical role in development</a:t>
            </a:r>
          </a:p>
          <a:p>
            <a:pPr marL="171450" lvl="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A752719-90E4-143F-1C4B-A2332BBE9661}"/>
              </a:ext>
            </a:extLst>
          </p:cNvPr>
          <p:cNvSpPr>
            <a:spLocks noGrp="1"/>
          </p:cNvSpPr>
          <p:nvPr>
            <p:ph type="sldNum" sz="quarter" idx="5"/>
          </p:nvPr>
        </p:nvSpPr>
        <p:spPr/>
        <p:txBody>
          <a:bodyPr/>
          <a:lstStyle/>
          <a:p>
            <a:fld id="{225EF54A-9134-8641-A991-457FAC8A6344}" type="slidenum">
              <a:rPr lang="en-US" smtClean="0"/>
              <a:t>3</a:t>
            </a:fld>
            <a:endParaRPr lang="en-US" dirty="0"/>
          </a:p>
        </p:txBody>
      </p:sp>
    </p:spTree>
    <p:extLst>
      <p:ext uri="{BB962C8B-B14F-4D97-AF65-F5344CB8AC3E}">
        <p14:creationId xmlns:p14="http://schemas.microsoft.com/office/powerpoint/2010/main" val="2581705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p:cNvSpPr>
            <a:spLocks noGrp="1"/>
          </p:cNvSpPr>
          <p:nvPr>
            <p:ph type="sldNum" sz="quarter" idx="5"/>
          </p:nvPr>
        </p:nvSpPr>
        <p:spPr/>
        <p:txBody>
          <a:bodyPr/>
          <a:lstStyle/>
          <a:p>
            <a:fld id="{225EF54A-9134-8641-A991-457FAC8A6344}" type="slidenum">
              <a:rPr lang="en-US" smtClean="0"/>
              <a:t>4</a:t>
            </a:fld>
            <a:endParaRPr lang="en-US"/>
          </a:p>
        </p:txBody>
      </p:sp>
    </p:spTree>
    <p:extLst>
      <p:ext uri="{BB962C8B-B14F-4D97-AF65-F5344CB8AC3E}">
        <p14:creationId xmlns:p14="http://schemas.microsoft.com/office/powerpoint/2010/main" val="1192874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71403-05DA-A3F4-95BA-98BDC26CB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19E15-482D-D03B-9506-D776ABEE0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6263A-9F67-FE7C-1851-C633D5DED637}"/>
              </a:ext>
            </a:extLst>
          </p:cNvPr>
          <p:cNvSpPr>
            <a:spLocks noGrp="1"/>
          </p:cNvSpPr>
          <p:nvPr>
            <p:ph type="body" idx="1"/>
          </p:nvPr>
        </p:nvSpPr>
        <p:spPr/>
        <p:txBody>
          <a:bodyPr/>
          <a:lstStyle/>
          <a:p>
            <a:pPr marL="171450" indent="-171450">
              <a:buFont typeface="Arial" panose="020B0604020202020204" pitchFamily="34" charset="0"/>
              <a:buChar char="•"/>
            </a:pPr>
            <a:r>
              <a:rPr lang="en-US" dirty="0"/>
              <a:t>In the most ideal case where </a:t>
            </a:r>
            <a:r>
              <a:rPr lang="en-US" dirty="0" err="1"/>
              <a:t>mgT</a:t>
            </a:r>
            <a:r>
              <a:rPr lang="en-US" dirty="0"/>
              <a:t> = x for some positive value x &gt; 0 and </a:t>
            </a:r>
            <a:r>
              <a:rPr lang="en-US" dirty="0" err="1"/>
              <a:t>mgi</a:t>
            </a:r>
            <a:r>
              <a:rPr lang="en-US" dirty="0"/>
              <a:t> = 0 for all </a:t>
            </a:r>
            <a:r>
              <a:rPr lang="en-US" dirty="0" err="1"/>
              <a:t>i</a:t>
            </a:r>
            <a:r>
              <a:rPr lang="en-US" dirty="0"/>
              <a:t> = T , the score </a:t>
            </a:r>
            <a:r>
              <a:rPr lang="en-US" dirty="0" err="1"/>
              <a:t>ScoregT</a:t>
            </a:r>
            <a:r>
              <a:rPr lang="en-US" dirty="0"/>
              <a:t> = 1; </a:t>
            </a:r>
          </a:p>
          <a:p>
            <a:pPr marL="171450" indent="-171450">
              <a:buFont typeface="Arial" panose="020B0604020202020204" pitchFamily="34" charset="0"/>
              <a:buChar char="•"/>
            </a:pPr>
            <a:r>
              <a:rPr lang="en-US" dirty="0"/>
              <a:t>in the least ideal case where </a:t>
            </a:r>
            <a:r>
              <a:rPr lang="en-US" dirty="0" err="1"/>
              <a:t>mgT</a:t>
            </a:r>
            <a:r>
              <a:rPr lang="en-US" dirty="0"/>
              <a:t> &lt; </a:t>
            </a:r>
            <a:r>
              <a:rPr lang="en-US" dirty="0" err="1"/>
              <a:t>mgi</a:t>
            </a:r>
            <a:r>
              <a:rPr lang="en-US" dirty="0"/>
              <a:t> for all </a:t>
            </a:r>
            <a:r>
              <a:rPr lang="en-US" dirty="0" err="1"/>
              <a:t>i</a:t>
            </a:r>
            <a:r>
              <a:rPr lang="en-US" dirty="0"/>
              <a:t> = T , the score </a:t>
            </a:r>
            <a:r>
              <a:rPr lang="en-US" dirty="0" err="1"/>
              <a:t>ScoregT</a:t>
            </a:r>
            <a:r>
              <a:rPr lang="en-US" dirty="0"/>
              <a:t> = 0. </a:t>
            </a:r>
          </a:p>
          <a:p>
            <a:pPr marL="171450" indent="-171450">
              <a:buFont typeface="Arial" panose="020B0604020202020204" pitchFamily="34" charset="0"/>
              <a:buChar char="•"/>
            </a:pPr>
            <a:r>
              <a:rPr lang="en-US" dirty="0"/>
              <a:t>The Binary Expression Score has a range of [0,1].</a:t>
            </a:r>
          </a:p>
        </p:txBody>
      </p:sp>
      <p:sp>
        <p:nvSpPr>
          <p:cNvPr id="4" name="Slide Number Placeholder 3">
            <a:extLst>
              <a:ext uri="{FF2B5EF4-FFF2-40B4-BE49-F238E27FC236}">
                <a16:creationId xmlns:a16="http://schemas.microsoft.com/office/drawing/2014/main" id="{10921C1A-986B-2DCA-749A-04E6D1B78EB9}"/>
              </a:ext>
            </a:extLst>
          </p:cNvPr>
          <p:cNvSpPr>
            <a:spLocks noGrp="1"/>
          </p:cNvSpPr>
          <p:nvPr>
            <p:ph type="sldNum" sz="quarter" idx="5"/>
          </p:nvPr>
        </p:nvSpPr>
        <p:spPr/>
        <p:txBody>
          <a:bodyPr/>
          <a:lstStyle/>
          <a:p>
            <a:fld id="{225EF54A-9134-8641-A991-457FAC8A6344}" type="slidenum">
              <a:rPr lang="en-US" smtClean="0"/>
              <a:t>5</a:t>
            </a:fld>
            <a:endParaRPr lang="en-US"/>
          </a:p>
        </p:txBody>
      </p:sp>
    </p:spTree>
    <p:extLst>
      <p:ext uri="{BB962C8B-B14F-4D97-AF65-F5344CB8AC3E}">
        <p14:creationId xmlns:p14="http://schemas.microsoft.com/office/powerpoint/2010/main" val="3155508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9BEF5-817D-F937-4226-13CBD6F3E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FBC01-16D2-24BF-D8C0-17EF23605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CB9EA-AE8D-C296-1C3B-637D2EF6997E}"/>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868ED430-850A-AD95-C0A6-5BC49D6A4485}"/>
              </a:ext>
            </a:extLst>
          </p:cNvPr>
          <p:cNvSpPr>
            <a:spLocks noGrp="1"/>
          </p:cNvSpPr>
          <p:nvPr>
            <p:ph type="sldNum" sz="quarter" idx="5"/>
          </p:nvPr>
        </p:nvSpPr>
        <p:spPr/>
        <p:txBody>
          <a:bodyPr/>
          <a:lstStyle/>
          <a:p>
            <a:fld id="{225EF54A-9134-8641-A991-457FAC8A6344}" type="slidenum">
              <a:rPr lang="en-US" smtClean="0"/>
              <a:t>6</a:t>
            </a:fld>
            <a:endParaRPr lang="en-US"/>
          </a:p>
        </p:txBody>
      </p:sp>
    </p:spTree>
    <p:extLst>
      <p:ext uri="{BB962C8B-B14F-4D97-AF65-F5344CB8AC3E}">
        <p14:creationId xmlns:p14="http://schemas.microsoft.com/office/powerpoint/2010/main" val="323532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8259-0510-3D10-FF30-119F25199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58B2F-5DDA-5260-03F5-BFE70A1F44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8A7151-474F-B6CD-6B59-5ACC82518D80}"/>
              </a:ext>
            </a:extLst>
          </p:cNvPr>
          <p:cNvSpPr>
            <a:spLocks noGrp="1"/>
          </p:cNvSpPr>
          <p:nvPr>
            <p:ph type="body" idx="1"/>
          </p:nvPr>
        </p:nvSpPr>
        <p:spPr/>
        <p:txBody>
          <a:bodyPr/>
          <a:lstStyle/>
          <a:p>
            <a:r>
              <a:rPr lang="en-US" dirty="0"/>
              <a:t>* Noncoding RNA</a:t>
            </a:r>
          </a:p>
          <a:p>
            <a:r>
              <a:rPr lang="en-US" dirty="0"/>
              <a:t>* lncRNA</a:t>
            </a:r>
          </a:p>
          <a:p>
            <a:r>
              <a:rPr lang="en-US" dirty="0"/>
              <a:t>* breast cancer cell types</a:t>
            </a:r>
          </a:p>
        </p:txBody>
      </p:sp>
      <p:sp>
        <p:nvSpPr>
          <p:cNvPr id="4" name="Slide Number Placeholder 3">
            <a:extLst>
              <a:ext uri="{FF2B5EF4-FFF2-40B4-BE49-F238E27FC236}">
                <a16:creationId xmlns:a16="http://schemas.microsoft.com/office/drawing/2014/main" id="{3AEA8542-E29C-C96D-0C45-B7F1E40B44AB}"/>
              </a:ext>
            </a:extLst>
          </p:cNvPr>
          <p:cNvSpPr>
            <a:spLocks noGrp="1"/>
          </p:cNvSpPr>
          <p:nvPr>
            <p:ph type="sldNum" sz="quarter" idx="5"/>
          </p:nvPr>
        </p:nvSpPr>
        <p:spPr/>
        <p:txBody>
          <a:bodyPr/>
          <a:lstStyle/>
          <a:p>
            <a:fld id="{225EF54A-9134-8641-A991-457FAC8A6344}" type="slidenum">
              <a:rPr lang="en-US" smtClean="0"/>
              <a:t>7</a:t>
            </a:fld>
            <a:endParaRPr lang="en-US" dirty="0"/>
          </a:p>
        </p:txBody>
      </p:sp>
    </p:spTree>
    <p:extLst>
      <p:ext uri="{BB962C8B-B14F-4D97-AF65-F5344CB8AC3E}">
        <p14:creationId xmlns:p14="http://schemas.microsoft.com/office/powerpoint/2010/main" val="3570292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B190-394D-81DF-C8AC-20DE2A34B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7200C-4D08-F7D6-A087-D0C67EEDF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29AE0-714C-61AF-8C24-C37E0EF793C9}"/>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62E4CFF4-3D80-62DD-4962-95CB43F49707}"/>
              </a:ext>
            </a:extLst>
          </p:cNvPr>
          <p:cNvSpPr>
            <a:spLocks noGrp="1"/>
          </p:cNvSpPr>
          <p:nvPr>
            <p:ph type="sldNum" sz="quarter" idx="5"/>
          </p:nvPr>
        </p:nvSpPr>
        <p:spPr/>
        <p:txBody>
          <a:bodyPr/>
          <a:lstStyle/>
          <a:p>
            <a:fld id="{225EF54A-9134-8641-A991-457FAC8A6344}" type="slidenum">
              <a:rPr lang="en-US" smtClean="0"/>
              <a:t>8</a:t>
            </a:fld>
            <a:endParaRPr lang="en-US"/>
          </a:p>
        </p:txBody>
      </p:sp>
    </p:spTree>
    <p:extLst>
      <p:ext uri="{BB962C8B-B14F-4D97-AF65-F5344CB8AC3E}">
        <p14:creationId xmlns:p14="http://schemas.microsoft.com/office/powerpoint/2010/main" val="3215660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1C95-3626-8C56-F8D8-2B54BF76E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2D787-3E05-545E-4E32-CD5DD7BCB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44D7E-8FAF-E229-E284-FD06A473CA76}"/>
              </a:ext>
            </a:extLst>
          </p:cNvPr>
          <p:cNvSpPr>
            <a:spLocks noGrp="1"/>
          </p:cNvSpPr>
          <p:nvPr>
            <p:ph type="body" idx="1"/>
          </p:nvPr>
        </p:nvSpPr>
        <p:spPr/>
        <p:txBody>
          <a:bodyPr/>
          <a:lstStyle/>
          <a:p>
            <a:pPr marL="171450" indent="-171450">
              <a:buFont typeface="Arial" panose="020B0604020202020204" pitchFamily="34" charset="0"/>
              <a:buChar char="•"/>
            </a:pPr>
            <a:r>
              <a:rPr lang="en-US" dirty="0"/>
              <a:t>In the most ideal case where </a:t>
            </a:r>
            <a:r>
              <a:rPr lang="en-US" dirty="0" err="1"/>
              <a:t>mgT</a:t>
            </a:r>
            <a:r>
              <a:rPr lang="en-US" dirty="0"/>
              <a:t> = x for some positive value x &gt; 0 and </a:t>
            </a:r>
            <a:r>
              <a:rPr lang="en-US" dirty="0" err="1"/>
              <a:t>mgi</a:t>
            </a:r>
            <a:r>
              <a:rPr lang="en-US" dirty="0"/>
              <a:t> = 0 for all </a:t>
            </a:r>
            <a:r>
              <a:rPr lang="en-US" dirty="0" err="1"/>
              <a:t>i</a:t>
            </a:r>
            <a:r>
              <a:rPr lang="en-US" dirty="0"/>
              <a:t> = T , the score </a:t>
            </a:r>
            <a:r>
              <a:rPr lang="en-US" dirty="0" err="1"/>
              <a:t>ScoregT</a:t>
            </a:r>
            <a:r>
              <a:rPr lang="en-US" dirty="0"/>
              <a:t> = 1; </a:t>
            </a:r>
          </a:p>
          <a:p>
            <a:pPr marL="171450" indent="-171450">
              <a:buFont typeface="Arial" panose="020B0604020202020204" pitchFamily="34" charset="0"/>
              <a:buChar char="•"/>
            </a:pPr>
            <a:r>
              <a:rPr lang="en-US" dirty="0"/>
              <a:t>in the least ideal case where </a:t>
            </a:r>
            <a:r>
              <a:rPr lang="en-US" dirty="0" err="1"/>
              <a:t>mgT</a:t>
            </a:r>
            <a:r>
              <a:rPr lang="en-US" dirty="0"/>
              <a:t> &lt; </a:t>
            </a:r>
            <a:r>
              <a:rPr lang="en-US" dirty="0" err="1"/>
              <a:t>mgi</a:t>
            </a:r>
            <a:r>
              <a:rPr lang="en-US" dirty="0"/>
              <a:t> for all </a:t>
            </a:r>
            <a:r>
              <a:rPr lang="en-US" dirty="0" err="1"/>
              <a:t>i</a:t>
            </a:r>
            <a:r>
              <a:rPr lang="en-US" dirty="0"/>
              <a:t> = T , the score </a:t>
            </a:r>
            <a:r>
              <a:rPr lang="en-US" dirty="0" err="1"/>
              <a:t>ScoregT</a:t>
            </a:r>
            <a:r>
              <a:rPr lang="en-US" dirty="0"/>
              <a:t> = 0. </a:t>
            </a:r>
          </a:p>
          <a:p>
            <a:pPr marL="171450" indent="-171450">
              <a:buFont typeface="Arial" panose="020B0604020202020204" pitchFamily="34" charset="0"/>
              <a:buChar char="•"/>
            </a:pPr>
            <a:r>
              <a:rPr lang="en-US" dirty="0"/>
              <a:t>The Binary Expression Score has a range of [0,1].</a:t>
            </a:r>
          </a:p>
        </p:txBody>
      </p:sp>
      <p:sp>
        <p:nvSpPr>
          <p:cNvPr id="4" name="Slide Number Placeholder 3">
            <a:extLst>
              <a:ext uri="{FF2B5EF4-FFF2-40B4-BE49-F238E27FC236}">
                <a16:creationId xmlns:a16="http://schemas.microsoft.com/office/drawing/2014/main" id="{9B205386-8E98-69A9-2F99-D37486081AFC}"/>
              </a:ext>
            </a:extLst>
          </p:cNvPr>
          <p:cNvSpPr>
            <a:spLocks noGrp="1"/>
          </p:cNvSpPr>
          <p:nvPr>
            <p:ph type="sldNum" sz="quarter" idx="5"/>
          </p:nvPr>
        </p:nvSpPr>
        <p:spPr/>
        <p:txBody>
          <a:bodyPr/>
          <a:lstStyle/>
          <a:p>
            <a:fld id="{225EF54A-9134-8641-A991-457FAC8A6344}" type="slidenum">
              <a:rPr lang="en-US" smtClean="0"/>
              <a:t>9</a:t>
            </a:fld>
            <a:endParaRPr lang="en-US"/>
          </a:p>
        </p:txBody>
      </p:sp>
    </p:spTree>
    <p:extLst>
      <p:ext uri="{BB962C8B-B14F-4D97-AF65-F5344CB8AC3E}">
        <p14:creationId xmlns:p14="http://schemas.microsoft.com/office/powerpoint/2010/main" val="2459610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F7ECD-8DFE-7D30-08E4-7E5A5DA3D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1CA17-2E41-826D-6B39-F62976AB08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70B4A8-6890-2188-BE97-DE1F7CAA3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B2CB1B-75A8-93AB-2971-913596B92A56}"/>
              </a:ext>
            </a:extLst>
          </p:cNvPr>
          <p:cNvSpPr>
            <a:spLocks noGrp="1"/>
          </p:cNvSpPr>
          <p:nvPr>
            <p:ph type="sldNum" sz="quarter" idx="5"/>
          </p:nvPr>
        </p:nvSpPr>
        <p:spPr/>
        <p:txBody>
          <a:bodyPr/>
          <a:lstStyle/>
          <a:p>
            <a:fld id="{225EF54A-9134-8641-A991-457FAC8A6344}" type="slidenum">
              <a:rPr lang="en-US" smtClean="0"/>
              <a:t>10</a:t>
            </a:fld>
            <a:endParaRPr lang="en-US" dirty="0"/>
          </a:p>
        </p:txBody>
      </p:sp>
    </p:spTree>
    <p:extLst>
      <p:ext uri="{BB962C8B-B14F-4D97-AF65-F5344CB8AC3E}">
        <p14:creationId xmlns:p14="http://schemas.microsoft.com/office/powerpoint/2010/main" val="260722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2259-BAC0-5EF4-A8DE-3725AE081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5664C-4FCB-3DA0-7D6D-11840ACCCB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04499-E7DC-D486-0E70-21A5BC8B56EF}"/>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C3458156-FE62-2231-54ED-3D04D44D96BF}"/>
              </a:ext>
            </a:extLst>
          </p:cNvPr>
          <p:cNvSpPr>
            <a:spLocks noGrp="1"/>
          </p:cNvSpPr>
          <p:nvPr>
            <p:ph type="sldNum" sz="quarter" idx="5"/>
          </p:nvPr>
        </p:nvSpPr>
        <p:spPr/>
        <p:txBody>
          <a:bodyPr/>
          <a:lstStyle/>
          <a:p>
            <a:fld id="{225EF54A-9134-8641-A991-457FAC8A6344}" type="slidenum">
              <a:rPr lang="en-US" smtClean="0"/>
              <a:t>11</a:t>
            </a:fld>
            <a:endParaRPr lang="en-US"/>
          </a:p>
        </p:txBody>
      </p:sp>
    </p:spTree>
    <p:extLst>
      <p:ext uri="{BB962C8B-B14F-4D97-AF65-F5344CB8AC3E}">
        <p14:creationId xmlns:p14="http://schemas.microsoft.com/office/powerpoint/2010/main" val="3453490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F3DC-3D6E-6B01-10A7-8721DE6F7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07889-AEBD-EE96-D617-029AF738D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8763F-4F54-75EE-1253-17F531FE9181}"/>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4BC2ECE1-6525-C40F-9C2A-3C904AABC2F5}"/>
              </a:ext>
            </a:extLst>
          </p:cNvPr>
          <p:cNvSpPr>
            <a:spLocks noGrp="1"/>
          </p:cNvSpPr>
          <p:nvPr>
            <p:ph type="sldNum" sz="quarter" idx="5"/>
          </p:nvPr>
        </p:nvSpPr>
        <p:spPr/>
        <p:txBody>
          <a:bodyPr/>
          <a:lstStyle/>
          <a:p>
            <a:fld id="{225EF54A-9134-8641-A991-457FAC8A6344}" type="slidenum">
              <a:rPr lang="en-US" smtClean="0"/>
              <a:t>12</a:t>
            </a:fld>
            <a:endParaRPr lang="en-US"/>
          </a:p>
        </p:txBody>
      </p:sp>
    </p:spTree>
    <p:extLst>
      <p:ext uri="{BB962C8B-B14F-4D97-AF65-F5344CB8AC3E}">
        <p14:creationId xmlns:p14="http://schemas.microsoft.com/office/powerpoint/2010/main" val="7392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A92D9-437C-0423-FB3C-8B85BEF5D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E7FCB-2834-74C1-1A33-D84120C2C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2F97B-DE61-7935-10C4-C323E88CFBB3}"/>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2CF79700-67E9-8218-9020-F8A2BD62376F}"/>
              </a:ext>
            </a:extLst>
          </p:cNvPr>
          <p:cNvSpPr>
            <a:spLocks noGrp="1"/>
          </p:cNvSpPr>
          <p:nvPr>
            <p:ph type="sldNum" sz="quarter" idx="5"/>
          </p:nvPr>
        </p:nvSpPr>
        <p:spPr/>
        <p:txBody>
          <a:bodyPr/>
          <a:lstStyle/>
          <a:p>
            <a:fld id="{225EF54A-9134-8641-A991-457FAC8A6344}" type="slidenum">
              <a:rPr lang="en-US" smtClean="0"/>
              <a:t>13</a:t>
            </a:fld>
            <a:endParaRPr lang="en-US"/>
          </a:p>
        </p:txBody>
      </p:sp>
    </p:spTree>
    <p:extLst>
      <p:ext uri="{BB962C8B-B14F-4D97-AF65-F5344CB8AC3E}">
        <p14:creationId xmlns:p14="http://schemas.microsoft.com/office/powerpoint/2010/main" val="4286636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6032-A03D-EF00-8968-A863B0AB3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91B4E-62AA-86B1-E209-4200A627F2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7A74E6-76A3-68D2-4A2F-CFCFA7E2C9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9E78A-9620-01E8-C91F-CAC767D119D6}"/>
              </a:ext>
            </a:extLst>
          </p:cNvPr>
          <p:cNvSpPr>
            <a:spLocks noGrp="1"/>
          </p:cNvSpPr>
          <p:nvPr>
            <p:ph type="sldNum" sz="quarter" idx="5"/>
          </p:nvPr>
        </p:nvSpPr>
        <p:spPr/>
        <p:txBody>
          <a:bodyPr/>
          <a:lstStyle/>
          <a:p>
            <a:fld id="{225EF54A-9134-8641-A991-457FAC8A6344}" type="slidenum">
              <a:rPr lang="en-US" smtClean="0"/>
              <a:t>14</a:t>
            </a:fld>
            <a:endParaRPr lang="en-US" dirty="0"/>
          </a:p>
        </p:txBody>
      </p:sp>
    </p:spTree>
    <p:extLst>
      <p:ext uri="{BB962C8B-B14F-4D97-AF65-F5344CB8AC3E}">
        <p14:creationId xmlns:p14="http://schemas.microsoft.com/office/powerpoint/2010/main" val="484078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8AFF-FCA9-D037-E18F-DB0DD9F86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71FCB-7D98-25EF-EA4C-4DDE4A1B7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6AC2D-7100-6E60-939E-116D5BFC0981}"/>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37D481C8-2EA8-12BF-D44C-10238B82415C}"/>
              </a:ext>
            </a:extLst>
          </p:cNvPr>
          <p:cNvSpPr>
            <a:spLocks noGrp="1"/>
          </p:cNvSpPr>
          <p:nvPr>
            <p:ph type="sldNum" sz="quarter" idx="5"/>
          </p:nvPr>
        </p:nvSpPr>
        <p:spPr/>
        <p:txBody>
          <a:bodyPr/>
          <a:lstStyle/>
          <a:p>
            <a:fld id="{225EF54A-9134-8641-A991-457FAC8A6344}" type="slidenum">
              <a:rPr lang="en-US" smtClean="0"/>
              <a:t>15</a:t>
            </a:fld>
            <a:endParaRPr lang="en-US"/>
          </a:p>
        </p:txBody>
      </p:sp>
    </p:spTree>
    <p:extLst>
      <p:ext uri="{BB962C8B-B14F-4D97-AF65-F5344CB8AC3E}">
        <p14:creationId xmlns:p14="http://schemas.microsoft.com/office/powerpoint/2010/main" val="1510683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FFA8-83C7-66E5-59FF-8FE38829F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9DCC9-FA08-46CD-CA67-E5C620969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0BA77-A731-8E45-2503-E3DFF9EB3646}"/>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7D629806-E649-CCE9-8ECF-953E84925B18}"/>
              </a:ext>
            </a:extLst>
          </p:cNvPr>
          <p:cNvSpPr>
            <a:spLocks noGrp="1"/>
          </p:cNvSpPr>
          <p:nvPr>
            <p:ph type="sldNum" sz="quarter" idx="5"/>
          </p:nvPr>
        </p:nvSpPr>
        <p:spPr/>
        <p:txBody>
          <a:bodyPr/>
          <a:lstStyle/>
          <a:p>
            <a:fld id="{225EF54A-9134-8641-A991-457FAC8A6344}" type="slidenum">
              <a:rPr lang="en-US" smtClean="0"/>
              <a:t>16</a:t>
            </a:fld>
            <a:endParaRPr lang="en-US"/>
          </a:p>
        </p:txBody>
      </p:sp>
    </p:spTree>
    <p:extLst>
      <p:ext uri="{BB962C8B-B14F-4D97-AF65-F5344CB8AC3E}">
        <p14:creationId xmlns:p14="http://schemas.microsoft.com/office/powerpoint/2010/main" val="3465698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BB9EE-50AE-9C07-1BE7-813C92744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DFB54-6B03-FEE9-0013-E7034896A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51B37-8DB7-BD89-F1E8-7876F7AA9981}"/>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C0C090F2-B40F-3140-A1CA-A1F63CDB28F5}"/>
              </a:ext>
            </a:extLst>
          </p:cNvPr>
          <p:cNvSpPr>
            <a:spLocks noGrp="1"/>
          </p:cNvSpPr>
          <p:nvPr>
            <p:ph type="sldNum" sz="quarter" idx="5"/>
          </p:nvPr>
        </p:nvSpPr>
        <p:spPr/>
        <p:txBody>
          <a:bodyPr/>
          <a:lstStyle/>
          <a:p>
            <a:fld id="{225EF54A-9134-8641-A991-457FAC8A6344}" type="slidenum">
              <a:rPr lang="en-US" smtClean="0"/>
              <a:t>17</a:t>
            </a:fld>
            <a:endParaRPr lang="en-US"/>
          </a:p>
        </p:txBody>
      </p:sp>
    </p:spTree>
    <p:extLst>
      <p:ext uri="{BB962C8B-B14F-4D97-AF65-F5344CB8AC3E}">
        <p14:creationId xmlns:p14="http://schemas.microsoft.com/office/powerpoint/2010/main" val="4293288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DCEB-7BC2-2BAE-596B-34317C458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70214-8D17-E878-A06F-2EC6DFC8E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06522-5467-B6F1-6FFC-5407561F702E}"/>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8B9DF9FA-3017-3AD8-AE38-48022E382FB2}"/>
              </a:ext>
            </a:extLst>
          </p:cNvPr>
          <p:cNvSpPr>
            <a:spLocks noGrp="1"/>
          </p:cNvSpPr>
          <p:nvPr>
            <p:ph type="sldNum" sz="quarter" idx="5"/>
          </p:nvPr>
        </p:nvSpPr>
        <p:spPr/>
        <p:txBody>
          <a:bodyPr/>
          <a:lstStyle/>
          <a:p>
            <a:fld id="{225EF54A-9134-8641-A991-457FAC8A6344}" type="slidenum">
              <a:rPr lang="en-US" smtClean="0"/>
              <a:t>18</a:t>
            </a:fld>
            <a:endParaRPr lang="en-US"/>
          </a:p>
        </p:txBody>
      </p:sp>
    </p:spTree>
    <p:extLst>
      <p:ext uri="{BB962C8B-B14F-4D97-AF65-F5344CB8AC3E}">
        <p14:creationId xmlns:p14="http://schemas.microsoft.com/office/powerpoint/2010/main" val="4179668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8C60-3AA2-DCBC-9C5D-85AA7ADA6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8147A-6064-A841-1243-91B23F350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C1896-59E3-D381-41D7-28C10A039E5F}"/>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AB5612D6-41FC-7E47-8605-F60B456CB034}"/>
              </a:ext>
            </a:extLst>
          </p:cNvPr>
          <p:cNvSpPr>
            <a:spLocks noGrp="1"/>
          </p:cNvSpPr>
          <p:nvPr>
            <p:ph type="sldNum" sz="quarter" idx="5"/>
          </p:nvPr>
        </p:nvSpPr>
        <p:spPr/>
        <p:txBody>
          <a:bodyPr/>
          <a:lstStyle/>
          <a:p>
            <a:fld id="{225EF54A-9134-8641-A991-457FAC8A6344}" type="slidenum">
              <a:rPr lang="en-US" smtClean="0"/>
              <a:t>19</a:t>
            </a:fld>
            <a:endParaRPr lang="en-US"/>
          </a:p>
        </p:txBody>
      </p:sp>
    </p:spTree>
    <p:extLst>
      <p:ext uri="{BB962C8B-B14F-4D97-AF65-F5344CB8AC3E}">
        <p14:creationId xmlns:p14="http://schemas.microsoft.com/office/powerpoint/2010/main" val="832584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B945-51A4-6AE7-3A89-6BCE28FF4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9DFE6-1776-8161-D53D-DCC47A985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CF4DE-1440-B47C-8096-7E0596A6D6A0}"/>
              </a:ext>
            </a:extLst>
          </p:cNvPr>
          <p:cNvSpPr>
            <a:spLocks noGrp="1"/>
          </p:cNvSpPr>
          <p:nvPr>
            <p:ph type="body" idx="1"/>
          </p:nvPr>
        </p:nvSpPr>
        <p:spPr/>
        <p:txBody>
          <a:bodyPr/>
          <a:lstStyle/>
          <a:p>
            <a:pPr marL="171450" indent="-171450">
              <a:buFont typeface="Arial" panose="020B0604020202020204" pitchFamily="34" charset="0"/>
              <a:buChar char="•"/>
            </a:pPr>
            <a:r>
              <a:rPr lang="en-US" dirty="0"/>
              <a:t>This metric has a range of [0,1]</a:t>
            </a:r>
          </a:p>
          <a:p>
            <a:pPr marL="171450" indent="-171450">
              <a:buFont typeface="Arial" panose="020B0604020202020204" pitchFamily="34" charset="0"/>
              <a:buChar char="•"/>
            </a:pPr>
            <a:r>
              <a:rPr lang="en-US" dirty="0"/>
              <a:t>Value of 1 being the ideal case where this marker gene is "exclusively” expressed in more than half of the cells in its target cluster and in fewer than half of the cells in all other clusters.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DIFFERENCE</a:t>
            </a:r>
          </a:p>
          <a:p>
            <a:pPr marL="628650" lvl="1" indent="-171450">
              <a:buFont typeface="Arial" panose="020B0604020202020204" pitchFamily="34" charset="0"/>
              <a:buChar char="•"/>
            </a:pPr>
            <a:r>
              <a:rPr lang="en-US" dirty="0"/>
              <a:t>Binary Score: quantifies how closely a gene's expression mimics an on-off pattern across all clusters</a:t>
            </a:r>
          </a:p>
          <a:p>
            <a:pPr marL="628650" lvl="1" indent="-171450">
              <a:buFont typeface="Arial" panose="020B0604020202020204" pitchFamily="34" charset="0"/>
              <a:buChar char="•"/>
            </a:pPr>
            <a:r>
              <a:rPr lang="en-US" dirty="0"/>
              <a:t>Off-Target: Calculates the proportion of biomarker's median expression that occurs within their cluster</a:t>
            </a:r>
          </a:p>
        </p:txBody>
      </p:sp>
      <p:sp>
        <p:nvSpPr>
          <p:cNvPr id="4" name="Slide Number Placeholder 3">
            <a:extLst>
              <a:ext uri="{FF2B5EF4-FFF2-40B4-BE49-F238E27FC236}">
                <a16:creationId xmlns:a16="http://schemas.microsoft.com/office/drawing/2014/main" id="{2898BEA8-9545-2438-289A-8A96D4136B94}"/>
              </a:ext>
            </a:extLst>
          </p:cNvPr>
          <p:cNvSpPr>
            <a:spLocks noGrp="1"/>
          </p:cNvSpPr>
          <p:nvPr>
            <p:ph type="sldNum" sz="quarter" idx="5"/>
          </p:nvPr>
        </p:nvSpPr>
        <p:spPr/>
        <p:txBody>
          <a:bodyPr/>
          <a:lstStyle/>
          <a:p>
            <a:fld id="{225EF54A-9134-8641-A991-457FAC8A6344}" type="slidenum">
              <a:rPr lang="en-US" smtClean="0"/>
              <a:t>20</a:t>
            </a:fld>
            <a:endParaRPr lang="en-US"/>
          </a:p>
        </p:txBody>
      </p:sp>
    </p:spTree>
    <p:extLst>
      <p:ext uri="{BB962C8B-B14F-4D97-AF65-F5344CB8AC3E}">
        <p14:creationId xmlns:p14="http://schemas.microsoft.com/office/powerpoint/2010/main" val="1028576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56DC-FCB8-E44A-7EB4-E806108A6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4F325-67BE-C54A-B194-FC7C22EC97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F0AE6E-ACDC-7200-B094-0F974552D8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15D21-F88D-EB46-3DEC-B9548E6C7669}"/>
              </a:ext>
            </a:extLst>
          </p:cNvPr>
          <p:cNvSpPr>
            <a:spLocks noGrp="1"/>
          </p:cNvSpPr>
          <p:nvPr>
            <p:ph type="sldNum" sz="quarter" idx="5"/>
          </p:nvPr>
        </p:nvSpPr>
        <p:spPr/>
        <p:txBody>
          <a:bodyPr/>
          <a:lstStyle/>
          <a:p>
            <a:fld id="{225EF54A-9134-8641-A991-457FAC8A6344}" type="slidenum">
              <a:rPr lang="en-US" smtClean="0"/>
              <a:t>21</a:t>
            </a:fld>
            <a:endParaRPr lang="en-US" dirty="0"/>
          </a:p>
        </p:txBody>
      </p:sp>
    </p:spTree>
    <p:extLst>
      <p:ext uri="{BB962C8B-B14F-4D97-AF65-F5344CB8AC3E}">
        <p14:creationId xmlns:p14="http://schemas.microsoft.com/office/powerpoint/2010/main" val="14330810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A066-5D66-8520-CFB8-555C18F8D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86B31-7AEC-0068-32D4-DD682922C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C2135-914C-F1D7-8926-25A7B0222A95}"/>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BB19A549-EC79-356D-44EC-1CDF5B550775}"/>
              </a:ext>
            </a:extLst>
          </p:cNvPr>
          <p:cNvSpPr>
            <a:spLocks noGrp="1"/>
          </p:cNvSpPr>
          <p:nvPr>
            <p:ph type="sldNum" sz="quarter" idx="5"/>
          </p:nvPr>
        </p:nvSpPr>
        <p:spPr/>
        <p:txBody>
          <a:bodyPr/>
          <a:lstStyle/>
          <a:p>
            <a:fld id="{225EF54A-9134-8641-A991-457FAC8A6344}" type="slidenum">
              <a:rPr lang="en-US" smtClean="0"/>
              <a:t>22</a:t>
            </a:fld>
            <a:endParaRPr lang="en-US"/>
          </a:p>
        </p:txBody>
      </p:sp>
    </p:spTree>
    <p:extLst>
      <p:ext uri="{BB962C8B-B14F-4D97-AF65-F5344CB8AC3E}">
        <p14:creationId xmlns:p14="http://schemas.microsoft.com/office/powerpoint/2010/main" val="2567831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A2427-C147-C732-AB0C-19736FCC4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3F7F6-33E0-03A7-8F33-46653C0EA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48C55-F28F-3BE7-2576-9572922C7672}"/>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4B2B1935-FAA5-5339-954E-13FC841AC1BB}"/>
              </a:ext>
            </a:extLst>
          </p:cNvPr>
          <p:cNvSpPr>
            <a:spLocks noGrp="1"/>
          </p:cNvSpPr>
          <p:nvPr>
            <p:ph type="sldNum" sz="quarter" idx="5"/>
          </p:nvPr>
        </p:nvSpPr>
        <p:spPr/>
        <p:txBody>
          <a:bodyPr/>
          <a:lstStyle/>
          <a:p>
            <a:fld id="{225EF54A-9134-8641-A991-457FAC8A6344}" type="slidenum">
              <a:rPr lang="en-US" smtClean="0"/>
              <a:t>23</a:t>
            </a:fld>
            <a:endParaRPr lang="en-US"/>
          </a:p>
        </p:txBody>
      </p:sp>
    </p:spTree>
    <p:extLst>
      <p:ext uri="{BB962C8B-B14F-4D97-AF65-F5344CB8AC3E}">
        <p14:creationId xmlns:p14="http://schemas.microsoft.com/office/powerpoint/2010/main" val="1072116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4ECB-26A5-C29E-B660-9541DDB01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DEE4B-B16A-33E0-5AD8-2B3C86B37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A6E39-86D3-169F-225B-831B40A87565}"/>
              </a:ext>
            </a:extLst>
          </p:cNvPr>
          <p:cNvSpPr>
            <a:spLocks noGrp="1"/>
          </p:cNvSpPr>
          <p:nvPr>
            <p:ph type="body" idx="1"/>
          </p:nvPr>
        </p:nvSpPr>
        <p:spPr/>
        <p:txBody>
          <a:bodyPr/>
          <a:lstStyle/>
          <a:p>
            <a:pPr marL="171450" indent="-171450">
              <a:buFont typeface="Arial" panose="020B0604020202020204" pitchFamily="34" charset="0"/>
              <a:buChar char="•"/>
            </a:pPr>
            <a:r>
              <a:rPr lang="en-US" dirty="0"/>
              <a:t>Why is lncRNA difficult to annotate?</a:t>
            </a:r>
          </a:p>
        </p:txBody>
      </p:sp>
      <p:sp>
        <p:nvSpPr>
          <p:cNvPr id="4" name="Slide Number Placeholder 3">
            <a:extLst>
              <a:ext uri="{FF2B5EF4-FFF2-40B4-BE49-F238E27FC236}">
                <a16:creationId xmlns:a16="http://schemas.microsoft.com/office/drawing/2014/main" id="{FFF6F347-D6EE-0E09-19A6-E423FEEC079F}"/>
              </a:ext>
            </a:extLst>
          </p:cNvPr>
          <p:cNvSpPr>
            <a:spLocks noGrp="1"/>
          </p:cNvSpPr>
          <p:nvPr>
            <p:ph type="sldNum" sz="quarter" idx="5"/>
          </p:nvPr>
        </p:nvSpPr>
        <p:spPr/>
        <p:txBody>
          <a:bodyPr/>
          <a:lstStyle/>
          <a:p>
            <a:fld id="{225EF54A-9134-8641-A991-457FAC8A6344}" type="slidenum">
              <a:rPr lang="en-US" smtClean="0"/>
              <a:t>24</a:t>
            </a:fld>
            <a:endParaRPr lang="en-US"/>
          </a:p>
        </p:txBody>
      </p:sp>
    </p:spTree>
    <p:extLst>
      <p:ext uri="{BB962C8B-B14F-4D97-AF65-F5344CB8AC3E}">
        <p14:creationId xmlns:p14="http://schemas.microsoft.com/office/powerpoint/2010/main" val="2022629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E660-647F-31FD-691F-658C49990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1ACE3-4B13-C162-B7FE-30666E3474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F7FCB9-5EDC-2FE7-A858-B537306960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FFEEA9-C437-8A75-B031-F22C029EE578}"/>
              </a:ext>
            </a:extLst>
          </p:cNvPr>
          <p:cNvSpPr>
            <a:spLocks noGrp="1"/>
          </p:cNvSpPr>
          <p:nvPr>
            <p:ph type="sldNum" sz="quarter" idx="5"/>
          </p:nvPr>
        </p:nvSpPr>
        <p:spPr/>
        <p:txBody>
          <a:bodyPr/>
          <a:lstStyle/>
          <a:p>
            <a:fld id="{225EF54A-9134-8641-A991-457FAC8A6344}" type="slidenum">
              <a:rPr lang="en-US" smtClean="0"/>
              <a:t>25</a:t>
            </a:fld>
            <a:endParaRPr lang="en-US" dirty="0"/>
          </a:p>
        </p:txBody>
      </p:sp>
    </p:spTree>
    <p:extLst>
      <p:ext uri="{BB962C8B-B14F-4D97-AF65-F5344CB8AC3E}">
        <p14:creationId xmlns:p14="http://schemas.microsoft.com/office/powerpoint/2010/main" val="939526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203E-F8DA-7351-A935-AD915BE65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56617-26F1-E1CB-0AD7-8185AE985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88135-36D6-B85E-F309-34A2E01CB2F6}"/>
              </a:ext>
            </a:extLst>
          </p:cNvPr>
          <p:cNvSpPr>
            <a:spLocks noGrp="1"/>
          </p:cNvSpPr>
          <p:nvPr>
            <p:ph type="body" idx="1"/>
          </p:nvPr>
        </p:nvSpPr>
        <p:spPr/>
        <p:txBody>
          <a:bodyPr/>
          <a:lstStyle/>
          <a:p>
            <a:pPr marL="171450" indent="-171450">
              <a:buFont typeface="Arial" panose="020B0604020202020204" pitchFamily="34" charset="0"/>
              <a:buChar char="•"/>
            </a:pPr>
            <a:r>
              <a:rPr lang="en-US" sz="2000" dirty="0"/>
              <a:t>Full descriptive table</a:t>
            </a:r>
          </a:p>
        </p:txBody>
      </p:sp>
      <p:sp>
        <p:nvSpPr>
          <p:cNvPr id="4" name="Slide Number Placeholder 3">
            <a:extLst>
              <a:ext uri="{FF2B5EF4-FFF2-40B4-BE49-F238E27FC236}">
                <a16:creationId xmlns:a16="http://schemas.microsoft.com/office/drawing/2014/main" id="{10A21CF1-4189-6969-740C-13D6C7045557}"/>
              </a:ext>
            </a:extLst>
          </p:cNvPr>
          <p:cNvSpPr>
            <a:spLocks noGrp="1"/>
          </p:cNvSpPr>
          <p:nvPr>
            <p:ph type="sldNum" sz="quarter" idx="5"/>
          </p:nvPr>
        </p:nvSpPr>
        <p:spPr/>
        <p:txBody>
          <a:bodyPr/>
          <a:lstStyle/>
          <a:p>
            <a:fld id="{225EF54A-9134-8641-A991-457FAC8A6344}" type="slidenum">
              <a:rPr lang="en-US" smtClean="0"/>
              <a:t>27</a:t>
            </a:fld>
            <a:endParaRPr lang="en-US"/>
          </a:p>
        </p:txBody>
      </p:sp>
    </p:spTree>
    <p:extLst>
      <p:ext uri="{BB962C8B-B14F-4D97-AF65-F5344CB8AC3E}">
        <p14:creationId xmlns:p14="http://schemas.microsoft.com/office/powerpoint/2010/main" val="3696931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8B2D2-6348-1BC7-4320-E8C8EC3B0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D70D2-7318-E05A-D69D-D9610B4CF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A3C34-BB39-98D0-A3ED-E0ED72268A30}"/>
              </a:ext>
            </a:extLst>
          </p:cNvPr>
          <p:cNvSpPr>
            <a:spLocks noGrp="1"/>
          </p:cNvSpPr>
          <p:nvPr>
            <p:ph type="body" idx="1"/>
          </p:nvPr>
        </p:nvSpPr>
        <p:spPr/>
        <p:txBody>
          <a:bodyPr/>
          <a:lstStyle/>
          <a:p>
            <a:r>
              <a:rPr lang="en-US" dirty="0"/>
              <a:t>Binary Score (neural vs non-neural)</a:t>
            </a:r>
          </a:p>
        </p:txBody>
      </p:sp>
      <p:sp>
        <p:nvSpPr>
          <p:cNvPr id="4" name="Slide Number Placeholder 3">
            <a:extLst>
              <a:ext uri="{FF2B5EF4-FFF2-40B4-BE49-F238E27FC236}">
                <a16:creationId xmlns:a16="http://schemas.microsoft.com/office/drawing/2014/main" id="{6B86C9DD-797D-50CC-9150-C2B7A1DD79FC}"/>
              </a:ext>
            </a:extLst>
          </p:cNvPr>
          <p:cNvSpPr>
            <a:spLocks noGrp="1"/>
          </p:cNvSpPr>
          <p:nvPr>
            <p:ph type="sldNum" sz="quarter" idx="5"/>
          </p:nvPr>
        </p:nvSpPr>
        <p:spPr/>
        <p:txBody>
          <a:bodyPr/>
          <a:lstStyle/>
          <a:p>
            <a:fld id="{225EF54A-9134-8641-A991-457FAC8A6344}" type="slidenum">
              <a:rPr lang="en-US" smtClean="0"/>
              <a:t>28</a:t>
            </a:fld>
            <a:endParaRPr lang="en-US"/>
          </a:p>
        </p:txBody>
      </p:sp>
    </p:spTree>
    <p:extLst>
      <p:ext uri="{BB962C8B-B14F-4D97-AF65-F5344CB8AC3E}">
        <p14:creationId xmlns:p14="http://schemas.microsoft.com/office/powerpoint/2010/main" val="2632883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8042-C69E-D480-7C9C-870216113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FAB1A-9A06-F859-4F16-C5B8E796F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01106-3836-C54D-2A84-F1A249DD2430}"/>
              </a:ext>
            </a:extLst>
          </p:cNvPr>
          <p:cNvSpPr>
            <a:spLocks noGrp="1"/>
          </p:cNvSpPr>
          <p:nvPr>
            <p:ph type="body" idx="1"/>
          </p:nvPr>
        </p:nvSpPr>
        <p:spPr/>
        <p:txBody>
          <a:bodyPr/>
          <a:lstStyle/>
          <a:p>
            <a:r>
              <a:rPr lang="en-US" dirty="0"/>
              <a:t>Cluster median (neural vs non-neural)</a:t>
            </a:r>
          </a:p>
        </p:txBody>
      </p:sp>
      <p:sp>
        <p:nvSpPr>
          <p:cNvPr id="4" name="Slide Number Placeholder 3">
            <a:extLst>
              <a:ext uri="{FF2B5EF4-FFF2-40B4-BE49-F238E27FC236}">
                <a16:creationId xmlns:a16="http://schemas.microsoft.com/office/drawing/2014/main" id="{160C16AA-4E24-7ED5-43FE-70F05D4A6239}"/>
              </a:ext>
            </a:extLst>
          </p:cNvPr>
          <p:cNvSpPr>
            <a:spLocks noGrp="1"/>
          </p:cNvSpPr>
          <p:nvPr>
            <p:ph type="sldNum" sz="quarter" idx="5"/>
          </p:nvPr>
        </p:nvSpPr>
        <p:spPr/>
        <p:txBody>
          <a:bodyPr/>
          <a:lstStyle/>
          <a:p>
            <a:fld id="{225EF54A-9134-8641-A991-457FAC8A6344}" type="slidenum">
              <a:rPr lang="en-US" smtClean="0"/>
              <a:t>29</a:t>
            </a:fld>
            <a:endParaRPr lang="en-US"/>
          </a:p>
        </p:txBody>
      </p:sp>
    </p:spTree>
    <p:extLst>
      <p:ext uri="{BB962C8B-B14F-4D97-AF65-F5344CB8AC3E}">
        <p14:creationId xmlns:p14="http://schemas.microsoft.com/office/powerpoint/2010/main" val="1031484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Downsampled Coding</a:t>
            </a:r>
          </a:p>
        </p:txBody>
      </p:sp>
      <p:sp>
        <p:nvSpPr>
          <p:cNvPr id="4" name="Slide Number Placeholder 3"/>
          <p:cNvSpPr>
            <a:spLocks noGrp="1"/>
          </p:cNvSpPr>
          <p:nvPr>
            <p:ph type="sldNum" sz="quarter" idx="5"/>
          </p:nvPr>
        </p:nvSpPr>
        <p:spPr/>
        <p:txBody>
          <a:bodyPr/>
          <a:lstStyle/>
          <a:p>
            <a:fld id="{225EF54A-9134-8641-A991-457FAC8A6344}" type="slidenum">
              <a:rPr lang="en-US" smtClean="0"/>
              <a:t>30</a:t>
            </a:fld>
            <a:endParaRPr lang="en-US"/>
          </a:p>
        </p:txBody>
      </p:sp>
    </p:spTree>
    <p:extLst>
      <p:ext uri="{BB962C8B-B14F-4D97-AF65-F5344CB8AC3E}">
        <p14:creationId xmlns:p14="http://schemas.microsoft.com/office/powerpoint/2010/main" val="2456515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071DA-A33A-46E6-9AB6-F0ADE99ECF25}"/>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a:t>Click to edit Master title style</a:t>
            </a:r>
          </a:p>
        </p:txBody>
      </p:sp>
      <p:sp>
        <p:nvSpPr>
          <p:cNvPr id="3" name="Subtitle 2">
            <a:extLst>
              <a:ext uri="{FF2B5EF4-FFF2-40B4-BE49-F238E27FC236}">
                <a16:creationId xmlns:a16="http://schemas.microsoft.com/office/drawing/2014/main" id="{35A4695E-AC84-4688-A74E-04DB0D17EB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Box 3">
            <a:extLst>
              <a:ext uri="{FF2B5EF4-FFF2-40B4-BE49-F238E27FC236}">
                <a16:creationId xmlns:a16="http://schemas.microsoft.com/office/drawing/2014/main" id="{F7FAC192-0DE6-71BE-52C6-1ED2907A842C}"/>
              </a:ext>
            </a:extLst>
          </p:cNvPr>
          <p:cNvSpPr txBox="1"/>
          <p:nvPr userDrawn="1"/>
        </p:nvSpPr>
        <p:spPr>
          <a:xfrm>
            <a:off x="11442032" y="6015789"/>
            <a:ext cx="529389" cy="369332"/>
          </a:xfrm>
          <a:prstGeom prst="rect">
            <a:avLst/>
          </a:prstGeom>
          <a:noFill/>
        </p:spPr>
        <p:txBody>
          <a:bodyPr wrap="square" rtlCol="0">
            <a:spAutoFit/>
          </a:bodyPr>
          <a:lstStyle/>
          <a:p>
            <a:fld id="{CD06770D-C131-FA45-B33F-98816BA1FC54}" type="slidenum">
              <a:rPr lang="en-US" smtClean="0"/>
              <a:t>‹#›</a:t>
            </a:fld>
            <a:endParaRPr lang="en-US" dirty="0"/>
          </a:p>
        </p:txBody>
      </p:sp>
    </p:spTree>
    <p:extLst>
      <p:ext uri="{BB962C8B-B14F-4D97-AF65-F5344CB8AC3E}">
        <p14:creationId xmlns:p14="http://schemas.microsoft.com/office/powerpoint/2010/main" val="328083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3839A95-D286-4305-88D6-D686612B48F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25240A26-FF24-4B62-AD41-DDA9D44EE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DFD89F-9A31-4DD6-9C95-A8E96700B9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977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026961D-1D7C-4A74-9291-7AFBF7B164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E43C8BF-FB3B-47E6-923C-BF77E9613F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E5FAE4-54C3-47E3-8D66-6DC40303BD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2498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57C2115-2A3E-4D75-BF91-C2D668D06D3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F736430-14A1-4BA2-83C0-8A53ACEB5E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75CB4D-BAC5-4B09-B394-C904EA9E41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4954CC-D6CE-4C10-8CB2-6826A52DAD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8C02E8-077D-4865-A502-DC130FC82A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F93428-F0AA-4902-9195-6434C9A757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7325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E397A9-BAE3-42F3-81E4-58B08040BE0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6D95DA63-6999-4B88-BEEB-3C1D1E472D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2314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6919CE-08D3-4ADA-A705-7CDCB9A2AD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232197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73E0ADD-61B1-4710-91B4-291242148D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46FC309-F318-4862-BC38-3368C5F9B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22C403-ED21-4045-8396-6B5FD854D9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844497-95B6-4596-9589-0036623F6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279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E18608-F2C5-42EC-90AD-EE7DDEB616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B6B162D4-CA25-43A3-A8ED-219C79F87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39B57C-8104-4916-8FEA-8B79049D03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E662372-0DDA-4B3A-9F7E-DBE11D8C0B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554018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9F49BD0-3689-4119-A0D1-AEEBC81B073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7" name="Picture 6">
            <a:extLst>
              <a:ext uri="{FF2B5EF4-FFF2-40B4-BE49-F238E27FC236}">
                <a16:creationId xmlns:a16="http://schemas.microsoft.com/office/drawing/2014/main" id="{361E3D7E-97AC-4AE3-934E-02464129CBC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7F03851C-AB83-4B86-B1F8-F8F94C2B51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A61B55-30D5-4E10-9F58-15283F08BE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0A1DF679-34AE-4D31-83FE-5974A31D700F}"/>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2" y="6025663"/>
            <a:ext cx="12192000" cy="832337"/>
          </a:xfrm>
          <a:prstGeom prst="rect">
            <a:avLst/>
          </a:prstGeom>
        </p:spPr>
      </p:pic>
    </p:spTree>
    <p:extLst>
      <p:ext uri="{BB962C8B-B14F-4D97-AF65-F5344CB8AC3E}">
        <p14:creationId xmlns:p14="http://schemas.microsoft.com/office/powerpoint/2010/main" val="287473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A45A2C-D225-45F9-9F81-02A65C0412B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75913D0-3FDF-487F-A88E-2683A3D4E1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7FB6AA-FC45-40A8-BDC6-E1DADC144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9809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23B10D-8F28-4069-B04B-D7845887D5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2C3C2AA-3EA1-4419-AF0D-E12E02FF30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7F62F3-F4AC-4546-B96F-0045811BF7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095843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DF44AC8-8B5F-4870-8249-8F9A0E7C67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329D8871-79A8-4429-8222-B51CA9C44F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FB21D2-DED5-4A5F-AA9B-1BB37A43E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D2A44-C1D1-42EB-B9BB-5ABD8F203F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99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4AD278-E165-4912-B926-A7864010DB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034087"/>
            <a:ext cx="12192000" cy="823912"/>
          </a:xfrm>
          <a:prstGeom prst="rect">
            <a:avLst/>
          </a:prstGeom>
        </p:spPr>
      </p:pic>
      <p:sp>
        <p:nvSpPr>
          <p:cNvPr id="2" name="Title 1">
            <a:extLst>
              <a:ext uri="{FF2B5EF4-FFF2-40B4-BE49-F238E27FC236}">
                <a16:creationId xmlns:a16="http://schemas.microsoft.com/office/drawing/2014/main" id="{51D70325-5EB5-4468-BC79-656FB3DD20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7E2972-1C48-4505-9701-5514CEB383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9DDE98-B9BC-4F8D-BAAD-50D72777B8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03921D-9B75-41F9-839F-394DB24EF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E4E502-D27B-42D0-A1AC-1BB562965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848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71FB14-04C2-484F-BC80-C8E02EF678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BC828C8-E368-4A36-887A-7361DC23AE6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0037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089A2E-5B2A-4F91-B064-F52F779CA3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005374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B3B48B-5898-473E-A0CD-474F8A65A65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4412B534-7B05-49E0-8F47-77E40537D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1C84A6-B9B3-496A-9EB1-27D8506806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D6DC76-A15A-45E1-A9B2-4741220E9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925688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49AFD8-F165-4307-A1B9-CFDE9A1BD3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1DF9643D-7186-4D6A-8E1C-3BFA003488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5F3987-7318-4536-98EE-2EF7DBEB7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507C0B-9896-42F1-8411-345B7ED69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642275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E6D44-A92E-43DA-9ABB-43157B939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29A5608F-BED7-4E9A-A2E4-07F43D5444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4954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1ECBA-10E6-4E28-99EF-99525B8F39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056FC1-8E3B-4769-86EC-78F0C92FAF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8511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A8EBD9F0-FFB9-413F-A29F-5F6478706A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9010839-4D97-4509-904E-97453EA29F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D3B8D-146D-4D2C-92DC-C2B3CEA95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39228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5FEA4278-0263-41FA-B99F-92D08E4407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F7A9C4C-0911-418B-A68B-F2571CE02D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EE0456-303C-4752-BC72-EFA5E54E99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335316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0A3805D-BBA6-4CD8-902E-8BB9FE88E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6947F1E-2D41-4838-9062-4D58B969C0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1426F-93EF-49D2-AEFD-96BD9A590C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863032-6F48-4EC0-9E04-F64A956A34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5048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Content Placeholder 4">
            <a:extLst>
              <a:ext uri="{FF2B5EF4-FFF2-40B4-BE49-F238E27FC236}">
                <a16:creationId xmlns:a16="http://schemas.microsoft.com/office/drawing/2014/main" id="{A787DE3A-9044-4902-BB3D-7DBD2EF626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6F352C-E8E9-43FB-8B89-ED32167D05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6CDA2E-E393-4DB8-B7C0-A47F543C8A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338140-1A0C-430C-8FFF-41893D504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D5411B-917C-4400-86DE-ABFCD6104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0554B9-9C5B-4D8A-9385-EC81F45437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67356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4F34D4-D9B8-4CB8-9C32-38913C3F62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37EB23FA-6E6B-469A-8B10-618C6060DD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44767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7EDFFC-3E6B-4D60-96D2-EC5C5187752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974719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A826CF-0ECB-434D-B30E-25F27A8B47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08315FA-0986-4DA3-B550-640BE6B21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A3B989-7F03-4E4C-9588-C4B75DEBE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8488C5-2042-4F90-851E-77D33959F3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14972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1EE0B8-3C09-45D9-91FE-63841F59322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9CE0676-53A9-4CC6-8EAA-B05F019340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A66C3E-3CDC-4EAC-9E3C-FC8D9643B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194B7E-26EE-4436-B802-DE6AC8328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247184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44C377-3B74-488B-A521-C0AF73D94F0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5CE056E2-9C63-4EF6-A71B-310C5B38A1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9196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8.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30F85F-C49E-4405-BDD4-C3E071F0970B}"/>
              </a:ext>
            </a:extLst>
          </p:cNvPr>
          <p:cNvSpPr>
            <a:spLocks noGrp="1"/>
          </p:cNvSpPr>
          <p:nvPr>
            <p:ph type="title"/>
          </p:nvPr>
        </p:nvSpPr>
        <p:spPr>
          <a:xfrm>
            <a:off x="838200" y="168355"/>
            <a:ext cx="10515600" cy="7274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F3901C-63AA-4FC2-B01F-2ED6FB32D481}"/>
              </a:ext>
            </a:extLst>
          </p:cNvPr>
          <p:cNvSpPr>
            <a:spLocks noGrp="1"/>
          </p:cNvSpPr>
          <p:nvPr>
            <p:ph type="body" idx="1"/>
          </p:nvPr>
        </p:nvSpPr>
        <p:spPr>
          <a:xfrm>
            <a:off x="838200" y="1064871"/>
            <a:ext cx="10515600" cy="48134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7459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36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D7B6D92-67F2-44AB-B5E0-D84743307F8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71CC1242-FA9B-4906-89D9-34ECA0F4C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B56C02-09F3-4FEB-A508-8868626869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12318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80"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1BAFAF-D3D3-48C2-AD74-C26D4F427FA3}"/>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B97C5BA6-5F87-4AEE-9731-B58F5CB718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D89A6C-A538-418B-A219-83B3647FD5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138163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84" r:id="rId5"/>
    <p:sldLayoutId id="2147483676" r:id="rId6"/>
    <p:sldLayoutId id="2147483677" r:id="rId7"/>
    <p:sldLayoutId id="2147483678" r:id="rId8"/>
    <p:sldLayoutId id="2147483679" r:id="rId9"/>
    <p:sldLayoutId id="2147483681"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doi.org/10.1038/s41586-023-05769-3" TargetMode="External"/><Relationship Id="rId13" Type="http://schemas.openxmlformats.org/officeDocument/2006/relationships/hyperlink" Target="https://doi.org/10.1038/s41588-024-01688-9" TargetMode="External"/><Relationship Id="rId3" Type="http://schemas.openxmlformats.org/officeDocument/2006/relationships/hyperlink" Target="https://doi.org/10.1038/s41586-021-03950-0" TargetMode="External"/><Relationship Id="rId7" Type="http://schemas.openxmlformats.org/officeDocument/2006/relationships/hyperlink" Target="https://doi.org/10.18632/aging.205656" TargetMode="External"/><Relationship Id="rId12" Type="http://schemas.openxmlformats.org/officeDocument/2006/relationships/hyperlink" Target="https://doi.org/10.1042/BSR20190754" TargetMode="External"/><Relationship Id="rId2" Type="http://schemas.openxmlformats.org/officeDocument/2006/relationships/hyperlink" Target="https://doi.org/10.1093/bioinformatics/btag523" TargetMode="External"/><Relationship Id="rId16" Type="http://schemas.openxmlformats.org/officeDocument/2006/relationships/hyperlink" Target="https://doi.org/10.1016/j.cell.2023.11.026" TargetMode="External"/><Relationship Id="rId1" Type="http://schemas.openxmlformats.org/officeDocument/2006/relationships/slideLayout" Target="../slideLayouts/slideLayout2.xml"/><Relationship Id="rId6" Type="http://schemas.openxmlformats.org/officeDocument/2006/relationships/hyperlink" Target="https://doi.org/10.1038/s41586-019-1506-7" TargetMode="External"/><Relationship Id="rId11" Type="http://schemas.openxmlformats.org/officeDocument/2006/relationships/hyperlink" Target="https://doi.org/10.3389/fgene.2024.1478352" TargetMode="External"/><Relationship Id="rId5" Type="http://schemas.openxmlformats.org/officeDocument/2006/relationships/hyperlink" Target="https://doi.org/10.1038/nature11233" TargetMode="External"/><Relationship Id="rId15" Type="http://schemas.openxmlformats.org/officeDocument/2006/relationships/hyperlink" Target="https://doi.org/10.1093/brain/awaf426" TargetMode="External"/><Relationship Id="rId10" Type="http://schemas.openxmlformats.org/officeDocument/2006/relationships/hyperlink" Target="https://doi.org/10.1186/s44330-024-00015-2" TargetMode="External"/><Relationship Id="rId4" Type="http://schemas.openxmlformats.org/officeDocument/2006/relationships/hyperlink" Target="https://doi.org/10.1016/j.cell.2024.10.024" TargetMode="External"/><Relationship Id="rId9" Type="http://schemas.openxmlformats.org/officeDocument/2006/relationships/hyperlink" Target="https://doi.org/10.1038/s41588-025-02454-1" TargetMode="External"/><Relationship Id="rId14" Type="http://schemas.openxmlformats.org/officeDocument/2006/relationships/hyperlink" Target="https://doi.org/10.1038/s41591-023-02327-2"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ront of the NLM building with crab apple blossoms in bloom.">
            <a:extLst>
              <a:ext uri="{FF2B5EF4-FFF2-40B4-BE49-F238E27FC236}">
                <a16:creationId xmlns:a16="http://schemas.microsoft.com/office/drawing/2014/main" id="{48567582-F46E-FF83-EFE1-64DB69B907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97" y="0"/>
            <a:ext cx="12197697" cy="6858000"/>
          </a:xfrm>
          <a:prstGeom prst="rect">
            <a:avLst/>
          </a:prstGeom>
        </p:spPr>
      </p:pic>
      <p:sp>
        <p:nvSpPr>
          <p:cNvPr id="5" name="Title 4">
            <a:extLst>
              <a:ext uri="{FF2B5EF4-FFF2-40B4-BE49-F238E27FC236}">
                <a16:creationId xmlns:a16="http://schemas.microsoft.com/office/drawing/2014/main" id="{6C29FA85-98CC-5CDC-AEA3-F4AFADD3BDEC}"/>
              </a:ext>
            </a:extLst>
          </p:cNvPr>
          <p:cNvSpPr>
            <a:spLocks noGrp="1"/>
          </p:cNvSpPr>
          <p:nvPr>
            <p:ph type="ctrTitle"/>
          </p:nvPr>
        </p:nvSpPr>
        <p:spPr>
          <a:xfrm>
            <a:off x="6135676" y="1593273"/>
            <a:ext cx="5341466" cy="2108452"/>
          </a:xfrm>
        </p:spPr>
        <p:txBody>
          <a:bodyPr>
            <a:normAutofit/>
          </a:bodyPr>
          <a:lstStyle/>
          <a:p>
            <a:r>
              <a:rPr lang="en-US" sz="3600" dirty="0">
                <a:latin typeface="Crimson Pro Medium" pitchFamily="2" charset="77"/>
              </a:rPr>
              <a:t>lncRNAs as cell type-specific biomarkers across</a:t>
            </a:r>
            <a:br>
              <a:rPr lang="en-US" sz="3600" dirty="0">
                <a:latin typeface="Crimson Pro Medium" pitchFamily="2" charset="77"/>
              </a:rPr>
            </a:br>
            <a:r>
              <a:rPr lang="en-US" sz="3600" dirty="0">
                <a:latin typeface="Crimson Pro Medium" pitchFamily="2" charset="77"/>
              </a:rPr>
              <a:t>neural and non-neural human tissues.</a:t>
            </a:r>
          </a:p>
        </p:txBody>
      </p:sp>
      <p:sp>
        <p:nvSpPr>
          <p:cNvPr id="2" name="Subtitle 1">
            <a:extLst>
              <a:ext uri="{FF2B5EF4-FFF2-40B4-BE49-F238E27FC236}">
                <a16:creationId xmlns:a16="http://schemas.microsoft.com/office/drawing/2014/main" id="{7E5CEC59-E88F-1AA9-2954-884AC4F43214}"/>
              </a:ext>
            </a:extLst>
          </p:cNvPr>
          <p:cNvSpPr>
            <a:spLocks noGrp="1"/>
          </p:cNvSpPr>
          <p:nvPr>
            <p:ph type="subTitle" idx="1"/>
          </p:nvPr>
        </p:nvSpPr>
        <p:spPr>
          <a:xfrm>
            <a:off x="6506221" y="3701725"/>
            <a:ext cx="4600377" cy="769083"/>
          </a:xfrm>
        </p:spPr>
        <p:txBody>
          <a:bodyPr>
            <a:normAutofit/>
          </a:bodyPr>
          <a:lstStyle/>
          <a:p>
            <a:pPr algn="l">
              <a:spcBef>
                <a:spcPts val="400"/>
              </a:spcBef>
            </a:pPr>
            <a:r>
              <a:rPr lang="en-US" sz="2000" i="1" dirty="0">
                <a:latin typeface="Montserrat" pitchFamily="2" charset="77"/>
                <a:cs typeface="Calibri" panose="020F0502020204030204" pitchFamily="34" charset="0"/>
              </a:rPr>
              <a:t>Vik Becker</a:t>
            </a:r>
          </a:p>
          <a:p>
            <a:pPr algn="l">
              <a:spcBef>
                <a:spcPts val="400"/>
              </a:spcBef>
            </a:pPr>
            <a:r>
              <a:rPr lang="en-US" sz="2000" i="1" dirty="0">
                <a:latin typeface="Montserrat" pitchFamily="2" charset="77"/>
                <a:cs typeface="Calibri" panose="020F0502020204030204" pitchFamily="34" charset="0"/>
              </a:rPr>
              <a:t>National Library of Medicine (NIH)</a:t>
            </a:r>
          </a:p>
        </p:txBody>
      </p:sp>
    </p:spTree>
    <p:extLst>
      <p:ext uri="{BB962C8B-B14F-4D97-AF65-F5344CB8AC3E}">
        <p14:creationId xmlns:p14="http://schemas.microsoft.com/office/powerpoint/2010/main" val="2835075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F2778-EA56-DEFC-4FBF-198CE7B57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BDA4E-B18C-BB5E-5B75-033084A42AF3}"/>
              </a:ext>
            </a:extLst>
          </p:cNvPr>
          <p:cNvSpPr>
            <a:spLocks noGrp="1"/>
          </p:cNvSpPr>
          <p:nvPr>
            <p:ph type="title"/>
          </p:nvPr>
        </p:nvSpPr>
        <p:spPr>
          <a:xfrm>
            <a:off x="390124" y="460522"/>
            <a:ext cx="3453214" cy="727405"/>
          </a:xfrm>
        </p:spPr>
        <p:txBody>
          <a:bodyPr>
            <a:noAutofit/>
          </a:bodyPr>
          <a:lstStyle/>
          <a:p>
            <a:pPr algn="ctr"/>
            <a:r>
              <a:rPr lang="en-US" sz="6000" dirty="0">
                <a:latin typeface="Crimson Pro Medium" pitchFamily="2" charset="77"/>
                <a:cs typeface="Calibri" panose="020F0502020204030204" pitchFamily="34" charset="0"/>
              </a:rPr>
              <a:t>Overview</a:t>
            </a:r>
            <a:endParaRPr lang="en-US" sz="60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4A93BD35-1ED2-FE9D-F919-273C461F0DD2}"/>
              </a:ext>
            </a:extLst>
          </p:cNvPr>
          <p:cNvSpPr>
            <a:spLocks noGrp="1"/>
          </p:cNvSpPr>
          <p:nvPr>
            <p:ph idx="1"/>
          </p:nvPr>
        </p:nvSpPr>
        <p:spPr>
          <a:xfrm>
            <a:off x="692009" y="1259367"/>
            <a:ext cx="9979307" cy="4339266"/>
          </a:xfrm>
        </p:spPr>
        <p:txBody>
          <a:bodyPr>
            <a:noAutofit/>
          </a:bodyPr>
          <a:lstStyle/>
          <a:p>
            <a:pPr marL="571500" indent="-571500">
              <a:lnSpc>
                <a:spcPct val="150000"/>
              </a:lnSpc>
              <a:spcBef>
                <a:spcPts val="0"/>
              </a:spcBef>
              <a:spcAft>
                <a:spcPts val="1200"/>
              </a:spcAft>
              <a:buFont typeface="+mj-lt"/>
              <a:buAutoNum type="romanUcPeriod"/>
            </a:pPr>
            <a:r>
              <a:rPr lang="en-US" sz="3200" dirty="0">
                <a:latin typeface="Montserrat" pitchFamily="2" charset="77"/>
                <a:cs typeface="Arial" panose="020B0604020202020204" pitchFamily="34" charset="0"/>
              </a:rPr>
              <a:t> Introduction to lncRNA and NS-Forest</a:t>
            </a:r>
          </a:p>
          <a:p>
            <a:pPr marL="571500" indent="-571500">
              <a:lnSpc>
                <a:spcPct val="150000"/>
              </a:lnSpc>
              <a:spcBef>
                <a:spcPts val="0"/>
              </a:spcBef>
              <a:spcAft>
                <a:spcPts val="1200"/>
              </a:spcAft>
              <a:buFont typeface="+mj-lt"/>
              <a:buAutoNum type="romanUcPeriod"/>
            </a:pPr>
            <a:r>
              <a:rPr lang="en-US" sz="3200" dirty="0">
                <a:latin typeface="Montserrat" pitchFamily="2" charset="77"/>
                <a:cs typeface="Arial" panose="020B0604020202020204" pitchFamily="34" charset="0"/>
              </a:rPr>
              <a:t> Data and Methods</a:t>
            </a:r>
          </a:p>
          <a:p>
            <a:pPr marL="571500" indent="-571500">
              <a:lnSpc>
                <a:spcPct val="150000"/>
              </a:lnSpc>
              <a:spcBef>
                <a:spcPts val="0"/>
              </a:spcBef>
              <a:spcAft>
                <a:spcPts val="1200"/>
              </a:spcAft>
              <a:buFont typeface="+mj-lt"/>
              <a:buAutoNum type="romanUcPeriod"/>
            </a:pPr>
            <a:r>
              <a:rPr lang="en-US" sz="3200" dirty="0">
                <a:latin typeface="Montserrat" pitchFamily="2" charset="77"/>
                <a:cs typeface="Arial" panose="020B0604020202020204" pitchFamily="34" charset="0"/>
              </a:rPr>
              <a:t> Neural </a:t>
            </a:r>
            <a:r>
              <a:rPr lang="en-US" sz="3200" i="1" dirty="0">
                <a:latin typeface="Montserrat" pitchFamily="2" charset="77"/>
                <a:cs typeface="Arial" panose="020B0604020202020204" pitchFamily="34" charset="0"/>
              </a:rPr>
              <a:t>vs</a:t>
            </a:r>
            <a:r>
              <a:rPr lang="en-US" sz="3200" dirty="0">
                <a:latin typeface="Montserrat" pitchFamily="2" charset="77"/>
                <a:cs typeface="Arial" panose="020B0604020202020204" pitchFamily="34" charset="0"/>
              </a:rPr>
              <a:t> Non-Neural Findings</a:t>
            </a:r>
          </a:p>
          <a:p>
            <a:pPr marL="571500" indent="-571500">
              <a:lnSpc>
                <a:spcPct val="150000"/>
              </a:lnSpc>
              <a:spcBef>
                <a:spcPts val="0"/>
              </a:spcBef>
              <a:spcAft>
                <a:spcPts val="1200"/>
              </a:spcAft>
              <a:buFont typeface="+mj-lt"/>
              <a:buAutoNum type="romanUcPeriod"/>
            </a:pPr>
            <a:r>
              <a:rPr lang="en-US" sz="3200" dirty="0">
                <a:latin typeface="Montserrat" pitchFamily="2" charset="77"/>
                <a:cs typeface="Arial" panose="020B0604020202020204" pitchFamily="34" charset="0"/>
              </a:rPr>
              <a:t> Retina-Specific Findings</a:t>
            </a:r>
          </a:p>
          <a:p>
            <a:pPr marL="571500" indent="-571500">
              <a:lnSpc>
                <a:spcPct val="150000"/>
              </a:lnSpc>
              <a:spcBef>
                <a:spcPts val="0"/>
              </a:spcBef>
              <a:spcAft>
                <a:spcPts val="1200"/>
              </a:spcAft>
              <a:buFont typeface="+mj-lt"/>
              <a:buAutoNum type="romanUcPeriod"/>
            </a:pPr>
            <a:r>
              <a:rPr lang="en-US" sz="3200" dirty="0">
                <a:latin typeface="Montserrat" pitchFamily="2" charset="77"/>
                <a:cs typeface="Arial" panose="020B0604020202020204" pitchFamily="34" charset="0"/>
              </a:rPr>
              <a:t> Conclusions and Future Directions</a:t>
            </a:r>
          </a:p>
        </p:txBody>
      </p:sp>
    </p:spTree>
    <p:extLst>
      <p:ext uri="{BB962C8B-B14F-4D97-AF65-F5344CB8AC3E}">
        <p14:creationId xmlns:p14="http://schemas.microsoft.com/office/powerpoint/2010/main" val="3072122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48A3-AECA-082E-A27F-4B95C79E87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D257E-6C64-8AE4-6639-18F980AF4926}"/>
              </a:ext>
            </a:extLst>
          </p:cNvPr>
          <p:cNvSpPr>
            <a:spLocks noGrp="1"/>
          </p:cNvSpPr>
          <p:nvPr>
            <p:ph idx="1"/>
          </p:nvPr>
        </p:nvSpPr>
        <p:spPr>
          <a:xfrm>
            <a:off x="1834544" y="2112660"/>
            <a:ext cx="8522912" cy="2223365"/>
          </a:xfrm>
        </p:spPr>
        <p:txBody>
          <a:bodyPr>
            <a:noAutofit/>
          </a:bodyPr>
          <a:lstStyle/>
          <a:p>
            <a:pPr marL="571500" indent="-571500">
              <a:lnSpc>
                <a:spcPct val="125000"/>
              </a:lnSpc>
              <a:spcBef>
                <a:spcPts val="0"/>
              </a:spcBef>
              <a:spcAft>
                <a:spcPts val="1200"/>
              </a:spcAft>
              <a:buFont typeface="+mj-lt"/>
              <a:buAutoNum type="romanUcPeriod"/>
            </a:pPr>
            <a:r>
              <a:rPr lang="en-US" sz="5400" dirty="0">
                <a:latin typeface="Montserrat" pitchFamily="2" charset="77"/>
                <a:cs typeface="Arial" panose="020B0604020202020204" pitchFamily="34" charset="0"/>
              </a:rPr>
              <a:t>Introduction to lncRNA and NS-Forest</a:t>
            </a:r>
          </a:p>
        </p:txBody>
      </p:sp>
    </p:spTree>
    <p:extLst>
      <p:ext uri="{BB962C8B-B14F-4D97-AF65-F5344CB8AC3E}">
        <p14:creationId xmlns:p14="http://schemas.microsoft.com/office/powerpoint/2010/main" val="4162294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55B5-44D5-9E9F-25DC-2B03A12B2CD4}"/>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FCFF756-3DFD-8E29-B0E7-D3C0623C21D8}"/>
              </a:ext>
            </a:extLst>
          </p:cNvPr>
          <p:cNvSpPr>
            <a:spLocks noGrp="1"/>
          </p:cNvSpPr>
          <p:nvPr>
            <p:ph type="title"/>
          </p:nvPr>
        </p:nvSpPr>
        <p:spPr>
          <a:xfrm>
            <a:off x="319191" y="352552"/>
            <a:ext cx="8428161" cy="727405"/>
          </a:xfrm>
        </p:spPr>
        <p:txBody>
          <a:bodyPr>
            <a:noAutofit/>
          </a:bodyPr>
          <a:lstStyle/>
          <a:p>
            <a:r>
              <a:rPr lang="en-US" sz="5400" dirty="0">
                <a:latin typeface="Crimson Pro Medium" pitchFamily="2" charset="77"/>
                <a:cs typeface="Calibri" panose="020F0502020204030204" pitchFamily="34" charset="0"/>
              </a:rPr>
              <a:t>Non-Coding RNA (ncRNA)</a:t>
            </a:r>
            <a:endParaRPr lang="en-US" sz="54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3F65BF8-44CF-D393-F795-392335547EAF}"/>
              </a:ext>
            </a:extLst>
          </p:cNvPr>
          <p:cNvSpPr txBox="1"/>
          <p:nvPr/>
        </p:nvSpPr>
        <p:spPr>
          <a:xfrm>
            <a:off x="319191" y="1079957"/>
            <a:ext cx="11553618" cy="584775"/>
          </a:xfrm>
          <a:prstGeom prst="rect">
            <a:avLst/>
          </a:prstGeom>
          <a:noFill/>
        </p:spPr>
        <p:txBody>
          <a:bodyPr wrap="square">
            <a:spAutoFit/>
          </a:bodyPr>
          <a:lstStyle/>
          <a:p>
            <a:r>
              <a:rPr lang="en-US" sz="3200" i="1" dirty="0">
                <a:latin typeface="Montserrat" pitchFamily="2" charset="77"/>
                <a:cs typeface="Calibri" panose="020F0502020204030204" pitchFamily="34" charset="0"/>
              </a:rPr>
              <a:t>= transcriptional products that do not encode proteins.</a:t>
            </a:r>
            <a:endParaRPr lang="en-US" sz="3200" i="1" dirty="0"/>
          </a:p>
        </p:txBody>
      </p:sp>
      <p:sp>
        <p:nvSpPr>
          <p:cNvPr id="21" name="TextBox 20">
            <a:extLst>
              <a:ext uri="{FF2B5EF4-FFF2-40B4-BE49-F238E27FC236}">
                <a16:creationId xmlns:a16="http://schemas.microsoft.com/office/drawing/2014/main" id="{DBA2CA2A-4139-FAF4-50E0-AC9BF5690BD3}"/>
              </a:ext>
            </a:extLst>
          </p:cNvPr>
          <p:cNvSpPr txBox="1"/>
          <p:nvPr/>
        </p:nvSpPr>
        <p:spPr>
          <a:xfrm>
            <a:off x="319191" y="1604968"/>
            <a:ext cx="11330294" cy="427713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Montserrat" pitchFamily="2" charset="77"/>
                <a:cs typeface="Calibri" panose="020F0502020204030204" pitchFamily="34" charset="0"/>
              </a:rPr>
              <a:t>Though it's estimated that </a:t>
            </a:r>
            <a:r>
              <a:rPr lang="en-US" sz="2800" b="1" dirty="0">
                <a:latin typeface="Montserrat" pitchFamily="2" charset="77"/>
                <a:cs typeface="Calibri" panose="020F0502020204030204" pitchFamily="34" charset="0"/>
              </a:rPr>
              <a:t>~75%</a:t>
            </a:r>
            <a:r>
              <a:rPr lang="en-US" sz="2800" dirty="0">
                <a:latin typeface="Montserrat" pitchFamily="2" charset="77"/>
                <a:cs typeface="Calibri" panose="020F0502020204030204" pitchFamily="34" charset="0"/>
              </a:rPr>
              <a:t> of the human genome is transcribed, only </a:t>
            </a:r>
            <a:r>
              <a:rPr lang="en-US" sz="2800" b="1" dirty="0">
                <a:latin typeface="Montserrat" pitchFamily="2" charset="77"/>
                <a:cs typeface="Calibri" panose="020F0502020204030204" pitchFamily="34" charset="0"/>
              </a:rPr>
              <a:t>~2% </a:t>
            </a:r>
            <a:r>
              <a:rPr lang="en-US" sz="2800" dirty="0">
                <a:latin typeface="Montserrat" pitchFamily="2" charset="77"/>
                <a:cs typeface="Calibri" panose="020F0502020204030204" pitchFamily="34" charset="0"/>
              </a:rPr>
              <a:t>is protein coding!</a:t>
            </a:r>
          </a:p>
          <a:p>
            <a:pPr marL="457200" indent="-457200">
              <a:lnSpc>
                <a:spcPct val="150000"/>
              </a:lnSpc>
              <a:buFont typeface="Arial" panose="020B0604020202020204" pitchFamily="34" charset="0"/>
              <a:buChar char="•"/>
            </a:pPr>
            <a:r>
              <a:rPr lang="en-US" sz="2800" dirty="0">
                <a:latin typeface="Montserrat" pitchFamily="2" charset="77"/>
                <a:cs typeface="Calibri" panose="020F0502020204030204" pitchFamily="34" charset="0"/>
              </a:rPr>
              <a:t>ncRNA </a:t>
            </a:r>
            <a:r>
              <a:rPr lang="en-US" sz="2800" i="1" dirty="0">
                <a:latin typeface="Montserrat" pitchFamily="2" charset="77"/>
                <a:cs typeface="Calibri" panose="020F0502020204030204" pitchFamily="34" charset="0"/>
              </a:rPr>
              <a:t>initially</a:t>
            </a:r>
            <a:r>
              <a:rPr lang="en-US" sz="2800" dirty="0">
                <a:latin typeface="Montserrat" pitchFamily="2" charset="77"/>
                <a:cs typeface="Calibri" panose="020F0502020204030204" pitchFamily="34" charset="0"/>
              </a:rPr>
              <a:t> considered an RNA processing byproduct.</a:t>
            </a:r>
          </a:p>
          <a:p>
            <a:pPr marL="457200" indent="-457200">
              <a:lnSpc>
                <a:spcPct val="150000"/>
              </a:lnSpc>
              <a:buFont typeface="Arial" panose="020B0604020202020204" pitchFamily="34" charset="0"/>
              <a:buChar char="•"/>
            </a:pPr>
            <a:r>
              <a:rPr lang="en-US" sz="2800" u="sng" dirty="0">
                <a:latin typeface="Montserrat" pitchFamily="2" charset="77"/>
                <a:cs typeface="Calibri" panose="020F0502020204030204" pitchFamily="34" charset="0"/>
              </a:rPr>
              <a:t>Regulatory ncRNA Discovery Timeline:</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1990</a:t>
            </a:r>
            <a:r>
              <a:rPr lang="en-US" sz="2400" dirty="0">
                <a:latin typeface="Montserrat" pitchFamily="2" charset="77"/>
                <a:cs typeface="Calibri" panose="020F0502020204030204" pitchFamily="34" charset="0"/>
              </a:rPr>
              <a:t>: First human regulatory lncRNA, </a:t>
            </a:r>
            <a:r>
              <a:rPr lang="en-US" sz="2400" i="1" dirty="0">
                <a:latin typeface="Montserrat" pitchFamily="2" charset="77"/>
                <a:cs typeface="Calibri" panose="020F0502020204030204" pitchFamily="34" charset="0"/>
              </a:rPr>
              <a:t>H19</a:t>
            </a:r>
            <a:r>
              <a:rPr lang="en-US" sz="2400" dirty="0">
                <a:latin typeface="Montserrat" pitchFamily="2" charset="77"/>
                <a:cs typeface="Calibri" panose="020F0502020204030204" pitchFamily="34" charset="0"/>
              </a:rPr>
              <a:t>, identified.</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2007</a:t>
            </a:r>
            <a:r>
              <a:rPr lang="en-US" sz="2400" dirty="0">
                <a:latin typeface="Montserrat" pitchFamily="2" charset="77"/>
                <a:cs typeface="Calibri" panose="020F0502020204030204" pitchFamily="34" charset="0"/>
              </a:rPr>
              <a:t>: Encyclopedia of DNA Elements (ENCODE) project initiation.</a:t>
            </a:r>
          </a:p>
          <a:p>
            <a:pPr marL="914400" lvl="1" indent="-457200">
              <a:lnSpc>
                <a:spcPct val="150000"/>
              </a:lnSpc>
              <a:buFont typeface="Arial" panose="020B0604020202020204" pitchFamily="34" charset="0"/>
              <a:buChar char="•"/>
            </a:pPr>
            <a:r>
              <a:rPr lang="en-US" sz="2400" b="1" dirty="0">
                <a:latin typeface="Montserrat" pitchFamily="2" charset="77"/>
                <a:cs typeface="Calibri" panose="020F0502020204030204" pitchFamily="34" charset="0"/>
              </a:rPr>
              <a:t>2019</a:t>
            </a:r>
            <a:r>
              <a:rPr lang="en-US" sz="2400" dirty="0">
                <a:latin typeface="Montserrat" pitchFamily="2" charset="77"/>
                <a:cs typeface="Calibri" panose="020F0502020204030204" pitchFamily="34" charset="0"/>
              </a:rPr>
              <a:t>: First FDA-approved diagnostic lncRNA biomarker.</a:t>
            </a:r>
          </a:p>
        </p:txBody>
      </p:sp>
      <p:sp>
        <p:nvSpPr>
          <p:cNvPr id="2" name="TextBox 1">
            <a:extLst>
              <a:ext uri="{FF2B5EF4-FFF2-40B4-BE49-F238E27FC236}">
                <a16:creationId xmlns:a16="http://schemas.microsoft.com/office/drawing/2014/main" id="{107731DF-F438-8B6E-F246-159BCC13E48B}"/>
              </a:ext>
            </a:extLst>
          </p:cNvPr>
          <p:cNvSpPr txBox="1"/>
          <p:nvPr/>
        </p:nvSpPr>
        <p:spPr>
          <a:xfrm>
            <a:off x="4337566" y="6114788"/>
            <a:ext cx="7735772" cy="584775"/>
          </a:xfrm>
          <a:prstGeom prst="rect">
            <a:avLst/>
          </a:prstGeom>
          <a:noFill/>
        </p:spPr>
        <p:txBody>
          <a:bodyPr wrap="square" rtlCol="0">
            <a:spAutoFit/>
          </a:bodyPr>
          <a:lstStyle/>
          <a:p>
            <a:pPr algn="r"/>
            <a:r>
              <a:rPr lang="en-US" sz="1600" dirty="0" err="1">
                <a:solidFill>
                  <a:schemeClr val="bg1"/>
                </a:solidFill>
                <a:latin typeface="Calibri" panose="020F0502020204030204" pitchFamily="34" charset="0"/>
                <a:cs typeface="Calibri" panose="020F0502020204030204" pitchFamily="34" charset="0"/>
              </a:rPr>
              <a:t>Djebali</a:t>
            </a:r>
            <a:r>
              <a:rPr lang="en-US" sz="1600" dirty="0">
                <a:solidFill>
                  <a:schemeClr val="bg1"/>
                </a:solidFill>
                <a:latin typeface="Calibri" panose="020F0502020204030204" pitchFamily="34" charset="0"/>
                <a:cs typeface="Calibri" panose="020F0502020204030204" pitchFamily="34" charset="0"/>
              </a:rPr>
              <a:t> et al. (2012) </a:t>
            </a:r>
            <a:r>
              <a:rPr lang="en-US" sz="1600" b="1" dirty="0">
                <a:solidFill>
                  <a:schemeClr val="bg1"/>
                </a:solidFill>
                <a:latin typeface="Calibri" panose="020F0502020204030204" pitchFamily="34" charset="0"/>
                <a:cs typeface="Calibri" panose="020F0502020204030204" pitchFamily="34" charset="0"/>
              </a:rPr>
              <a:t>Landscape of transcription in human cells.</a:t>
            </a:r>
            <a:endParaRPr lang="en-US" sz="1600" dirty="0">
              <a:solidFill>
                <a:schemeClr val="bg1"/>
              </a:solidFill>
              <a:latin typeface="Calibri" panose="020F0502020204030204" pitchFamily="34" charset="0"/>
              <a:cs typeface="Calibri" panose="020F0502020204030204" pitchFamily="34" charset="0"/>
            </a:endParaRPr>
          </a:p>
          <a:p>
            <a:pPr algn="r"/>
            <a:r>
              <a:rPr lang="en-US" sz="1600" dirty="0">
                <a:solidFill>
                  <a:schemeClr val="bg1"/>
                </a:solidFill>
                <a:latin typeface="Calibri" panose="020F0502020204030204" pitchFamily="34" charset="0"/>
                <a:cs typeface="Calibri" panose="020F0502020204030204" pitchFamily="34" charset="0"/>
              </a:rPr>
              <a:t>Chen et al. (2024) </a:t>
            </a:r>
            <a:r>
              <a:rPr lang="en-US" sz="1600" b="1" dirty="0">
                <a:solidFill>
                  <a:schemeClr val="bg1"/>
                </a:solidFill>
                <a:latin typeface="Calibri" panose="020F0502020204030204" pitchFamily="34" charset="0"/>
                <a:cs typeface="Calibri" panose="020F0502020204030204" pitchFamily="34" charset="0"/>
              </a:rPr>
              <a:t>Small and long non-coding RNAs: Past, present, and future.</a:t>
            </a:r>
          </a:p>
        </p:txBody>
      </p:sp>
    </p:spTree>
    <p:extLst>
      <p:ext uri="{BB962C8B-B14F-4D97-AF65-F5344CB8AC3E}">
        <p14:creationId xmlns:p14="http://schemas.microsoft.com/office/powerpoint/2010/main" val="250603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F52E9-E100-DDD8-64A0-A0B5FA55725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656E1A5-DAE6-3074-D629-5949D09088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846" y="129033"/>
            <a:ext cx="3384621" cy="5794613"/>
          </a:xfrm>
          <a:prstGeom prst="rect">
            <a:avLst/>
          </a:prstGeom>
        </p:spPr>
      </p:pic>
      <p:sp>
        <p:nvSpPr>
          <p:cNvPr id="2" name="Title 1">
            <a:extLst>
              <a:ext uri="{FF2B5EF4-FFF2-40B4-BE49-F238E27FC236}">
                <a16:creationId xmlns:a16="http://schemas.microsoft.com/office/drawing/2014/main" id="{5DDDD79C-2741-C4BD-F5BE-3C3290451E5B}"/>
              </a:ext>
            </a:extLst>
          </p:cNvPr>
          <p:cNvSpPr>
            <a:spLocks noGrp="1"/>
          </p:cNvSpPr>
          <p:nvPr>
            <p:ph type="title"/>
          </p:nvPr>
        </p:nvSpPr>
        <p:spPr>
          <a:xfrm>
            <a:off x="302006" y="319820"/>
            <a:ext cx="9603261" cy="727405"/>
          </a:xfrm>
        </p:spPr>
        <p:txBody>
          <a:bodyPr>
            <a:noAutofit/>
          </a:bodyPr>
          <a:lstStyle/>
          <a:p>
            <a:r>
              <a:rPr lang="en-US" sz="5400" dirty="0">
                <a:latin typeface="Crimson Pro Medium" pitchFamily="2" charset="77"/>
              </a:rPr>
              <a:t>Long Non-Coding RNA</a:t>
            </a:r>
          </a:p>
        </p:txBody>
      </p:sp>
      <p:sp>
        <p:nvSpPr>
          <p:cNvPr id="3" name="Content Placeholder 2">
            <a:extLst>
              <a:ext uri="{FF2B5EF4-FFF2-40B4-BE49-F238E27FC236}">
                <a16:creationId xmlns:a16="http://schemas.microsoft.com/office/drawing/2014/main" id="{5C5F4707-CF64-95A5-3F27-A397C5ABB391}"/>
              </a:ext>
            </a:extLst>
          </p:cNvPr>
          <p:cNvSpPr>
            <a:spLocks noGrp="1"/>
          </p:cNvSpPr>
          <p:nvPr>
            <p:ph idx="1"/>
          </p:nvPr>
        </p:nvSpPr>
        <p:spPr>
          <a:xfrm>
            <a:off x="437045" y="1661715"/>
            <a:ext cx="8155412" cy="4082368"/>
          </a:xfrm>
        </p:spPr>
        <p:txBody>
          <a:bodyPr>
            <a:noAutofit/>
          </a:bodyPr>
          <a:lstStyle/>
          <a:p>
            <a:pPr>
              <a:lnSpc>
                <a:spcPts val="2880"/>
              </a:lnSpc>
            </a:pPr>
            <a:r>
              <a:rPr lang="en-US" sz="2400" dirty="0">
                <a:latin typeface="Montserrat" pitchFamily="2" charset="77"/>
              </a:rPr>
              <a:t>Generally abbreviated to </a:t>
            </a:r>
            <a:r>
              <a:rPr lang="en-US" sz="2400" b="1" dirty="0">
                <a:latin typeface="Montserrat" pitchFamily="2" charset="77"/>
              </a:rPr>
              <a:t>lncRNA</a:t>
            </a:r>
            <a:r>
              <a:rPr lang="en-US" sz="2400" dirty="0">
                <a:latin typeface="Montserrat" pitchFamily="2" charset="77"/>
              </a:rPr>
              <a:t>.</a:t>
            </a:r>
          </a:p>
          <a:p>
            <a:pPr>
              <a:lnSpc>
                <a:spcPts val="2880"/>
              </a:lnSpc>
            </a:pPr>
            <a:r>
              <a:rPr lang="en-US" sz="2400" b="1" dirty="0">
                <a:latin typeface="Montserrat" pitchFamily="2" charset="77"/>
              </a:rPr>
              <a:t>Regulate</a:t>
            </a:r>
            <a:r>
              <a:rPr lang="en-US" sz="2400" dirty="0">
                <a:latin typeface="Montserrat" pitchFamily="2" charset="77"/>
              </a:rPr>
              <a:t> gene expression through diverse nuclear and cytoplasmic mechanisms.</a:t>
            </a:r>
          </a:p>
          <a:p>
            <a:pPr>
              <a:lnSpc>
                <a:spcPts val="2880"/>
              </a:lnSpc>
            </a:pPr>
            <a:r>
              <a:rPr lang="en-US" sz="2400" dirty="0">
                <a:latin typeface="Montserrat" pitchFamily="2" charset="77"/>
              </a:rPr>
              <a:t>lncRNA genes generally exhibit </a:t>
            </a:r>
            <a:r>
              <a:rPr lang="en-US" sz="2400" b="1" dirty="0">
                <a:latin typeface="Montserrat" pitchFamily="2" charset="77"/>
              </a:rPr>
              <a:t>lower expression</a:t>
            </a:r>
            <a:r>
              <a:rPr lang="en-US" sz="2400" i="1" dirty="0">
                <a:latin typeface="Montserrat" pitchFamily="2" charset="77"/>
              </a:rPr>
              <a:t> </a:t>
            </a:r>
            <a:r>
              <a:rPr lang="en-US" sz="2400" dirty="0">
                <a:latin typeface="Montserrat" pitchFamily="2" charset="77"/>
              </a:rPr>
              <a:t>but </a:t>
            </a:r>
            <a:r>
              <a:rPr lang="en-US" sz="2400" b="1" dirty="0">
                <a:latin typeface="Montserrat" pitchFamily="2" charset="77"/>
              </a:rPr>
              <a:t>greater cell-type specificity.</a:t>
            </a:r>
            <a:endParaRPr lang="en-US" sz="2000" dirty="0">
              <a:latin typeface="Montserrat" pitchFamily="2" charset="77"/>
            </a:endParaRPr>
          </a:p>
          <a:p>
            <a:pPr lvl="1">
              <a:lnSpc>
                <a:spcPts val="2880"/>
              </a:lnSpc>
            </a:pPr>
            <a:r>
              <a:rPr lang="en-US" sz="2000" b="1" i="1" dirty="0">
                <a:latin typeface="Montserrat" pitchFamily="2" charset="77"/>
              </a:rPr>
              <a:t>Specificity</a:t>
            </a:r>
            <a:r>
              <a:rPr lang="en-US" sz="2000" dirty="0">
                <a:latin typeface="Montserrat" pitchFamily="2" charset="77"/>
              </a:rPr>
              <a:t> is a key trait for biomarker candidates.</a:t>
            </a:r>
          </a:p>
          <a:p>
            <a:pPr lvl="1">
              <a:lnSpc>
                <a:spcPts val="2880"/>
              </a:lnSpc>
            </a:pPr>
            <a:r>
              <a:rPr lang="en-US" sz="2000" dirty="0">
                <a:latin typeface="Montserrat" pitchFamily="2" charset="77"/>
              </a:rPr>
              <a:t>Many lncRNA genes only annotated recently.</a:t>
            </a:r>
          </a:p>
          <a:p>
            <a:pPr>
              <a:lnSpc>
                <a:spcPts val="2880"/>
              </a:lnSpc>
            </a:pPr>
            <a:r>
              <a:rPr lang="en-US" sz="2400" dirty="0">
                <a:latin typeface="Montserrat" pitchFamily="2" charset="77"/>
              </a:rPr>
              <a:t>Utility for distinguishing healthy cell types remains </a:t>
            </a:r>
            <a:r>
              <a:rPr lang="en-US" sz="2400" b="1" dirty="0">
                <a:latin typeface="Montserrat" pitchFamily="2" charset="77"/>
              </a:rPr>
              <a:t>poorly characterized</a:t>
            </a:r>
            <a:r>
              <a:rPr lang="en-US" sz="2400" dirty="0">
                <a:latin typeface="Montserrat" pitchFamily="2" charset="77"/>
              </a:rPr>
              <a:t>.</a:t>
            </a:r>
          </a:p>
        </p:txBody>
      </p:sp>
      <p:sp>
        <p:nvSpPr>
          <p:cNvPr id="14" name="TextBox 13">
            <a:extLst>
              <a:ext uri="{FF2B5EF4-FFF2-40B4-BE49-F238E27FC236}">
                <a16:creationId xmlns:a16="http://schemas.microsoft.com/office/drawing/2014/main" id="{E356525A-8BB4-3951-F704-3EB52180C33E}"/>
              </a:ext>
            </a:extLst>
          </p:cNvPr>
          <p:cNvSpPr txBox="1"/>
          <p:nvPr/>
        </p:nvSpPr>
        <p:spPr>
          <a:xfrm>
            <a:off x="299946" y="1076253"/>
            <a:ext cx="8708588" cy="400110"/>
          </a:xfrm>
          <a:prstGeom prst="rect">
            <a:avLst/>
          </a:prstGeom>
          <a:noFill/>
        </p:spPr>
        <p:txBody>
          <a:bodyPr wrap="square">
            <a:spAutoFit/>
          </a:bodyPr>
          <a:lstStyle/>
          <a:p>
            <a:pPr marL="0" indent="0">
              <a:buNone/>
            </a:pPr>
            <a:r>
              <a:rPr lang="en-US" sz="2000" i="1" dirty="0">
                <a:latin typeface="Montserrat" pitchFamily="2" charset="77"/>
              </a:rPr>
              <a:t>= non-coding RNA transcripts </a:t>
            </a:r>
            <a:r>
              <a:rPr lang="en-US" sz="2000" i="1" u="sng" dirty="0">
                <a:latin typeface="Montserrat" pitchFamily="2" charset="77"/>
              </a:rPr>
              <a:t>greater than 200</a:t>
            </a:r>
            <a:r>
              <a:rPr lang="en-US" sz="2000" i="1" dirty="0">
                <a:latin typeface="Montserrat" pitchFamily="2" charset="77"/>
              </a:rPr>
              <a:t> nucleotides long.</a:t>
            </a:r>
          </a:p>
        </p:txBody>
      </p:sp>
      <p:sp>
        <p:nvSpPr>
          <p:cNvPr id="9" name="TextBox 8">
            <a:extLst>
              <a:ext uri="{FF2B5EF4-FFF2-40B4-BE49-F238E27FC236}">
                <a16:creationId xmlns:a16="http://schemas.microsoft.com/office/drawing/2014/main" id="{23271613-A638-D736-4336-A22BF2A60E55}"/>
              </a:ext>
            </a:extLst>
          </p:cNvPr>
          <p:cNvSpPr txBox="1"/>
          <p:nvPr/>
        </p:nvSpPr>
        <p:spPr>
          <a:xfrm>
            <a:off x="4319081" y="6144192"/>
            <a:ext cx="7655205"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Poloni et al. (2024) </a:t>
            </a:r>
            <a:r>
              <a:rPr lang="en-US" sz="1600" b="1" dirty="0">
                <a:solidFill>
                  <a:schemeClr val="bg1"/>
                </a:solidFill>
                <a:latin typeface="Calibri" panose="020F0502020204030204" pitchFamily="34" charset="0"/>
                <a:cs typeface="Calibri" panose="020F0502020204030204" pitchFamily="34" charset="0"/>
              </a:rPr>
              <a:t>Localization is the key to action: regulatory peculiarities of lncRNAs. </a:t>
            </a:r>
            <a:r>
              <a:rPr lang="en-US" sz="1600" dirty="0">
                <a:solidFill>
                  <a:schemeClr val="bg1"/>
                </a:solidFill>
                <a:latin typeface="Calibri" panose="020F0502020204030204" pitchFamily="34" charset="0"/>
                <a:cs typeface="Calibri" panose="020F0502020204030204" pitchFamily="34" charset="0"/>
              </a:rPr>
              <a:t>Figure 1(b). “Molecular function of lncRNAs.”</a:t>
            </a:r>
          </a:p>
        </p:txBody>
      </p:sp>
    </p:spTree>
    <p:extLst>
      <p:ext uri="{BB962C8B-B14F-4D97-AF65-F5344CB8AC3E}">
        <p14:creationId xmlns:p14="http://schemas.microsoft.com/office/powerpoint/2010/main" val="3971832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9EE94-0951-34A8-53A9-2E1034A4F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D83C7-A001-4656-6E2C-A8D8DF7B08B5}"/>
              </a:ext>
            </a:extLst>
          </p:cNvPr>
          <p:cNvSpPr>
            <a:spLocks noGrp="1"/>
          </p:cNvSpPr>
          <p:nvPr>
            <p:ph type="title"/>
          </p:nvPr>
        </p:nvSpPr>
        <p:spPr>
          <a:xfrm>
            <a:off x="385131" y="352762"/>
            <a:ext cx="9603261" cy="727405"/>
          </a:xfrm>
        </p:spPr>
        <p:txBody>
          <a:bodyPr>
            <a:noAutofit/>
          </a:bodyPr>
          <a:lstStyle/>
          <a:p>
            <a:r>
              <a:rPr lang="en-US" sz="5400" dirty="0">
                <a:latin typeface="Crimson Pro Medium" pitchFamily="2" charset="77"/>
              </a:rPr>
              <a:t>NS-Forest v4.1</a:t>
            </a:r>
          </a:p>
        </p:txBody>
      </p:sp>
      <p:sp>
        <p:nvSpPr>
          <p:cNvPr id="3" name="Content Placeholder 2">
            <a:extLst>
              <a:ext uri="{FF2B5EF4-FFF2-40B4-BE49-F238E27FC236}">
                <a16:creationId xmlns:a16="http://schemas.microsoft.com/office/drawing/2014/main" id="{BB62DD8B-F5CC-811D-1F71-5A3791269BD4}"/>
              </a:ext>
            </a:extLst>
          </p:cNvPr>
          <p:cNvSpPr>
            <a:spLocks noGrp="1"/>
          </p:cNvSpPr>
          <p:nvPr>
            <p:ph idx="1"/>
          </p:nvPr>
        </p:nvSpPr>
        <p:spPr>
          <a:xfrm>
            <a:off x="3661598" y="1828799"/>
            <a:ext cx="8397353" cy="4165600"/>
          </a:xfrm>
        </p:spPr>
        <p:txBody>
          <a:bodyPr>
            <a:noAutofit/>
          </a:bodyPr>
          <a:lstStyle/>
          <a:p>
            <a:pPr>
              <a:lnSpc>
                <a:spcPts val="2880"/>
              </a:lnSpc>
            </a:pPr>
            <a:r>
              <a:rPr lang="en-US" sz="2400" dirty="0">
                <a:latin typeface="Montserrat" pitchFamily="2" charset="77"/>
              </a:rPr>
              <a:t>Candidate biomarkers prioritized based on </a:t>
            </a:r>
            <a:r>
              <a:rPr lang="en-US" sz="2400" b="1" dirty="0">
                <a:latin typeface="Montserrat" pitchFamily="2" charset="77"/>
              </a:rPr>
              <a:t>positive binary expression patterns</a:t>
            </a:r>
            <a:r>
              <a:rPr lang="en-US" sz="2400" dirty="0">
                <a:latin typeface="Montserrat" pitchFamily="2" charset="77"/>
              </a:rPr>
              <a:t>.</a:t>
            </a:r>
          </a:p>
          <a:p>
            <a:pPr lvl="1">
              <a:lnSpc>
                <a:spcPts val="2880"/>
              </a:lnSpc>
            </a:pPr>
            <a:r>
              <a:rPr lang="en-US" sz="2000" u="sng" dirty="0">
                <a:latin typeface="Montserrat" pitchFamily="2" charset="77"/>
              </a:rPr>
              <a:t>Binary Score</a:t>
            </a:r>
            <a:r>
              <a:rPr lang="en-US" sz="2000" dirty="0">
                <a:latin typeface="Montserrat" pitchFamily="2" charset="77"/>
              </a:rPr>
              <a:t> = </a:t>
            </a:r>
            <a:r>
              <a:rPr lang="en-US" sz="2000" b="1" i="1" dirty="0">
                <a:latin typeface="Montserrat" pitchFamily="2" charset="77"/>
              </a:rPr>
              <a:t>[0,1] </a:t>
            </a:r>
            <a:r>
              <a:rPr lang="en-US" sz="2000" dirty="0">
                <a:latin typeface="Montserrat" pitchFamily="2" charset="77"/>
              </a:rPr>
              <a:t>measure of the specificity of a gene's expression to a given cell type. </a:t>
            </a:r>
          </a:p>
          <a:p>
            <a:pPr lvl="1">
              <a:lnSpc>
                <a:spcPts val="2880"/>
              </a:lnSpc>
            </a:pPr>
            <a:r>
              <a:rPr lang="en-US" sz="2000" b="1" i="1" dirty="0">
                <a:latin typeface="Montserrat" pitchFamily="2" charset="77"/>
              </a:rPr>
              <a:t>0</a:t>
            </a:r>
            <a:r>
              <a:rPr lang="en-US" sz="2000" dirty="0">
                <a:latin typeface="Montserrat" pitchFamily="2" charset="77"/>
              </a:rPr>
              <a:t> = gene is </a:t>
            </a:r>
            <a:r>
              <a:rPr lang="en-US" sz="2000" i="1" dirty="0">
                <a:latin typeface="Montserrat" pitchFamily="2" charset="77"/>
              </a:rPr>
              <a:t>more highly expressed in every other cell type </a:t>
            </a:r>
            <a:r>
              <a:rPr lang="en-US" sz="2000" dirty="0">
                <a:latin typeface="Montserrat" pitchFamily="2" charset="77"/>
              </a:rPr>
              <a:t>in comparison to the target.</a:t>
            </a:r>
          </a:p>
          <a:p>
            <a:pPr lvl="1">
              <a:lnSpc>
                <a:spcPts val="2880"/>
              </a:lnSpc>
            </a:pPr>
            <a:r>
              <a:rPr lang="en-US" sz="2000" b="1" i="1" dirty="0">
                <a:latin typeface="Montserrat" pitchFamily="2" charset="77"/>
              </a:rPr>
              <a:t>1</a:t>
            </a:r>
            <a:r>
              <a:rPr lang="en-US" sz="2000" dirty="0">
                <a:latin typeface="Montserrat" pitchFamily="2" charset="77"/>
              </a:rPr>
              <a:t> = gene is </a:t>
            </a:r>
            <a:r>
              <a:rPr lang="en-US" sz="2000" i="1" dirty="0">
                <a:latin typeface="Montserrat" pitchFamily="2" charset="77"/>
              </a:rPr>
              <a:t>only</a:t>
            </a:r>
            <a:r>
              <a:rPr lang="en-US" sz="2000" dirty="0">
                <a:latin typeface="Montserrat" pitchFamily="2" charset="77"/>
              </a:rPr>
              <a:t> expressed in the target cell type</a:t>
            </a:r>
          </a:p>
          <a:p>
            <a:pPr>
              <a:lnSpc>
                <a:spcPts val="2880"/>
              </a:lnSpc>
            </a:pPr>
            <a:r>
              <a:rPr lang="en-US" sz="2400" dirty="0">
                <a:latin typeface="Montserrat" pitchFamily="2" charset="77"/>
              </a:rPr>
              <a:t>In NS-Forest runs on diverse tissues, it frequently identified </a:t>
            </a:r>
            <a:r>
              <a:rPr lang="en-US" sz="2400" b="1" dirty="0">
                <a:latin typeface="Montserrat" pitchFamily="2" charset="77"/>
              </a:rPr>
              <a:t>lncRNAs</a:t>
            </a:r>
            <a:r>
              <a:rPr lang="en-US" sz="2400" dirty="0">
                <a:latin typeface="Montserrat" pitchFamily="2" charset="77"/>
              </a:rPr>
              <a:t> as cell type specific markers</a:t>
            </a:r>
            <a:r>
              <a:rPr lang="en-US" sz="2400" i="1" dirty="0">
                <a:latin typeface="Montserrat" pitchFamily="2" charset="77"/>
              </a:rPr>
              <a:t> if the tissue was enriched</a:t>
            </a:r>
            <a:r>
              <a:rPr lang="en-US" sz="2400" dirty="0">
                <a:latin typeface="Montserrat" pitchFamily="2" charset="77"/>
              </a:rPr>
              <a:t> in </a:t>
            </a:r>
            <a:r>
              <a:rPr lang="en-US" sz="2400" b="1" dirty="0">
                <a:latin typeface="Montserrat" pitchFamily="2" charset="77"/>
              </a:rPr>
              <a:t>neuronal</a:t>
            </a:r>
            <a:r>
              <a:rPr lang="en-US" sz="2400" dirty="0">
                <a:latin typeface="Montserrat" pitchFamily="2" charset="77"/>
              </a:rPr>
              <a:t> cell types.</a:t>
            </a:r>
          </a:p>
          <a:p>
            <a:pPr marL="0" indent="0">
              <a:lnSpc>
                <a:spcPts val="2880"/>
              </a:lnSpc>
              <a:buNone/>
            </a:pPr>
            <a:endParaRPr lang="en-US" sz="2400" b="1" dirty="0">
              <a:latin typeface="Montserrat" pitchFamily="2" charset="77"/>
            </a:endParaRPr>
          </a:p>
        </p:txBody>
      </p:sp>
      <p:sp>
        <p:nvSpPr>
          <p:cNvPr id="9" name="TextBox 8">
            <a:extLst>
              <a:ext uri="{FF2B5EF4-FFF2-40B4-BE49-F238E27FC236}">
                <a16:creationId xmlns:a16="http://schemas.microsoft.com/office/drawing/2014/main" id="{2B2F2878-05A4-B67F-825B-C21C6965B28D}"/>
              </a:ext>
            </a:extLst>
          </p:cNvPr>
          <p:cNvSpPr txBox="1"/>
          <p:nvPr/>
        </p:nvSpPr>
        <p:spPr>
          <a:xfrm>
            <a:off x="6096000" y="6144192"/>
            <a:ext cx="5878286"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Liu et al. (2024) </a:t>
            </a:r>
            <a:r>
              <a:rPr lang="en-US" sz="1600" b="1" dirty="0">
                <a:solidFill>
                  <a:schemeClr val="bg1"/>
                </a:solidFill>
                <a:latin typeface="Calibri" panose="020F0502020204030204" pitchFamily="34" charset="0"/>
                <a:cs typeface="Calibri" panose="020F0502020204030204" pitchFamily="34" charset="0"/>
              </a:rPr>
              <a:t>Discovery of optimal cell type classification marker genes from single cell RNA sequencing data. </a:t>
            </a:r>
            <a:endParaRPr lang="en-US" sz="1600" dirty="0">
              <a:solidFill>
                <a:schemeClr val="bg1"/>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400ECE0-21C7-FAE2-7C96-5D822DC60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742" y="2045924"/>
            <a:ext cx="3148191" cy="3643740"/>
          </a:xfrm>
          <a:prstGeom prst="rect">
            <a:avLst/>
          </a:prstGeom>
        </p:spPr>
      </p:pic>
      <p:sp>
        <p:nvSpPr>
          <p:cNvPr id="7" name="TextBox 6">
            <a:extLst>
              <a:ext uri="{FF2B5EF4-FFF2-40B4-BE49-F238E27FC236}">
                <a16:creationId xmlns:a16="http://schemas.microsoft.com/office/drawing/2014/main" id="{ECC34EC7-30C1-4741-4329-F31934DE0B78}"/>
              </a:ext>
            </a:extLst>
          </p:cNvPr>
          <p:cNvSpPr txBox="1"/>
          <p:nvPr/>
        </p:nvSpPr>
        <p:spPr>
          <a:xfrm>
            <a:off x="385131" y="1060661"/>
            <a:ext cx="11421738" cy="819135"/>
          </a:xfrm>
          <a:prstGeom prst="rect">
            <a:avLst/>
          </a:prstGeom>
          <a:noFill/>
        </p:spPr>
        <p:txBody>
          <a:bodyPr wrap="square">
            <a:spAutoFit/>
          </a:bodyPr>
          <a:lstStyle/>
          <a:p>
            <a:pPr marL="0" indent="0">
              <a:lnSpc>
                <a:spcPts val="2880"/>
              </a:lnSpc>
              <a:buNone/>
            </a:pPr>
            <a:r>
              <a:rPr lang="en-US" sz="2400" i="1" dirty="0">
                <a:latin typeface="Montserrat" pitchFamily="2" charset="77"/>
              </a:rPr>
              <a:t>= identifies minimal marker gene sets (</a:t>
            </a:r>
            <a:r>
              <a:rPr lang="en-US" sz="2400" i="1" u="sng" dirty="0">
                <a:latin typeface="Montserrat" pitchFamily="2" charset="77"/>
              </a:rPr>
              <a:t>biomarkers</a:t>
            </a:r>
            <a:r>
              <a:rPr lang="en-US" sz="2400" i="1" dirty="0">
                <a:latin typeface="Montserrat" pitchFamily="2" charset="77"/>
              </a:rPr>
              <a:t>) that classify cell types using random forest models. </a:t>
            </a:r>
          </a:p>
        </p:txBody>
      </p:sp>
    </p:spTree>
    <p:extLst>
      <p:ext uri="{BB962C8B-B14F-4D97-AF65-F5344CB8AC3E}">
        <p14:creationId xmlns:p14="http://schemas.microsoft.com/office/powerpoint/2010/main" val="478986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C4EB6-7E1B-0630-3BB4-F33F8537C2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48D3E-BB8E-1FBD-39A5-C7D6F3B26B49}"/>
              </a:ext>
            </a:extLst>
          </p:cNvPr>
          <p:cNvSpPr>
            <a:spLocks noGrp="1"/>
          </p:cNvSpPr>
          <p:nvPr>
            <p:ph idx="1"/>
          </p:nvPr>
        </p:nvSpPr>
        <p:spPr>
          <a:xfrm>
            <a:off x="1735069" y="457181"/>
            <a:ext cx="8721862" cy="5217906"/>
          </a:xfrm>
        </p:spPr>
        <p:txBody>
          <a:bodyPr>
            <a:noAutofit/>
          </a:bodyPr>
          <a:lstStyle/>
          <a:p>
            <a:pPr marL="0" indent="0" algn="ctr">
              <a:lnSpc>
                <a:spcPts val="4380"/>
              </a:lnSpc>
              <a:spcBef>
                <a:spcPts val="0"/>
              </a:spcBef>
              <a:spcAft>
                <a:spcPts val="1800"/>
              </a:spcAft>
              <a:buNone/>
            </a:pPr>
            <a:r>
              <a:rPr lang="en-US" sz="3200" b="1" dirty="0">
                <a:latin typeface="Montserrat" pitchFamily="2" charset="77"/>
              </a:rPr>
              <a:t>We aimed to evaluate:</a:t>
            </a:r>
          </a:p>
          <a:p>
            <a:pPr>
              <a:lnSpc>
                <a:spcPts val="4380"/>
              </a:lnSpc>
              <a:spcBef>
                <a:spcPts val="0"/>
              </a:spcBef>
              <a:spcAft>
                <a:spcPts val="1800"/>
              </a:spcAft>
            </a:pPr>
            <a:r>
              <a:rPr lang="en-US" sz="3200" dirty="0">
                <a:latin typeface="Montserrat" pitchFamily="2" charset="77"/>
              </a:rPr>
              <a:t>Whether lncRNAs alone retain   sufficient </a:t>
            </a:r>
            <a:r>
              <a:rPr lang="en-US" sz="3200" b="1" dirty="0">
                <a:latin typeface="Montserrat" pitchFamily="2" charset="77"/>
              </a:rPr>
              <a:t>discriminatory</a:t>
            </a:r>
            <a:r>
              <a:rPr lang="en-US" sz="3200" dirty="0">
                <a:latin typeface="Montserrat" pitchFamily="2" charset="77"/>
              </a:rPr>
              <a:t> </a:t>
            </a:r>
            <a:r>
              <a:rPr lang="en-US" sz="3200" b="1" dirty="0">
                <a:latin typeface="Montserrat" pitchFamily="2" charset="77"/>
              </a:rPr>
              <a:t>information</a:t>
            </a:r>
            <a:r>
              <a:rPr lang="en-US" sz="3200" dirty="0">
                <a:latin typeface="Montserrat" pitchFamily="2" charset="77"/>
              </a:rPr>
              <a:t> to </a:t>
            </a:r>
            <a:r>
              <a:rPr lang="en-US" sz="3200" b="1" dirty="0">
                <a:latin typeface="Montserrat" pitchFamily="2" charset="77"/>
              </a:rPr>
              <a:t>classify</a:t>
            </a:r>
            <a:r>
              <a:rPr lang="en-US" sz="3200" dirty="0">
                <a:latin typeface="Montserrat" pitchFamily="2" charset="77"/>
              </a:rPr>
              <a:t> cell types.</a:t>
            </a:r>
          </a:p>
          <a:p>
            <a:pPr>
              <a:lnSpc>
                <a:spcPts val="4380"/>
              </a:lnSpc>
              <a:spcBef>
                <a:spcPts val="0"/>
              </a:spcBef>
              <a:spcAft>
                <a:spcPts val="600"/>
              </a:spcAft>
            </a:pPr>
            <a:r>
              <a:rPr lang="en-US" sz="3200" dirty="0">
                <a:latin typeface="Montserrat" pitchFamily="2" charset="77"/>
              </a:rPr>
              <a:t>Whether lncRNA </a:t>
            </a:r>
            <a:r>
              <a:rPr lang="en-US" sz="3200" b="1" dirty="0">
                <a:latin typeface="Montserrat" pitchFamily="2" charset="77"/>
              </a:rPr>
              <a:t>biomarker potential</a:t>
            </a:r>
            <a:r>
              <a:rPr lang="en-US" sz="3200" dirty="0">
                <a:latin typeface="Montserrat" pitchFamily="2" charset="77"/>
              </a:rPr>
              <a:t>... </a:t>
            </a:r>
          </a:p>
          <a:p>
            <a:pPr lvl="1">
              <a:lnSpc>
                <a:spcPts val="3280"/>
              </a:lnSpc>
              <a:spcBef>
                <a:spcPts val="0"/>
              </a:spcBef>
              <a:spcAft>
                <a:spcPts val="600"/>
              </a:spcAft>
            </a:pPr>
            <a:r>
              <a:rPr lang="en-US" sz="2800" dirty="0">
                <a:latin typeface="Montserrat" pitchFamily="2" charset="77"/>
              </a:rPr>
              <a:t>...differs between </a:t>
            </a:r>
            <a:r>
              <a:rPr lang="en-US" sz="2800" b="1" i="1" dirty="0">
                <a:latin typeface="Montserrat" pitchFamily="2" charset="77"/>
              </a:rPr>
              <a:t>neural and non-neural</a:t>
            </a:r>
            <a:r>
              <a:rPr lang="en-US" sz="2800" i="1" dirty="0">
                <a:latin typeface="Montserrat" pitchFamily="2" charset="77"/>
              </a:rPr>
              <a:t> </a:t>
            </a:r>
            <a:r>
              <a:rPr lang="en-US" sz="2800" dirty="0">
                <a:latin typeface="Montserrat" pitchFamily="2" charset="77"/>
              </a:rPr>
              <a:t>healthy human tissues.</a:t>
            </a:r>
          </a:p>
          <a:p>
            <a:pPr lvl="1">
              <a:lnSpc>
                <a:spcPts val="3280"/>
              </a:lnSpc>
              <a:spcBef>
                <a:spcPts val="0"/>
              </a:spcBef>
              <a:spcAft>
                <a:spcPts val="1800"/>
              </a:spcAft>
            </a:pPr>
            <a:r>
              <a:rPr lang="en-US" sz="2800" dirty="0">
                <a:latin typeface="Montserrat" pitchFamily="2" charset="77"/>
              </a:rPr>
              <a:t>...is particularly pronounced for any specific </a:t>
            </a:r>
            <a:r>
              <a:rPr lang="en-US" sz="2800" b="1" i="1" dirty="0">
                <a:latin typeface="Montserrat" pitchFamily="2" charset="77"/>
              </a:rPr>
              <a:t>retinal cell types</a:t>
            </a:r>
            <a:r>
              <a:rPr lang="en-US" sz="2800" dirty="0">
                <a:latin typeface="Montserrat" pitchFamily="2" charset="77"/>
              </a:rPr>
              <a:t>.</a:t>
            </a:r>
          </a:p>
        </p:txBody>
      </p:sp>
    </p:spTree>
    <p:extLst>
      <p:ext uri="{BB962C8B-B14F-4D97-AF65-F5344CB8AC3E}">
        <p14:creationId xmlns:p14="http://schemas.microsoft.com/office/powerpoint/2010/main" val="398379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F09D-7521-EEE0-0F0B-E4DBB5FE89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BB1D5-A3AD-DF52-7B1E-61B4E7DA59FD}"/>
              </a:ext>
            </a:extLst>
          </p:cNvPr>
          <p:cNvSpPr>
            <a:spLocks noGrp="1"/>
          </p:cNvSpPr>
          <p:nvPr>
            <p:ph idx="1"/>
          </p:nvPr>
        </p:nvSpPr>
        <p:spPr>
          <a:xfrm>
            <a:off x="2874384" y="2542919"/>
            <a:ext cx="6443231" cy="1091888"/>
          </a:xfrm>
        </p:spPr>
        <p:txBody>
          <a:bodyPr>
            <a:noAutofit/>
          </a:bodyPr>
          <a:lstStyle/>
          <a:p>
            <a:pPr marL="1028700" indent="-1028700">
              <a:lnSpc>
                <a:spcPct val="125000"/>
              </a:lnSpc>
              <a:spcBef>
                <a:spcPts val="0"/>
              </a:spcBef>
              <a:spcAft>
                <a:spcPts val="1200"/>
              </a:spcAft>
              <a:buFont typeface="+mj-lt"/>
              <a:buAutoNum type="romanUcPeriod" startAt="2"/>
            </a:pPr>
            <a:r>
              <a:rPr lang="en-US" sz="5400" dirty="0">
                <a:latin typeface="Crimson Pro Medium" pitchFamily="2" charset="77"/>
                <a:cs typeface="Arial" panose="020B0604020202020204" pitchFamily="34" charset="0"/>
              </a:rPr>
              <a:t>Data and Methods</a:t>
            </a:r>
          </a:p>
        </p:txBody>
      </p:sp>
    </p:spTree>
    <p:extLst>
      <p:ext uri="{BB962C8B-B14F-4D97-AF65-F5344CB8AC3E}">
        <p14:creationId xmlns:p14="http://schemas.microsoft.com/office/powerpoint/2010/main" val="84985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F524B-B044-57CE-8077-7C85A3DDC87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4748ABA-B77F-929F-A2C4-2D927542308D}"/>
              </a:ext>
            </a:extLst>
          </p:cNvPr>
          <p:cNvGraphicFramePr>
            <a:graphicFrameLocks noGrp="1"/>
          </p:cNvGraphicFramePr>
          <p:nvPr>
            <p:extLst>
              <p:ext uri="{D42A27DB-BD31-4B8C-83A1-F6EECF244321}">
                <p14:modId xmlns:p14="http://schemas.microsoft.com/office/powerpoint/2010/main" val="248953220"/>
              </p:ext>
            </p:extLst>
          </p:nvPr>
        </p:nvGraphicFramePr>
        <p:xfrm>
          <a:off x="3773071" y="428624"/>
          <a:ext cx="8012529" cy="5299519"/>
        </p:xfrm>
        <a:graphic>
          <a:graphicData uri="http://schemas.openxmlformats.org/drawingml/2006/table">
            <a:tbl>
              <a:tblPr/>
              <a:tblGrid>
                <a:gridCol w="1239196">
                  <a:extLst>
                    <a:ext uri="{9D8B030D-6E8A-4147-A177-3AD203B41FA5}">
                      <a16:colId xmlns:a16="http://schemas.microsoft.com/office/drawing/2014/main" val="3262162569"/>
                    </a:ext>
                  </a:extLst>
                </a:gridCol>
                <a:gridCol w="1701444">
                  <a:extLst>
                    <a:ext uri="{9D8B030D-6E8A-4147-A177-3AD203B41FA5}">
                      <a16:colId xmlns:a16="http://schemas.microsoft.com/office/drawing/2014/main" val="2737872705"/>
                    </a:ext>
                  </a:extLst>
                </a:gridCol>
                <a:gridCol w="941344">
                  <a:extLst>
                    <a:ext uri="{9D8B030D-6E8A-4147-A177-3AD203B41FA5}">
                      <a16:colId xmlns:a16="http://schemas.microsoft.com/office/drawing/2014/main" val="2313367217"/>
                    </a:ext>
                  </a:extLst>
                </a:gridCol>
                <a:gridCol w="1692145">
                  <a:extLst>
                    <a:ext uri="{9D8B030D-6E8A-4147-A177-3AD203B41FA5}">
                      <a16:colId xmlns:a16="http://schemas.microsoft.com/office/drawing/2014/main" val="2185360245"/>
                    </a:ext>
                  </a:extLst>
                </a:gridCol>
                <a:gridCol w="1219200">
                  <a:extLst>
                    <a:ext uri="{9D8B030D-6E8A-4147-A177-3AD203B41FA5}">
                      <a16:colId xmlns:a16="http://schemas.microsoft.com/office/drawing/2014/main" val="65992728"/>
                    </a:ext>
                  </a:extLst>
                </a:gridCol>
                <a:gridCol w="1219200">
                  <a:extLst>
                    <a:ext uri="{9D8B030D-6E8A-4147-A177-3AD203B41FA5}">
                      <a16:colId xmlns:a16="http://schemas.microsoft.com/office/drawing/2014/main" val="1277433545"/>
                    </a:ext>
                  </a:extLst>
                </a:gridCol>
              </a:tblGrid>
              <a:tr h="690943">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Type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Tissue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Cell Types</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Cells (cleaned)</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Gene Set</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Genes</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5459619"/>
                  </a:ext>
                </a:extLst>
              </a:tr>
              <a:tr h="256032">
                <a:tc rowSpan="10">
                  <a:txBody>
                    <a:bodyPr/>
                    <a:lstStyle/>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Non-Neural</a:t>
                      </a:r>
                      <a:endParaRPr lang="en-US" sz="9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Bone Marrow</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45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66.6k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49,082</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966809406"/>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12,128</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4292402570"/>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Breast</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42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507.0k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33,604</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1908987"/>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14,399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647159151"/>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Kidney</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75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107.7k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33,140</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784331484"/>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11,509</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216336191"/>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Liver</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29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259.6k</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35,659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082515467"/>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11,560</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2849920183"/>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Lung</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61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491.2k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27,402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548730836"/>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8,744</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64209163"/>
                  </a:ext>
                </a:extLst>
              </a:tr>
              <a:tr h="256032">
                <a:tc rowSpan="8">
                  <a:txBody>
                    <a:bodyPr/>
                    <a:lstStyle/>
                    <a:p>
                      <a:pPr marL="0" marR="0" algn="ctr">
                        <a:buNone/>
                      </a:pPr>
                      <a:r>
                        <a:rPr lang="en-US" sz="1400" b="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Neural</a:t>
                      </a:r>
                      <a:endParaRPr lang="en-US" sz="9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Motor Cortex</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127</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76.5k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30,751</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4222275938"/>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2,032</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3929185238"/>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Middle Temporal Gyrus</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75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15.6k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30,751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6229345"/>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2,032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912157059"/>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Retina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123</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509.0k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35,475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243781070"/>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15,491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39170416"/>
                  </a:ext>
                </a:extLst>
              </a:tr>
              <a:tr h="256032">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Spinal Cord</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43</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28.6k</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35,467</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465376684"/>
                  </a:ext>
                </a:extLst>
              </a:tr>
              <a:tr h="25603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15,488</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726183"/>
                  </a:ext>
                </a:extLst>
              </a:tr>
            </a:tbl>
          </a:graphicData>
        </a:graphic>
      </p:graphicFrame>
      <p:sp>
        <p:nvSpPr>
          <p:cNvPr id="2" name="Title 1">
            <a:extLst>
              <a:ext uri="{FF2B5EF4-FFF2-40B4-BE49-F238E27FC236}">
                <a16:creationId xmlns:a16="http://schemas.microsoft.com/office/drawing/2014/main" id="{1CA669C2-521E-6288-9AE6-017FD84F9F3B}"/>
              </a:ext>
            </a:extLst>
          </p:cNvPr>
          <p:cNvSpPr>
            <a:spLocks noGrp="1"/>
          </p:cNvSpPr>
          <p:nvPr>
            <p:ph type="title"/>
          </p:nvPr>
        </p:nvSpPr>
        <p:spPr>
          <a:xfrm>
            <a:off x="423332" y="1307659"/>
            <a:ext cx="3048001" cy="3541450"/>
          </a:xfrm>
        </p:spPr>
        <p:txBody>
          <a:bodyPr>
            <a:noAutofit/>
          </a:bodyPr>
          <a:lstStyle/>
          <a:p>
            <a:pPr algn="r"/>
            <a:r>
              <a:rPr lang="en-US" sz="4800" dirty="0">
                <a:latin typeface="Crimson Pro Medium" pitchFamily="2" charset="77"/>
              </a:rPr>
              <a:t>Descriptive Table of </a:t>
            </a:r>
            <a:br>
              <a:rPr lang="en-US" sz="4800" dirty="0">
                <a:latin typeface="Crimson Pro Medium" pitchFamily="2" charset="77"/>
              </a:rPr>
            </a:br>
            <a:r>
              <a:rPr lang="en-US" sz="4800" dirty="0">
                <a:latin typeface="Crimson Pro Medium" pitchFamily="2" charset="77"/>
              </a:rPr>
              <a:t>Cell x Gene Tissue Datasets  </a:t>
            </a:r>
          </a:p>
        </p:txBody>
      </p:sp>
    </p:spTree>
    <p:extLst>
      <p:ext uri="{BB962C8B-B14F-4D97-AF65-F5344CB8AC3E}">
        <p14:creationId xmlns:p14="http://schemas.microsoft.com/office/powerpoint/2010/main" val="179623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D5A7-2777-02A8-5E59-DF188F7CF7A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B9E444F-5CBE-797C-908C-7D01D204F433}"/>
              </a:ext>
            </a:extLst>
          </p:cNvPr>
          <p:cNvSpPr txBox="1"/>
          <p:nvPr/>
        </p:nvSpPr>
        <p:spPr>
          <a:xfrm>
            <a:off x="4319081" y="6144192"/>
            <a:ext cx="7655205" cy="584775"/>
          </a:xfrm>
          <a:prstGeom prst="rect">
            <a:avLst/>
          </a:prstGeom>
          <a:noFill/>
        </p:spPr>
        <p:txBody>
          <a:bodyPr wrap="square" rtlCol="0">
            <a:spAutoFit/>
          </a:bodyPr>
          <a:lstStyle/>
          <a:p>
            <a:pPr algn="r"/>
            <a:r>
              <a:rPr lang="en-US" sz="1600" dirty="0">
                <a:solidFill>
                  <a:schemeClr val="bg1"/>
                </a:solidFill>
                <a:latin typeface="Calibri" panose="020F0502020204030204" pitchFamily="34" charset="0"/>
                <a:cs typeface="Calibri" panose="020F0502020204030204" pitchFamily="34" charset="0"/>
              </a:rPr>
              <a:t>Poloni et al. (2024) </a:t>
            </a:r>
            <a:r>
              <a:rPr lang="en-US" sz="1600" b="1" dirty="0">
                <a:solidFill>
                  <a:schemeClr val="bg1"/>
                </a:solidFill>
                <a:latin typeface="Calibri" panose="020F0502020204030204" pitchFamily="34" charset="0"/>
                <a:cs typeface="Calibri" panose="020F0502020204030204" pitchFamily="34" charset="0"/>
              </a:rPr>
              <a:t>Localization is the key to action: regulatory peculiarities of lncRNAs. </a:t>
            </a:r>
            <a:r>
              <a:rPr lang="en-US" sz="1600" dirty="0">
                <a:solidFill>
                  <a:schemeClr val="bg1"/>
                </a:solidFill>
                <a:latin typeface="Calibri" panose="020F0502020204030204" pitchFamily="34" charset="0"/>
                <a:cs typeface="Calibri" panose="020F0502020204030204" pitchFamily="34" charset="0"/>
              </a:rPr>
              <a:t>Figure 1(b). “Molecular function of lncRNAs.”</a:t>
            </a:r>
          </a:p>
        </p:txBody>
      </p:sp>
      <p:pic>
        <p:nvPicPr>
          <p:cNvPr id="18" name="Picture 17">
            <a:extLst>
              <a:ext uri="{FF2B5EF4-FFF2-40B4-BE49-F238E27FC236}">
                <a16:creationId xmlns:a16="http://schemas.microsoft.com/office/drawing/2014/main" id="{22FFFE34-A855-7188-EE5C-CDD970184C2C}"/>
              </a:ext>
            </a:extLst>
          </p:cNvPr>
          <p:cNvPicPr>
            <a:picLocks noChangeAspect="1"/>
          </p:cNvPicPr>
          <p:nvPr/>
        </p:nvPicPr>
        <p:blipFill>
          <a:blip r:embed="rId3"/>
          <a:srcRect l="1934" t="2442" r="6999" b="1919"/>
          <a:stretch>
            <a:fillRect/>
          </a:stretch>
        </p:blipFill>
        <p:spPr>
          <a:xfrm>
            <a:off x="214723" y="483163"/>
            <a:ext cx="11795212" cy="5389679"/>
          </a:xfrm>
          <a:prstGeom prst="rect">
            <a:avLst/>
          </a:prstGeom>
        </p:spPr>
      </p:pic>
      <p:sp>
        <p:nvSpPr>
          <p:cNvPr id="19" name="Title 1">
            <a:extLst>
              <a:ext uri="{FF2B5EF4-FFF2-40B4-BE49-F238E27FC236}">
                <a16:creationId xmlns:a16="http://schemas.microsoft.com/office/drawing/2014/main" id="{3647FB9E-ED5D-B476-C76E-E7CFE36E86FB}"/>
              </a:ext>
            </a:extLst>
          </p:cNvPr>
          <p:cNvSpPr>
            <a:spLocks noGrp="1"/>
          </p:cNvSpPr>
          <p:nvPr>
            <p:ph type="title"/>
          </p:nvPr>
        </p:nvSpPr>
        <p:spPr>
          <a:xfrm>
            <a:off x="316294" y="340866"/>
            <a:ext cx="5344277" cy="727405"/>
          </a:xfrm>
        </p:spPr>
        <p:txBody>
          <a:bodyPr>
            <a:noAutofit/>
          </a:bodyPr>
          <a:lstStyle/>
          <a:p>
            <a:r>
              <a:rPr lang="en-US" sz="5400" dirty="0">
                <a:latin typeface="Crimson Pro Medium" pitchFamily="2" charset="77"/>
              </a:rPr>
              <a:t>NS-Forest Pipeline</a:t>
            </a:r>
          </a:p>
        </p:txBody>
      </p:sp>
    </p:spTree>
    <p:extLst>
      <p:ext uri="{BB962C8B-B14F-4D97-AF65-F5344CB8AC3E}">
        <p14:creationId xmlns:p14="http://schemas.microsoft.com/office/powerpoint/2010/main" val="75512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6977E-5147-1FB5-B15D-A9170ECEEE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B17A8-CA90-6E77-4167-7274094B292E}"/>
              </a:ext>
            </a:extLst>
          </p:cNvPr>
          <p:cNvSpPr>
            <a:spLocks noGrp="1"/>
          </p:cNvSpPr>
          <p:nvPr>
            <p:ph idx="1"/>
          </p:nvPr>
        </p:nvSpPr>
        <p:spPr>
          <a:xfrm>
            <a:off x="2568403" y="2157324"/>
            <a:ext cx="7055194" cy="1271676"/>
          </a:xfrm>
        </p:spPr>
        <p:txBody>
          <a:bodyPr>
            <a:noAutofit/>
          </a:bodyPr>
          <a:lstStyle/>
          <a:p>
            <a:pPr marL="1028700" indent="-1028700">
              <a:lnSpc>
                <a:spcPct val="125000"/>
              </a:lnSpc>
              <a:spcBef>
                <a:spcPts val="0"/>
              </a:spcBef>
              <a:spcAft>
                <a:spcPts val="1200"/>
              </a:spcAft>
              <a:buFont typeface="+mj-lt"/>
              <a:buAutoNum type="romanUcPeriod" startAt="3"/>
            </a:pPr>
            <a:r>
              <a:rPr lang="en-US" sz="5400" dirty="0">
                <a:latin typeface="Crimson Pro Medium" pitchFamily="2" charset="77"/>
                <a:cs typeface="Arial" panose="020B0604020202020204" pitchFamily="34" charset="0"/>
              </a:rPr>
              <a:t>Neural </a:t>
            </a:r>
            <a:r>
              <a:rPr lang="en-US" sz="5400" i="1" dirty="0">
                <a:latin typeface="Crimson Pro Medium" pitchFamily="2" charset="77"/>
                <a:cs typeface="Arial" panose="020B0604020202020204" pitchFamily="34" charset="0"/>
              </a:rPr>
              <a:t>versus</a:t>
            </a:r>
            <a:r>
              <a:rPr lang="en-US" sz="5400" dirty="0">
                <a:latin typeface="Crimson Pro Medium" pitchFamily="2" charset="77"/>
                <a:cs typeface="Arial" panose="020B0604020202020204" pitchFamily="34" charset="0"/>
              </a:rPr>
              <a:t>             Non-Neural Findings</a:t>
            </a:r>
          </a:p>
        </p:txBody>
      </p:sp>
    </p:spTree>
    <p:extLst>
      <p:ext uri="{BB962C8B-B14F-4D97-AF65-F5344CB8AC3E}">
        <p14:creationId xmlns:p14="http://schemas.microsoft.com/office/powerpoint/2010/main" val="2150001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89EA-4D0B-0CE1-D737-795E0D65F79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5E83773-B5CF-C45E-BDFA-9FB30872501A}"/>
              </a:ext>
            </a:extLst>
          </p:cNvPr>
          <p:cNvGraphicFramePr>
            <a:graphicFrameLocks noGrp="1"/>
          </p:cNvGraphicFramePr>
          <p:nvPr>
            <p:extLst>
              <p:ext uri="{D42A27DB-BD31-4B8C-83A1-F6EECF244321}">
                <p14:modId xmlns:p14="http://schemas.microsoft.com/office/powerpoint/2010/main" val="969488215"/>
              </p:ext>
            </p:extLst>
          </p:nvPr>
        </p:nvGraphicFramePr>
        <p:xfrm>
          <a:off x="5161614" y="190221"/>
          <a:ext cx="6799856" cy="5669280"/>
        </p:xfrm>
        <a:graphic>
          <a:graphicData uri="http://schemas.openxmlformats.org/drawingml/2006/table">
            <a:tbl>
              <a:tblPr/>
              <a:tblGrid>
                <a:gridCol w="1037922">
                  <a:extLst>
                    <a:ext uri="{9D8B030D-6E8A-4147-A177-3AD203B41FA5}">
                      <a16:colId xmlns:a16="http://schemas.microsoft.com/office/drawing/2014/main" val="3262162569"/>
                    </a:ext>
                  </a:extLst>
                </a:gridCol>
                <a:gridCol w="1485432">
                  <a:extLst>
                    <a:ext uri="{9D8B030D-6E8A-4147-A177-3AD203B41FA5}">
                      <a16:colId xmlns:a16="http://schemas.microsoft.com/office/drawing/2014/main" val="2737872705"/>
                    </a:ext>
                  </a:extLst>
                </a:gridCol>
                <a:gridCol w="1196607">
                  <a:extLst>
                    <a:ext uri="{9D8B030D-6E8A-4147-A177-3AD203B41FA5}">
                      <a16:colId xmlns:a16="http://schemas.microsoft.com/office/drawing/2014/main" val="65992728"/>
                    </a:ext>
                  </a:extLst>
                </a:gridCol>
                <a:gridCol w="1342535">
                  <a:extLst>
                    <a:ext uri="{9D8B030D-6E8A-4147-A177-3AD203B41FA5}">
                      <a16:colId xmlns:a16="http://schemas.microsoft.com/office/drawing/2014/main" val="846037549"/>
                    </a:ext>
                  </a:extLst>
                </a:gridCol>
                <a:gridCol w="1737360">
                  <a:extLst>
                    <a:ext uri="{9D8B030D-6E8A-4147-A177-3AD203B41FA5}">
                      <a16:colId xmlns:a16="http://schemas.microsoft.com/office/drawing/2014/main" val="2152769747"/>
                    </a:ext>
                  </a:extLst>
                </a:gridCol>
              </a:tblGrid>
              <a:tr h="731520">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Type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Tissue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Gene Set</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Positive Genes </a:t>
                      </a:r>
                    </a:p>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 of Total)</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Mean </a:t>
                      </a:r>
                      <a:r>
                        <a:rPr lang="en-US" sz="1400" b="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Candidate Genes</a:t>
                      </a:r>
                      <a:r>
                        <a:rPr lang="en-US" sz="1400" i="1" dirty="0">
                          <a:effectLst/>
                          <a:latin typeface="Arial" panose="020B0604020202020204" pitchFamily="34" charset="0"/>
                          <a:ea typeface="Calibri" panose="020F0502020204030204" pitchFamily="34" charset="0"/>
                          <a:cs typeface="Arial" panose="020B0604020202020204" pitchFamily="34" charset="0"/>
                        </a:rPr>
                        <a:t> </a:t>
                      </a:r>
                    </a:p>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 Cell Type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5459619"/>
                  </a:ext>
                </a:extLst>
              </a:tr>
              <a:tr h="274320">
                <a:tc rowSpan="10">
                  <a:txBody>
                    <a:bodyPr/>
                    <a:lstStyle/>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Non-</a:t>
                      </a:r>
                    </a:p>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Neural</a:t>
                      </a:r>
                      <a:endParaRPr lang="en-US" sz="9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Bone Marrow</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6,474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(13.2%)</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622.1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966809406"/>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79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(0.7%)</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7.3</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4292402570"/>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Breast</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4,622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425.6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1908987"/>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64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5.1</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64715915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Kidney</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5,249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(15.8%)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784331484"/>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203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(1.8%)</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12.8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21633619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Liver</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3,073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(8.6%)</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295.4</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082515467"/>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41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3.2</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49920183"/>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Lung</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5,288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(19.3%)</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461.9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548730836"/>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83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(1.0%)</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4209163"/>
                  </a:ext>
                </a:extLst>
              </a:tr>
              <a:tr h="274320">
                <a:tc rowSpan="8">
                  <a:txBody>
                    <a:bodyPr/>
                    <a:lstStyle/>
                    <a:p>
                      <a:pPr marL="0" marR="0" algn="ctr">
                        <a:buNone/>
                      </a:pPr>
                      <a:r>
                        <a:rPr lang="en-US" sz="1400" b="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Neural</a:t>
                      </a:r>
                      <a:endParaRPr lang="en-US" sz="9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Motor Cortex</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8,723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(28.4%)</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651.5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4222275938"/>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lncRNA</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262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(12.9%)</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22.0</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3929185238"/>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Middle Temporal Gyrus</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11,529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(37.5%)</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750.9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6229345"/>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386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(19.0%)</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32.7</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912157059"/>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Retina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6,925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(19.5%)</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590.6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243781070"/>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56.5</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39170416"/>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Spinal Cord</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8,425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(23.8%)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515.2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465376684"/>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61.6</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726183"/>
                  </a:ext>
                </a:extLst>
              </a:tr>
            </a:tbl>
          </a:graphicData>
        </a:graphic>
      </p:graphicFrame>
      <p:sp>
        <p:nvSpPr>
          <p:cNvPr id="2" name="Content Placeholder 2">
            <a:extLst>
              <a:ext uri="{FF2B5EF4-FFF2-40B4-BE49-F238E27FC236}">
                <a16:creationId xmlns:a16="http://schemas.microsoft.com/office/drawing/2014/main" id="{773ADF1A-56CD-461A-8240-321C2B6BF09C}"/>
              </a:ext>
            </a:extLst>
          </p:cNvPr>
          <p:cNvSpPr>
            <a:spLocks noGrp="1"/>
          </p:cNvSpPr>
          <p:nvPr>
            <p:ph idx="1"/>
          </p:nvPr>
        </p:nvSpPr>
        <p:spPr>
          <a:xfrm>
            <a:off x="186265" y="207154"/>
            <a:ext cx="4856384" cy="5669280"/>
          </a:xfrm>
        </p:spPr>
        <p:txBody>
          <a:bodyPr>
            <a:noAutofit/>
          </a:bodyPr>
          <a:lstStyle/>
          <a:p>
            <a:pPr marL="0" indent="0">
              <a:lnSpc>
                <a:spcPts val="2880"/>
              </a:lnSpc>
              <a:buClr>
                <a:schemeClr val="tx1"/>
              </a:buClr>
              <a:buNone/>
            </a:pPr>
            <a:r>
              <a:rPr lang="en-US" sz="2400" b="1" i="1" dirty="0">
                <a:solidFill>
                  <a:schemeClr val="bg2">
                    <a:lumMod val="50000"/>
                  </a:schemeClr>
                </a:solidFill>
                <a:latin typeface="Montserrat" pitchFamily="2" charset="77"/>
              </a:rPr>
              <a:t>Neural tissues</a:t>
            </a:r>
            <a:r>
              <a:rPr lang="en-US" sz="2400" i="1" dirty="0">
                <a:latin typeface="Montserrat" pitchFamily="2" charset="77"/>
              </a:rPr>
              <a:t>, in comparison to </a:t>
            </a:r>
            <a:r>
              <a:rPr lang="en-US" sz="2400" i="1" dirty="0">
                <a:solidFill>
                  <a:srgbClr val="C00000"/>
                </a:solidFill>
                <a:latin typeface="Montserrat" pitchFamily="2" charset="77"/>
              </a:rPr>
              <a:t>non-neural</a:t>
            </a:r>
            <a:r>
              <a:rPr lang="en-US" sz="2400" i="1" dirty="0">
                <a:latin typeface="Montserrat" pitchFamily="2" charset="77"/>
              </a:rPr>
              <a:t>...</a:t>
            </a:r>
          </a:p>
          <a:p>
            <a:pPr>
              <a:lnSpc>
                <a:spcPts val="2880"/>
              </a:lnSpc>
            </a:pPr>
            <a:r>
              <a:rPr lang="en-US" sz="2200" dirty="0">
                <a:latin typeface="Montserrat" pitchFamily="2" charset="77"/>
              </a:rPr>
              <a:t>Contain a </a:t>
            </a:r>
            <a:r>
              <a:rPr lang="en-US" sz="2200" b="1" dirty="0">
                <a:latin typeface="Montserrat" pitchFamily="2" charset="77"/>
              </a:rPr>
              <a:t>larger proportion of</a:t>
            </a:r>
            <a:r>
              <a:rPr lang="en-US" sz="2200" dirty="0">
                <a:latin typeface="Montserrat" pitchFamily="2" charset="77"/>
              </a:rPr>
              <a:t> </a:t>
            </a:r>
            <a:r>
              <a:rPr lang="en-US" sz="2200" b="1" dirty="0">
                <a:latin typeface="Montserrat" pitchFamily="2" charset="77"/>
              </a:rPr>
              <a:t>positive lncRNAs</a:t>
            </a:r>
            <a:r>
              <a:rPr lang="en-US" sz="2200" dirty="0">
                <a:latin typeface="Montserrat" pitchFamily="2" charset="77"/>
              </a:rPr>
              <a:t>. </a:t>
            </a:r>
          </a:p>
          <a:p>
            <a:pPr lvl="1">
              <a:lnSpc>
                <a:spcPts val="2880"/>
              </a:lnSpc>
            </a:pPr>
            <a:r>
              <a:rPr lang="en-US" sz="1800" dirty="0">
                <a:latin typeface="Montserrat" pitchFamily="2" charset="77"/>
              </a:rPr>
              <a:t>lncRNAs have a </a:t>
            </a:r>
            <a:r>
              <a:rPr lang="en-US" sz="1800" b="1" i="1" dirty="0">
                <a:latin typeface="Montserrat" pitchFamily="2" charset="77"/>
              </a:rPr>
              <a:t>relatively</a:t>
            </a:r>
            <a:r>
              <a:rPr lang="en-US" sz="1800" dirty="0">
                <a:latin typeface="Montserrat" pitchFamily="2" charset="77"/>
              </a:rPr>
              <a:t> </a:t>
            </a:r>
            <a:r>
              <a:rPr lang="en-US" sz="1800" b="1" i="1" dirty="0">
                <a:latin typeface="Montserrat" pitchFamily="2" charset="77"/>
              </a:rPr>
              <a:t>larger contribution </a:t>
            </a:r>
            <a:r>
              <a:rPr lang="en-US" sz="1800" dirty="0">
                <a:latin typeface="Montserrat" pitchFamily="2" charset="77"/>
              </a:rPr>
              <a:t>to the pool of candidate neural biomarkers and </a:t>
            </a:r>
            <a:r>
              <a:rPr lang="en-US" sz="1800" b="1" i="1" dirty="0">
                <a:latin typeface="Montserrat" pitchFamily="2" charset="77"/>
              </a:rPr>
              <a:t>higher median expression </a:t>
            </a:r>
            <a:r>
              <a:rPr lang="en-US" sz="1800" dirty="0">
                <a:latin typeface="Montserrat" pitchFamily="2" charset="77"/>
              </a:rPr>
              <a:t>in neural cell types.</a:t>
            </a:r>
          </a:p>
          <a:p>
            <a:pPr>
              <a:lnSpc>
                <a:spcPts val="2880"/>
              </a:lnSpc>
            </a:pPr>
            <a:r>
              <a:rPr lang="en-US" sz="2200" dirty="0">
                <a:latin typeface="Montserrat" pitchFamily="2" charset="77"/>
              </a:rPr>
              <a:t>Retain a </a:t>
            </a:r>
            <a:r>
              <a:rPr lang="en-US" sz="2200" b="1" dirty="0">
                <a:latin typeface="Montserrat" pitchFamily="2" charset="77"/>
              </a:rPr>
              <a:t>larger</a:t>
            </a:r>
            <a:r>
              <a:rPr lang="en-US" sz="2200" dirty="0">
                <a:latin typeface="Montserrat" pitchFamily="2" charset="77"/>
              </a:rPr>
              <a:t> average number of </a:t>
            </a:r>
            <a:r>
              <a:rPr lang="en-US" sz="2200" b="1" dirty="0">
                <a:latin typeface="Montserrat" pitchFamily="2" charset="77"/>
              </a:rPr>
              <a:t>candidate lncRNA biomarkers </a:t>
            </a:r>
            <a:r>
              <a:rPr lang="en-US" sz="2200" dirty="0">
                <a:latin typeface="Montserrat" pitchFamily="2" charset="77"/>
              </a:rPr>
              <a:t>per cell type. </a:t>
            </a:r>
          </a:p>
          <a:p>
            <a:pPr lvl="1">
              <a:lnSpc>
                <a:spcPts val="2880"/>
              </a:lnSpc>
            </a:pPr>
            <a:r>
              <a:rPr lang="en-US" sz="1800" dirty="0">
                <a:latin typeface="Montserrat" pitchFamily="2" charset="77"/>
              </a:rPr>
              <a:t>Indicates</a:t>
            </a:r>
            <a:r>
              <a:rPr lang="en-US" sz="1800" b="1" i="1" dirty="0">
                <a:latin typeface="Montserrat" pitchFamily="2" charset="77"/>
              </a:rPr>
              <a:t> more diversity </a:t>
            </a:r>
            <a:r>
              <a:rPr lang="en-US" sz="1800" dirty="0">
                <a:latin typeface="Montserrat" pitchFamily="2" charset="77"/>
              </a:rPr>
              <a:t>in cell type-specific lncRNA expression.</a:t>
            </a:r>
          </a:p>
        </p:txBody>
      </p:sp>
    </p:spTree>
    <p:extLst>
      <p:ext uri="{BB962C8B-B14F-4D97-AF65-F5344CB8AC3E}">
        <p14:creationId xmlns:p14="http://schemas.microsoft.com/office/powerpoint/2010/main" val="24188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4C67F-48A5-CE04-C60D-C3124E05D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1A077-AC64-4289-4C0C-B0F4C2E9FB0F}"/>
              </a:ext>
            </a:extLst>
          </p:cNvPr>
          <p:cNvSpPr>
            <a:spLocks noGrp="1"/>
          </p:cNvSpPr>
          <p:nvPr>
            <p:ph type="title"/>
          </p:nvPr>
        </p:nvSpPr>
        <p:spPr>
          <a:xfrm>
            <a:off x="302006" y="319820"/>
            <a:ext cx="9861325" cy="727405"/>
          </a:xfrm>
        </p:spPr>
        <p:txBody>
          <a:bodyPr>
            <a:noAutofit/>
          </a:bodyPr>
          <a:lstStyle/>
          <a:p>
            <a:r>
              <a:rPr lang="en-US" sz="4800" dirty="0">
                <a:latin typeface="Crimson Pro Medium" pitchFamily="2" charset="77"/>
              </a:rPr>
              <a:t>Distribution of Non-Zero Binary Scores</a:t>
            </a:r>
          </a:p>
        </p:txBody>
      </p:sp>
      <p:sp>
        <p:nvSpPr>
          <p:cNvPr id="3" name="Content Placeholder 2">
            <a:extLst>
              <a:ext uri="{FF2B5EF4-FFF2-40B4-BE49-F238E27FC236}">
                <a16:creationId xmlns:a16="http://schemas.microsoft.com/office/drawing/2014/main" id="{6A8D2A0C-0B0D-F1C2-2EEF-5A335046B94B}"/>
              </a:ext>
            </a:extLst>
          </p:cNvPr>
          <p:cNvSpPr>
            <a:spLocks noGrp="1"/>
          </p:cNvSpPr>
          <p:nvPr>
            <p:ph idx="1"/>
          </p:nvPr>
        </p:nvSpPr>
        <p:spPr>
          <a:xfrm>
            <a:off x="5432556" y="1047226"/>
            <a:ext cx="6619536" cy="4888880"/>
          </a:xfrm>
        </p:spPr>
        <p:txBody>
          <a:bodyPr>
            <a:noAutofit/>
          </a:bodyPr>
          <a:lstStyle/>
          <a:p>
            <a:pPr>
              <a:lnSpc>
                <a:spcPts val="2880"/>
              </a:lnSpc>
              <a:buClr>
                <a:schemeClr val="tx1"/>
              </a:buClr>
            </a:pPr>
            <a:r>
              <a:rPr lang="en-US" sz="2400" b="1" dirty="0">
                <a:solidFill>
                  <a:schemeClr val="bg2">
                    <a:lumMod val="50000"/>
                  </a:schemeClr>
                </a:solidFill>
                <a:latin typeface="Montserrat" pitchFamily="2" charset="77"/>
              </a:rPr>
              <a:t>Neural</a:t>
            </a:r>
            <a:r>
              <a:rPr lang="en-US" sz="2400" b="1" dirty="0">
                <a:latin typeface="Montserrat" pitchFamily="2" charset="77"/>
              </a:rPr>
              <a:t> cells </a:t>
            </a:r>
            <a:r>
              <a:rPr lang="en-US" sz="2400" dirty="0">
                <a:latin typeface="Montserrat" pitchFamily="2" charset="77"/>
              </a:rPr>
              <a:t>show </a:t>
            </a:r>
            <a:r>
              <a:rPr lang="en-US" sz="2400" b="1" dirty="0">
                <a:latin typeface="Montserrat" pitchFamily="2" charset="77"/>
              </a:rPr>
              <a:t>moderate separation  </a:t>
            </a:r>
            <a:r>
              <a:rPr lang="en-US" sz="2400" i="1" dirty="0">
                <a:latin typeface="Montserrat" pitchFamily="2" charset="77"/>
              </a:rPr>
              <a:t>(</a:t>
            </a:r>
            <a:r>
              <a:rPr lang="el-GR" sz="2400" i="1" dirty="0">
                <a:latin typeface="Montserrat" pitchFamily="2" charset="77"/>
              </a:rPr>
              <a:t>δ = 0.228; </a:t>
            </a:r>
            <a:r>
              <a:rPr lang="en-US" sz="2400" i="1" dirty="0">
                <a:latin typeface="Montserrat" pitchFamily="2" charset="77"/>
              </a:rPr>
              <a:t>lncRNA subset is higher)</a:t>
            </a:r>
            <a:r>
              <a:rPr lang="en-US" sz="2400" dirty="0">
                <a:latin typeface="Montserrat" pitchFamily="2" charset="77"/>
              </a:rPr>
              <a:t>.</a:t>
            </a:r>
            <a:endParaRPr lang="en-US" sz="2400" i="1" dirty="0">
              <a:latin typeface="Montserrat" pitchFamily="2" charset="77"/>
            </a:endParaRPr>
          </a:p>
          <a:p>
            <a:pPr lvl="1">
              <a:lnSpc>
                <a:spcPts val="2880"/>
              </a:lnSpc>
            </a:pPr>
            <a:r>
              <a:rPr lang="en-US" sz="2000" dirty="0">
                <a:latin typeface="Montserrat" pitchFamily="2" charset="77"/>
              </a:rPr>
              <a:t>lncRNAs show a </a:t>
            </a:r>
            <a:r>
              <a:rPr lang="en-US" sz="2000" b="1" i="1" dirty="0">
                <a:latin typeface="Montserrat" pitchFamily="2" charset="77"/>
              </a:rPr>
              <a:t>greater proportion </a:t>
            </a:r>
            <a:r>
              <a:rPr lang="en-US" sz="2000" dirty="0">
                <a:latin typeface="Montserrat" pitchFamily="2" charset="77"/>
              </a:rPr>
              <a:t>of high Binary Scores compared to the full transcriptome, consistent with </a:t>
            </a:r>
            <a:r>
              <a:rPr lang="en-US" sz="2000" b="1" i="1" dirty="0">
                <a:latin typeface="Montserrat" pitchFamily="2" charset="77"/>
              </a:rPr>
              <a:t>greater cell type-specific expression</a:t>
            </a:r>
            <a:r>
              <a:rPr lang="en-US" sz="2000" dirty="0">
                <a:latin typeface="Montserrat" pitchFamily="2" charset="77"/>
              </a:rPr>
              <a:t>.</a:t>
            </a:r>
          </a:p>
          <a:p>
            <a:pPr>
              <a:lnSpc>
                <a:spcPts val="2880"/>
              </a:lnSpc>
              <a:buClr>
                <a:schemeClr val="tx1"/>
              </a:buClr>
            </a:pPr>
            <a:r>
              <a:rPr lang="en-US" sz="2400" b="1" dirty="0">
                <a:solidFill>
                  <a:srgbClr val="C00000"/>
                </a:solidFill>
                <a:latin typeface="Montserrat" pitchFamily="2" charset="77"/>
              </a:rPr>
              <a:t>Non-neural</a:t>
            </a:r>
            <a:r>
              <a:rPr lang="en-US" sz="2400" dirty="0">
                <a:latin typeface="Montserrat" pitchFamily="2" charset="77"/>
              </a:rPr>
              <a:t> cells show </a:t>
            </a:r>
            <a:r>
              <a:rPr lang="en-US" sz="2400" b="1" dirty="0">
                <a:latin typeface="Montserrat" pitchFamily="2" charset="77"/>
              </a:rPr>
              <a:t>negligible separation</a:t>
            </a:r>
            <a:r>
              <a:rPr lang="en-US" sz="2400" dirty="0">
                <a:latin typeface="Montserrat" pitchFamily="2" charset="77"/>
              </a:rPr>
              <a:t> </a:t>
            </a:r>
            <a:r>
              <a:rPr lang="en-US" sz="2400" i="1" dirty="0">
                <a:latin typeface="Montserrat" pitchFamily="2" charset="77"/>
              </a:rPr>
              <a:t>(</a:t>
            </a:r>
            <a:r>
              <a:rPr lang="el-GR" sz="2400" i="1" dirty="0">
                <a:latin typeface="Montserrat" pitchFamily="2" charset="77"/>
              </a:rPr>
              <a:t>δ = -0.032;</a:t>
            </a:r>
            <a:r>
              <a:rPr lang="en-US" sz="2400" i="1" dirty="0">
                <a:latin typeface="Montserrat" pitchFamily="2" charset="77"/>
              </a:rPr>
              <a:t> full transcriptome set is higher)</a:t>
            </a:r>
          </a:p>
          <a:p>
            <a:pPr lvl="1">
              <a:lnSpc>
                <a:spcPts val="2880"/>
              </a:lnSpc>
            </a:pPr>
            <a:r>
              <a:rPr lang="en-US" sz="2000" dirty="0">
                <a:latin typeface="Montserrat" pitchFamily="2" charset="77"/>
              </a:rPr>
              <a:t>The Binary Score distributions are </a:t>
            </a:r>
            <a:r>
              <a:rPr lang="en-US" sz="2000" b="1" i="1" dirty="0">
                <a:latin typeface="Montserrat" pitchFamily="2" charset="77"/>
              </a:rPr>
              <a:t>broadly comparable</a:t>
            </a:r>
            <a:r>
              <a:rPr lang="en-US" sz="2000" dirty="0">
                <a:latin typeface="Montserrat" pitchFamily="2" charset="77"/>
              </a:rPr>
              <a:t>, suggesting that the two gene sets are </a:t>
            </a:r>
            <a:r>
              <a:rPr lang="en-US" sz="2000" b="1" i="1" dirty="0">
                <a:latin typeface="Montserrat" pitchFamily="2" charset="77"/>
              </a:rPr>
              <a:t>similarly specific</a:t>
            </a:r>
            <a:r>
              <a:rPr lang="en-US" sz="2000" dirty="0">
                <a:latin typeface="Montserrat" pitchFamily="2" charset="77"/>
              </a:rPr>
              <a:t>.</a:t>
            </a:r>
          </a:p>
        </p:txBody>
      </p:sp>
      <p:pic>
        <p:nvPicPr>
          <p:cNvPr id="6" name="Graphic 5">
            <a:extLst>
              <a:ext uri="{FF2B5EF4-FFF2-40B4-BE49-F238E27FC236}">
                <a16:creationId xmlns:a16="http://schemas.microsoft.com/office/drawing/2014/main" id="{3742364C-EA50-4465-42E5-F6B398972766}"/>
              </a:ext>
            </a:extLst>
          </p:cNvPr>
          <p:cNvPicPr>
            <a:picLocks noChangeAspect="1"/>
          </p:cNvPicPr>
          <p:nvPr/>
        </p:nvPicPr>
        <p:blipFill>
          <a:blip>
            <a:extLst>
              <a:ext uri="{96DAC541-7B7A-43D3-8B79-37D633B846F1}">
                <asvg:svgBlip xmlns:asvg="http://schemas.microsoft.com/office/drawing/2016/SVG/main" r:embed="rId3"/>
              </a:ext>
            </a:extLst>
          </a:blip>
          <a:srcRect t="4965" r="3001"/>
          <a:stretch>
            <a:fillRect/>
          </a:stretch>
        </p:blipFill>
        <p:spPr>
          <a:xfrm>
            <a:off x="302006" y="1047225"/>
            <a:ext cx="5078363" cy="4888880"/>
          </a:xfrm>
          <a:prstGeom prst="rect">
            <a:avLst/>
          </a:prstGeom>
        </p:spPr>
      </p:pic>
    </p:spTree>
    <p:extLst>
      <p:ext uri="{BB962C8B-B14F-4D97-AF65-F5344CB8AC3E}">
        <p14:creationId xmlns:p14="http://schemas.microsoft.com/office/powerpoint/2010/main" val="2080162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636D7-9659-5BE3-F260-DFBC18A2C60B}"/>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B08386CD-FFF6-CF94-6B18-9F050429BB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707" y="1060032"/>
            <a:ext cx="6980352" cy="4847467"/>
          </a:xfrm>
          <a:prstGeom prst="rect">
            <a:avLst/>
          </a:prstGeom>
        </p:spPr>
      </p:pic>
      <p:sp>
        <p:nvSpPr>
          <p:cNvPr id="2" name="Title 1">
            <a:extLst>
              <a:ext uri="{FF2B5EF4-FFF2-40B4-BE49-F238E27FC236}">
                <a16:creationId xmlns:a16="http://schemas.microsoft.com/office/drawing/2014/main" id="{B83AE046-48BE-BFEF-1A03-966AFD035B5B}"/>
              </a:ext>
            </a:extLst>
          </p:cNvPr>
          <p:cNvSpPr>
            <a:spLocks noGrp="1"/>
          </p:cNvSpPr>
          <p:nvPr>
            <p:ph type="title"/>
          </p:nvPr>
        </p:nvSpPr>
        <p:spPr>
          <a:xfrm>
            <a:off x="302006" y="319820"/>
            <a:ext cx="11672280" cy="727405"/>
          </a:xfrm>
        </p:spPr>
        <p:txBody>
          <a:bodyPr>
            <a:noAutofit/>
          </a:bodyPr>
          <a:lstStyle/>
          <a:p>
            <a:r>
              <a:rPr lang="en-US" sz="4800" dirty="0">
                <a:latin typeface="Crimson Pro Medium" pitchFamily="2" charset="77"/>
              </a:rPr>
              <a:t>NS-Forest Performance Metrics by Gene Set.</a:t>
            </a:r>
          </a:p>
        </p:txBody>
      </p:sp>
      <p:sp>
        <p:nvSpPr>
          <p:cNvPr id="3" name="Content Placeholder 2">
            <a:extLst>
              <a:ext uri="{FF2B5EF4-FFF2-40B4-BE49-F238E27FC236}">
                <a16:creationId xmlns:a16="http://schemas.microsoft.com/office/drawing/2014/main" id="{F817F3AB-758E-D4BA-1B55-076DA3E788B7}"/>
              </a:ext>
            </a:extLst>
          </p:cNvPr>
          <p:cNvSpPr>
            <a:spLocks noGrp="1"/>
          </p:cNvSpPr>
          <p:nvPr>
            <p:ph idx="1"/>
          </p:nvPr>
        </p:nvSpPr>
        <p:spPr>
          <a:xfrm>
            <a:off x="6933308" y="1225446"/>
            <a:ext cx="5153761" cy="4407108"/>
          </a:xfrm>
        </p:spPr>
        <p:txBody>
          <a:bodyPr>
            <a:noAutofit/>
          </a:bodyPr>
          <a:lstStyle/>
          <a:p>
            <a:pPr>
              <a:lnSpc>
                <a:spcPts val="2880"/>
              </a:lnSpc>
            </a:pPr>
            <a:r>
              <a:rPr lang="en-US" sz="2400" dirty="0">
                <a:latin typeface="Montserrat" pitchFamily="2" charset="77"/>
              </a:rPr>
              <a:t>Restricting the gene set to lncRNAs </a:t>
            </a:r>
            <a:r>
              <a:rPr lang="en-US" sz="2400" b="1" dirty="0">
                <a:latin typeface="Montserrat" pitchFamily="2" charset="77"/>
              </a:rPr>
              <a:t>overall reduces precision</a:t>
            </a:r>
            <a:r>
              <a:rPr lang="en-US" sz="2400" dirty="0">
                <a:latin typeface="Montserrat" pitchFamily="2" charset="77"/>
              </a:rPr>
              <a:t>, indicating an expected </a:t>
            </a:r>
            <a:r>
              <a:rPr lang="en-US" sz="2400" b="1" dirty="0">
                <a:latin typeface="Montserrat" pitchFamily="2" charset="77"/>
              </a:rPr>
              <a:t>loss of information</a:t>
            </a:r>
            <a:r>
              <a:rPr lang="en-US" sz="2400" dirty="0">
                <a:latin typeface="Montserrat" pitchFamily="2" charset="77"/>
              </a:rPr>
              <a:t> when removing protein-coding genes.</a:t>
            </a:r>
          </a:p>
          <a:p>
            <a:pPr>
              <a:lnSpc>
                <a:spcPts val="2880"/>
              </a:lnSpc>
            </a:pPr>
            <a:r>
              <a:rPr lang="en-US" sz="2400" b="1" dirty="0">
                <a:latin typeface="Montserrat" pitchFamily="2" charset="77"/>
              </a:rPr>
              <a:t>Better precision preservation </a:t>
            </a:r>
            <a:r>
              <a:rPr lang="en-US" sz="2400" dirty="0">
                <a:latin typeface="Montserrat" pitchFamily="2" charset="77"/>
              </a:rPr>
              <a:t>in </a:t>
            </a:r>
            <a:r>
              <a:rPr lang="en-US" sz="2400" b="1" dirty="0">
                <a:solidFill>
                  <a:schemeClr val="bg2">
                    <a:lumMod val="50000"/>
                  </a:schemeClr>
                </a:solidFill>
                <a:latin typeface="Montserrat" pitchFamily="2" charset="77"/>
              </a:rPr>
              <a:t>neural</a:t>
            </a:r>
            <a:r>
              <a:rPr lang="en-US" sz="2400" dirty="0">
                <a:latin typeface="Montserrat" pitchFamily="2" charset="77"/>
              </a:rPr>
              <a:t> tissues indicates a greater retention of </a:t>
            </a:r>
            <a:r>
              <a:rPr lang="en-US" sz="2400" b="1" dirty="0">
                <a:latin typeface="Montserrat" pitchFamily="2" charset="77"/>
              </a:rPr>
              <a:t>discriminatory information  </a:t>
            </a:r>
            <a:r>
              <a:rPr lang="en-US" sz="2400" dirty="0">
                <a:latin typeface="Montserrat" pitchFamily="2" charset="77"/>
              </a:rPr>
              <a:t>in the lncRNA gene subset.</a:t>
            </a:r>
          </a:p>
          <a:p>
            <a:pPr marL="0" indent="0">
              <a:lnSpc>
                <a:spcPts val="2880"/>
              </a:lnSpc>
              <a:buNone/>
            </a:pPr>
            <a:endParaRPr lang="en-US" sz="2400" dirty="0">
              <a:latin typeface="Montserrat" pitchFamily="2" charset="77"/>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FA6ED86-27AB-428D-A07D-2CBD2EF00F0A}"/>
                  </a:ext>
                </a:extLst>
              </p:cNvPr>
              <p:cNvSpPr txBox="1"/>
              <p:nvPr/>
            </p:nvSpPr>
            <p:spPr>
              <a:xfrm>
                <a:off x="993398" y="950501"/>
                <a:ext cx="1119674" cy="441146"/>
              </a:xfrm>
              <a:prstGeom prst="rect">
                <a:avLst/>
              </a:prstGeom>
              <a:noFill/>
            </p:spPr>
            <p:txBody>
              <a:bodyPr wrap="square">
                <a:spAutoFit/>
              </a:bodyPr>
              <a:lstStyle/>
              <a:p>
                <a:pPr/>
                <a14:m>
                  <m:oMathPara xmlns:m="http://schemas.openxmlformats.org/officeDocument/2006/math">
                    <m:o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𝑇𝑃</m:t>
                          </m:r>
                        </m:num>
                        <m:den>
                          <m:r>
                            <a:rPr lang="en-US" sz="1200" b="0" i="1" smtClean="0">
                              <a:latin typeface="Cambria Math" panose="02040503050406030204" pitchFamily="18" charset="0"/>
                            </a:rPr>
                            <m:t>𝑇𝑃</m:t>
                          </m:r>
                          <m:r>
                            <a:rPr lang="en-US" sz="1200" b="0" i="1" smtClean="0">
                              <a:latin typeface="Cambria Math" panose="02040503050406030204" pitchFamily="18" charset="0"/>
                            </a:rPr>
                            <m:t>+</m:t>
                          </m:r>
                          <m:r>
                            <a:rPr lang="en-US" sz="1200" b="0" i="1" smtClean="0">
                              <a:latin typeface="Cambria Math" panose="02040503050406030204" pitchFamily="18" charset="0"/>
                            </a:rPr>
                            <m:t>𝐹𝑃</m:t>
                          </m:r>
                        </m:den>
                      </m:f>
                    </m:oMath>
                  </m:oMathPara>
                </a14:m>
                <a:endParaRPr lang="en-US" sz="1100" dirty="0"/>
              </a:p>
            </p:txBody>
          </p:sp>
        </mc:Choice>
        <mc:Fallback>
          <p:sp>
            <p:nvSpPr>
              <p:cNvPr id="5" name="TextBox 4">
                <a:extLst>
                  <a:ext uri="{FF2B5EF4-FFF2-40B4-BE49-F238E27FC236}">
                    <a16:creationId xmlns:a16="http://schemas.microsoft.com/office/drawing/2014/main" id="{FFA6ED86-27AB-428D-A07D-2CBD2EF00F0A}"/>
                  </a:ext>
                </a:extLst>
              </p:cNvPr>
              <p:cNvSpPr txBox="1">
                <a:spLocks noRot="1" noChangeAspect="1" noMove="1" noResize="1" noEditPoints="1" noAdjustHandles="1" noChangeArrowheads="1" noChangeShapeType="1" noTextEdit="1"/>
              </p:cNvSpPr>
              <p:nvPr/>
            </p:nvSpPr>
            <p:spPr>
              <a:xfrm>
                <a:off x="993398" y="950501"/>
                <a:ext cx="1119674" cy="44114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5DD7DFD-EED1-24C9-EE99-54B54A1DC186}"/>
                  </a:ext>
                </a:extLst>
              </p:cNvPr>
              <p:cNvSpPr txBox="1"/>
              <p:nvPr/>
            </p:nvSpPr>
            <p:spPr>
              <a:xfrm>
                <a:off x="4219924" y="915763"/>
                <a:ext cx="1119674" cy="441146"/>
              </a:xfrm>
              <a:prstGeom prst="rect">
                <a:avLst/>
              </a:prstGeom>
              <a:noFill/>
            </p:spPr>
            <p:txBody>
              <a:bodyPr wrap="square">
                <a:spAutoFit/>
              </a:bodyPr>
              <a:lstStyle/>
              <a:p>
                <a:pPr/>
                <a14:m>
                  <m:oMathPara xmlns:m="http://schemas.openxmlformats.org/officeDocument/2006/math">
                    <m:o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𝑇𝑃</m:t>
                          </m:r>
                        </m:num>
                        <m:den>
                          <m:r>
                            <a:rPr lang="en-US" sz="1200" b="0" i="1" smtClean="0">
                              <a:latin typeface="Cambria Math" panose="02040503050406030204" pitchFamily="18" charset="0"/>
                            </a:rPr>
                            <m:t>𝑇𝑃</m:t>
                          </m:r>
                          <m:r>
                            <a:rPr lang="en-US" sz="1200" b="0" i="1" smtClean="0">
                              <a:latin typeface="Cambria Math" panose="02040503050406030204" pitchFamily="18" charset="0"/>
                            </a:rPr>
                            <m:t>+</m:t>
                          </m:r>
                          <m:r>
                            <a:rPr lang="en-US" sz="1200" b="0" i="1" smtClean="0">
                              <a:latin typeface="Cambria Math" panose="02040503050406030204" pitchFamily="18" charset="0"/>
                            </a:rPr>
                            <m:t>𝐹𝑁</m:t>
                          </m:r>
                        </m:den>
                      </m:f>
                    </m:oMath>
                  </m:oMathPara>
                </a14:m>
                <a:endParaRPr lang="en-US" sz="1100" dirty="0"/>
              </a:p>
            </p:txBody>
          </p:sp>
        </mc:Choice>
        <mc:Fallback>
          <p:sp>
            <p:nvSpPr>
              <p:cNvPr id="6" name="TextBox 5">
                <a:extLst>
                  <a:ext uri="{FF2B5EF4-FFF2-40B4-BE49-F238E27FC236}">
                    <a16:creationId xmlns:a16="http://schemas.microsoft.com/office/drawing/2014/main" id="{F5DD7DFD-EED1-24C9-EE99-54B54A1DC186}"/>
                  </a:ext>
                </a:extLst>
              </p:cNvPr>
              <p:cNvSpPr txBox="1">
                <a:spLocks noRot="1" noChangeAspect="1" noMove="1" noResize="1" noEditPoints="1" noAdjustHandles="1" noChangeArrowheads="1" noChangeShapeType="1" noTextEdit="1"/>
              </p:cNvSpPr>
              <p:nvPr/>
            </p:nvSpPr>
            <p:spPr>
              <a:xfrm>
                <a:off x="4219924" y="915763"/>
                <a:ext cx="1119674" cy="44114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298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39B7-50D7-795C-C778-F7760CDA0C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3E272-2A95-3CF3-DB2F-8266AB882001}"/>
              </a:ext>
            </a:extLst>
          </p:cNvPr>
          <p:cNvSpPr>
            <a:spLocks noGrp="1"/>
          </p:cNvSpPr>
          <p:nvPr>
            <p:ph idx="1"/>
          </p:nvPr>
        </p:nvSpPr>
        <p:spPr>
          <a:xfrm>
            <a:off x="3347957" y="2234513"/>
            <a:ext cx="5496086" cy="2117353"/>
          </a:xfrm>
        </p:spPr>
        <p:txBody>
          <a:bodyPr>
            <a:noAutofit/>
          </a:bodyPr>
          <a:lstStyle/>
          <a:p>
            <a:pPr marL="1028700" indent="-1028700">
              <a:lnSpc>
                <a:spcPct val="125000"/>
              </a:lnSpc>
              <a:spcBef>
                <a:spcPts val="0"/>
              </a:spcBef>
              <a:spcAft>
                <a:spcPts val="1200"/>
              </a:spcAft>
              <a:buFont typeface="+mj-lt"/>
              <a:buAutoNum type="romanUcPeriod" startAt="4"/>
            </a:pPr>
            <a:r>
              <a:rPr lang="en-US" sz="5400" dirty="0">
                <a:latin typeface="Crimson Pro Medium" pitchFamily="2" charset="77"/>
                <a:cs typeface="Arial" panose="020B0604020202020204" pitchFamily="34" charset="0"/>
              </a:rPr>
              <a:t>Retina-Specific Findings</a:t>
            </a:r>
          </a:p>
        </p:txBody>
      </p:sp>
    </p:spTree>
    <p:extLst>
      <p:ext uri="{BB962C8B-B14F-4D97-AF65-F5344CB8AC3E}">
        <p14:creationId xmlns:p14="http://schemas.microsoft.com/office/powerpoint/2010/main" val="3609238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74CE5-1840-9E41-4FB7-F65287D1AA52}"/>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C6BE91B-1B13-2692-F2E5-BF4A7663E84C}"/>
              </a:ext>
            </a:extLst>
          </p:cNvPr>
          <p:cNvGraphicFramePr>
            <a:graphicFrameLocks noGrp="1"/>
          </p:cNvGraphicFramePr>
          <p:nvPr>
            <p:extLst>
              <p:ext uri="{D42A27DB-BD31-4B8C-83A1-F6EECF244321}">
                <p14:modId xmlns:p14="http://schemas.microsoft.com/office/powerpoint/2010/main" val="1793319997"/>
              </p:ext>
            </p:extLst>
          </p:nvPr>
        </p:nvGraphicFramePr>
        <p:xfrm>
          <a:off x="3810000" y="190221"/>
          <a:ext cx="8151470" cy="5669280"/>
        </p:xfrm>
        <a:graphic>
          <a:graphicData uri="http://schemas.openxmlformats.org/drawingml/2006/table">
            <a:tbl>
              <a:tblPr/>
              <a:tblGrid>
                <a:gridCol w="1039079">
                  <a:extLst>
                    <a:ext uri="{9D8B030D-6E8A-4147-A177-3AD203B41FA5}">
                      <a16:colId xmlns:a16="http://schemas.microsoft.com/office/drawing/2014/main" val="3262162569"/>
                    </a:ext>
                  </a:extLst>
                </a:gridCol>
                <a:gridCol w="1487089">
                  <a:extLst>
                    <a:ext uri="{9D8B030D-6E8A-4147-A177-3AD203B41FA5}">
                      <a16:colId xmlns:a16="http://schemas.microsoft.com/office/drawing/2014/main" val="2737872705"/>
                    </a:ext>
                  </a:extLst>
                </a:gridCol>
                <a:gridCol w="1197941">
                  <a:extLst>
                    <a:ext uri="{9D8B030D-6E8A-4147-A177-3AD203B41FA5}">
                      <a16:colId xmlns:a16="http://schemas.microsoft.com/office/drawing/2014/main" val="65992728"/>
                    </a:ext>
                  </a:extLst>
                </a:gridCol>
                <a:gridCol w="1344032">
                  <a:extLst>
                    <a:ext uri="{9D8B030D-6E8A-4147-A177-3AD203B41FA5}">
                      <a16:colId xmlns:a16="http://schemas.microsoft.com/office/drawing/2014/main" val="846037549"/>
                    </a:ext>
                  </a:extLst>
                </a:gridCol>
                <a:gridCol w="1344032">
                  <a:extLst>
                    <a:ext uri="{9D8B030D-6E8A-4147-A177-3AD203B41FA5}">
                      <a16:colId xmlns:a16="http://schemas.microsoft.com/office/drawing/2014/main" val="2772536207"/>
                    </a:ext>
                  </a:extLst>
                </a:gridCol>
                <a:gridCol w="1739297">
                  <a:extLst>
                    <a:ext uri="{9D8B030D-6E8A-4147-A177-3AD203B41FA5}">
                      <a16:colId xmlns:a16="http://schemas.microsoft.com/office/drawing/2014/main" val="2152769747"/>
                    </a:ext>
                  </a:extLst>
                </a:gridCol>
              </a:tblGrid>
              <a:tr h="731520">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Type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Tissue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Gene Set</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Positive Genes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i="1" dirty="0">
                          <a:effectLst/>
                          <a:latin typeface="Arial" panose="020B0604020202020204" pitchFamily="34" charset="0"/>
                          <a:ea typeface="Times New Roman" panose="02020603050405020304" pitchFamily="18" charset="0"/>
                          <a:cs typeface="Arial" panose="020B0604020202020204" pitchFamily="34" charset="0"/>
                        </a:rPr>
                        <a:t>%</a:t>
                      </a:r>
                      <a:r>
                        <a:rPr lang="en-US" sz="1400" i="1" dirty="0">
                          <a:effectLst/>
                          <a:latin typeface="Arial" panose="020B0604020202020204" pitchFamily="34" charset="0"/>
                          <a:ea typeface="Times New Roman" panose="02020603050405020304" pitchFamily="18" charset="0"/>
                          <a:cs typeface="Arial" panose="020B0604020202020204" pitchFamily="34" charset="0"/>
                        </a:rPr>
                        <a:t> of </a:t>
                      </a:r>
                      <a:r>
                        <a:rPr lang="en-US" sz="1400" b="1" i="1" dirty="0">
                          <a:effectLst/>
                          <a:latin typeface="Arial" panose="020B0604020202020204" pitchFamily="34" charset="0"/>
                          <a:ea typeface="Times New Roman" panose="02020603050405020304" pitchFamily="18" charset="0"/>
                          <a:cs typeface="Arial" panose="020B0604020202020204" pitchFamily="34" charset="0"/>
                        </a:rPr>
                        <a:t>Positive Genes </a:t>
                      </a:r>
                      <a:r>
                        <a:rPr lang="en-US" sz="1400" i="1" dirty="0">
                          <a:effectLst/>
                          <a:latin typeface="Arial" panose="020B0604020202020204" pitchFamily="34" charset="0"/>
                          <a:ea typeface="Times New Roman" panose="02020603050405020304" pitchFamily="18" charset="0"/>
                          <a:cs typeface="Arial" panose="020B0604020202020204" pitchFamily="34" charset="0"/>
                        </a:rPr>
                        <a:t>that are </a:t>
                      </a:r>
                      <a:r>
                        <a:rPr lang="en-US" sz="1400" b="1" i="1" dirty="0">
                          <a:effectLst/>
                          <a:latin typeface="Arial" panose="020B0604020202020204" pitchFamily="34" charset="0"/>
                          <a:ea typeface="Times New Roman" panose="02020603050405020304" pitchFamily="18" charset="0"/>
                          <a:cs typeface="Arial" panose="020B0604020202020204" pitchFamily="34" charset="0"/>
                        </a:rPr>
                        <a:t>lncRNA</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Mean </a:t>
                      </a:r>
                      <a:r>
                        <a:rPr lang="en-US" sz="1400" b="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Candidate Genes</a:t>
                      </a:r>
                      <a:r>
                        <a:rPr lang="en-US" sz="1400" i="1" dirty="0">
                          <a:effectLst/>
                          <a:latin typeface="Arial" panose="020B0604020202020204" pitchFamily="34" charset="0"/>
                          <a:ea typeface="Calibri" panose="020F0502020204030204" pitchFamily="34" charset="0"/>
                          <a:cs typeface="Arial" panose="020B0604020202020204" pitchFamily="34" charset="0"/>
                        </a:rPr>
                        <a:t> </a:t>
                      </a:r>
                    </a:p>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 Cell Type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5459619"/>
                  </a:ext>
                </a:extLst>
              </a:tr>
              <a:tr h="274320">
                <a:tc rowSpan="10">
                  <a:txBody>
                    <a:bodyPr/>
                    <a:lstStyle/>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Non-</a:t>
                      </a:r>
                    </a:p>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Neural</a:t>
                      </a:r>
                      <a:endParaRPr lang="en-US" sz="9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Bone Marrow</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6,474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(13.2%)</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chemeClr val="bg1">
                        <a:lumMod val="95000"/>
                      </a:schemeClr>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1.22%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622.1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966809406"/>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79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(0.7%)</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7.3</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4292402570"/>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Breast</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4,622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1.38%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425.6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1908987"/>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64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5.1</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64715915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Kidney</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5,249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(15.8%)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3.87%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784331484"/>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203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(1.8%)</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12.8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21633619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Liver</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3,073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(8.6%)</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295.4</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082515467"/>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41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3.2</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49920183"/>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Lung</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5,288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(19.3%)</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461.9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548730836"/>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83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(1.0%)</a:t>
                      </a:r>
                      <a:endParaRPr lang="en-US" sz="9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4209163"/>
                  </a:ext>
                </a:extLst>
              </a:tr>
              <a:tr h="274320">
                <a:tc rowSpan="8">
                  <a:txBody>
                    <a:bodyPr/>
                    <a:lstStyle/>
                    <a:p>
                      <a:pPr marL="0" marR="0" algn="ctr">
                        <a:buNone/>
                      </a:pPr>
                      <a:r>
                        <a:rPr lang="en-US" sz="1400" b="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Neural</a:t>
                      </a:r>
                      <a:endParaRPr lang="en-US" sz="9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Motor Cortex</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8,723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(28.4%)</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3.00%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651.5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4222275938"/>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lncRNA</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262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(12.9%)</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22.0</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3929185238"/>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Middle Temporal Gyrus</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11,529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(37.5%)</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3.35%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750.9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6229345"/>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381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386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(19.0%)</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38100" cap="flat" cmpd="sng" algn="ctr">
                      <a:solidFill>
                        <a:schemeClr val="tx1"/>
                      </a:solidFill>
                      <a:prstDash val="solid"/>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32.7</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157059"/>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Retina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6,925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(19.5%)</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a:noFill/>
                    </a:lnB>
                    <a:solidFill>
                      <a:srgbClr val="F2F2F2"/>
                    </a:solidFill>
                  </a:tcPr>
                </a:tc>
                <a:tc rowSpan="2">
                  <a:txBody>
                    <a:bodyPr/>
                    <a:lstStyle/>
                    <a:p>
                      <a:pPr marL="0" marR="0" algn="ctr">
                        <a:buNone/>
                      </a:pPr>
                      <a:r>
                        <a:rPr lang="en-US" sz="1400" b="1" dirty="0">
                          <a:effectLst/>
                          <a:latin typeface="Arial" panose="020B0604020202020204" pitchFamily="34" charset="0"/>
                          <a:ea typeface="Calibri" panose="020F0502020204030204" pitchFamily="34" charset="0"/>
                          <a:cs typeface="Arial" panose="020B0604020202020204" pitchFamily="34" charset="0"/>
                        </a:rPr>
                        <a:t>10.15%</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590.6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243781070"/>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381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38100" cap="flat" cmpd="sng" algn="ctr">
                      <a:solidFill>
                        <a:schemeClr val="tx1"/>
                      </a:solidFill>
                      <a:prstDash val="solid"/>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56.5</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170416"/>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Spinal Cord</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9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8,425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(23.8%)</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8.34%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515.2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381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2465376684"/>
                  </a:ext>
                </a:extLst>
              </a:tr>
              <a:tr h="274320">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9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61.6</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726183"/>
                  </a:ext>
                </a:extLst>
              </a:tr>
            </a:tbl>
          </a:graphicData>
        </a:graphic>
      </p:graphicFrame>
      <p:sp>
        <p:nvSpPr>
          <p:cNvPr id="2" name="Content Placeholder 2">
            <a:extLst>
              <a:ext uri="{FF2B5EF4-FFF2-40B4-BE49-F238E27FC236}">
                <a16:creationId xmlns:a16="http://schemas.microsoft.com/office/drawing/2014/main" id="{2C7AEE46-0B4F-1749-8A5D-F4E9DDC05C8E}"/>
              </a:ext>
            </a:extLst>
          </p:cNvPr>
          <p:cNvSpPr>
            <a:spLocks noGrp="1"/>
          </p:cNvSpPr>
          <p:nvPr>
            <p:ph idx="1"/>
          </p:nvPr>
        </p:nvSpPr>
        <p:spPr>
          <a:xfrm>
            <a:off x="319264" y="173904"/>
            <a:ext cx="3371587" cy="5669280"/>
          </a:xfrm>
        </p:spPr>
        <p:txBody>
          <a:bodyPr>
            <a:noAutofit/>
          </a:bodyPr>
          <a:lstStyle/>
          <a:p>
            <a:pPr marL="0" indent="0">
              <a:lnSpc>
                <a:spcPts val="2880"/>
              </a:lnSpc>
              <a:buClr>
                <a:schemeClr val="tx1"/>
              </a:buClr>
              <a:buNone/>
            </a:pPr>
            <a:r>
              <a:rPr lang="en-US" sz="2400" dirty="0">
                <a:latin typeface="Montserrat" pitchFamily="2" charset="77"/>
              </a:rPr>
              <a:t>Of the positive genes of each tissue, the </a:t>
            </a:r>
            <a:r>
              <a:rPr lang="en-US" sz="2400" b="1" dirty="0">
                <a:latin typeface="Montserrat" pitchFamily="2" charset="77"/>
              </a:rPr>
              <a:t>proportion</a:t>
            </a:r>
            <a:r>
              <a:rPr lang="en-US" sz="2400" dirty="0">
                <a:latin typeface="Montserrat" pitchFamily="2" charset="77"/>
              </a:rPr>
              <a:t> of positive lncRNAs is</a:t>
            </a:r>
            <a:r>
              <a:rPr lang="en-US" sz="2400" b="1" dirty="0">
                <a:latin typeface="Montserrat" pitchFamily="2" charset="77"/>
              </a:rPr>
              <a:t> larger</a:t>
            </a:r>
            <a:r>
              <a:rPr lang="en-US" sz="2400" dirty="0">
                <a:latin typeface="Montserrat" pitchFamily="2" charset="77"/>
              </a:rPr>
              <a:t> </a:t>
            </a:r>
            <a:r>
              <a:rPr lang="en-US" sz="2400" b="1" dirty="0">
                <a:latin typeface="Montserrat" pitchFamily="2" charset="77"/>
              </a:rPr>
              <a:t>in</a:t>
            </a:r>
            <a:r>
              <a:rPr lang="en-US" sz="2400" dirty="0">
                <a:latin typeface="Montserrat" pitchFamily="2" charset="77"/>
              </a:rPr>
              <a:t> </a:t>
            </a:r>
            <a:r>
              <a:rPr lang="en-US" sz="2400" b="1" dirty="0">
                <a:latin typeface="Montserrat" pitchFamily="2" charset="77"/>
              </a:rPr>
              <a:t>retina</a:t>
            </a:r>
            <a:r>
              <a:rPr lang="en-US" sz="2400" dirty="0">
                <a:latin typeface="Montserrat" pitchFamily="2" charset="77"/>
              </a:rPr>
              <a:t> than any other tissue.</a:t>
            </a:r>
          </a:p>
          <a:p>
            <a:pPr marL="640080" lvl="1">
              <a:lnSpc>
                <a:spcPts val="2880"/>
              </a:lnSpc>
              <a:buClr>
                <a:schemeClr val="tx1"/>
              </a:buClr>
              <a:buFont typeface="Arial" panose="020B0604020202020204" pitchFamily="34" charset="0"/>
              <a:buChar char="•"/>
            </a:pPr>
            <a:r>
              <a:rPr lang="en-US" sz="2000" b="1" i="1" dirty="0">
                <a:latin typeface="Montserrat" pitchFamily="2" charset="77"/>
              </a:rPr>
              <a:t>Increased contribution </a:t>
            </a:r>
            <a:r>
              <a:rPr lang="en-US" sz="2000" dirty="0">
                <a:latin typeface="Montserrat" pitchFamily="2" charset="77"/>
              </a:rPr>
              <a:t>of lncRNAs to the retina candidate biomarkers pool. </a:t>
            </a:r>
          </a:p>
          <a:p>
            <a:pPr marL="640080" lvl="1">
              <a:lnSpc>
                <a:spcPts val="2880"/>
              </a:lnSpc>
              <a:buClr>
                <a:schemeClr val="tx1"/>
              </a:buClr>
              <a:buFont typeface="Arial" panose="020B0604020202020204" pitchFamily="34" charset="0"/>
              <a:buChar char="•"/>
            </a:pPr>
            <a:r>
              <a:rPr lang="en-US" sz="2000" dirty="0">
                <a:latin typeface="Montserrat" pitchFamily="2" charset="77"/>
              </a:rPr>
              <a:t>Indicates comparably </a:t>
            </a:r>
            <a:r>
              <a:rPr lang="en-US" sz="2000" b="1" i="1" dirty="0">
                <a:latin typeface="Montserrat" pitchFamily="2" charset="77"/>
              </a:rPr>
              <a:t>higher</a:t>
            </a:r>
            <a:r>
              <a:rPr lang="en-US" sz="2000" dirty="0">
                <a:latin typeface="Montserrat" pitchFamily="2" charset="77"/>
              </a:rPr>
              <a:t> </a:t>
            </a:r>
            <a:r>
              <a:rPr lang="en-US" sz="2000" b="1" i="1" dirty="0">
                <a:latin typeface="Montserrat" pitchFamily="2" charset="77"/>
              </a:rPr>
              <a:t>non-zero lncRNA expression</a:t>
            </a:r>
            <a:r>
              <a:rPr lang="en-US" sz="2000" dirty="0">
                <a:latin typeface="Montserrat" pitchFamily="2" charset="77"/>
              </a:rPr>
              <a:t>.</a:t>
            </a:r>
          </a:p>
        </p:txBody>
      </p:sp>
    </p:spTree>
    <p:extLst>
      <p:ext uri="{BB962C8B-B14F-4D97-AF65-F5344CB8AC3E}">
        <p14:creationId xmlns:p14="http://schemas.microsoft.com/office/powerpoint/2010/main" val="213239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0A14-FB2D-6912-B0B1-A8F6835EF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4F488-AE85-1A06-C56A-A43B7FC96E15}"/>
              </a:ext>
            </a:extLst>
          </p:cNvPr>
          <p:cNvSpPr>
            <a:spLocks noGrp="1"/>
          </p:cNvSpPr>
          <p:nvPr>
            <p:ph type="title"/>
          </p:nvPr>
        </p:nvSpPr>
        <p:spPr>
          <a:xfrm>
            <a:off x="302006" y="319820"/>
            <a:ext cx="11568569" cy="727405"/>
          </a:xfrm>
        </p:spPr>
        <p:txBody>
          <a:bodyPr>
            <a:noAutofit/>
          </a:bodyPr>
          <a:lstStyle/>
          <a:p>
            <a:r>
              <a:rPr lang="en-US" sz="4800" dirty="0">
                <a:latin typeface="Crimson Pro Medium" pitchFamily="2" charset="77"/>
              </a:rPr>
              <a:t>Distribution of Non-Zero Retina Binary Scores</a:t>
            </a:r>
          </a:p>
        </p:txBody>
      </p:sp>
      <p:pic>
        <p:nvPicPr>
          <p:cNvPr id="5" name="Graphic 4">
            <a:extLst>
              <a:ext uri="{FF2B5EF4-FFF2-40B4-BE49-F238E27FC236}">
                <a16:creationId xmlns:a16="http://schemas.microsoft.com/office/drawing/2014/main" id="{D4C517E3-6F4E-6A2C-247A-EE5C1C428E3A}"/>
              </a:ext>
            </a:extLst>
          </p:cNvPr>
          <p:cNvPicPr>
            <a:picLocks noChangeAspect="1"/>
          </p:cNvPicPr>
          <p:nvPr/>
        </p:nvPicPr>
        <p:blipFill>
          <a:blip>
            <a:extLst>
              <a:ext uri="{96DAC541-7B7A-43D3-8B79-37D633B846F1}">
                <asvg:svgBlip xmlns:asvg="http://schemas.microsoft.com/office/drawing/2016/SVG/main" r:embed="rId3"/>
              </a:ext>
            </a:extLst>
          </a:blip>
          <a:srcRect t="5405"/>
          <a:stretch>
            <a:fillRect/>
          </a:stretch>
        </p:blipFill>
        <p:spPr>
          <a:xfrm>
            <a:off x="321425" y="1475314"/>
            <a:ext cx="7642333" cy="4275974"/>
          </a:xfrm>
          <a:prstGeom prst="rect">
            <a:avLst/>
          </a:prstGeom>
        </p:spPr>
      </p:pic>
      <p:sp>
        <p:nvSpPr>
          <p:cNvPr id="7" name="Content Placeholder 2">
            <a:extLst>
              <a:ext uri="{FF2B5EF4-FFF2-40B4-BE49-F238E27FC236}">
                <a16:creationId xmlns:a16="http://schemas.microsoft.com/office/drawing/2014/main" id="{87BC75B8-377E-FDBD-EE90-ABAEBC46BA02}"/>
              </a:ext>
            </a:extLst>
          </p:cNvPr>
          <p:cNvSpPr txBox="1">
            <a:spLocks/>
          </p:cNvSpPr>
          <p:nvPr/>
        </p:nvSpPr>
        <p:spPr>
          <a:xfrm>
            <a:off x="7531331" y="1168861"/>
            <a:ext cx="4339244" cy="47283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880"/>
              </a:lnSpc>
              <a:buClr>
                <a:schemeClr val="tx1"/>
              </a:buClr>
            </a:pPr>
            <a:r>
              <a:rPr lang="en-US" sz="2400" dirty="0">
                <a:latin typeface="Montserrat" pitchFamily="2" charset="77"/>
              </a:rPr>
              <a:t>Distributions have a Cliff's </a:t>
            </a:r>
            <a:r>
              <a:rPr lang="el-GR" sz="2400" dirty="0">
                <a:latin typeface="Montserrat" pitchFamily="2" charset="77"/>
              </a:rPr>
              <a:t>δ = </a:t>
            </a:r>
            <a:r>
              <a:rPr lang="en-US" sz="2400" dirty="0">
                <a:latin typeface="Montserrat" pitchFamily="2" charset="77"/>
              </a:rPr>
              <a:t>0.224</a:t>
            </a:r>
            <a:r>
              <a:rPr lang="el-GR" sz="2400" i="1" dirty="0">
                <a:latin typeface="Montserrat" pitchFamily="2" charset="77"/>
              </a:rPr>
              <a:t> </a:t>
            </a:r>
            <a:r>
              <a:rPr lang="en-US" sz="2400" i="1" dirty="0">
                <a:latin typeface="Montserrat" pitchFamily="2" charset="77"/>
              </a:rPr>
              <a:t> (moderate separation; lncRNA subset is higher)</a:t>
            </a:r>
            <a:r>
              <a:rPr lang="en-US" sz="2400" dirty="0">
                <a:latin typeface="Montserrat" pitchFamily="2" charset="77"/>
              </a:rPr>
              <a:t>.</a:t>
            </a:r>
            <a:endParaRPr lang="en-US" sz="2400" i="1" dirty="0">
              <a:latin typeface="Montserrat" pitchFamily="2" charset="77"/>
            </a:endParaRPr>
          </a:p>
          <a:p>
            <a:pPr lvl="1">
              <a:lnSpc>
                <a:spcPts val="2880"/>
              </a:lnSpc>
            </a:pPr>
            <a:r>
              <a:rPr lang="en-US" sz="2000" dirty="0">
                <a:latin typeface="Montserrat" pitchFamily="2" charset="77"/>
              </a:rPr>
              <a:t>lncRNAs show a </a:t>
            </a:r>
            <a:r>
              <a:rPr lang="en-US" sz="2000" b="1" i="1" dirty="0">
                <a:latin typeface="Montserrat" pitchFamily="2" charset="77"/>
              </a:rPr>
              <a:t>greater proportion </a:t>
            </a:r>
            <a:r>
              <a:rPr lang="en-US" sz="2000" dirty="0">
                <a:latin typeface="Montserrat" pitchFamily="2" charset="77"/>
              </a:rPr>
              <a:t>of high Binary Scores compared to the full transcriptome. </a:t>
            </a:r>
          </a:p>
          <a:p>
            <a:pPr lvl="1">
              <a:lnSpc>
                <a:spcPts val="2880"/>
              </a:lnSpc>
            </a:pPr>
            <a:r>
              <a:rPr lang="en-US" sz="2000" dirty="0">
                <a:latin typeface="Montserrat" pitchFamily="2" charset="77"/>
              </a:rPr>
              <a:t>Indicates that retinal lncRNA having </a:t>
            </a:r>
            <a:r>
              <a:rPr lang="en-US" sz="2000" b="1" i="1" dirty="0">
                <a:latin typeface="Montserrat" pitchFamily="2" charset="77"/>
              </a:rPr>
              <a:t>greater cell type-specific expression.</a:t>
            </a:r>
            <a:endParaRPr lang="en-US" sz="2000" dirty="0">
              <a:latin typeface="Montserrat" pitchFamily="2" charset="77"/>
            </a:endParaRPr>
          </a:p>
        </p:txBody>
      </p:sp>
    </p:spTree>
    <p:extLst>
      <p:ext uri="{BB962C8B-B14F-4D97-AF65-F5344CB8AC3E}">
        <p14:creationId xmlns:p14="http://schemas.microsoft.com/office/powerpoint/2010/main" val="174142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18C4-CF15-D354-D611-B8CB351B9FDF}"/>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6560DAC7-4F7D-1C4C-1E19-99CDBC015026}"/>
              </a:ext>
            </a:extLst>
          </p:cNvPr>
          <p:cNvPicPr>
            <a:picLocks noChangeAspect="1"/>
          </p:cNvPicPr>
          <p:nvPr/>
        </p:nvPicPr>
        <p:blipFill>
          <a:blip>
            <a:extLst>
              <a:ext uri="{96DAC541-7B7A-43D3-8B79-37D633B846F1}">
                <asvg:svgBlip xmlns:asvg="http://schemas.microsoft.com/office/drawing/2016/SVG/main" r:embed="rId3"/>
              </a:ext>
            </a:extLst>
          </a:blip>
          <a:srcRect t="4337"/>
          <a:stretch>
            <a:fillRect/>
          </a:stretch>
        </p:blipFill>
        <p:spPr>
          <a:xfrm>
            <a:off x="5831325" y="415635"/>
            <a:ext cx="6106532" cy="5370024"/>
          </a:xfrm>
          <a:prstGeom prst="rect">
            <a:avLst/>
          </a:prstGeom>
        </p:spPr>
      </p:pic>
      <p:sp>
        <p:nvSpPr>
          <p:cNvPr id="2" name="Title 1">
            <a:extLst>
              <a:ext uri="{FF2B5EF4-FFF2-40B4-BE49-F238E27FC236}">
                <a16:creationId xmlns:a16="http://schemas.microsoft.com/office/drawing/2014/main" id="{5E7CD2FD-248F-E2FC-73BD-CA5C2BA30B59}"/>
              </a:ext>
            </a:extLst>
          </p:cNvPr>
          <p:cNvSpPr>
            <a:spLocks noGrp="1"/>
          </p:cNvSpPr>
          <p:nvPr>
            <p:ph type="title"/>
          </p:nvPr>
        </p:nvSpPr>
        <p:spPr>
          <a:xfrm>
            <a:off x="130209" y="182633"/>
            <a:ext cx="6082169" cy="2211185"/>
          </a:xfrm>
        </p:spPr>
        <p:txBody>
          <a:bodyPr>
            <a:noAutofit/>
          </a:bodyPr>
          <a:lstStyle/>
          <a:p>
            <a:r>
              <a:rPr lang="en-US" sz="4800" dirty="0">
                <a:latin typeface="Crimson Pro Medium" pitchFamily="2" charset="77"/>
              </a:rPr>
              <a:t>Retina Non-Zero Binary Score Distributions by Major Cell Type Class</a:t>
            </a:r>
          </a:p>
        </p:txBody>
      </p:sp>
      <p:sp>
        <p:nvSpPr>
          <p:cNvPr id="9" name="Content Placeholder 2">
            <a:extLst>
              <a:ext uri="{FF2B5EF4-FFF2-40B4-BE49-F238E27FC236}">
                <a16:creationId xmlns:a16="http://schemas.microsoft.com/office/drawing/2014/main" id="{B41EDC1A-A87F-C2F9-A6BE-DD6A10E796C9}"/>
              </a:ext>
            </a:extLst>
          </p:cNvPr>
          <p:cNvSpPr txBox="1">
            <a:spLocks/>
          </p:cNvSpPr>
          <p:nvPr/>
        </p:nvSpPr>
        <p:spPr>
          <a:xfrm>
            <a:off x="98125" y="2375847"/>
            <a:ext cx="5733200" cy="36609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880"/>
              </a:lnSpc>
              <a:buClr>
                <a:schemeClr val="tx1"/>
              </a:buClr>
            </a:pPr>
            <a:r>
              <a:rPr lang="en-US" sz="2400" dirty="0">
                <a:latin typeface="Montserrat" pitchFamily="2" charset="77"/>
              </a:rPr>
              <a:t>The </a:t>
            </a:r>
            <a:r>
              <a:rPr lang="en-US" sz="2400" b="1" dirty="0">
                <a:latin typeface="Montserrat" pitchFamily="2" charset="77"/>
              </a:rPr>
              <a:t>median</a:t>
            </a:r>
            <a:r>
              <a:rPr lang="en-US" sz="2400" dirty="0">
                <a:latin typeface="Montserrat" pitchFamily="2" charset="77"/>
              </a:rPr>
              <a:t> Binary Score is </a:t>
            </a:r>
            <a:r>
              <a:rPr lang="en-US" sz="2400" b="1" dirty="0">
                <a:latin typeface="Montserrat" pitchFamily="2" charset="77"/>
              </a:rPr>
              <a:t>higher in the lncRNA set </a:t>
            </a:r>
            <a:r>
              <a:rPr lang="en-US" sz="2400" dirty="0">
                <a:latin typeface="Montserrat" pitchFamily="2" charset="77"/>
              </a:rPr>
              <a:t>across </a:t>
            </a:r>
            <a:r>
              <a:rPr lang="en-US" sz="2400" b="1" dirty="0">
                <a:latin typeface="Montserrat" pitchFamily="2" charset="77"/>
              </a:rPr>
              <a:t>all</a:t>
            </a:r>
            <a:r>
              <a:rPr lang="en-US" sz="2400" dirty="0">
                <a:latin typeface="Montserrat" pitchFamily="2" charset="77"/>
              </a:rPr>
              <a:t>  major cell type classes.</a:t>
            </a:r>
          </a:p>
          <a:p>
            <a:pPr lvl="1">
              <a:lnSpc>
                <a:spcPts val="2880"/>
              </a:lnSpc>
              <a:buClr>
                <a:schemeClr val="tx1"/>
              </a:buClr>
            </a:pPr>
            <a:r>
              <a:rPr lang="en-US" sz="2000" dirty="0">
                <a:latin typeface="Montserrat" pitchFamily="2" charset="77"/>
              </a:rPr>
              <a:t>Indicates that lncRNA </a:t>
            </a:r>
            <a:r>
              <a:rPr lang="en-US" sz="2000" b="1" i="1" dirty="0">
                <a:latin typeface="Montserrat" pitchFamily="2" charset="77"/>
              </a:rPr>
              <a:t>cell-type specificity</a:t>
            </a:r>
            <a:r>
              <a:rPr lang="en-US" sz="2000" dirty="0">
                <a:latin typeface="Montserrat" pitchFamily="2" charset="77"/>
              </a:rPr>
              <a:t> is generally </a:t>
            </a:r>
            <a:r>
              <a:rPr lang="en-US" sz="2000" b="1" i="1" dirty="0">
                <a:latin typeface="Montserrat" pitchFamily="2" charset="77"/>
              </a:rPr>
              <a:t>high</a:t>
            </a:r>
            <a:r>
              <a:rPr lang="en-US" sz="2000" dirty="0">
                <a:latin typeface="Montserrat" pitchFamily="2" charset="77"/>
              </a:rPr>
              <a:t> in retinal cells, particularly in those with more differential central tendencies.</a:t>
            </a:r>
          </a:p>
          <a:p>
            <a:pPr lvl="1">
              <a:lnSpc>
                <a:spcPts val="2880"/>
              </a:lnSpc>
              <a:buClr>
                <a:schemeClr val="tx1"/>
              </a:buClr>
            </a:pPr>
            <a:r>
              <a:rPr lang="en-US" sz="2000" i="1" dirty="0">
                <a:latin typeface="Montserrat" pitchFamily="2" charset="77"/>
              </a:rPr>
              <a:t>EX: Astrocytes, Bipolar Cell, Rod.</a:t>
            </a:r>
          </a:p>
        </p:txBody>
      </p:sp>
    </p:spTree>
    <p:extLst>
      <p:ext uri="{BB962C8B-B14F-4D97-AF65-F5344CB8AC3E}">
        <p14:creationId xmlns:p14="http://schemas.microsoft.com/office/powerpoint/2010/main" val="96192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CC0F9-BF9D-F790-5BAE-ED6055E8B811}"/>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08F3619A-D0B3-7080-669A-D9F058A9E80B}"/>
              </a:ext>
            </a:extLst>
          </p:cNvPr>
          <p:cNvPicPr>
            <a:picLocks noChangeAspect="1"/>
          </p:cNvPicPr>
          <p:nvPr/>
        </p:nvPicPr>
        <p:blipFill>
          <a:blip>
            <a:extLst>
              <a:ext uri="{96DAC541-7B7A-43D3-8B79-37D633B846F1}">
                <asvg:svgBlip xmlns:asvg="http://schemas.microsoft.com/office/drawing/2016/SVG/main" r:embed="rId3"/>
              </a:ext>
            </a:extLst>
          </a:blip>
          <a:srcRect t="4337"/>
          <a:stretch>
            <a:fillRect/>
          </a:stretch>
        </p:blipFill>
        <p:spPr>
          <a:xfrm>
            <a:off x="5831325" y="415635"/>
            <a:ext cx="6106532" cy="5370024"/>
          </a:xfrm>
          <a:prstGeom prst="rect">
            <a:avLst/>
          </a:prstGeom>
        </p:spPr>
      </p:pic>
      <p:sp>
        <p:nvSpPr>
          <p:cNvPr id="2" name="Title 1">
            <a:extLst>
              <a:ext uri="{FF2B5EF4-FFF2-40B4-BE49-F238E27FC236}">
                <a16:creationId xmlns:a16="http://schemas.microsoft.com/office/drawing/2014/main" id="{9BA93C8A-A505-03F4-1708-AEF86EA27F49}"/>
              </a:ext>
            </a:extLst>
          </p:cNvPr>
          <p:cNvSpPr>
            <a:spLocks noGrp="1"/>
          </p:cNvSpPr>
          <p:nvPr>
            <p:ph type="title"/>
          </p:nvPr>
        </p:nvSpPr>
        <p:spPr>
          <a:xfrm>
            <a:off x="130209" y="181689"/>
            <a:ext cx="6082169" cy="2211185"/>
          </a:xfrm>
        </p:spPr>
        <p:txBody>
          <a:bodyPr>
            <a:noAutofit/>
          </a:bodyPr>
          <a:lstStyle/>
          <a:p>
            <a:r>
              <a:rPr lang="en-US" sz="4800" dirty="0">
                <a:latin typeface="Crimson Pro Medium" pitchFamily="2" charset="77"/>
              </a:rPr>
              <a:t>Retina Non-Zero Binary Score Distributions by Major Cell Type Class</a:t>
            </a:r>
          </a:p>
        </p:txBody>
      </p:sp>
      <p:sp>
        <p:nvSpPr>
          <p:cNvPr id="12" name="TextBox 11">
            <a:extLst>
              <a:ext uri="{FF2B5EF4-FFF2-40B4-BE49-F238E27FC236}">
                <a16:creationId xmlns:a16="http://schemas.microsoft.com/office/drawing/2014/main" id="{5FA662D0-F936-FEF2-576B-C78BA504B1E7}"/>
              </a:ext>
            </a:extLst>
          </p:cNvPr>
          <p:cNvSpPr txBox="1"/>
          <p:nvPr/>
        </p:nvSpPr>
        <p:spPr>
          <a:xfrm>
            <a:off x="130209" y="2362225"/>
            <a:ext cx="5607982" cy="3563668"/>
          </a:xfrm>
          <a:prstGeom prst="rect">
            <a:avLst/>
          </a:prstGeom>
          <a:noFill/>
        </p:spPr>
        <p:txBody>
          <a:bodyPr wrap="square">
            <a:spAutoFit/>
          </a:bodyPr>
          <a:lstStyle/>
          <a:p>
            <a:pPr marL="342900" indent="-342900">
              <a:lnSpc>
                <a:spcPts val="2880"/>
              </a:lnSpc>
              <a:spcAft>
                <a:spcPts val="1200"/>
              </a:spcAft>
              <a:buClr>
                <a:schemeClr val="tx1"/>
              </a:buClr>
              <a:buFont typeface="Arial" panose="020B0604020202020204" pitchFamily="34" charset="0"/>
              <a:buChar char="•"/>
            </a:pPr>
            <a:r>
              <a:rPr lang="en-US" sz="2400" dirty="0">
                <a:latin typeface="Montserrat" pitchFamily="2" charset="77"/>
              </a:rPr>
              <a:t>The more </a:t>
            </a:r>
            <a:r>
              <a:rPr lang="en-US" sz="2400" b="1" dirty="0">
                <a:latin typeface="Montserrat" pitchFamily="2" charset="77"/>
              </a:rPr>
              <a:t>uniform</a:t>
            </a:r>
            <a:r>
              <a:rPr lang="en-US" sz="2400" dirty="0">
                <a:latin typeface="Montserrat" pitchFamily="2" charset="77"/>
              </a:rPr>
              <a:t> non-zero Binary Score distribution of </a:t>
            </a:r>
            <a:r>
              <a:rPr lang="en-US" sz="2400" b="1" dirty="0">
                <a:latin typeface="Montserrat" pitchFamily="2" charset="77"/>
              </a:rPr>
              <a:t>amacrine cells </a:t>
            </a:r>
            <a:r>
              <a:rPr lang="en-US" sz="2400" dirty="0">
                <a:latin typeface="Montserrat" pitchFamily="2" charset="77"/>
              </a:rPr>
              <a:t>may reflect the large number of </a:t>
            </a:r>
            <a:r>
              <a:rPr lang="en-US" sz="2400" b="1" dirty="0">
                <a:latin typeface="Montserrat" pitchFamily="2" charset="77"/>
              </a:rPr>
              <a:t>closely-related subtypes</a:t>
            </a:r>
            <a:r>
              <a:rPr lang="en-US" sz="2400" dirty="0">
                <a:latin typeface="Montserrat" pitchFamily="2" charset="77"/>
              </a:rPr>
              <a:t> within the class.</a:t>
            </a:r>
          </a:p>
          <a:p>
            <a:pPr marL="742950" lvl="1" indent="-285750">
              <a:lnSpc>
                <a:spcPts val="2880"/>
              </a:lnSpc>
              <a:spcAft>
                <a:spcPts val="1200"/>
              </a:spcAft>
              <a:buClr>
                <a:schemeClr val="tx1"/>
              </a:buClr>
              <a:buFont typeface="Courier New" panose="02070309020205020404" pitchFamily="49" charset="0"/>
              <a:buChar char="o"/>
            </a:pPr>
            <a:r>
              <a:rPr lang="en-US" sz="2000" dirty="0">
                <a:latin typeface="Montserrat" pitchFamily="2" charset="77"/>
              </a:rPr>
              <a:t>lncRNAs </a:t>
            </a:r>
            <a:r>
              <a:rPr lang="en-US" sz="2000" b="1" i="1" dirty="0">
                <a:latin typeface="Montserrat" pitchFamily="2" charset="77"/>
              </a:rPr>
              <a:t>shared</a:t>
            </a:r>
            <a:r>
              <a:rPr lang="en-US" sz="2000" dirty="0">
                <a:latin typeface="Montserrat" pitchFamily="2" charset="77"/>
              </a:rPr>
              <a:t> across multiple cell types exhibit </a:t>
            </a:r>
            <a:r>
              <a:rPr lang="en-US" sz="2000" b="1" i="1" dirty="0">
                <a:latin typeface="Montserrat" pitchFamily="2" charset="77"/>
              </a:rPr>
              <a:t>lower Binary Scores</a:t>
            </a:r>
            <a:r>
              <a:rPr lang="en-US" sz="2000" dirty="0">
                <a:latin typeface="Montserrat" pitchFamily="2" charset="77"/>
              </a:rPr>
              <a:t> because their expression is distributed across the cell types.</a:t>
            </a:r>
          </a:p>
        </p:txBody>
      </p:sp>
      <p:sp>
        <p:nvSpPr>
          <p:cNvPr id="3" name="Rectangle 2">
            <a:extLst>
              <a:ext uri="{FF2B5EF4-FFF2-40B4-BE49-F238E27FC236}">
                <a16:creationId xmlns:a16="http://schemas.microsoft.com/office/drawing/2014/main" id="{19EB013C-BAD2-7043-C0DC-BC5166F4E6B3}"/>
              </a:ext>
            </a:extLst>
          </p:cNvPr>
          <p:cNvSpPr/>
          <p:nvPr/>
        </p:nvSpPr>
        <p:spPr>
          <a:xfrm>
            <a:off x="6408115" y="519379"/>
            <a:ext cx="1294791" cy="155082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3479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0FA12-42D6-8C1B-DCE0-7829B2E7B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32033-A088-33F5-BBA3-4574E429260B}"/>
              </a:ext>
            </a:extLst>
          </p:cNvPr>
          <p:cNvSpPr>
            <a:spLocks noGrp="1"/>
          </p:cNvSpPr>
          <p:nvPr>
            <p:ph type="title"/>
          </p:nvPr>
        </p:nvSpPr>
        <p:spPr>
          <a:xfrm>
            <a:off x="302006" y="319820"/>
            <a:ext cx="9861325" cy="727405"/>
          </a:xfrm>
        </p:spPr>
        <p:txBody>
          <a:bodyPr>
            <a:noAutofit/>
          </a:bodyPr>
          <a:lstStyle/>
          <a:p>
            <a:r>
              <a:rPr lang="en-US" sz="4800" dirty="0">
                <a:latin typeface="Crimson Pro Medium" pitchFamily="2" charset="77"/>
              </a:rPr>
              <a:t>NS-Forest Performance Metrics</a:t>
            </a:r>
          </a:p>
        </p:txBody>
      </p:sp>
      <p:pic>
        <p:nvPicPr>
          <p:cNvPr id="8" name="Graphic 7">
            <a:extLst>
              <a:ext uri="{FF2B5EF4-FFF2-40B4-BE49-F238E27FC236}">
                <a16:creationId xmlns:a16="http://schemas.microsoft.com/office/drawing/2014/main" id="{F320B775-692C-5097-84D6-2690932AD2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006" y="966628"/>
            <a:ext cx="6396506" cy="4924744"/>
          </a:xfrm>
          <a:prstGeom prst="rect">
            <a:avLst/>
          </a:prstGeom>
        </p:spPr>
      </p:pic>
      <p:sp>
        <p:nvSpPr>
          <p:cNvPr id="6" name="Content Placeholder 2">
            <a:extLst>
              <a:ext uri="{FF2B5EF4-FFF2-40B4-BE49-F238E27FC236}">
                <a16:creationId xmlns:a16="http://schemas.microsoft.com/office/drawing/2014/main" id="{0390FBB1-A329-AE6C-D856-48FCB88B2E7A}"/>
              </a:ext>
            </a:extLst>
          </p:cNvPr>
          <p:cNvSpPr>
            <a:spLocks noGrp="1"/>
          </p:cNvSpPr>
          <p:nvPr>
            <p:ph idx="1"/>
          </p:nvPr>
        </p:nvSpPr>
        <p:spPr>
          <a:xfrm>
            <a:off x="6865303" y="1190206"/>
            <a:ext cx="5153761" cy="4554609"/>
          </a:xfrm>
        </p:spPr>
        <p:txBody>
          <a:bodyPr>
            <a:noAutofit/>
          </a:bodyPr>
          <a:lstStyle/>
          <a:p>
            <a:pPr>
              <a:lnSpc>
                <a:spcPts val="2880"/>
              </a:lnSpc>
            </a:pPr>
            <a:r>
              <a:rPr lang="en-US" sz="2400" dirty="0">
                <a:latin typeface="Montserrat" pitchFamily="2" charset="77"/>
              </a:rPr>
              <a:t>Restricting the gene set to lncRNAs </a:t>
            </a:r>
            <a:r>
              <a:rPr lang="en-US" sz="2400" b="1" i="1" dirty="0">
                <a:latin typeface="Montserrat" pitchFamily="2" charset="77"/>
              </a:rPr>
              <a:t>generally reduces precision and recall</a:t>
            </a:r>
            <a:r>
              <a:rPr lang="en-US" sz="2400" dirty="0">
                <a:latin typeface="Montserrat" pitchFamily="2" charset="77"/>
              </a:rPr>
              <a:t>.</a:t>
            </a:r>
          </a:p>
          <a:p>
            <a:pPr>
              <a:lnSpc>
                <a:spcPts val="2880"/>
              </a:lnSpc>
            </a:pPr>
            <a:r>
              <a:rPr lang="en-US" sz="2400" dirty="0">
                <a:latin typeface="Montserrat" pitchFamily="2" charset="77"/>
              </a:rPr>
              <a:t>Precision appears </a:t>
            </a:r>
            <a:r>
              <a:rPr lang="en-US" sz="2400" b="1" i="1" dirty="0">
                <a:latin typeface="Montserrat" pitchFamily="2" charset="77"/>
              </a:rPr>
              <a:t>largely preserved</a:t>
            </a:r>
            <a:r>
              <a:rPr lang="en-US" sz="2400" dirty="0">
                <a:latin typeface="Montserrat" pitchFamily="2" charset="77"/>
              </a:rPr>
              <a:t> in the lncRNA set.</a:t>
            </a:r>
          </a:p>
          <a:p>
            <a:pPr>
              <a:lnSpc>
                <a:spcPts val="2880"/>
              </a:lnSpc>
            </a:pPr>
            <a:r>
              <a:rPr lang="en-US" sz="2400" i="1" dirty="0">
                <a:latin typeface="Montserrat" pitchFamily="2" charset="77"/>
              </a:rPr>
              <a:t>Key Class Observations:</a:t>
            </a:r>
          </a:p>
          <a:p>
            <a:pPr lvl="1">
              <a:lnSpc>
                <a:spcPts val="2880"/>
              </a:lnSpc>
            </a:pPr>
            <a:r>
              <a:rPr lang="en-US" sz="2000" dirty="0">
                <a:latin typeface="Montserrat" pitchFamily="2" charset="77"/>
              </a:rPr>
              <a:t>High diversity in retention among </a:t>
            </a:r>
            <a:r>
              <a:rPr lang="en-US" sz="2000" b="1" i="1" dirty="0">
                <a:latin typeface="Montserrat" pitchFamily="2" charset="77"/>
              </a:rPr>
              <a:t>Amacrine</a:t>
            </a:r>
            <a:r>
              <a:rPr lang="en-US" sz="2000" dirty="0">
                <a:latin typeface="Montserrat" pitchFamily="2" charset="77"/>
              </a:rPr>
              <a:t> cell types.</a:t>
            </a:r>
          </a:p>
          <a:p>
            <a:pPr lvl="1">
              <a:lnSpc>
                <a:spcPts val="2880"/>
              </a:lnSpc>
            </a:pPr>
            <a:r>
              <a:rPr lang="en-US" sz="2000" dirty="0">
                <a:latin typeface="Montserrat" pitchFamily="2" charset="77"/>
              </a:rPr>
              <a:t>The lncRNA set retains high precision and recall for </a:t>
            </a:r>
            <a:r>
              <a:rPr lang="en-US" sz="2000" b="1" i="1" dirty="0">
                <a:latin typeface="Montserrat" pitchFamily="2" charset="77"/>
              </a:rPr>
              <a:t>RPE</a:t>
            </a:r>
            <a:r>
              <a:rPr lang="en-US" sz="2000" dirty="0">
                <a:latin typeface="Montserrat" pitchFamily="2" charset="77"/>
              </a:rPr>
              <a:t> and </a:t>
            </a:r>
            <a:r>
              <a:rPr lang="en-US" sz="2000" b="1" i="1" dirty="0">
                <a:latin typeface="Montserrat" pitchFamily="2" charset="77"/>
              </a:rPr>
              <a:t>Astrocyte </a:t>
            </a:r>
            <a:r>
              <a:rPr lang="en-US" sz="2000" dirty="0">
                <a:latin typeface="Montserrat" pitchFamily="2" charset="77"/>
              </a:rPr>
              <a:t>clusters.</a:t>
            </a:r>
          </a:p>
        </p:txBody>
      </p:sp>
    </p:spTree>
    <p:extLst>
      <p:ext uri="{BB962C8B-B14F-4D97-AF65-F5344CB8AC3E}">
        <p14:creationId xmlns:p14="http://schemas.microsoft.com/office/powerpoint/2010/main" val="3035075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B00F-8AD0-B3FD-A945-23D863261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66FF0-BBD4-BFD1-5ED1-C8D412EC6535}"/>
              </a:ext>
            </a:extLst>
          </p:cNvPr>
          <p:cNvSpPr>
            <a:spLocks noGrp="1"/>
          </p:cNvSpPr>
          <p:nvPr>
            <p:ph type="title"/>
          </p:nvPr>
        </p:nvSpPr>
        <p:spPr>
          <a:xfrm>
            <a:off x="302006" y="173311"/>
            <a:ext cx="11717058" cy="1387505"/>
          </a:xfrm>
        </p:spPr>
        <p:txBody>
          <a:bodyPr>
            <a:noAutofit/>
          </a:bodyPr>
          <a:lstStyle/>
          <a:p>
            <a:r>
              <a:rPr lang="en-US" sz="4800" dirty="0">
                <a:latin typeface="Crimson Pro Medium" pitchFamily="2" charset="77"/>
              </a:rPr>
              <a:t>Top 10 Cell-Type Biomarkers in the lncRNA Set by On-Target Fraction</a:t>
            </a:r>
          </a:p>
        </p:txBody>
      </p:sp>
      <p:sp>
        <p:nvSpPr>
          <p:cNvPr id="6" name="Content Placeholder 2">
            <a:extLst>
              <a:ext uri="{FF2B5EF4-FFF2-40B4-BE49-F238E27FC236}">
                <a16:creationId xmlns:a16="http://schemas.microsoft.com/office/drawing/2014/main" id="{89A6FFE8-E346-A2D0-D3A2-2283D7E67D67}"/>
              </a:ext>
            </a:extLst>
          </p:cNvPr>
          <p:cNvSpPr>
            <a:spLocks noGrp="1"/>
          </p:cNvSpPr>
          <p:nvPr>
            <p:ph idx="1"/>
          </p:nvPr>
        </p:nvSpPr>
        <p:spPr>
          <a:xfrm>
            <a:off x="4554473" y="1781215"/>
            <a:ext cx="7572209" cy="4087368"/>
          </a:xfrm>
        </p:spPr>
        <p:txBody>
          <a:bodyPr>
            <a:noAutofit/>
          </a:bodyPr>
          <a:lstStyle/>
          <a:p>
            <a:pPr>
              <a:lnSpc>
                <a:spcPts val="2880"/>
              </a:lnSpc>
            </a:pPr>
            <a:r>
              <a:rPr lang="en-US" sz="2400" b="1" dirty="0">
                <a:latin typeface="Montserrat" pitchFamily="2" charset="77"/>
              </a:rPr>
              <a:t>LINC00276</a:t>
            </a:r>
            <a:r>
              <a:rPr lang="en-US" sz="2400" dirty="0">
                <a:latin typeface="Montserrat" pitchFamily="2" charset="77"/>
              </a:rPr>
              <a:t> </a:t>
            </a:r>
            <a:r>
              <a:rPr lang="en-US" sz="2400" i="1" dirty="0">
                <a:latin typeface="Montserrat" pitchFamily="2" charset="77"/>
              </a:rPr>
              <a:t>(1) </a:t>
            </a:r>
            <a:r>
              <a:rPr lang="en-US" sz="2400" dirty="0">
                <a:latin typeface="Montserrat" pitchFamily="2" charset="77"/>
              </a:rPr>
              <a:t>and </a:t>
            </a:r>
            <a:r>
              <a:rPr lang="en-US" sz="2400" b="1" dirty="0">
                <a:latin typeface="Montserrat" pitchFamily="2" charset="77"/>
              </a:rPr>
              <a:t>FEZF1-AS1</a:t>
            </a:r>
            <a:r>
              <a:rPr lang="en-US" sz="2400" dirty="0">
                <a:latin typeface="Montserrat" pitchFamily="2" charset="77"/>
              </a:rPr>
              <a:t> </a:t>
            </a:r>
            <a:r>
              <a:rPr lang="en-US" sz="2400" i="1" dirty="0">
                <a:latin typeface="Montserrat" pitchFamily="2" charset="77"/>
              </a:rPr>
              <a:t>(3)</a:t>
            </a:r>
            <a:r>
              <a:rPr lang="en-US" sz="2400" dirty="0">
                <a:latin typeface="Montserrat" pitchFamily="2" charset="77"/>
              </a:rPr>
              <a:t> have published functions in the retina.</a:t>
            </a:r>
          </a:p>
          <a:p>
            <a:pPr lvl="1">
              <a:lnSpc>
                <a:spcPts val="2880"/>
              </a:lnSpc>
            </a:pPr>
            <a:r>
              <a:rPr lang="en-US" sz="2000" b="1" i="1" dirty="0">
                <a:latin typeface="Montserrat" pitchFamily="2" charset="77"/>
              </a:rPr>
              <a:t>LINC00276</a:t>
            </a:r>
            <a:r>
              <a:rPr lang="en-US" sz="2000" i="1" dirty="0">
                <a:latin typeface="Montserrat" pitchFamily="2" charset="77"/>
              </a:rPr>
              <a:t>:</a:t>
            </a:r>
            <a:r>
              <a:rPr lang="en-US" sz="2000" dirty="0">
                <a:latin typeface="Montserrat" pitchFamily="2" charset="77"/>
              </a:rPr>
              <a:t> key lncRNA in age-related macular degeneration (AMD).</a:t>
            </a:r>
          </a:p>
          <a:p>
            <a:pPr lvl="1">
              <a:lnSpc>
                <a:spcPts val="2880"/>
              </a:lnSpc>
            </a:pPr>
            <a:r>
              <a:rPr lang="en-US" sz="2000" b="1" i="1" dirty="0">
                <a:latin typeface="Montserrat" pitchFamily="2" charset="77"/>
              </a:rPr>
              <a:t>FEZF1-AS1</a:t>
            </a:r>
            <a:r>
              <a:rPr lang="en-US" sz="2000" i="1" dirty="0">
                <a:latin typeface="Montserrat" pitchFamily="2" charset="77"/>
              </a:rPr>
              <a:t>: </a:t>
            </a:r>
            <a:r>
              <a:rPr lang="en-US" sz="2000" dirty="0">
                <a:latin typeface="Montserrat" pitchFamily="2" charset="77"/>
              </a:rPr>
              <a:t>oncogenic lncRNA in retinoblastoma.</a:t>
            </a:r>
          </a:p>
          <a:p>
            <a:pPr>
              <a:lnSpc>
                <a:spcPts val="2880"/>
              </a:lnSpc>
            </a:pPr>
            <a:r>
              <a:rPr lang="en-US" sz="2400" b="1" dirty="0">
                <a:latin typeface="Montserrat" pitchFamily="2" charset="77"/>
              </a:rPr>
              <a:t>ENSG00000243620</a:t>
            </a:r>
            <a:r>
              <a:rPr lang="en-US" sz="2400" i="1" dirty="0">
                <a:latin typeface="Montserrat" pitchFamily="2" charset="77"/>
              </a:rPr>
              <a:t> (2) </a:t>
            </a:r>
            <a:r>
              <a:rPr lang="en-US" sz="2400" dirty="0">
                <a:latin typeface="Montserrat" pitchFamily="2" charset="77"/>
              </a:rPr>
              <a:t>is associated with key neural development transcription factors   </a:t>
            </a:r>
            <a:r>
              <a:rPr lang="en-US" sz="2400" i="1" dirty="0">
                <a:latin typeface="Montserrat" pitchFamily="2" charset="77"/>
              </a:rPr>
              <a:t>ZIC1</a:t>
            </a:r>
            <a:r>
              <a:rPr lang="en-US" sz="2400" dirty="0">
                <a:latin typeface="Montserrat" pitchFamily="2" charset="77"/>
              </a:rPr>
              <a:t>,</a:t>
            </a:r>
            <a:r>
              <a:rPr lang="en-US" sz="2400" i="1" dirty="0">
                <a:latin typeface="Montserrat" pitchFamily="2" charset="77"/>
              </a:rPr>
              <a:t> ZIC2,</a:t>
            </a:r>
            <a:r>
              <a:rPr lang="en-US" sz="2400" dirty="0">
                <a:latin typeface="Montserrat" pitchFamily="2" charset="77"/>
              </a:rPr>
              <a:t> and </a:t>
            </a:r>
            <a:r>
              <a:rPr lang="en-US" sz="2400" i="1" dirty="0">
                <a:latin typeface="Montserrat" pitchFamily="2" charset="77"/>
              </a:rPr>
              <a:t>ZIC4.</a:t>
            </a:r>
            <a:endParaRPr lang="en-US" sz="2000" dirty="0">
              <a:latin typeface="Montserrat" pitchFamily="2" charset="77"/>
            </a:endParaRPr>
          </a:p>
          <a:p>
            <a:pPr>
              <a:lnSpc>
                <a:spcPts val="2880"/>
              </a:lnSpc>
            </a:pPr>
            <a:r>
              <a:rPr lang="en-US" sz="2400" dirty="0">
                <a:latin typeface="Montserrat" pitchFamily="2" charset="77"/>
              </a:rPr>
              <a:t>No other published retinal/neural associations.</a:t>
            </a:r>
          </a:p>
        </p:txBody>
      </p:sp>
      <p:graphicFrame>
        <p:nvGraphicFramePr>
          <p:cNvPr id="7" name="Table 6">
            <a:extLst>
              <a:ext uri="{FF2B5EF4-FFF2-40B4-BE49-F238E27FC236}">
                <a16:creationId xmlns:a16="http://schemas.microsoft.com/office/drawing/2014/main" id="{1880B967-A02D-0987-6534-B8769D5F4C52}"/>
              </a:ext>
            </a:extLst>
          </p:cNvPr>
          <p:cNvGraphicFramePr>
            <a:graphicFrameLocks noGrp="1"/>
          </p:cNvGraphicFramePr>
          <p:nvPr>
            <p:extLst>
              <p:ext uri="{D42A27DB-BD31-4B8C-83A1-F6EECF244321}">
                <p14:modId xmlns:p14="http://schemas.microsoft.com/office/powerpoint/2010/main" val="3467410048"/>
              </p:ext>
            </p:extLst>
          </p:nvPr>
        </p:nvGraphicFramePr>
        <p:xfrm>
          <a:off x="302006" y="1665512"/>
          <a:ext cx="4204680" cy="4087368"/>
        </p:xfrm>
        <a:graphic>
          <a:graphicData uri="http://schemas.openxmlformats.org/drawingml/2006/table">
            <a:tbl>
              <a:tblPr/>
              <a:tblGrid>
                <a:gridCol w="1280160">
                  <a:extLst>
                    <a:ext uri="{9D8B030D-6E8A-4147-A177-3AD203B41FA5}">
                      <a16:colId xmlns:a16="http://schemas.microsoft.com/office/drawing/2014/main" val="1579612849"/>
                    </a:ext>
                  </a:extLst>
                </a:gridCol>
                <a:gridCol w="1554480">
                  <a:extLst>
                    <a:ext uri="{9D8B030D-6E8A-4147-A177-3AD203B41FA5}">
                      <a16:colId xmlns:a16="http://schemas.microsoft.com/office/drawing/2014/main" val="3571119228"/>
                    </a:ext>
                  </a:extLst>
                </a:gridCol>
                <a:gridCol w="1370040">
                  <a:extLst>
                    <a:ext uri="{9D8B030D-6E8A-4147-A177-3AD203B41FA5}">
                      <a16:colId xmlns:a16="http://schemas.microsoft.com/office/drawing/2014/main" val="3545100108"/>
                    </a:ext>
                  </a:extLst>
                </a:gridCol>
              </a:tblGrid>
              <a:tr h="429768">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Cell Type</a:t>
                      </a:r>
                      <a:endParaRPr lang="en-US" sz="9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914400" rtl="0" eaLnBrk="1" latinLnBrk="0" hangingPunct="1">
                        <a:buNone/>
                      </a:pPr>
                      <a:r>
                        <a:rPr lang="en-US" sz="1400" i="1" kern="1200" dirty="0">
                          <a:solidFill>
                            <a:schemeClr val="tx1"/>
                          </a:solidFill>
                          <a:effectLst/>
                          <a:latin typeface="Arial" panose="020B0604020202020204" pitchFamily="34" charset="0"/>
                          <a:ea typeface="Calibri" panose="020F0502020204030204" pitchFamily="34" charset="0"/>
                          <a:cs typeface="Arial" panose="020B0604020202020204" pitchFamily="34" charset="0"/>
                        </a:rPr>
                        <a:t>Gene Symbol</a:t>
                      </a:r>
                      <a:endParaRPr lang="en-US" sz="1400" i="1"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On-Target Fraction</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090971"/>
                  </a:ext>
                </a:extLst>
              </a:tr>
              <a:tr h="365760">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RPE</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defTabSz="914400" rtl="0" eaLnBrk="1" latinLnBrk="0" hangingPunct="1">
                        <a:buNone/>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LINC00276</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0.952</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736934438"/>
                  </a:ext>
                </a:extLst>
              </a:tr>
              <a:tr h="365760">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Astrocyte</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ENSG00000243620</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0.883</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extLst>
                  <a:ext uri="{0D108BD9-81ED-4DB2-BD59-A6C34878D82A}">
                    <a16:rowId xmlns:a16="http://schemas.microsoft.com/office/drawing/2014/main" val="1524979103"/>
                  </a:ext>
                </a:extLst>
              </a:tr>
              <a:tr h="365760">
                <a:tc>
                  <a:txBody>
                    <a:bodyPr/>
                    <a:lstStyle/>
                    <a:p>
                      <a:pPr marL="0" marR="0" algn="ctr">
                        <a:buNone/>
                      </a:pP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OFFx</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FEZF1-AS1</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0.860</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extLst>
                  <a:ext uri="{0D108BD9-81ED-4DB2-BD59-A6C34878D82A}">
                    <a16:rowId xmlns:a16="http://schemas.microsoft.com/office/drawing/2014/main" val="588906973"/>
                  </a:ext>
                </a:extLst>
              </a:tr>
              <a:tr h="365760">
                <a:tc>
                  <a:txBody>
                    <a:bodyPr/>
                    <a:lstStyle/>
                    <a:p>
                      <a:pPr marL="0" marR="0" algn="ctr">
                        <a:buNone/>
                      </a:pP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OFFx</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ENSG00000278254</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0.860</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extLst>
                  <a:ext uri="{0D108BD9-81ED-4DB2-BD59-A6C34878D82A}">
                    <a16:rowId xmlns:a16="http://schemas.microsoft.com/office/drawing/2014/main" val="3444879351"/>
                  </a:ext>
                </a:extLst>
              </a:tr>
              <a:tr h="365760">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DB3a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ENSG00000267109</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0.842</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extLst>
                  <a:ext uri="{0D108BD9-81ED-4DB2-BD59-A6C34878D82A}">
                    <a16:rowId xmlns:a16="http://schemas.microsoft.com/office/drawing/2014/main" val="1853680732"/>
                  </a:ext>
                </a:extLst>
              </a:tr>
              <a:tr h="365760">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DB3a</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LINC01091</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0.842</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extLst>
                  <a:ext uri="{0D108BD9-81ED-4DB2-BD59-A6C34878D82A}">
                    <a16:rowId xmlns:a16="http://schemas.microsoft.com/office/drawing/2014/main" val="1900322006"/>
                  </a:ext>
                </a:extLst>
              </a:tr>
              <a:tr h="365760">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BB</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ENSG00000250971</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0.816</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84035124"/>
                  </a:ext>
                </a:extLst>
              </a:tr>
              <a:tr h="365760">
                <a:tc>
                  <a:txBody>
                    <a:bodyPr/>
                    <a:lstStyle/>
                    <a:p>
                      <a:pPr marL="0" marR="0" algn="ctr">
                        <a:buNone/>
                      </a:pP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S_Cone</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RAB17-DT</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0.798</a:t>
                      </a:r>
                    </a:p>
                  </a:txBody>
                  <a:tcPr marL="0" marR="0" marT="0" marB="0" anchor="ctr">
                    <a:lnL>
                      <a:noFill/>
                    </a:lnL>
                    <a:lnR>
                      <a:noFill/>
                    </a:lnR>
                    <a:lnT>
                      <a:noFill/>
                    </a:lnT>
                    <a:lnB w="12700" cap="flat" cmpd="sng" algn="ctr">
                      <a:noFill/>
                      <a:prstDash val="dash"/>
                      <a:round/>
                      <a:headEnd type="none" w="med" len="med"/>
                      <a:tailEnd type="none" w="med" len="med"/>
                    </a:lnB>
                    <a:solidFill>
                      <a:srgbClr val="FFFFFF"/>
                    </a:solidFill>
                  </a:tcPr>
                </a:tc>
                <a:extLst>
                  <a:ext uri="{0D108BD9-81ED-4DB2-BD59-A6C34878D82A}">
                    <a16:rowId xmlns:a16="http://schemas.microsoft.com/office/drawing/2014/main" val="1499535280"/>
                  </a:ext>
                </a:extLst>
              </a:tr>
              <a:tr h="365760">
                <a:tc>
                  <a:txBody>
                    <a:bodyPr/>
                    <a:lstStyle/>
                    <a:p>
                      <a:pPr marL="0" marR="0" algn="ctr">
                        <a:buNone/>
                      </a:pP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S_Cone</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ENSG00000250421</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0.798</a:t>
                      </a:r>
                    </a:p>
                  </a:txBody>
                  <a:tcPr marL="0" marR="0" marT="0" marB="0" anchor="ctr">
                    <a:lnL>
                      <a:noFill/>
                    </a:lnL>
                    <a:lnR>
                      <a:noFill/>
                    </a:lnR>
                    <a:lnT w="12700" cap="flat" cmpd="sng" algn="ctr">
                      <a:noFill/>
                      <a:prstDash val="dash"/>
                      <a:round/>
                      <a:headEnd type="none" w="med" len="med"/>
                      <a:tailEnd type="none" w="med" len="med"/>
                    </a:lnT>
                    <a:lnB>
                      <a:noFill/>
                    </a:lnB>
                    <a:solidFill>
                      <a:srgbClr val="F2F2F2"/>
                    </a:solidFill>
                  </a:tcPr>
                </a:tc>
                <a:extLst>
                  <a:ext uri="{0D108BD9-81ED-4DB2-BD59-A6C34878D82A}">
                    <a16:rowId xmlns:a16="http://schemas.microsoft.com/office/drawing/2014/main" val="6193039"/>
                  </a:ext>
                </a:extLst>
              </a:tr>
              <a:tr h="365760">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VIP</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ENSG00000286481</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0.782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97597045"/>
                  </a:ext>
                </a:extLst>
              </a:tr>
            </a:tbl>
          </a:graphicData>
        </a:graphic>
      </p:graphicFrame>
      <p:pic>
        <p:nvPicPr>
          <p:cNvPr id="4" name="Picture 3">
            <a:extLst>
              <a:ext uri="{FF2B5EF4-FFF2-40B4-BE49-F238E27FC236}">
                <a16:creationId xmlns:a16="http://schemas.microsoft.com/office/drawing/2014/main" id="{D32C840A-DE88-96A3-CBD0-0F92D039B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326" y="930616"/>
            <a:ext cx="6395357" cy="556831"/>
          </a:xfrm>
          <a:prstGeom prst="rect">
            <a:avLst/>
          </a:prstGeom>
        </p:spPr>
      </p:pic>
    </p:spTree>
    <p:extLst>
      <p:ext uri="{BB962C8B-B14F-4D97-AF65-F5344CB8AC3E}">
        <p14:creationId xmlns:p14="http://schemas.microsoft.com/office/powerpoint/2010/main" val="441100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C61F-1F27-D92F-A51F-0A3585CDA5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81A8D-A34E-2F83-6040-91F6349F1737}"/>
              </a:ext>
            </a:extLst>
          </p:cNvPr>
          <p:cNvSpPr>
            <a:spLocks noGrp="1"/>
          </p:cNvSpPr>
          <p:nvPr>
            <p:ph idx="1"/>
          </p:nvPr>
        </p:nvSpPr>
        <p:spPr>
          <a:xfrm>
            <a:off x="3044591" y="2112305"/>
            <a:ext cx="6102818" cy="2120482"/>
          </a:xfrm>
        </p:spPr>
        <p:txBody>
          <a:bodyPr>
            <a:noAutofit/>
          </a:bodyPr>
          <a:lstStyle/>
          <a:p>
            <a:pPr marL="1028700" indent="-1028700">
              <a:lnSpc>
                <a:spcPct val="125000"/>
              </a:lnSpc>
              <a:spcBef>
                <a:spcPts val="0"/>
              </a:spcBef>
              <a:spcAft>
                <a:spcPts val="1200"/>
              </a:spcAft>
              <a:buFont typeface="+mj-lt"/>
              <a:buAutoNum type="romanUcPeriod" startAt="5"/>
            </a:pPr>
            <a:r>
              <a:rPr lang="en-US" sz="5400" dirty="0">
                <a:latin typeface="Crimson Pro Medium" pitchFamily="2" charset="77"/>
                <a:cs typeface="Arial" panose="020B0604020202020204" pitchFamily="34" charset="0"/>
              </a:rPr>
              <a:t>Conclusions and Future Directions</a:t>
            </a:r>
          </a:p>
        </p:txBody>
      </p:sp>
    </p:spTree>
    <p:extLst>
      <p:ext uri="{BB962C8B-B14F-4D97-AF65-F5344CB8AC3E}">
        <p14:creationId xmlns:p14="http://schemas.microsoft.com/office/powerpoint/2010/main" val="2533701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4CB25-6B78-6F06-9F02-4BBEC91AB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0B5E9-2B9D-8161-5AA7-626B8B0F27A7}"/>
              </a:ext>
            </a:extLst>
          </p:cNvPr>
          <p:cNvSpPr>
            <a:spLocks noGrp="1"/>
          </p:cNvSpPr>
          <p:nvPr>
            <p:ph type="title"/>
          </p:nvPr>
        </p:nvSpPr>
        <p:spPr>
          <a:xfrm>
            <a:off x="302006" y="247250"/>
            <a:ext cx="11214133" cy="727405"/>
          </a:xfrm>
        </p:spPr>
        <p:txBody>
          <a:bodyPr>
            <a:noAutofit/>
          </a:bodyPr>
          <a:lstStyle/>
          <a:p>
            <a:r>
              <a:rPr lang="en-US" sz="5400" dirty="0">
                <a:latin typeface="Crimson Pro Medium" pitchFamily="2" charset="77"/>
              </a:rPr>
              <a:t>Conclusions: </a:t>
            </a:r>
            <a:r>
              <a:rPr lang="en-US" sz="5400" i="1" dirty="0">
                <a:latin typeface="Crimson Pro Medium" pitchFamily="2" charset="77"/>
              </a:rPr>
              <a:t>Neural vs Non-Neural</a:t>
            </a:r>
          </a:p>
        </p:txBody>
      </p:sp>
      <p:sp>
        <p:nvSpPr>
          <p:cNvPr id="3" name="Content Placeholder 2">
            <a:extLst>
              <a:ext uri="{FF2B5EF4-FFF2-40B4-BE49-F238E27FC236}">
                <a16:creationId xmlns:a16="http://schemas.microsoft.com/office/drawing/2014/main" id="{1FCF3DFB-38C7-F576-162A-8593D1E840DF}"/>
              </a:ext>
            </a:extLst>
          </p:cNvPr>
          <p:cNvSpPr>
            <a:spLocks noGrp="1"/>
          </p:cNvSpPr>
          <p:nvPr>
            <p:ph idx="1"/>
          </p:nvPr>
        </p:nvSpPr>
        <p:spPr>
          <a:xfrm>
            <a:off x="434118" y="992889"/>
            <a:ext cx="11214133" cy="4610970"/>
          </a:xfrm>
        </p:spPr>
        <p:txBody>
          <a:bodyPr>
            <a:noAutofit/>
          </a:bodyPr>
          <a:lstStyle/>
          <a:p>
            <a:pPr>
              <a:lnSpc>
                <a:spcPts val="3180"/>
              </a:lnSpc>
            </a:pPr>
            <a:r>
              <a:rPr lang="en-US" sz="2400" b="1" dirty="0">
                <a:solidFill>
                  <a:schemeClr val="bg2">
                    <a:lumMod val="50000"/>
                  </a:schemeClr>
                </a:solidFill>
                <a:latin typeface="Montserrat" pitchFamily="2" charset="77"/>
              </a:rPr>
              <a:t>Neural tissues</a:t>
            </a:r>
            <a:r>
              <a:rPr lang="en-US" sz="2400" dirty="0">
                <a:latin typeface="Montserrat" pitchFamily="2" charset="77"/>
              </a:rPr>
              <a:t> contain </a:t>
            </a:r>
            <a:r>
              <a:rPr lang="en-US" sz="2400" b="1" dirty="0">
                <a:latin typeface="Montserrat" pitchFamily="2" charset="77"/>
              </a:rPr>
              <a:t>more candidate marker genes </a:t>
            </a:r>
            <a:r>
              <a:rPr lang="en-US" sz="2400" dirty="0">
                <a:latin typeface="Montserrat" pitchFamily="2" charset="77"/>
              </a:rPr>
              <a:t>than </a:t>
            </a:r>
            <a:r>
              <a:rPr lang="en-US" sz="2400" b="1" dirty="0">
                <a:solidFill>
                  <a:srgbClr val="C00000"/>
                </a:solidFill>
                <a:latin typeface="Montserrat" pitchFamily="2" charset="77"/>
              </a:rPr>
              <a:t>non-neural tissues</a:t>
            </a:r>
            <a:r>
              <a:rPr lang="en-US" sz="2400" dirty="0">
                <a:latin typeface="Montserrat" pitchFamily="2" charset="77"/>
              </a:rPr>
              <a:t>, with a larger contribution from lncRNAs, suggesting that </a:t>
            </a:r>
            <a:r>
              <a:rPr lang="en-US" sz="2400" b="1" dirty="0">
                <a:latin typeface="Montserrat" pitchFamily="2" charset="77"/>
              </a:rPr>
              <a:t>lncRNAs</a:t>
            </a:r>
            <a:r>
              <a:rPr lang="en-US" sz="2400" dirty="0">
                <a:latin typeface="Montserrat" pitchFamily="2" charset="77"/>
              </a:rPr>
              <a:t> are </a:t>
            </a:r>
            <a:r>
              <a:rPr lang="en-US" sz="2400" b="1" dirty="0">
                <a:latin typeface="Montserrat" pitchFamily="2" charset="77"/>
              </a:rPr>
              <a:t>more highly expressed in </a:t>
            </a:r>
            <a:r>
              <a:rPr lang="en-US" sz="2400" b="1" dirty="0">
                <a:solidFill>
                  <a:schemeClr val="bg2">
                    <a:lumMod val="50000"/>
                  </a:schemeClr>
                </a:solidFill>
                <a:latin typeface="Montserrat" pitchFamily="2" charset="77"/>
              </a:rPr>
              <a:t>neural-related</a:t>
            </a:r>
            <a:r>
              <a:rPr lang="en-US" sz="2400" b="1" dirty="0">
                <a:latin typeface="Montserrat" pitchFamily="2" charset="77"/>
              </a:rPr>
              <a:t> cells</a:t>
            </a:r>
            <a:r>
              <a:rPr lang="en-US" sz="2400" dirty="0">
                <a:latin typeface="Montserrat" pitchFamily="2" charset="77"/>
              </a:rPr>
              <a:t>.</a:t>
            </a:r>
          </a:p>
          <a:p>
            <a:pPr>
              <a:lnSpc>
                <a:spcPts val="3180"/>
              </a:lnSpc>
            </a:pPr>
            <a:r>
              <a:rPr lang="en-US" sz="2400" b="1" dirty="0">
                <a:latin typeface="Montserrat" pitchFamily="2" charset="77"/>
              </a:rPr>
              <a:t>lncRNAs</a:t>
            </a:r>
            <a:r>
              <a:rPr lang="en-US" sz="2400" dirty="0">
                <a:latin typeface="Montserrat" pitchFamily="2" charset="77"/>
              </a:rPr>
              <a:t> exhibit </a:t>
            </a:r>
            <a:r>
              <a:rPr lang="en-US" sz="2400" b="1" dirty="0">
                <a:latin typeface="Montserrat" pitchFamily="2" charset="77"/>
              </a:rPr>
              <a:t>greater cell type specificity </a:t>
            </a:r>
            <a:r>
              <a:rPr lang="en-US" sz="2400" dirty="0">
                <a:latin typeface="Montserrat" pitchFamily="2" charset="77"/>
              </a:rPr>
              <a:t>than the full transcriptome in</a:t>
            </a:r>
            <a:r>
              <a:rPr lang="en-US" sz="2400" b="1" dirty="0">
                <a:latin typeface="Montserrat" pitchFamily="2" charset="77"/>
              </a:rPr>
              <a:t> </a:t>
            </a:r>
            <a:r>
              <a:rPr lang="en-US" sz="2400" b="1" dirty="0">
                <a:solidFill>
                  <a:schemeClr val="bg2">
                    <a:lumMod val="50000"/>
                  </a:schemeClr>
                </a:solidFill>
                <a:latin typeface="Montserrat" pitchFamily="2" charset="77"/>
              </a:rPr>
              <a:t>neural</a:t>
            </a:r>
            <a:r>
              <a:rPr lang="en-US" sz="2400" b="1" dirty="0">
                <a:latin typeface="Montserrat" pitchFamily="2" charset="77"/>
              </a:rPr>
              <a:t> tissues</a:t>
            </a:r>
            <a:r>
              <a:rPr lang="en-US" sz="2400" dirty="0">
                <a:latin typeface="Montserrat" pitchFamily="2" charset="77"/>
              </a:rPr>
              <a:t>.</a:t>
            </a:r>
          </a:p>
          <a:p>
            <a:pPr>
              <a:lnSpc>
                <a:spcPts val="3180"/>
              </a:lnSpc>
            </a:pPr>
            <a:r>
              <a:rPr lang="en-US" sz="2400" dirty="0">
                <a:latin typeface="Montserrat" pitchFamily="2" charset="77"/>
              </a:rPr>
              <a:t>Restricting analyses to lncRNAs </a:t>
            </a:r>
            <a:r>
              <a:rPr lang="en-US" sz="2400" b="1" dirty="0">
                <a:latin typeface="Montserrat" pitchFamily="2" charset="77"/>
              </a:rPr>
              <a:t>generally decreases</a:t>
            </a:r>
            <a:r>
              <a:rPr lang="en-US" sz="2400" dirty="0">
                <a:latin typeface="Montserrat" pitchFamily="2" charset="77"/>
              </a:rPr>
              <a:t> the </a:t>
            </a:r>
            <a:r>
              <a:rPr lang="en-US" sz="2400" b="1" dirty="0">
                <a:latin typeface="Montserrat" pitchFamily="2" charset="77"/>
              </a:rPr>
              <a:t>precision</a:t>
            </a:r>
            <a:r>
              <a:rPr lang="en-US" sz="2400" dirty="0">
                <a:latin typeface="Montserrat" pitchFamily="2" charset="77"/>
              </a:rPr>
              <a:t> of NS-Forest classification, but the </a:t>
            </a:r>
            <a:r>
              <a:rPr lang="en-US" sz="2400" b="1" dirty="0">
                <a:latin typeface="Montserrat" pitchFamily="2" charset="77"/>
              </a:rPr>
              <a:t>reduction is smaller </a:t>
            </a:r>
            <a:r>
              <a:rPr lang="en-US" sz="2400" dirty="0">
                <a:latin typeface="Montserrat" pitchFamily="2" charset="77"/>
              </a:rPr>
              <a:t>in </a:t>
            </a:r>
            <a:r>
              <a:rPr lang="en-US" sz="2400" b="1" dirty="0">
                <a:solidFill>
                  <a:schemeClr val="bg2">
                    <a:lumMod val="50000"/>
                  </a:schemeClr>
                </a:solidFill>
                <a:latin typeface="Montserrat" pitchFamily="2" charset="77"/>
              </a:rPr>
              <a:t>neural</a:t>
            </a:r>
            <a:r>
              <a:rPr lang="en-US" sz="2400" dirty="0">
                <a:latin typeface="Montserrat" pitchFamily="2" charset="77"/>
              </a:rPr>
              <a:t> tissues than in </a:t>
            </a:r>
            <a:r>
              <a:rPr lang="en-US" sz="2400" b="1" dirty="0">
                <a:solidFill>
                  <a:srgbClr val="C00000"/>
                </a:solidFill>
                <a:latin typeface="Montserrat" pitchFamily="2" charset="77"/>
              </a:rPr>
              <a:t>non-neural</a:t>
            </a:r>
            <a:r>
              <a:rPr lang="en-US" sz="2400" dirty="0">
                <a:latin typeface="Montserrat" pitchFamily="2" charset="77"/>
              </a:rPr>
              <a:t> tissues.</a:t>
            </a:r>
          </a:p>
          <a:p>
            <a:pPr>
              <a:lnSpc>
                <a:spcPts val="3180"/>
              </a:lnSpc>
            </a:pPr>
            <a:r>
              <a:rPr lang="en-US" sz="2400" b="1" dirty="0">
                <a:latin typeface="Montserrat" pitchFamily="2" charset="77"/>
              </a:rPr>
              <a:t>lncRNAs</a:t>
            </a:r>
            <a:r>
              <a:rPr lang="en-US" sz="2400" dirty="0">
                <a:latin typeface="Montserrat" pitchFamily="2" charset="77"/>
              </a:rPr>
              <a:t> may play a unique role in establishing the </a:t>
            </a:r>
            <a:r>
              <a:rPr lang="en-US" sz="2400" b="1" dirty="0">
                <a:latin typeface="Montserrat" pitchFamily="2" charset="77"/>
              </a:rPr>
              <a:t>highly specific gene regulation </a:t>
            </a:r>
            <a:r>
              <a:rPr lang="en-US" sz="2400" dirty="0">
                <a:latin typeface="Montserrat" pitchFamily="2" charset="77"/>
              </a:rPr>
              <a:t>necessary to </a:t>
            </a:r>
            <a:r>
              <a:rPr lang="en-US" sz="2400" b="1" dirty="0">
                <a:latin typeface="Montserrat" pitchFamily="2" charset="77"/>
              </a:rPr>
              <a:t>generate</a:t>
            </a:r>
            <a:r>
              <a:rPr lang="en-US" sz="2400" dirty="0">
                <a:latin typeface="Montserrat" pitchFamily="2" charset="77"/>
              </a:rPr>
              <a:t> the large number of distinct </a:t>
            </a:r>
            <a:r>
              <a:rPr lang="en-US" sz="2400" b="1" dirty="0">
                <a:solidFill>
                  <a:schemeClr val="bg2">
                    <a:lumMod val="50000"/>
                  </a:schemeClr>
                </a:solidFill>
                <a:latin typeface="Montserrat" pitchFamily="2" charset="77"/>
              </a:rPr>
              <a:t>neural</a:t>
            </a:r>
            <a:r>
              <a:rPr lang="en-US" sz="2400" dirty="0">
                <a:latin typeface="Montserrat" pitchFamily="2" charset="77"/>
              </a:rPr>
              <a:t> cell subtypes.</a:t>
            </a:r>
          </a:p>
        </p:txBody>
      </p:sp>
    </p:spTree>
    <p:extLst>
      <p:ext uri="{BB962C8B-B14F-4D97-AF65-F5344CB8AC3E}">
        <p14:creationId xmlns:p14="http://schemas.microsoft.com/office/powerpoint/2010/main" val="1412566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E490-DEFD-66E0-88AA-C48FACB50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D5B82-1182-4C12-C74B-4DA71D823824}"/>
              </a:ext>
            </a:extLst>
          </p:cNvPr>
          <p:cNvSpPr>
            <a:spLocks noGrp="1"/>
          </p:cNvSpPr>
          <p:nvPr>
            <p:ph type="title"/>
          </p:nvPr>
        </p:nvSpPr>
        <p:spPr>
          <a:xfrm>
            <a:off x="302006" y="247250"/>
            <a:ext cx="11214133" cy="727405"/>
          </a:xfrm>
        </p:spPr>
        <p:txBody>
          <a:bodyPr>
            <a:noAutofit/>
          </a:bodyPr>
          <a:lstStyle/>
          <a:p>
            <a:r>
              <a:rPr lang="en-US" sz="5400" dirty="0">
                <a:latin typeface="Crimson Pro Medium" pitchFamily="2" charset="77"/>
              </a:rPr>
              <a:t>Conclusions: </a:t>
            </a:r>
            <a:r>
              <a:rPr lang="en-US" sz="5400" i="1" dirty="0">
                <a:latin typeface="Crimson Pro Medium" pitchFamily="2" charset="77"/>
              </a:rPr>
              <a:t>Retina-Specific</a:t>
            </a:r>
          </a:p>
        </p:txBody>
      </p:sp>
      <p:sp>
        <p:nvSpPr>
          <p:cNvPr id="6" name="Content Placeholder 2">
            <a:extLst>
              <a:ext uri="{FF2B5EF4-FFF2-40B4-BE49-F238E27FC236}">
                <a16:creationId xmlns:a16="http://schemas.microsoft.com/office/drawing/2014/main" id="{7153509E-647D-C169-660A-00D7ED0189DA}"/>
              </a:ext>
            </a:extLst>
          </p:cNvPr>
          <p:cNvSpPr>
            <a:spLocks noGrp="1"/>
          </p:cNvSpPr>
          <p:nvPr>
            <p:ph idx="1"/>
          </p:nvPr>
        </p:nvSpPr>
        <p:spPr>
          <a:xfrm>
            <a:off x="434118" y="978374"/>
            <a:ext cx="11214133" cy="5045057"/>
          </a:xfrm>
        </p:spPr>
        <p:txBody>
          <a:bodyPr>
            <a:noAutofit/>
          </a:bodyPr>
          <a:lstStyle/>
          <a:p>
            <a:pPr>
              <a:lnSpc>
                <a:spcPts val="3180"/>
              </a:lnSpc>
            </a:pPr>
            <a:r>
              <a:rPr lang="en-US" sz="2400" dirty="0">
                <a:latin typeface="Montserrat" pitchFamily="2" charset="77"/>
              </a:rPr>
              <a:t>In comparison to </a:t>
            </a:r>
            <a:r>
              <a:rPr lang="en-US" sz="2400" b="1" dirty="0">
                <a:latin typeface="Montserrat" pitchFamily="2" charset="77"/>
              </a:rPr>
              <a:t>all other tissues</a:t>
            </a:r>
            <a:r>
              <a:rPr lang="en-US" sz="2400" dirty="0">
                <a:latin typeface="Montserrat" pitchFamily="2" charset="77"/>
              </a:rPr>
              <a:t>, lncRNA genes in the retina have the </a:t>
            </a:r>
            <a:r>
              <a:rPr lang="en-US" sz="2400" b="1" dirty="0">
                <a:latin typeface="Montserrat" pitchFamily="2" charset="77"/>
              </a:rPr>
              <a:t>largest contribution </a:t>
            </a:r>
            <a:r>
              <a:rPr lang="en-US" sz="2400" dirty="0">
                <a:latin typeface="Montserrat" pitchFamily="2" charset="77"/>
              </a:rPr>
              <a:t>to their tissue's </a:t>
            </a:r>
            <a:r>
              <a:rPr lang="en-US" sz="2400" b="1" dirty="0">
                <a:latin typeface="Montserrat" pitchFamily="2" charset="77"/>
              </a:rPr>
              <a:t>candidate biomarker pool</a:t>
            </a:r>
            <a:r>
              <a:rPr lang="en-US" sz="2400" dirty="0">
                <a:latin typeface="Montserrat" pitchFamily="2" charset="77"/>
              </a:rPr>
              <a:t>.</a:t>
            </a:r>
          </a:p>
          <a:p>
            <a:pPr>
              <a:lnSpc>
                <a:spcPts val="3180"/>
              </a:lnSpc>
            </a:pPr>
            <a:r>
              <a:rPr lang="en-US" sz="2400" b="1" dirty="0">
                <a:latin typeface="Montserrat" pitchFamily="2" charset="77"/>
              </a:rPr>
              <a:t>lncRNAs</a:t>
            </a:r>
            <a:r>
              <a:rPr lang="en-US" sz="2400" dirty="0">
                <a:latin typeface="Montserrat" pitchFamily="2" charset="77"/>
              </a:rPr>
              <a:t> exhibit </a:t>
            </a:r>
            <a:r>
              <a:rPr lang="en-US" sz="2400" b="1" dirty="0">
                <a:latin typeface="Montserrat" pitchFamily="2" charset="77"/>
              </a:rPr>
              <a:t>greater cell type specificity </a:t>
            </a:r>
            <a:r>
              <a:rPr lang="en-US" sz="2400" dirty="0">
                <a:latin typeface="Montserrat" pitchFamily="2" charset="77"/>
              </a:rPr>
              <a:t>than the full transcriptome in general and across all major cell type classes.</a:t>
            </a:r>
          </a:p>
          <a:p>
            <a:pPr lvl="1">
              <a:lnSpc>
                <a:spcPts val="3180"/>
              </a:lnSpc>
            </a:pPr>
            <a:r>
              <a:rPr lang="en-US" sz="2000" dirty="0">
                <a:latin typeface="Montserrat" pitchFamily="2" charset="77"/>
              </a:rPr>
              <a:t>Greater variability within </a:t>
            </a:r>
            <a:r>
              <a:rPr lang="en-US" sz="2000" i="1" dirty="0">
                <a:latin typeface="Montserrat" pitchFamily="2" charset="77"/>
              </a:rPr>
              <a:t>Amacrine, </a:t>
            </a:r>
            <a:r>
              <a:rPr lang="en-US" sz="2000" dirty="0">
                <a:latin typeface="Montserrat" pitchFamily="2" charset="77"/>
              </a:rPr>
              <a:t>likely due to the large number of closely-related cell subtypes within the class.</a:t>
            </a:r>
          </a:p>
          <a:p>
            <a:pPr>
              <a:lnSpc>
                <a:spcPts val="3180"/>
              </a:lnSpc>
            </a:pPr>
            <a:r>
              <a:rPr lang="en-US" sz="2400" dirty="0">
                <a:latin typeface="Montserrat" pitchFamily="2" charset="77"/>
              </a:rPr>
              <a:t>lncRNA-only NS-Forest runs </a:t>
            </a:r>
            <a:r>
              <a:rPr lang="en-US" sz="2400" b="1" dirty="0">
                <a:latin typeface="Montserrat" pitchFamily="2" charset="77"/>
              </a:rPr>
              <a:t>retain</a:t>
            </a:r>
            <a:r>
              <a:rPr lang="en-US" sz="2400" dirty="0">
                <a:latin typeface="Montserrat" pitchFamily="2" charset="77"/>
              </a:rPr>
              <a:t> the </a:t>
            </a:r>
            <a:r>
              <a:rPr lang="en-US" sz="2400" b="1" dirty="0">
                <a:latin typeface="Montserrat" pitchFamily="2" charset="77"/>
              </a:rPr>
              <a:t>discriminatory information </a:t>
            </a:r>
            <a:r>
              <a:rPr lang="en-US" sz="2400" dirty="0">
                <a:latin typeface="Montserrat" pitchFamily="2" charset="77"/>
              </a:rPr>
              <a:t>necessary for </a:t>
            </a:r>
            <a:r>
              <a:rPr lang="en-US" sz="2400" b="1" dirty="0">
                <a:latin typeface="Montserrat" pitchFamily="2" charset="77"/>
              </a:rPr>
              <a:t>high precision </a:t>
            </a:r>
            <a:r>
              <a:rPr lang="en-US" sz="2400" dirty="0">
                <a:latin typeface="Montserrat" pitchFamily="2" charset="77"/>
              </a:rPr>
              <a:t>in most retinal cell types.</a:t>
            </a:r>
          </a:p>
          <a:p>
            <a:pPr>
              <a:lnSpc>
                <a:spcPts val="3180"/>
              </a:lnSpc>
            </a:pPr>
            <a:r>
              <a:rPr lang="en-US" sz="2400" dirty="0">
                <a:latin typeface="Montserrat" pitchFamily="2" charset="77"/>
              </a:rPr>
              <a:t>Highly-ranked retinal lncRNA selected biomarkers have </a:t>
            </a:r>
            <a:r>
              <a:rPr lang="en-US" sz="2400" b="1" dirty="0">
                <a:latin typeface="Montserrat" pitchFamily="2" charset="77"/>
              </a:rPr>
              <a:t>existing biological associations</a:t>
            </a:r>
            <a:r>
              <a:rPr lang="en-US" sz="2400" dirty="0">
                <a:latin typeface="Montserrat" pitchFamily="2" charset="77"/>
              </a:rPr>
              <a:t> with retinal or neural function, providing preliminary support for the biological relevance of predicted markers.</a:t>
            </a:r>
          </a:p>
        </p:txBody>
      </p:sp>
    </p:spTree>
    <p:extLst>
      <p:ext uri="{BB962C8B-B14F-4D97-AF65-F5344CB8AC3E}">
        <p14:creationId xmlns:p14="http://schemas.microsoft.com/office/powerpoint/2010/main" val="3531219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3D1C-A764-542B-ED5A-A2DEFCFD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0EA72-F665-EBDD-214C-FFAE3328D557}"/>
              </a:ext>
            </a:extLst>
          </p:cNvPr>
          <p:cNvSpPr>
            <a:spLocks noGrp="1"/>
          </p:cNvSpPr>
          <p:nvPr>
            <p:ph type="title"/>
          </p:nvPr>
        </p:nvSpPr>
        <p:spPr>
          <a:xfrm>
            <a:off x="302006" y="247250"/>
            <a:ext cx="9603261" cy="727405"/>
          </a:xfrm>
        </p:spPr>
        <p:txBody>
          <a:bodyPr>
            <a:noAutofit/>
          </a:bodyPr>
          <a:lstStyle/>
          <a:p>
            <a:r>
              <a:rPr lang="en-US" sz="5400" dirty="0">
                <a:latin typeface="Crimson Pro Medium" pitchFamily="2" charset="77"/>
              </a:rPr>
              <a:t>Future Directions</a:t>
            </a:r>
          </a:p>
        </p:txBody>
      </p:sp>
      <p:sp>
        <p:nvSpPr>
          <p:cNvPr id="7" name="Content Placeholder 2">
            <a:extLst>
              <a:ext uri="{FF2B5EF4-FFF2-40B4-BE49-F238E27FC236}">
                <a16:creationId xmlns:a16="http://schemas.microsoft.com/office/drawing/2014/main" id="{7B216851-7E9C-5817-E32E-40369EC90D2D}"/>
              </a:ext>
            </a:extLst>
          </p:cNvPr>
          <p:cNvSpPr>
            <a:spLocks noGrp="1"/>
          </p:cNvSpPr>
          <p:nvPr>
            <p:ph idx="1"/>
          </p:nvPr>
        </p:nvSpPr>
        <p:spPr>
          <a:xfrm>
            <a:off x="434118" y="1146631"/>
            <a:ext cx="11214133" cy="4659086"/>
          </a:xfrm>
        </p:spPr>
        <p:txBody>
          <a:bodyPr>
            <a:noAutofit/>
          </a:bodyPr>
          <a:lstStyle/>
          <a:p>
            <a:pPr>
              <a:lnSpc>
                <a:spcPts val="3180"/>
              </a:lnSpc>
            </a:pPr>
            <a:r>
              <a:rPr lang="en-US" sz="2400" dirty="0">
                <a:latin typeface="Montserrat" pitchFamily="2" charset="77"/>
              </a:rPr>
              <a:t>Compare lncRNAs performance with </a:t>
            </a:r>
            <a:r>
              <a:rPr lang="en-US" sz="2400" b="1" dirty="0">
                <a:latin typeface="Montserrat" pitchFamily="2" charset="77"/>
              </a:rPr>
              <a:t>size-matched coding-gene subsets </a:t>
            </a:r>
            <a:r>
              <a:rPr lang="en-US" sz="2400" dirty="0">
                <a:latin typeface="Montserrat" pitchFamily="2" charset="77"/>
              </a:rPr>
              <a:t>to confirm whether classification differences reflect lncRNA biology or the effect of changing the size of the feature set.</a:t>
            </a:r>
          </a:p>
          <a:p>
            <a:pPr>
              <a:lnSpc>
                <a:spcPts val="3180"/>
              </a:lnSpc>
            </a:pPr>
            <a:r>
              <a:rPr lang="en-US" sz="2400" dirty="0">
                <a:latin typeface="Montserrat" pitchFamily="2" charset="77"/>
              </a:rPr>
              <a:t>Extend the analysis to </a:t>
            </a:r>
            <a:r>
              <a:rPr lang="en-US" sz="2400" b="1" dirty="0">
                <a:latin typeface="Montserrat" pitchFamily="2" charset="77"/>
              </a:rPr>
              <a:t>additional tissues and cell atlases </a:t>
            </a:r>
            <a:r>
              <a:rPr lang="en-US" sz="2400" dirty="0">
                <a:latin typeface="Montserrat" pitchFamily="2" charset="77"/>
              </a:rPr>
              <a:t>to determine whether the observed neural/non-neural patterns generalizes further.</a:t>
            </a:r>
          </a:p>
          <a:p>
            <a:pPr>
              <a:lnSpc>
                <a:spcPts val="3180"/>
              </a:lnSpc>
            </a:pPr>
            <a:r>
              <a:rPr lang="en-US" sz="2400" b="1" dirty="0">
                <a:latin typeface="Montserrat" pitchFamily="2" charset="77"/>
              </a:rPr>
              <a:t>Validate candidate biomarkers </a:t>
            </a:r>
            <a:r>
              <a:rPr lang="en-US" sz="2400" dirty="0">
                <a:latin typeface="Montserrat" pitchFamily="2" charset="77"/>
              </a:rPr>
              <a:t>across independent retinal and lncRNA marker datasets.</a:t>
            </a:r>
          </a:p>
          <a:p>
            <a:pPr>
              <a:lnSpc>
                <a:spcPts val="3180"/>
              </a:lnSpc>
            </a:pPr>
            <a:r>
              <a:rPr lang="en-US" sz="2400" dirty="0">
                <a:latin typeface="Montserrat" pitchFamily="2" charset="77"/>
              </a:rPr>
              <a:t>Investigate candidate </a:t>
            </a:r>
            <a:r>
              <a:rPr lang="en-US" sz="2400" b="1" dirty="0">
                <a:latin typeface="Montserrat" pitchFamily="2" charset="77"/>
              </a:rPr>
              <a:t>retinal lncRNA biomarkers </a:t>
            </a:r>
            <a:r>
              <a:rPr lang="en-US" sz="2400" dirty="0">
                <a:latin typeface="Montserrat" pitchFamily="2" charset="77"/>
              </a:rPr>
              <a:t>and their </a:t>
            </a:r>
            <a:r>
              <a:rPr lang="en-US" sz="2400" b="1" dirty="0">
                <a:latin typeface="Montserrat" pitchFamily="2" charset="77"/>
              </a:rPr>
              <a:t>potential biological relevance</a:t>
            </a:r>
            <a:r>
              <a:rPr lang="en-US" sz="2400" dirty="0">
                <a:latin typeface="Montserrat" pitchFamily="2" charset="77"/>
              </a:rPr>
              <a:t> to their associated cell types.</a:t>
            </a:r>
          </a:p>
        </p:txBody>
      </p:sp>
    </p:spTree>
    <p:extLst>
      <p:ext uri="{BB962C8B-B14F-4D97-AF65-F5344CB8AC3E}">
        <p14:creationId xmlns:p14="http://schemas.microsoft.com/office/powerpoint/2010/main" val="2652470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DDBE9-9595-F5B9-D3AD-B3BD4D62E3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D3C94-60CA-E7C2-6CF6-AB6804967687}"/>
              </a:ext>
            </a:extLst>
          </p:cNvPr>
          <p:cNvSpPr>
            <a:spLocks noGrp="1"/>
          </p:cNvSpPr>
          <p:nvPr>
            <p:ph idx="1"/>
          </p:nvPr>
        </p:nvSpPr>
        <p:spPr>
          <a:xfrm>
            <a:off x="1758558" y="2634682"/>
            <a:ext cx="8674883" cy="1181944"/>
          </a:xfrm>
        </p:spPr>
        <p:txBody>
          <a:bodyPr>
            <a:noAutofit/>
          </a:bodyPr>
          <a:lstStyle/>
          <a:p>
            <a:pPr marL="0" indent="0" algn="ctr">
              <a:lnSpc>
                <a:spcPct val="125000"/>
              </a:lnSpc>
              <a:spcBef>
                <a:spcPts val="0"/>
              </a:spcBef>
              <a:spcAft>
                <a:spcPts val="1200"/>
              </a:spcAft>
              <a:buNone/>
            </a:pPr>
            <a:r>
              <a:rPr lang="en-US" sz="5400" dirty="0">
                <a:latin typeface="Crimson Pro Medium" pitchFamily="2" charset="77"/>
                <a:cs typeface="Arial" panose="020B0604020202020204" pitchFamily="34" charset="0"/>
              </a:rPr>
              <a:t>Thank you!</a:t>
            </a:r>
          </a:p>
        </p:txBody>
      </p:sp>
    </p:spTree>
    <p:extLst>
      <p:ext uri="{BB962C8B-B14F-4D97-AF65-F5344CB8AC3E}">
        <p14:creationId xmlns:p14="http://schemas.microsoft.com/office/powerpoint/2010/main" val="309290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9F7AD-1992-86D3-9668-BC517BCF4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F4DAB-BE1C-81AD-DFF6-23CE61812D35}"/>
              </a:ext>
            </a:extLst>
          </p:cNvPr>
          <p:cNvSpPr>
            <a:spLocks noGrp="1"/>
          </p:cNvSpPr>
          <p:nvPr>
            <p:ph type="title"/>
          </p:nvPr>
        </p:nvSpPr>
        <p:spPr>
          <a:xfrm>
            <a:off x="418194" y="289542"/>
            <a:ext cx="10515600" cy="727405"/>
          </a:xfrm>
        </p:spPr>
        <p:txBody>
          <a:bodyPr>
            <a:normAutofit/>
          </a:bodyPr>
          <a:lstStyle/>
          <a:p>
            <a:r>
              <a:rPr lang="en-US" sz="4400" dirty="0">
                <a:latin typeface="Crimson Pro Medium" pitchFamily="2" charset="77"/>
              </a:rPr>
              <a:t>Bibliography</a:t>
            </a:r>
          </a:p>
        </p:txBody>
      </p:sp>
      <p:sp>
        <p:nvSpPr>
          <p:cNvPr id="3" name="Content Placeholder 2">
            <a:extLst>
              <a:ext uri="{FF2B5EF4-FFF2-40B4-BE49-F238E27FC236}">
                <a16:creationId xmlns:a16="http://schemas.microsoft.com/office/drawing/2014/main" id="{3FA80010-A9F4-5FCE-24BA-07F65017A6AB}"/>
              </a:ext>
            </a:extLst>
          </p:cNvPr>
          <p:cNvSpPr>
            <a:spLocks noGrp="1"/>
          </p:cNvSpPr>
          <p:nvPr>
            <p:ph idx="1"/>
          </p:nvPr>
        </p:nvSpPr>
        <p:spPr>
          <a:xfrm>
            <a:off x="476250" y="973405"/>
            <a:ext cx="11239500" cy="4991967"/>
          </a:xfrm>
        </p:spPr>
        <p:txBody>
          <a:bodyPr numCol="2" spcCol="457200">
            <a:noAutofit/>
          </a:bodyPr>
          <a:lstStyle/>
          <a:p>
            <a:pPr indent="-457200">
              <a:spcBef>
                <a:spcPts val="0"/>
              </a:spcBef>
              <a:spcAft>
                <a:spcPts val="600"/>
              </a:spcAft>
              <a:buNone/>
            </a:pPr>
            <a:r>
              <a:rPr lang="en-US" sz="1300" dirty="0"/>
              <a:t>Andrew B, Harris EL, Poulter JA </a:t>
            </a:r>
            <a:r>
              <a:rPr lang="en-US" sz="1300" i="1" dirty="0"/>
              <a:t>et al.</a:t>
            </a:r>
            <a:r>
              <a:rPr lang="en-US" sz="1300" dirty="0"/>
              <a:t> </a:t>
            </a:r>
            <a:r>
              <a:rPr lang="en-US" sz="1300" b="1" dirty="0"/>
              <a:t>Making multi-axis Gaussian graphical models scalable to millions of cells</a:t>
            </a:r>
            <a:r>
              <a:rPr lang="en-US" sz="1300" dirty="0"/>
              <a:t>. </a:t>
            </a:r>
            <a:r>
              <a:rPr lang="en-US" sz="1300" i="1" dirty="0"/>
              <a:t>Bioinformatics</a:t>
            </a:r>
            <a:r>
              <a:rPr lang="en-US" sz="1300" dirty="0"/>
              <a:t> 2026;42(8):btag523. </a:t>
            </a:r>
            <a:r>
              <a:rPr lang="en-US" sz="1300" dirty="0">
                <a:hlinkClick r:id="rId2">
                  <a:extLst>
                    <a:ext uri="{A12FA001-AC4F-418D-AE19-62706E023703}">
                      <ahyp:hlinkClr xmlns:ahyp="http://schemas.microsoft.com/office/drawing/2018/hyperlinkcolor" val="tx"/>
                    </a:ext>
                  </a:extLst>
                </a:hlinkClick>
              </a:rPr>
              <a:t>https://doi.org/10.1093/bioinformatics/btag523</a:t>
            </a:r>
            <a:r>
              <a:rPr lang="en-US" sz="1300" dirty="0"/>
              <a:t>.</a:t>
            </a:r>
          </a:p>
          <a:p>
            <a:pPr indent="-457200">
              <a:spcBef>
                <a:spcPts val="0"/>
              </a:spcBef>
              <a:spcAft>
                <a:spcPts val="600"/>
              </a:spcAft>
              <a:buNone/>
            </a:pPr>
            <a:r>
              <a:rPr lang="en-US" sz="1300" dirty="0"/>
              <a:t>Callaway EM, Dong HW, Ecker JR </a:t>
            </a:r>
            <a:r>
              <a:rPr lang="en-US" sz="1300" i="1" dirty="0"/>
              <a:t>et al.</a:t>
            </a:r>
            <a:r>
              <a:rPr lang="en-US" sz="1300" dirty="0"/>
              <a:t> </a:t>
            </a:r>
            <a:r>
              <a:rPr lang="en-US" sz="1300" b="1" dirty="0"/>
              <a:t>A multimodal cell census and atlas of the mammalian primary motor cortex</a:t>
            </a:r>
            <a:r>
              <a:rPr lang="en-US" sz="1300" dirty="0"/>
              <a:t>. </a:t>
            </a:r>
            <a:r>
              <a:rPr lang="en-US" sz="1300" i="1" dirty="0"/>
              <a:t>Nature</a:t>
            </a:r>
            <a:r>
              <a:rPr lang="en-US" sz="1300" dirty="0"/>
              <a:t> 2021;598(7879):86–102. </a:t>
            </a:r>
            <a:r>
              <a:rPr lang="en-US" sz="1300" dirty="0">
                <a:hlinkClick r:id="rId3">
                  <a:extLst>
                    <a:ext uri="{A12FA001-AC4F-418D-AE19-62706E023703}">
                      <ahyp:hlinkClr xmlns:ahyp="http://schemas.microsoft.com/office/drawing/2018/hyperlinkcolor" val="tx"/>
                    </a:ext>
                  </a:extLst>
                </a:hlinkClick>
              </a:rPr>
              <a:t>https://doi.org/10.1038/s41586-021-03950-0</a:t>
            </a:r>
            <a:r>
              <a:rPr lang="en-US" sz="1300" dirty="0"/>
              <a:t>.</a:t>
            </a:r>
          </a:p>
          <a:p>
            <a:pPr indent="-457200">
              <a:spcBef>
                <a:spcPts val="0"/>
              </a:spcBef>
              <a:spcAft>
                <a:spcPts val="600"/>
              </a:spcAft>
              <a:buNone/>
            </a:pPr>
            <a:r>
              <a:rPr lang="en-US" sz="1300" dirty="0"/>
              <a:t>Chen LL, Kim VN. </a:t>
            </a:r>
            <a:r>
              <a:rPr lang="en-US" sz="1300" b="1" dirty="0"/>
              <a:t>Small and long non-coding RNAs: Past, present, and future</a:t>
            </a:r>
            <a:r>
              <a:rPr lang="en-US" sz="1300" dirty="0"/>
              <a:t>. </a:t>
            </a:r>
            <a:r>
              <a:rPr lang="en-US" sz="1300" i="1" dirty="0"/>
              <a:t>Cell</a:t>
            </a:r>
            <a:r>
              <a:rPr lang="en-US" sz="1300" dirty="0"/>
              <a:t> 2024;187(23):6451–85. </a:t>
            </a:r>
            <a:r>
              <a:rPr lang="en-US" sz="1300" dirty="0">
                <a:hlinkClick r:id="rId4">
                  <a:extLst>
                    <a:ext uri="{A12FA001-AC4F-418D-AE19-62706E023703}">
                      <ahyp:hlinkClr xmlns:ahyp="http://schemas.microsoft.com/office/drawing/2018/hyperlinkcolor" val="tx"/>
                    </a:ext>
                  </a:extLst>
                </a:hlinkClick>
              </a:rPr>
              <a:t>https://doi.org/10.1016/j.cell.2024.10.024</a:t>
            </a:r>
            <a:r>
              <a:rPr lang="en-US" sz="1300" dirty="0"/>
              <a:t>.</a:t>
            </a:r>
          </a:p>
          <a:p>
            <a:pPr indent="-457200">
              <a:spcBef>
                <a:spcPts val="0"/>
              </a:spcBef>
              <a:spcAft>
                <a:spcPts val="600"/>
              </a:spcAft>
              <a:buNone/>
            </a:pPr>
            <a:r>
              <a:rPr lang="en-US" sz="1300" dirty="0" err="1"/>
              <a:t>Djebali</a:t>
            </a:r>
            <a:r>
              <a:rPr lang="en-US" sz="1300" dirty="0"/>
              <a:t> S, Davis CA, Merkel A </a:t>
            </a:r>
            <a:r>
              <a:rPr lang="en-US" sz="1300" i="1" dirty="0"/>
              <a:t>et al.</a:t>
            </a:r>
            <a:r>
              <a:rPr lang="en-US" sz="1300" dirty="0"/>
              <a:t> </a:t>
            </a:r>
            <a:r>
              <a:rPr lang="en-US" sz="1300" b="1" dirty="0"/>
              <a:t>Landscape of transcription in human cells</a:t>
            </a:r>
            <a:r>
              <a:rPr lang="en-US" sz="1300" dirty="0"/>
              <a:t>. </a:t>
            </a:r>
            <a:r>
              <a:rPr lang="en-US" sz="1300" i="1" dirty="0"/>
              <a:t>Nature</a:t>
            </a:r>
            <a:r>
              <a:rPr lang="en-US" sz="1300" dirty="0"/>
              <a:t> 2012;489(7414):101–8. </a:t>
            </a:r>
            <a:r>
              <a:rPr lang="en-US" sz="1300" dirty="0">
                <a:hlinkClick r:id="rId5">
                  <a:extLst>
                    <a:ext uri="{A12FA001-AC4F-418D-AE19-62706E023703}">
                      <ahyp:hlinkClr xmlns:ahyp="http://schemas.microsoft.com/office/drawing/2018/hyperlinkcolor" val="tx"/>
                    </a:ext>
                  </a:extLst>
                </a:hlinkClick>
              </a:rPr>
              <a:t>https://doi.org/10.1038/nature11233</a:t>
            </a:r>
            <a:r>
              <a:rPr lang="en-US" sz="1300" dirty="0"/>
              <a:t>.</a:t>
            </a:r>
          </a:p>
          <a:p>
            <a:pPr indent="-457200">
              <a:spcBef>
                <a:spcPts val="0"/>
              </a:spcBef>
              <a:spcAft>
                <a:spcPts val="600"/>
              </a:spcAft>
              <a:buNone/>
            </a:pPr>
            <a:r>
              <a:rPr lang="en-US" sz="1300" dirty="0"/>
              <a:t>Hodge RD, Bakken TE, Miller JA </a:t>
            </a:r>
            <a:r>
              <a:rPr lang="en-US" sz="1300" i="1" dirty="0"/>
              <a:t>et al.</a:t>
            </a:r>
            <a:r>
              <a:rPr lang="en-US" sz="1300" dirty="0"/>
              <a:t> </a:t>
            </a:r>
            <a:r>
              <a:rPr lang="en-US" sz="1300" b="1" dirty="0"/>
              <a:t>Conserved cell types with divergent features in human versus mouse cortex</a:t>
            </a:r>
            <a:r>
              <a:rPr lang="en-US" sz="1300" dirty="0"/>
              <a:t>. </a:t>
            </a:r>
            <a:r>
              <a:rPr lang="en-US" sz="1300" i="1" dirty="0"/>
              <a:t>Nature</a:t>
            </a:r>
            <a:r>
              <a:rPr lang="en-US" sz="1300" dirty="0"/>
              <a:t> 2019;573(7772):61–8. </a:t>
            </a:r>
            <a:r>
              <a:rPr lang="en-US" sz="1300" dirty="0">
                <a:hlinkClick r:id="rId6">
                  <a:extLst>
                    <a:ext uri="{A12FA001-AC4F-418D-AE19-62706E023703}">
                      <ahyp:hlinkClr xmlns:ahyp="http://schemas.microsoft.com/office/drawing/2018/hyperlinkcolor" val="tx"/>
                    </a:ext>
                  </a:extLst>
                </a:hlinkClick>
              </a:rPr>
              <a:t>https://doi.org/10.1038/s41586-019-1506-7</a:t>
            </a:r>
            <a:r>
              <a:rPr lang="en-US" sz="1300" dirty="0"/>
              <a:t>.</a:t>
            </a:r>
          </a:p>
          <a:p>
            <a:pPr indent="-457200">
              <a:spcBef>
                <a:spcPts val="0"/>
              </a:spcBef>
              <a:spcAft>
                <a:spcPts val="600"/>
              </a:spcAft>
              <a:buNone/>
            </a:pPr>
            <a:r>
              <a:rPr lang="en-US" sz="1300" dirty="0"/>
              <a:t>Ji Y, Zuo C, Liao N </a:t>
            </a:r>
            <a:r>
              <a:rPr lang="en-US" sz="1300" i="1" dirty="0"/>
              <a:t>et al.</a:t>
            </a:r>
            <a:r>
              <a:rPr lang="en-US" sz="1300" dirty="0"/>
              <a:t> </a:t>
            </a:r>
            <a:r>
              <a:rPr lang="en-US" sz="1300" b="1" dirty="0"/>
              <a:t>Identification of key lncRNAs in age-related macular degeneration through integrated bioinformatics and experimental validation</a:t>
            </a:r>
            <a:r>
              <a:rPr lang="en-US" sz="1300" dirty="0"/>
              <a:t>. </a:t>
            </a:r>
            <a:r>
              <a:rPr lang="en-US" sz="1300" i="1" dirty="0"/>
              <a:t>Aging (Albany NY)</a:t>
            </a:r>
            <a:r>
              <a:rPr lang="en-US" sz="1300" dirty="0"/>
              <a:t> 2024;16(6):5435–51. </a:t>
            </a:r>
            <a:r>
              <a:rPr lang="en-US" sz="1300" dirty="0">
                <a:hlinkClick r:id="rId7">
                  <a:extLst>
                    <a:ext uri="{A12FA001-AC4F-418D-AE19-62706E023703}">
                      <ahyp:hlinkClr xmlns:ahyp="http://schemas.microsoft.com/office/drawing/2018/hyperlinkcolor" val="tx"/>
                    </a:ext>
                  </a:extLst>
                </a:hlinkClick>
              </a:rPr>
              <a:t>https://doi.org/10.18632/aging.205656</a:t>
            </a:r>
            <a:r>
              <a:rPr lang="en-US" sz="1300" dirty="0"/>
              <a:t>.</a:t>
            </a:r>
          </a:p>
          <a:p>
            <a:pPr indent="-457200">
              <a:spcBef>
                <a:spcPts val="0"/>
              </a:spcBef>
              <a:spcAft>
                <a:spcPts val="600"/>
              </a:spcAft>
              <a:buNone/>
            </a:pPr>
            <a:r>
              <a:rPr lang="en-US" sz="1300" dirty="0"/>
              <a:t>Lake BB, Menon R, Winfree S </a:t>
            </a:r>
            <a:r>
              <a:rPr lang="en-US" sz="1300" i="1" dirty="0"/>
              <a:t>et al.</a:t>
            </a:r>
            <a:r>
              <a:rPr lang="en-US" sz="1300" dirty="0"/>
              <a:t> </a:t>
            </a:r>
            <a:r>
              <a:rPr lang="en-US" sz="1300" b="1" dirty="0"/>
              <a:t>An atlas of healthy and injured cell states and niches in the human kidney</a:t>
            </a:r>
            <a:r>
              <a:rPr lang="en-US" sz="1300" dirty="0"/>
              <a:t>. </a:t>
            </a:r>
            <a:r>
              <a:rPr lang="en-US" sz="1300" i="1" dirty="0"/>
              <a:t>Nature</a:t>
            </a:r>
            <a:r>
              <a:rPr lang="en-US" sz="1300" dirty="0"/>
              <a:t> 2023;619(7970):585–94. </a:t>
            </a:r>
            <a:r>
              <a:rPr lang="en-US" sz="1300" dirty="0">
                <a:hlinkClick r:id="rId8">
                  <a:extLst>
                    <a:ext uri="{A12FA001-AC4F-418D-AE19-62706E023703}">
                      <ahyp:hlinkClr xmlns:ahyp="http://schemas.microsoft.com/office/drawing/2018/hyperlinkcolor" val="tx"/>
                    </a:ext>
                  </a:extLst>
                </a:hlinkClick>
              </a:rPr>
              <a:t>https://doi.org/10.1038/s41586-023-05769-3</a:t>
            </a:r>
            <a:r>
              <a:rPr lang="en-US" sz="1300" dirty="0"/>
              <a:t>.</a:t>
            </a:r>
          </a:p>
          <a:p>
            <a:pPr indent="-457200">
              <a:spcBef>
                <a:spcPts val="0"/>
              </a:spcBef>
              <a:spcAft>
                <a:spcPts val="600"/>
              </a:spcAft>
              <a:buNone/>
            </a:pPr>
            <a:r>
              <a:rPr lang="en-US" sz="1300" dirty="0"/>
              <a:t>Li J, Wang J, Ibarra IL </a:t>
            </a:r>
            <a:r>
              <a:rPr lang="en-US" sz="1300" i="1" dirty="0"/>
              <a:t>et al.</a:t>
            </a:r>
            <a:r>
              <a:rPr lang="en-US" sz="1300" dirty="0"/>
              <a:t> </a:t>
            </a:r>
            <a:r>
              <a:rPr lang="en-US" sz="1300" b="1" dirty="0"/>
              <a:t>Single-cell atlas of the transcriptome and chromatin accessibility in the human retina</a:t>
            </a:r>
            <a:r>
              <a:rPr lang="en-US" sz="1300" dirty="0"/>
              <a:t>. </a:t>
            </a:r>
            <a:r>
              <a:rPr lang="en-US" sz="1300" i="1" dirty="0"/>
              <a:t>Nat Genet</a:t>
            </a:r>
            <a:r>
              <a:rPr lang="en-US" sz="1300" dirty="0"/>
              <a:t> 2026;58(2):418–33. </a:t>
            </a:r>
            <a:r>
              <a:rPr lang="en-US" sz="1300" dirty="0">
                <a:hlinkClick r:id="rId9">
                  <a:extLst>
                    <a:ext uri="{A12FA001-AC4F-418D-AE19-62706E023703}">
                      <ahyp:hlinkClr xmlns:ahyp="http://schemas.microsoft.com/office/drawing/2018/hyperlinkcolor" val="tx"/>
                    </a:ext>
                  </a:extLst>
                </a:hlinkClick>
              </a:rPr>
              <a:t>https://doi.org/10.1038/s41588-025-02454-1</a:t>
            </a:r>
            <a:r>
              <a:rPr lang="en-US" sz="1300" dirty="0"/>
              <a:t>.</a:t>
            </a:r>
          </a:p>
          <a:p>
            <a:pPr indent="-457200">
              <a:spcBef>
                <a:spcPts val="0"/>
              </a:spcBef>
              <a:spcAft>
                <a:spcPts val="600"/>
              </a:spcAft>
              <a:buNone/>
            </a:pPr>
            <a:r>
              <a:rPr lang="en-US" sz="1300" dirty="0"/>
              <a:t>Liu A, Peng B, Pankajam AV </a:t>
            </a:r>
            <a:r>
              <a:rPr lang="en-US" sz="1300" i="1" dirty="0"/>
              <a:t>et al.</a:t>
            </a:r>
            <a:r>
              <a:rPr lang="en-US" sz="1300" dirty="0"/>
              <a:t> </a:t>
            </a:r>
            <a:r>
              <a:rPr lang="en-US" sz="1300" b="1" dirty="0"/>
              <a:t>Discovery of optimal cell type classification marker genes from single cell RNA sequencing data</a:t>
            </a:r>
            <a:r>
              <a:rPr lang="en-US" sz="1300" dirty="0"/>
              <a:t>. </a:t>
            </a:r>
            <a:r>
              <a:rPr lang="en-US" sz="1300" i="1" dirty="0"/>
              <a:t>BMC Methods</a:t>
            </a:r>
            <a:r>
              <a:rPr lang="en-US" sz="1300" dirty="0"/>
              <a:t> 2024;1:15. </a:t>
            </a:r>
            <a:r>
              <a:rPr lang="en-US" sz="1300" dirty="0">
                <a:hlinkClick r:id="rId10">
                  <a:extLst>
                    <a:ext uri="{A12FA001-AC4F-418D-AE19-62706E023703}">
                      <ahyp:hlinkClr xmlns:ahyp="http://schemas.microsoft.com/office/drawing/2018/hyperlinkcolor" val="tx"/>
                    </a:ext>
                  </a:extLst>
                </a:hlinkClick>
              </a:rPr>
              <a:t>https://doi.org/10.1186/s44330-024-00015-2</a:t>
            </a:r>
            <a:r>
              <a:rPr lang="en-US" sz="1300" dirty="0"/>
              <a:t>.</a:t>
            </a:r>
          </a:p>
          <a:p>
            <a:pPr indent="-457200">
              <a:spcBef>
                <a:spcPts val="0"/>
              </a:spcBef>
              <a:spcAft>
                <a:spcPts val="600"/>
              </a:spcAft>
              <a:buNone/>
            </a:pPr>
            <a:r>
              <a:rPr lang="en-US" sz="1300" dirty="0"/>
              <a:t>Poloni J de F, Oliveira FHS de, Feltes BC. </a:t>
            </a:r>
            <a:r>
              <a:rPr lang="en-US" sz="1300" b="1" dirty="0"/>
              <a:t>Localization is the key to action: regulatory peculiarities of lncRNAs</a:t>
            </a:r>
            <a:r>
              <a:rPr lang="en-US" sz="1300" dirty="0"/>
              <a:t>. </a:t>
            </a:r>
            <a:r>
              <a:rPr lang="en-US" sz="1300" i="1" dirty="0"/>
              <a:t>Front Genet</a:t>
            </a:r>
            <a:r>
              <a:rPr lang="en-US" sz="1300" dirty="0"/>
              <a:t> 2024;15. </a:t>
            </a:r>
            <a:r>
              <a:rPr lang="en-US" sz="1300" dirty="0">
                <a:hlinkClick r:id="rId11">
                  <a:extLst>
                    <a:ext uri="{A12FA001-AC4F-418D-AE19-62706E023703}">
                      <ahyp:hlinkClr xmlns:ahyp="http://schemas.microsoft.com/office/drawing/2018/hyperlinkcolor" val="tx"/>
                    </a:ext>
                  </a:extLst>
                </a:hlinkClick>
              </a:rPr>
              <a:t>https://doi.org/10.3389/fgene.2024.1478352</a:t>
            </a:r>
            <a:r>
              <a:rPr lang="en-US" sz="1300" dirty="0"/>
              <a:t>.</a:t>
            </a:r>
          </a:p>
          <a:p>
            <a:pPr indent="-457200">
              <a:spcBef>
                <a:spcPts val="0"/>
              </a:spcBef>
              <a:spcAft>
                <a:spcPts val="600"/>
              </a:spcAft>
              <a:buNone/>
            </a:pPr>
            <a:r>
              <a:rPr lang="en-US" sz="1300" dirty="0"/>
              <a:t>Quan LJ, Wang WJ. </a:t>
            </a:r>
            <a:r>
              <a:rPr lang="en-US" sz="1300" b="1" dirty="0"/>
              <a:t>FEZF1-AS1 functions as an oncogenic lncRNA in retinoblastoma</a:t>
            </a:r>
            <a:r>
              <a:rPr lang="en-US" sz="1300" dirty="0"/>
              <a:t>. </a:t>
            </a:r>
            <a:r>
              <a:rPr lang="en-US" sz="1300" i="1" dirty="0"/>
              <a:t>Bioscience Reports</a:t>
            </a:r>
            <a:r>
              <a:rPr lang="en-US" sz="1300" dirty="0"/>
              <a:t> 2019;39(5). </a:t>
            </a:r>
            <a:r>
              <a:rPr lang="en-US" sz="1300" dirty="0">
                <a:hlinkClick r:id="rId12">
                  <a:extLst>
                    <a:ext uri="{A12FA001-AC4F-418D-AE19-62706E023703}">
                      <ahyp:hlinkClr xmlns:ahyp="http://schemas.microsoft.com/office/drawing/2018/hyperlinkcolor" val="tx"/>
                    </a:ext>
                  </a:extLst>
                </a:hlinkClick>
              </a:rPr>
              <a:t>https://doi.org/10.1042/BSR20190754</a:t>
            </a:r>
            <a:r>
              <a:rPr lang="en-US" sz="1300" dirty="0"/>
              <a:t>.</a:t>
            </a:r>
          </a:p>
          <a:p>
            <a:pPr indent="-457200">
              <a:spcBef>
                <a:spcPts val="0"/>
              </a:spcBef>
              <a:spcAft>
                <a:spcPts val="600"/>
              </a:spcAft>
              <a:buNone/>
            </a:pPr>
            <a:r>
              <a:rPr lang="en-US" sz="1300" dirty="0"/>
              <a:t>Reed AD, Pensa S, Steif A </a:t>
            </a:r>
            <a:r>
              <a:rPr lang="en-US" sz="1300" i="1" dirty="0"/>
              <a:t>et al.</a:t>
            </a:r>
            <a:r>
              <a:rPr lang="en-US" sz="1300" dirty="0"/>
              <a:t> </a:t>
            </a:r>
            <a:r>
              <a:rPr lang="en-US" sz="1300" b="1" dirty="0"/>
              <a:t>A single-cell atlas enables mapping of homeostatic cellular shifts in the adult human breast</a:t>
            </a:r>
            <a:r>
              <a:rPr lang="en-US" sz="1300" dirty="0"/>
              <a:t>. </a:t>
            </a:r>
            <a:r>
              <a:rPr lang="en-US" sz="1300" i="1" dirty="0"/>
              <a:t>Nat Genet</a:t>
            </a:r>
            <a:r>
              <a:rPr lang="en-US" sz="1300" dirty="0"/>
              <a:t> 2024;56(4):652–62. </a:t>
            </a:r>
            <a:r>
              <a:rPr lang="en-US" sz="1300" dirty="0">
                <a:hlinkClick r:id="rId13">
                  <a:extLst>
                    <a:ext uri="{A12FA001-AC4F-418D-AE19-62706E023703}">
                      <ahyp:hlinkClr xmlns:ahyp="http://schemas.microsoft.com/office/drawing/2018/hyperlinkcolor" val="tx"/>
                    </a:ext>
                  </a:extLst>
                </a:hlinkClick>
              </a:rPr>
              <a:t>https://doi.org/10.1038/s41588-024-01688-9</a:t>
            </a:r>
            <a:r>
              <a:rPr lang="en-US" sz="1300" dirty="0"/>
              <a:t>.</a:t>
            </a:r>
          </a:p>
          <a:p>
            <a:pPr indent="-457200">
              <a:spcBef>
                <a:spcPts val="0"/>
              </a:spcBef>
              <a:spcAft>
                <a:spcPts val="600"/>
              </a:spcAft>
              <a:buNone/>
            </a:pPr>
            <a:r>
              <a:rPr lang="en-US" sz="1300" dirty="0"/>
              <a:t>Sikkema L, Ramírez-</a:t>
            </a:r>
            <a:r>
              <a:rPr lang="en-US" sz="1300" dirty="0" err="1"/>
              <a:t>Suástegui</a:t>
            </a:r>
            <a:r>
              <a:rPr lang="en-US" sz="1300" dirty="0"/>
              <a:t> C, Strobl DC </a:t>
            </a:r>
            <a:r>
              <a:rPr lang="en-US" sz="1300" i="1" dirty="0"/>
              <a:t>et al.</a:t>
            </a:r>
            <a:r>
              <a:rPr lang="en-US" sz="1300" dirty="0"/>
              <a:t> </a:t>
            </a:r>
            <a:r>
              <a:rPr lang="en-US" sz="1300" b="1" dirty="0"/>
              <a:t>An integrated cell atlas of the lung in health and disease</a:t>
            </a:r>
            <a:r>
              <a:rPr lang="en-US" sz="1300" dirty="0"/>
              <a:t>. </a:t>
            </a:r>
            <a:r>
              <a:rPr lang="en-US" sz="1300" i="1" dirty="0"/>
              <a:t>Nat Med</a:t>
            </a:r>
            <a:r>
              <a:rPr lang="en-US" sz="1300" dirty="0"/>
              <a:t> 2023;29(6):1563–77. </a:t>
            </a:r>
            <a:r>
              <a:rPr lang="en-US" sz="1300" dirty="0">
                <a:hlinkClick r:id="rId14">
                  <a:extLst>
                    <a:ext uri="{A12FA001-AC4F-418D-AE19-62706E023703}">
                      <ahyp:hlinkClr xmlns:ahyp="http://schemas.microsoft.com/office/drawing/2018/hyperlinkcolor" val="tx"/>
                    </a:ext>
                  </a:extLst>
                </a:hlinkClick>
              </a:rPr>
              <a:t>https://doi.org/10.1038/s41591-023-02327-2</a:t>
            </a:r>
            <a:r>
              <a:rPr lang="en-US" sz="1300" dirty="0"/>
              <a:t>.</a:t>
            </a:r>
          </a:p>
          <a:p>
            <a:pPr indent="-457200">
              <a:spcBef>
                <a:spcPts val="0"/>
              </a:spcBef>
              <a:spcAft>
                <a:spcPts val="600"/>
              </a:spcAft>
              <a:buNone/>
            </a:pPr>
            <a:r>
              <a:rPr lang="en-US" sz="1300" dirty="0"/>
              <a:t>Takeuchi E, </a:t>
            </a:r>
            <a:r>
              <a:rPr lang="en-US" sz="1300" dirty="0" err="1"/>
              <a:t>Yasumizu</a:t>
            </a:r>
            <a:r>
              <a:rPr lang="en-US" sz="1300" dirty="0"/>
              <a:t> Y, Morita J </a:t>
            </a:r>
            <a:r>
              <a:rPr lang="en-US" sz="1300" i="1" dirty="0"/>
              <a:t>et al.</a:t>
            </a:r>
            <a:r>
              <a:rPr lang="en-US" sz="1300" dirty="0"/>
              <a:t> </a:t>
            </a:r>
            <a:r>
              <a:rPr lang="en-US" sz="1300" b="1" dirty="0"/>
              <a:t>Single-nucleus </a:t>
            </a:r>
            <a:r>
              <a:rPr lang="en-US" sz="1300" b="1" dirty="0" err="1"/>
              <a:t>multiome</a:t>
            </a:r>
            <a:r>
              <a:rPr lang="en-US" sz="1300" b="1" dirty="0"/>
              <a:t> shows motor neuron glutamate overactivation in amyotrophic lateral sclerosis</a:t>
            </a:r>
            <a:r>
              <a:rPr lang="en-US" sz="1300" dirty="0"/>
              <a:t>. </a:t>
            </a:r>
            <a:r>
              <a:rPr lang="en-US" sz="1300" i="1" dirty="0"/>
              <a:t>Brain</a:t>
            </a:r>
            <a:r>
              <a:rPr lang="en-US" sz="1300" dirty="0"/>
              <a:t> 2026;149(7):2480–94. </a:t>
            </a:r>
            <a:r>
              <a:rPr lang="en-US" sz="1300" dirty="0">
                <a:hlinkClick r:id="rId15">
                  <a:extLst>
                    <a:ext uri="{A12FA001-AC4F-418D-AE19-62706E023703}">
                      <ahyp:hlinkClr xmlns:ahyp="http://schemas.microsoft.com/office/drawing/2018/hyperlinkcolor" val="tx"/>
                    </a:ext>
                  </a:extLst>
                </a:hlinkClick>
              </a:rPr>
              <a:t>https://doi.org/10.1093/brain/awaf426</a:t>
            </a:r>
            <a:r>
              <a:rPr lang="en-US" sz="1300" dirty="0"/>
              <a:t>.</a:t>
            </a:r>
          </a:p>
          <a:p>
            <a:pPr indent="-457200">
              <a:spcBef>
                <a:spcPts val="0"/>
              </a:spcBef>
              <a:spcAft>
                <a:spcPts val="600"/>
              </a:spcAft>
              <a:buNone/>
            </a:pPr>
            <a:r>
              <a:rPr lang="en-US" sz="1300" dirty="0"/>
              <a:t>Xu C, Prete M, Webb S </a:t>
            </a:r>
            <a:r>
              <a:rPr lang="en-US" sz="1300" i="1" dirty="0"/>
              <a:t>et al.</a:t>
            </a:r>
            <a:r>
              <a:rPr lang="en-US" sz="1300" dirty="0"/>
              <a:t> </a:t>
            </a:r>
            <a:r>
              <a:rPr lang="en-US" sz="1300" b="1" dirty="0"/>
              <a:t>Automatic cell-type harmonization and integration across Human Cell Atlas datasets</a:t>
            </a:r>
            <a:r>
              <a:rPr lang="en-US" sz="1300" dirty="0"/>
              <a:t>. </a:t>
            </a:r>
            <a:r>
              <a:rPr lang="en-US" sz="1300" i="1" dirty="0"/>
              <a:t>Cell</a:t>
            </a:r>
            <a:r>
              <a:rPr lang="en-US" sz="1300" dirty="0"/>
              <a:t> 2023;186(26):5876-5891.e20. </a:t>
            </a:r>
            <a:r>
              <a:rPr lang="en-US" sz="1300" dirty="0">
                <a:hlinkClick r:id="rId16">
                  <a:extLst>
                    <a:ext uri="{A12FA001-AC4F-418D-AE19-62706E023703}">
                      <ahyp:hlinkClr xmlns:ahyp="http://schemas.microsoft.com/office/drawing/2018/hyperlinkcolor" val="tx"/>
                    </a:ext>
                  </a:extLst>
                </a:hlinkClick>
              </a:rPr>
              <a:t>https://doi.org/10.1016/j.cell.2023.11.026</a:t>
            </a:r>
            <a:r>
              <a:rPr lang="en-US" sz="1300" dirty="0"/>
              <a:t>.</a:t>
            </a:r>
            <a:endParaRPr lang="en-US" sz="1300" dirty="0">
              <a:effectLst/>
            </a:endParaRPr>
          </a:p>
        </p:txBody>
      </p:sp>
    </p:spTree>
    <p:extLst>
      <p:ext uri="{BB962C8B-B14F-4D97-AF65-F5344CB8AC3E}">
        <p14:creationId xmlns:p14="http://schemas.microsoft.com/office/powerpoint/2010/main" val="4115000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94476-34AE-DFF0-B59C-CB980E71D96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21A7369-0AD5-DF1A-BC60-49BD6713B56D}"/>
              </a:ext>
            </a:extLst>
          </p:cNvPr>
          <p:cNvGraphicFramePr>
            <a:graphicFrameLocks noGrp="1"/>
          </p:cNvGraphicFramePr>
          <p:nvPr>
            <p:extLst>
              <p:ext uri="{D42A27DB-BD31-4B8C-83A1-F6EECF244321}">
                <p14:modId xmlns:p14="http://schemas.microsoft.com/office/powerpoint/2010/main" val="3350068675"/>
              </p:ext>
            </p:extLst>
          </p:nvPr>
        </p:nvGraphicFramePr>
        <p:xfrm>
          <a:off x="400923" y="242646"/>
          <a:ext cx="11390153" cy="5608320"/>
        </p:xfrm>
        <a:graphic>
          <a:graphicData uri="http://schemas.openxmlformats.org/drawingml/2006/table">
            <a:tbl>
              <a:tblPr/>
              <a:tblGrid>
                <a:gridCol w="1003323">
                  <a:extLst>
                    <a:ext uri="{9D8B030D-6E8A-4147-A177-3AD203B41FA5}">
                      <a16:colId xmlns:a16="http://schemas.microsoft.com/office/drawing/2014/main" val="3262162569"/>
                    </a:ext>
                  </a:extLst>
                </a:gridCol>
                <a:gridCol w="1425844">
                  <a:extLst>
                    <a:ext uri="{9D8B030D-6E8A-4147-A177-3AD203B41FA5}">
                      <a16:colId xmlns:a16="http://schemas.microsoft.com/office/drawing/2014/main" val="2737872705"/>
                    </a:ext>
                  </a:extLst>
                </a:gridCol>
                <a:gridCol w="898902">
                  <a:extLst>
                    <a:ext uri="{9D8B030D-6E8A-4147-A177-3AD203B41FA5}">
                      <a16:colId xmlns:a16="http://schemas.microsoft.com/office/drawing/2014/main" val="2313367217"/>
                    </a:ext>
                  </a:extLst>
                </a:gridCol>
                <a:gridCol w="1503336">
                  <a:extLst>
                    <a:ext uri="{9D8B030D-6E8A-4147-A177-3AD203B41FA5}">
                      <a16:colId xmlns:a16="http://schemas.microsoft.com/office/drawing/2014/main" val="2185360245"/>
                    </a:ext>
                  </a:extLst>
                </a:gridCol>
                <a:gridCol w="861122">
                  <a:extLst>
                    <a:ext uri="{9D8B030D-6E8A-4147-A177-3AD203B41FA5}">
                      <a16:colId xmlns:a16="http://schemas.microsoft.com/office/drawing/2014/main" val="65992728"/>
                    </a:ext>
                  </a:extLst>
                </a:gridCol>
                <a:gridCol w="942127">
                  <a:extLst>
                    <a:ext uri="{9D8B030D-6E8A-4147-A177-3AD203B41FA5}">
                      <a16:colId xmlns:a16="http://schemas.microsoft.com/office/drawing/2014/main" val="1277433545"/>
                    </a:ext>
                  </a:extLst>
                </a:gridCol>
                <a:gridCol w="1570212">
                  <a:extLst>
                    <a:ext uri="{9D8B030D-6E8A-4147-A177-3AD203B41FA5}">
                      <a16:colId xmlns:a16="http://schemas.microsoft.com/office/drawing/2014/main" val="846037549"/>
                    </a:ext>
                  </a:extLst>
                </a:gridCol>
                <a:gridCol w="1570212">
                  <a:extLst>
                    <a:ext uri="{9D8B030D-6E8A-4147-A177-3AD203B41FA5}">
                      <a16:colId xmlns:a16="http://schemas.microsoft.com/office/drawing/2014/main" val="3036812182"/>
                    </a:ext>
                  </a:extLst>
                </a:gridCol>
                <a:gridCol w="1615075">
                  <a:extLst>
                    <a:ext uri="{9D8B030D-6E8A-4147-A177-3AD203B41FA5}">
                      <a16:colId xmlns:a16="http://schemas.microsoft.com/office/drawing/2014/main" val="2152769747"/>
                    </a:ext>
                  </a:extLst>
                </a:gridCol>
              </a:tblGrid>
              <a:tr h="731520">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Type</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Tissue</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Cell Types</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Cells (filtered and downsampled)</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Gene Set</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Genes</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Positive Genes </a:t>
                      </a:r>
                    </a:p>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 of Total)</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b="1" dirty="0">
                          <a:effectLst/>
                          <a:latin typeface="Arial" panose="020B0604020202020204" pitchFamily="34" charset="0"/>
                          <a:ea typeface="Calibri" panose="020F0502020204030204" pitchFamily="34" charset="0"/>
                          <a:cs typeface="Arial" panose="020B0604020202020204" pitchFamily="34" charset="0"/>
                        </a:rPr>
                        <a:t>%</a:t>
                      </a:r>
                      <a:r>
                        <a:rPr lang="en-US" sz="1400" dirty="0">
                          <a:effectLst/>
                          <a:latin typeface="Arial" panose="020B0604020202020204" pitchFamily="34" charset="0"/>
                          <a:ea typeface="Calibri" panose="020F0502020204030204" pitchFamily="34" charset="0"/>
                          <a:cs typeface="Arial" panose="020B0604020202020204" pitchFamily="34" charset="0"/>
                        </a:rPr>
                        <a:t> of </a:t>
                      </a:r>
                      <a:r>
                        <a:rPr lang="en-US" sz="1400" b="1" dirty="0">
                          <a:effectLst/>
                          <a:latin typeface="Arial" panose="020B0604020202020204" pitchFamily="34" charset="0"/>
                          <a:ea typeface="Calibri" panose="020F0502020204030204" pitchFamily="34" charset="0"/>
                          <a:cs typeface="Arial" panose="020B0604020202020204" pitchFamily="34" charset="0"/>
                        </a:rPr>
                        <a:t>Positive Genes </a:t>
                      </a:r>
                      <a:r>
                        <a:rPr lang="en-US" sz="1400" dirty="0">
                          <a:effectLst/>
                          <a:latin typeface="Arial" panose="020B0604020202020204" pitchFamily="34" charset="0"/>
                          <a:ea typeface="Calibri" panose="020F0502020204030204" pitchFamily="34" charset="0"/>
                          <a:cs typeface="Arial" panose="020B0604020202020204" pitchFamily="34" charset="0"/>
                        </a:rPr>
                        <a:t>that are </a:t>
                      </a:r>
                      <a:r>
                        <a:rPr lang="en-US" sz="1400" b="1" dirty="0">
                          <a:effectLst/>
                          <a:latin typeface="Arial" panose="020B0604020202020204" pitchFamily="34" charset="0"/>
                          <a:ea typeface="Calibri" panose="020F0502020204030204" pitchFamily="34" charset="0"/>
                          <a:cs typeface="Arial" panose="020B0604020202020204" pitchFamily="34" charset="0"/>
                        </a:rPr>
                        <a:t>lncRNA</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Mean </a:t>
                      </a:r>
                      <a:r>
                        <a:rPr lang="en-US" sz="1400" b="0" i="1" dirty="0">
                          <a:effectLst/>
                          <a:latin typeface="Arial" panose="020B0604020202020204" pitchFamily="34" charset="0"/>
                          <a:ea typeface="Calibri" panose="020F0502020204030204" pitchFamily="34" charset="0"/>
                          <a:cs typeface="Arial" panose="020B0604020202020204" pitchFamily="34" charset="0"/>
                        </a:rPr>
                        <a:t>Number of </a:t>
                      </a:r>
                    </a:p>
                    <a:p>
                      <a:pPr marL="0" marR="0" algn="ctr">
                        <a:buNone/>
                      </a:pPr>
                      <a:r>
                        <a:rPr lang="en-US" sz="1400" b="1" i="1" dirty="0">
                          <a:effectLst/>
                          <a:latin typeface="Arial" panose="020B0604020202020204" pitchFamily="34" charset="0"/>
                          <a:ea typeface="Calibri" panose="020F0502020204030204" pitchFamily="34" charset="0"/>
                          <a:cs typeface="Arial" panose="020B0604020202020204" pitchFamily="34" charset="0"/>
                        </a:rPr>
                        <a:t>Candidate Genes</a:t>
                      </a:r>
                      <a:r>
                        <a:rPr lang="en-US" sz="1400" i="1" dirty="0">
                          <a:effectLst/>
                          <a:latin typeface="Arial" panose="020B0604020202020204" pitchFamily="34" charset="0"/>
                          <a:ea typeface="Calibri" panose="020F0502020204030204" pitchFamily="34" charset="0"/>
                          <a:cs typeface="Arial" panose="020B0604020202020204" pitchFamily="34" charset="0"/>
                        </a:rPr>
                        <a:t> </a:t>
                      </a:r>
                    </a:p>
                    <a:p>
                      <a:pPr marL="0" marR="0" algn="ctr">
                        <a:buNone/>
                      </a:pPr>
                      <a:r>
                        <a:rPr lang="en-US" sz="1400" i="1" dirty="0">
                          <a:effectLst/>
                          <a:latin typeface="Arial" panose="020B0604020202020204" pitchFamily="34" charset="0"/>
                          <a:ea typeface="Calibri" panose="020F0502020204030204" pitchFamily="34" charset="0"/>
                          <a:cs typeface="Arial" panose="020B0604020202020204" pitchFamily="34" charset="0"/>
                        </a:rPr>
                        <a:t>/ Cell Type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5459619"/>
                  </a:ext>
                </a:extLst>
              </a:tr>
              <a:tr h="0">
                <a:tc rowSpan="10">
                  <a:txBody>
                    <a:bodyPr/>
                    <a:lstStyle/>
                    <a:p>
                      <a:pPr marL="0" marR="0" algn="ctr">
                        <a:buNone/>
                      </a:pPr>
                      <a:r>
                        <a:rPr lang="en-US" sz="1400" b="1" dirty="0">
                          <a:solidFill>
                            <a:srgbClr val="C00000"/>
                          </a:solidFill>
                          <a:effectLst/>
                          <a:latin typeface="Arial" panose="020B0604020202020204" pitchFamily="34" charset="0"/>
                          <a:ea typeface="Calibri" panose="020F0502020204030204" pitchFamily="34" charset="0"/>
                          <a:cs typeface="Arial" panose="020B0604020202020204" pitchFamily="34" charset="0"/>
                        </a:rPr>
                        <a:t>Non-Neural</a:t>
                      </a:r>
                      <a:endParaRPr lang="en-US" sz="1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Bone Marrow</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45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66.6k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49,082</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6,474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(13.2%)</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1.22%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622.1</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966809406"/>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12,128</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79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(0.7%)</a:t>
                      </a:r>
                      <a:endParaRPr lang="en-US" sz="14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7.3</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4292402570"/>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Breast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42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507.0k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33,604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4,622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(13.8%)</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1.38%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425.6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1908987"/>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14,399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64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14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5.1</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64715915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Kidney</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75</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107.7k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33,140</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5,249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(15.8%)</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3.87%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465.6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784331484"/>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11,509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203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(1.8%)</a:t>
                      </a:r>
                      <a:endParaRPr lang="en-US" sz="14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12.8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216336191"/>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Liver</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29</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259.6k</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35,659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3,073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(8.6%)</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295.4</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082515467"/>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11,560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41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(0.4%)</a:t>
                      </a:r>
                      <a:endParaRPr lang="en-US" sz="14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3.2</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49920183"/>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Lung</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61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491.2k</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27,402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5,288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(19.3%)</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461.9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548730836"/>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lncRNA</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8,744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83 </a:t>
                      </a:r>
                      <a:r>
                        <a:rPr lang="en-US" sz="1400" i="1" dirty="0">
                          <a:solidFill>
                            <a:srgbClr val="C00000"/>
                          </a:solidFill>
                          <a:effectLst/>
                          <a:latin typeface="Arial" panose="020B0604020202020204" pitchFamily="34" charset="0"/>
                          <a:ea typeface="Calibri" panose="020F0502020204030204" pitchFamily="34" charset="0"/>
                          <a:cs typeface="Arial" panose="020B0604020202020204" pitchFamily="34" charset="0"/>
                        </a:rPr>
                        <a:t>(1.0%)</a:t>
                      </a:r>
                      <a:endParaRPr lang="en-US" sz="1400" i="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400" dirty="0">
                          <a:solidFill>
                            <a:srgbClr val="C00000"/>
                          </a:solidFill>
                          <a:effectLst/>
                          <a:latin typeface="Arial" panose="020B0604020202020204" pitchFamily="34" charset="0"/>
                          <a:ea typeface="Calibri" panose="020F0502020204030204" pitchFamily="34" charset="0"/>
                          <a:cs typeface="Arial" panose="020B0604020202020204" pitchFamily="34" charset="0"/>
                        </a:rPr>
                        <a:t>4.8</a:t>
                      </a:r>
                      <a:endParaRPr lang="en-US" sz="9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4209163"/>
                  </a:ext>
                </a:extLst>
              </a:tr>
              <a:tr h="274320">
                <a:tc rowSpan="8">
                  <a:txBody>
                    <a:bodyPr/>
                    <a:lstStyle/>
                    <a:p>
                      <a:pPr marL="0" marR="0" algn="ctr">
                        <a:buNone/>
                      </a:pPr>
                      <a:r>
                        <a:rPr lang="en-US" sz="1400" b="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Neural</a:t>
                      </a:r>
                      <a:endParaRPr lang="en-US" sz="14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Motor Cortex</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127</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76.5k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30,751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8,723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(28.4%)</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3.00%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651.5</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4222275938"/>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lncRNA</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2,032</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262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(12.9%)</a:t>
                      </a:r>
                      <a:endParaRPr lang="en-US" sz="14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22.0</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3929185238"/>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Middle Temporal Gyrus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15.6k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30,751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11,529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(37.5%)</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3.35%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750.9</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936229345"/>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2,032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386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(19.0%)</a:t>
                      </a:r>
                      <a:endParaRPr lang="en-US" sz="14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32.7</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1912157059"/>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Retina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123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509.0k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35,475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6,925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(19.5%)</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590.6</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3243781070"/>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15,491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14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808080"/>
                      </a:solidFill>
                      <a:prstDash val="dash"/>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56.5</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808080"/>
                      </a:solidFill>
                      <a:prstDash val="dash"/>
                      <a:round/>
                      <a:headEnd type="none" w="med" len="med"/>
                      <a:tailEnd type="none" w="med" len="med"/>
                    </a:lnB>
                    <a:noFill/>
                  </a:tcPr>
                </a:tc>
                <a:extLst>
                  <a:ext uri="{0D108BD9-81ED-4DB2-BD59-A6C34878D82A}">
                    <a16:rowId xmlns:a16="http://schemas.microsoft.com/office/drawing/2014/main" val="2839170416"/>
                  </a:ext>
                </a:extLst>
              </a:tr>
              <a:tr h="274320">
                <a:tc vMerge="1">
                  <a:txBody>
                    <a:bodyPr/>
                    <a:lstStyle/>
                    <a:p>
                      <a:endParaRPr lang="en-US"/>
                    </a:p>
                  </a:txBody>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Spinal Cord</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a:effectLst/>
                          <a:latin typeface="Arial" panose="020B0604020202020204" pitchFamily="34" charset="0"/>
                          <a:ea typeface="Calibri" panose="020F0502020204030204" pitchFamily="34" charset="0"/>
                          <a:cs typeface="Arial" panose="020B0604020202020204" pitchFamily="34" charset="0"/>
                        </a:rPr>
                        <a:t>43</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28.6k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83876" marR="83876" marT="41938" marB="41938"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Full</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a:solidFill>
                            <a:srgbClr val="000000"/>
                          </a:solidFill>
                          <a:effectLst/>
                          <a:latin typeface="Arial" panose="020B0604020202020204" pitchFamily="34" charset="0"/>
                          <a:ea typeface="Calibri" panose="020F0502020204030204" pitchFamily="34" charset="0"/>
                          <a:cs typeface="Arial" panose="020B0604020202020204" pitchFamily="34" charset="0"/>
                        </a:rPr>
                        <a:t>35,467</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8,425 </a:t>
                      </a:r>
                      <a:r>
                        <a:rPr lang="en-US" sz="14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(23.8%)</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tc rowSpan="2">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8.34%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515.2</a:t>
                      </a:r>
                      <a:endParaRPr lang="en-US" sz="9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w="12700" cap="flat" cmpd="sng" algn="ctr">
                      <a:solidFill>
                        <a:srgbClr val="808080"/>
                      </a:solidFill>
                      <a:prstDash val="dash"/>
                      <a:round/>
                      <a:headEnd type="none" w="med" len="med"/>
                      <a:tailEnd type="none" w="med" len="med"/>
                    </a:lnT>
                    <a:lnB>
                      <a:noFill/>
                    </a:lnB>
                    <a:solidFill>
                      <a:srgbClr val="F2F2F2"/>
                    </a:solidFill>
                  </a:tcPr>
                </a:tc>
                <a:extLst>
                  <a:ext uri="{0D108BD9-81ED-4DB2-BD59-A6C34878D82A}">
                    <a16:rowId xmlns:a16="http://schemas.microsoft.com/office/drawing/2014/main" val="2465376684"/>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lncRNA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ea typeface="Calibri" panose="020F0502020204030204" pitchFamily="34" charset="0"/>
                          <a:cs typeface="Arial" panose="020B0604020202020204" pitchFamily="34" charset="0"/>
                        </a:rPr>
                        <a:t>15,488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703 </a:t>
                      </a:r>
                      <a:r>
                        <a:rPr lang="en-US" sz="1400" i="1"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(4.5%)</a:t>
                      </a:r>
                      <a:endParaRPr lang="en-US" sz="1400" i="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ctr">
                        <a:buNone/>
                      </a:pPr>
                      <a:r>
                        <a:rPr lang="en-US" sz="1400" dirty="0">
                          <a:solidFill>
                            <a:schemeClr val="bg2">
                              <a:lumMod val="50000"/>
                            </a:schemeClr>
                          </a:solidFill>
                          <a:effectLst/>
                          <a:latin typeface="Arial" panose="020B0604020202020204" pitchFamily="34" charset="0"/>
                          <a:ea typeface="Calibri" panose="020F0502020204030204" pitchFamily="34" charset="0"/>
                          <a:cs typeface="Arial" panose="020B0604020202020204" pitchFamily="34" charset="0"/>
                        </a:rPr>
                        <a:t>61.6</a:t>
                      </a:r>
                      <a:endParaRPr lang="en-US" sz="900"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726183"/>
                  </a:ext>
                </a:extLst>
              </a:tr>
            </a:tbl>
          </a:graphicData>
        </a:graphic>
      </p:graphicFrame>
    </p:spTree>
    <p:extLst>
      <p:ext uri="{BB962C8B-B14F-4D97-AF65-F5344CB8AC3E}">
        <p14:creationId xmlns:p14="http://schemas.microsoft.com/office/powerpoint/2010/main" val="3733356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60E-9677-D664-8D70-2E4C1834A4EB}"/>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C4F2A9B2-DD5D-A424-594D-9EF1BA793F7C}"/>
              </a:ext>
            </a:extLst>
          </p:cNvPr>
          <p:cNvPicPr>
            <a:picLocks noChangeAspect="1"/>
          </p:cNvPicPr>
          <p:nvPr/>
        </p:nvPicPr>
        <p:blipFill>
          <a:blip>
            <a:extLst>
              <a:ext uri="{96DAC541-7B7A-43D3-8B79-37D633B846F1}">
                <asvg:svgBlip xmlns:asvg="http://schemas.microsoft.com/office/drawing/2016/SVG/main" r:embed="rId3"/>
              </a:ext>
            </a:extLst>
          </a:blip>
          <a:srcRect t="4965" r="3001"/>
          <a:stretch>
            <a:fillRect/>
          </a:stretch>
        </p:blipFill>
        <p:spPr>
          <a:xfrm>
            <a:off x="6992823" y="540176"/>
            <a:ext cx="5076854" cy="4887428"/>
          </a:xfrm>
          <a:prstGeom prst="rect">
            <a:avLst/>
          </a:prstGeom>
        </p:spPr>
      </p:pic>
      <p:graphicFrame>
        <p:nvGraphicFramePr>
          <p:cNvPr id="3" name="Table 2">
            <a:extLst>
              <a:ext uri="{FF2B5EF4-FFF2-40B4-BE49-F238E27FC236}">
                <a16:creationId xmlns:a16="http://schemas.microsoft.com/office/drawing/2014/main" id="{5E70F608-71A5-0DC4-7911-E1D86BE7528B}"/>
              </a:ext>
            </a:extLst>
          </p:cNvPr>
          <p:cNvGraphicFramePr>
            <a:graphicFrameLocks noGrp="1"/>
          </p:cNvGraphicFramePr>
          <p:nvPr>
            <p:extLst>
              <p:ext uri="{D42A27DB-BD31-4B8C-83A1-F6EECF244321}">
                <p14:modId xmlns:p14="http://schemas.microsoft.com/office/powerpoint/2010/main" val="3041460130"/>
              </p:ext>
            </p:extLst>
          </p:nvPr>
        </p:nvGraphicFramePr>
        <p:xfrm>
          <a:off x="214919" y="1748119"/>
          <a:ext cx="6777903" cy="2850852"/>
        </p:xfrm>
        <a:graphic>
          <a:graphicData uri="http://schemas.openxmlformats.org/drawingml/2006/table">
            <a:tbl>
              <a:tblPr>
                <a:tableStyleId>{5C22544A-7EE6-4342-B048-85BDC9FD1C3A}</a:tableStyleId>
              </a:tblPr>
              <a:tblGrid>
                <a:gridCol w="699481">
                  <a:extLst>
                    <a:ext uri="{9D8B030D-6E8A-4147-A177-3AD203B41FA5}">
                      <a16:colId xmlns:a16="http://schemas.microsoft.com/office/drawing/2014/main" val="3508452563"/>
                    </a:ext>
                  </a:extLst>
                </a:gridCol>
                <a:gridCol w="1349435">
                  <a:extLst>
                    <a:ext uri="{9D8B030D-6E8A-4147-A177-3AD203B41FA5}">
                      <a16:colId xmlns:a16="http://schemas.microsoft.com/office/drawing/2014/main" val="4169145125"/>
                    </a:ext>
                  </a:extLst>
                </a:gridCol>
                <a:gridCol w="1296371">
                  <a:extLst>
                    <a:ext uri="{9D8B030D-6E8A-4147-A177-3AD203B41FA5}">
                      <a16:colId xmlns:a16="http://schemas.microsoft.com/office/drawing/2014/main" val="959347386"/>
                    </a:ext>
                  </a:extLst>
                </a:gridCol>
                <a:gridCol w="1670325">
                  <a:extLst>
                    <a:ext uri="{9D8B030D-6E8A-4147-A177-3AD203B41FA5}">
                      <a16:colId xmlns:a16="http://schemas.microsoft.com/office/drawing/2014/main" val="3473389060"/>
                    </a:ext>
                  </a:extLst>
                </a:gridCol>
                <a:gridCol w="934883">
                  <a:extLst>
                    <a:ext uri="{9D8B030D-6E8A-4147-A177-3AD203B41FA5}">
                      <a16:colId xmlns:a16="http://schemas.microsoft.com/office/drawing/2014/main" val="2878305988"/>
                    </a:ext>
                  </a:extLst>
                </a:gridCol>
                <a:gridCol w="827408">
                  <a:extLst>
                    <a:ext uri="{9D8B030D-6E8A-4147-A177-3AD203B41FA5}">
                      <a16:colId xmlns:a16="http://schemas.microsoft.com/office/drawing/2014/main" val="3965918026"/>
                    </a:ext>
                  </a:extLst>
                </a:gridCol>
              </a:tblGrid>
              <a:tr h="853036">
                <a:tc>
                  <a:txBody>
                    <a:bodyPr/>
                    <a:lstStyle/>
                    <a:p>
                      <a:pPr marL="0" marR="0" algn="ctr">
                        <a:buNone/>
                      </a:pPr>
                      <a:r>
                        <a:rPr lang="en-US" sz="1400" i="1" dirty="0">
                          <a:effectLst/>
                          <a:latin typeface="Arial" panose="020B0604020202020204" pitchFamily="34" charset="0"/>
                          <a:cs typeface="Arial" panose="020B0604020202020204" pitchFamily="34" charset="0"/>
                        </a:rPr>
                        <a:t>Type</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Zero Proportion: lncRNA vs Full </a:t>
                      </a:r>
                    </a:p>
                    <a:p>
                      <a:pPr marL="0" marR="0" algn="ctr">
                        <a:buNone/>
                      </a:pPr>
                      <a:r>
                        <a:rPr lang="en-US" sz="1400" i="1" dirty="0">
                          <a:effectLst/>
                          <a:latin typeface="Arial" panose="020B0604020202020204" pitchFamily="34" charset="0"/>
                          <a:cs typeface="Arial" panose="020B0604020202020204" pitchFamily="34" charset="0"/>
                        </a:rPr>
                        <a:t>(%)</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Difference in </a:t>
                      </a:r>
                    </a:p>
                    <a:p>
                      <a:pPr marL="0" marR="0" algn="ctr">
                        <a:buNone/>
                      </a:pPr>
                      <a:r>
                        <a:rPr lang="en-US" sz="1400" i="1" dirty="0">
                          <a:effectLst/>
                          <a:latin typeface="Arial" panose="020B0604020202020204" pitchFamily="34" charset="0"/>
                          <a:cs typeface="Arial" panose="020B0604020202020204" pitchFamily="34" charset="0"/>
                        </a:rPr>
                        <a:t>Zero Proportion (%)</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Median of </a:t>
                      </a:r>
                    </a:p>
                    <a:p>
                      <a:pPr marL="0" marR="0" algn="ctr">
                        <a:buNone/>
                      </a:pPr>
                      <a:r>
                        <a:rPr lang="en-US" sz="1400" i="1" dirty="0">
                          <a:effectLst/>
                          <a:latin typeface="Arial" panose="020B0604020202020204" pitchFamily="34" charset="0"/>
                          <a:cs typeface="Arial" panose="020B0604020202020204" pitchFamily="34" charset="0"/>
                        </a:rPr>
                        <a:t>Non-Zero Values: </a:t>
                      </a:r>
                    </a:p>
                    <a:p>
                      <a:pPr marL="0" marR="0" algn="ctr">
                        <a:buNone/>
                      </a:pPr>
                      <a:r>
                        <a:rPr lang="en-US" sz="1400" i="1" dirty="0">
                          <a:effectLst/>
                          <a:latin typeface="Arial" panose="020B0604020202020204" pitchFamily="34" charset="0"/>
                          <a:cs typeface="Arial" panose="020B0604020202020204" pitchFamily="34" charset="0"/>
                        </a:rPr>
                        <a:t>lncRNA vs Full</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Difference in Medians</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Cliff's δ</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634211"/>
                  </a:ext>
                </a:extLst>
              </a:tr>
              <a:tr h="931788">
                <a:tc>
                  <a:txBody>
                    <a:bodyPr/>
                    <a:lstStyle/>
                    <a:p>
                      <a:pPr marL="0" marR="0" algn="ctr">
                        <a:buNone/>
                      </a:pPr>
                      <a:r>
                        <a:rPr lang="en-US" sz="1400" b="1" dirty="0">
                          <a:solidFill>
                            <a:schemeClr val="bg2">
                              <a:lumMod val="50000"/>
                            </a:schemeClr>
                          </a:solidFill>
                          <a:effectLst/>
                          <a:latin typeface="Arial" panose="020B0604020202020204" pitchFamily="34" charset="0"/>
                          <a:cs typeface="Arial" panose="020B0604020202020204" pitchFamily="34" charset="0"/>
                        </a:rPr>
                        <a:t>Neural</a:t>
                      </a:r>
                      <a:endParaRPr lang="en-US" sz="14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79.42% vs 61.44%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17.98%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0.556 vs 0.375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0.181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0.228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478174741"/>
                  </a:ext>
                </a:extLst>
              </a:tr>
              <a:tr h="1066028">
                <a:tc>
                  <a:txBody>
                    <a:bodyPr/>
                    <a:lstStyle/>
                    <a:p>
                      <a:pPr marL="0" marR="0" algn="ctr">
                        <a:buNone/>
                      </a:pPr>
                      <a:r>
                        <a:rPr lang="en-US" sz="1400" b="1" dirty="0">
                          <a:solidFill>
                            <a:srgbClr val="C00000"/>
                          </a:solidFill>
                          <a:effectLst/>
                          <a:latin typeface="Arial" panose="020B0604020202020204" pitchFamily="34" charset="0"/>
                          <a:cs typeface="Arial" panose="020B0604020202020204" pitchFamily="34" charset="0"/>
                        </a:rPr>
                        <a:t>Non-Neural</a:t>
                      </a:r>
                      <a:endParaRPr lang="en-US" sz="1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88.78% vs 84.23%</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4.55%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0.670 vs 0.694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-0.024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-0.032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3194590"/>
                  </a:ext>
                </a:extLst>
              </a:tr>
            </a:tbl>
          </a:graphicData>
        </a:graphic>
      </p:graphicFrame>
      <p:sp>
        <p:nvSpPr>
          <p:cNvPr id="8" name="Title 1">
            <a:extLst>
              <a:ext uri="{FF2B5EF4-FFF2-40B4-BE49-F238E27FC236}">
                <a16:creationId xmlns:a16="http://schemas.microsoft.com/office/drawing/2014/main" id="{D583A50A-929E-E2AF-B1E6-5183718E695B}"/>
              </a:ext>
            </a:extLst>
          </p:cNvPr>
          <p:cNvSpPr>
            <a:spLocks noGrp="1"/>
          </p:cNvSpPr>
          <p:nvPr>
            <p:ph type="title"/>
          </p:nvPr>
        </p:nvSpPr>
        <p:spPr>
          <a:xfrm>
            <a:off x="214920" y="390597"/>
            <a:ext cx="5561766" cy="727405"/>
          </a:xfrm>
        </p:spPr>
        <p:txBody>
          <a:bodyPr>
            <a:noAutofit/>
          </a:bodyPr>
          <a:lstStyle/>
          <a:p>
            <a:r>
              <a:rPr lang="en-US" sz="5400" dirty="0">
                <a:latin typeface="Crimson Pro Medium" pitchFamily="2" charset="77"/>
              </a:rPr>
              <a:t>Binary Scores</a:t>
            </a:r>
          </a:p>
        </p:txBody>
      </p:sp>
    </p:spTree>
    <p:extLst>
      <p:ext uri="{BB962C8B-B14F-4D97-AF65-F5344CB8AC3E}">
        <p14:creationId xmlns:p14="http://schemas.microsoft.com/office/powerpoint/2010/main" val="1097879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59343-46AC-E94D-B449-2904EC4DA7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1BD98D9-891E-152B-BA72-29C5A21DEAEA}"/>
              </a:ext>
            </a:extLst>
          </p:cNvPr>
          <p:cNvSpPr>
            <a:spLocks noGrp="1"/>
          </p:cNvSpPr>
          <p:nvPr>
            <p:ph type="title"/>
          </p:nvPr>
        </p:nvSpPr>
        <p:spPr>
          <a:xfrm>
            <a:off x="214920" y="390597"/>
            <a:ext cx="5561766" cy="727405"/>
          </a:xfrm>
        </p:spPr>
        <p:txBody>
          <a:bodyPr>
            <a:noAutofit/>
          </a:bodyPr>
          <a:lstStyle/>
          <a:p>
            <a:r>
              <a:rPr lang="en-US" sz="5400" dirty="0">
                <a:latin typeface="Crimson Pro Medium" pitchFamily="2" charset="77"/>
              </a:rPr>
              <a:t>Cluster Medians</a:t>
            </a:r>
          </a:p>
        </p:txBody>
      </p:sp>
      <p:pic>
        <p:nvPicPr>
          <p:cNvPr id="5" name="Graphic 4">
            <a:extLst>
              <a:ext uri="{FF2B5EF4-FFF2-40B4-BE49-F238E27FC236}">
                <a16:creationId xmlns:a16="http://schemas.microsoft.com/office/drawing/2014/main" id="{AE3EA77B-9095-F446-B226-22FD62652B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23316" y="0"/>
            <a:ext cx="5268684" cy="5942124"/>
          </a:xfrm>
          <a:prstGeom prst="rect">
            <a:avLst/>
          </a:prstGeom>
        </p:spPr>
      </p:pic>
      <p:graphicFrame>
        <p:nvGraphicFramePr>
          <p:cNvPr id="6" name="Table 5">
            <a:extLst>
              <a:ext uri="{FF2B5EF4-FFF2-40B4-BE49-F238E27FC236}">
                <a16:creationId xmlns:a16="http://schemas.microsoft.com/office/drawing/2014/main" id="{6C28F556-81B0-A2D3-86C3-6BCEC3B3B99F}"/>
              </a:ext>
            </a:extLst>
          </p:cNvPr>
          <p:cNvGraphicFramePr>
            <a:graphicFrameLocks noGrp="1"/>
          </p:cNvGraphicFramePr>
          <p:nvPr>
            <p:extLst>
              <p:ext uri="{D42A27DB-BD31-4B8C-83A1-F6EECF244321}">
                <p14:modId xmlns:p14="http://schemas.microsoft.com/office/powerpoint/2010/main" val="1137606453"/>
              </p:ext>
            </p:extLst>
          </p:nvPr>
        </p:nvGraphicFramePr>
        <p:xfrm>
          <a:off x="214920" y="1739559"/>
          <a:ext cx="6708396" cy="2850852"/>
        </p:xfrm>
        <a:graphic>
          <a:graphicData uri="http://schemas.openxmlformats.org/drawingml/2006/table">
            <a:tbl>
              <a:tblPr>
                <a:tableStyleId>{5C22544A-7EE6-4342-B048-85BDC9FD1C3A}</a:tableStyleId>
              </a:tblPr>
              <a:tblGrid>
                <a:gridCol w="699480">
                  <a:extLst>
                    <a:ext uri="{9D8B030D-6E8A-4147-A177-3AD203B41FA5}">
                      <a16:colId xmlns:a16="http://schemas.microsoft.com/office/drawing/2014/main" val="3979684432"/>
                    </a:ext>
                  </a:extLst>
                </a:gridCol>
                <a:gridCol w="1328424">
                  <a:extLst>
                    <a:ext uri="{9D8B030D-6E8A-4147-A177-3AD203B41FA5}">
                      <a16:colId xmlns:a16="http://schemas.microsoft.com/office/drawing/2014/main" val="370871515"/>
                    </a:ext>
                  </a:extLst>
                </a:gridCol>
                <a:gridCol w="1283077">
                  <a:extLst>
                    <a:ext uri="{9D8B030D-6E8A-4147-A177-3AD203B41FA5}">
                      <a16:colId xmlns:a16="http://schemas.microsoft.com/office/drawing/2014/main" val="1582957194"/>
                    </a:ext>
                  </a:extLst>
                </a:gridCol>
                <a:gridCol w="1653196">
                  <a:extLst>
                    <a:ext uri="{9D8B030D-6E8A-4147-A177-3AD203B41FA5}">
                      <a16:colId xmlns:a16="http://schemas.microsoft.com/office/drawing/2014/main" val="4038382373"/>
                    </a:ext>
                  </a:extLst>
                </a:gridCol>
                <a:gridCol w="925296">
                  <a:extLst>
                    <a:ext uri="{9D8B030D-6E8A-4147-A177-3AD203B41FA5}">
                      <a16:colId xmlns:a16="http://schemas.microsoft.com/office/drawing/2014/main" val="3234084640"/>
                    </a:ext>
                  </a:extLst>
                </a:gridCol>
                <a:gridCol w="818923">
                  <a:extLst>
                    <a:ext uri="{9D8B030D-6E8A-4147-A177-3AD203B41FA5}">
                      <a16:colId xmlns:a16="http://schemas.microsoft.com/office/drawing/2014/main" val="3858215260"/>
                    </a:ext>
                  </a:extLst>
                </a:gridCol>
              </a:tblGrid>
              <a:tr h="853036">
                <a:tc>
                  <a:txBody>
                    <a:bodyPr/>
                    <a:lstStyle/>
                    <a:p>
                      <a:pPr marL="0" marR="0" algn="ctr">
                        <a:buNone/>
                      </a:pPr>
                      <a:r>
                        <a:rPr lang="en-US" sz="1400" i="1" dirty="0">
                          <a:effectLst/>
                          <a:latin typeface="Arial" panose="020B0604020202020204" pitchFamily="34" charset="0"/>
                          <a:cs typeface="Arial" panose="020B0604020202020204" pitchFamily="34" charset="0"/>
                        </a:rPr>
                        <a:t>Type</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Zero Proportion: lncRNA vs Full </a:t>
                      </a:r>
                    </a:p>
                    <a:p>
                      <a:pPr marL="0" marR="0" algn="ctr">
                        <a:buNone/>
                      </a:pPr>
                      <a:r>
                        <a:rPr lang="en-US" sz="1400" i="1" dirty="0">
                          <a:effectLst/>
                          <a:latin typeface="Arial" panose="020B0604020202020204" pitchFamily="34" charset="0"/>
                          <a:cs typeface="Arial" panose="020B0604020202020204" pitchFamily="34" charset="0"/>
                        </a:rPr>
                        <a:t>(%)</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Difference in </a:t>
                      </a:r>
                    </a:p>
                    <a:p>
                      <a:pPr marL="0" marR="0" algn="ctr">
                        <a:buNone/>
                      </a:pPr>
                      <a:r>
                        <a:rPr lang="en-US" sz="1400" i="1" dirty="0">
                          <a:effectLst/>
                          <a:latin typeface="Arial" panose="020B0604020202020204" pitchFamily="34" charset="0"/>
                          <a:cs typeface="Arial" panose="020B0604020202020204" pitchFamily="34" charset="0"/>
                        </a:rPr>
                        <a:t>Zero Proportion (%)</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Median of </a:t>
                      </a:r>
                    </a:p>
                    <a:p>
                      <a:pPr marL="0" marR="0" algn="ctr">
                        <a:buNone/>
                      </a:pPr>
                      <a:r>
                        <a:rPr lang="en-US" sz="1400" i="1" dirty="0">
                          <a:effectLst/>
                          <a:latin typeface="Arial" panose="020B0604020202020204" pitchFamily="34" charset="0"/>
                          <a:cs typeface="Arial" panose="020B0604020202020204" pitchFamily="34" charset="0"/>
                        </a:rPr>
                        <a:t>Non-Zero Values: </a:t>
                      </a:r>
                    </a:p>
                    <a:p>
                      <a:pPr marL="0" marR="0" algn="ctr">
                        <a:buNone/>
                      </a:pPr>
                      <a:r>
                        <a:rPr lang="en-US" sz="1400" i="1" dirty="0">
                          <a:effectLst/>
                          <a:latin typeface="Arial" panose="020B0604020202020204" pitchFamily="34" charset="0"/>
                          <a:cs typeface="Arial" panose="020B0604020202020204" pitchFamily="34" charset="0"/>
                        </a:rPr>
                        <a:t>lncRNA vs Full</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Difference in Medians</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i="1" dirty="0">
                          <a:effectLst/>
                          <a:latin typeface="Arial" panose="020B0604020202020204" pitchFamily="34" charset="0"/>
                          <a:cs typeface="Arial" panose="020B0604020202020204" pitchFamily="34" charset="0"/>
                        </a:rPr>
                        <a:t>Cliff's δ</a:t>
                      </a:r>
                      <a:endParaRPr lang="en-US" sz="1400" i="1"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6848736"/>
                  </a:ext>
                </a:extLst>
              </a:tr>
              <a:tr h="931788">
                <a:tc>
                  <a:txBody>
                    <a:bodyPr/>
                    <a:lstStyle/>
                    <a:p>
                      <a:pPr marL="0" marR="0" algn="ctr">
                        <a:buNone/>
                      </a:pPr>
                      <a:r>
                        <a:rPr lang="en-US" sz="1400" b="1" dirty="0">
                          <a:solidFill>
                            <a:schemeClr val="bg2">
                              <a:lumMod val="50000"/>
                            </a:schemeClr>
                          </a:solidFill>
                          <a:effectLst/>
                          <a:latin typeface="Arial" panose="020B0604020202020204" pitchFamily="34" charset="0"/>
                          <a:cs typeface="Arial" panose="020B0604020202020204" pitchFamily="34" charset="0"/>
                        </a:rPr>
                        <a:t>Neural</a:t>
                      </a:r>
                      <a:endParaRPr lang="en-US" sz="1400" b="1" dirty="0">
                        <a:solidFill>
                          <a:schemeClr val="bg2">
                            <a:lumMod val="50000"/>
                          </a:schemeClr>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effectLst/>
                          <a:latin typeface="Arial" panose="020B0604020202020204" pitchFamily="34" charset="0"/>
                          <a:cs typeface="Arial" panose="020B0604020202020204" pitchFamily="34" charset="0"/>
                        </a:rPr>
                        <a:t>79.41% vs </a:t>
                      </a:r>
                    </a:p>
                    <a:p>
                      <a:pPr marL="0" marR="0" algn="ctr">
                        <a:buNone/>
                      </a:pPr>
                      <a:r>
                        <a:rPr lang="en-US" sz="1400" dirty="0">
                          <a:effectLst/>
                          <a:latin typeface="Arial" panose="020B0604020202020204" pitchFamily="34" charset="0"/>
                          <a:cs typeface="Arial" panose="020B0604020202020204" pitchFamily="34" charset="0"/>
                        </a:rPr>
                        <a:t>61.40%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effectLst/>
                          <a:latin typeface="Arial" panose="020B0604020202020204" pitchFamily="34" charset="0"/>
                          <a:cs typeface="Arial" panose="020B0604020202020204" pitchFamily="34" charset="0"/>
                        </a:rPr>
                        <a:t>+18.01%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effectLst/>
                          <a:latin typeface="Arial" panose="020B0604020202020204" pitchFamily="34" charset="0"/>
                          <a:cs typeface="Arial" panose="020B0604020202020204" pitchFamily="34" charset="0"/>
                        </a:rPr>
                        <a:t>0.440 vs 0.463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effectLst/>
                          <a:latin typeface="Arial" panose="020B0604020202020204" pitchFamily="34" charset="0"/>
                          <a:cs typeface="Arial" panose="020B0604020202020204" pitchFamily="34" charset="0"/>
                        </a:rPr>
                        <a:t>-0.024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tc>
                  <a:txBody>
                    <a:bodyPr/>
                    <a:lstStyle/>
                    <a:p>
                      <a:pPr marL="0" marR="0" algn="ctr">
                        <a:buNone/>
                      </a:pPr>
                      <a:r>
                        <a:rPr lang="en-US" sz="1400" dirty="0">
                          <a:effectLst/>
                          <a:latin typeface="Arial" panose="020B0604020202020204" pitchFamily="34" charset="0"/>
                          <a:cs typeface="Arial" panose="020B0604020202020204" pitchFamily="34" charset="0"/>
                        </a:rPr>
                        <a:t>-0.021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153329503"/>
                  </a:ext>
                </a:extLst>
              </a:tr>
              <a:tr h="1066028">
                <a:tc>
                  <a:txBody>
                    <a:bodyPr/>
                    <a:lstStyle/>
                    <a:p>
                      <a:pPr marL="0" marR="0" algn="ctr">
                        <a:buNone/>
                      </a:pPr>
                      <a:r>
                        <a:rPr lang="en-US" sz="1400" b="1" dirty="0">
                          <a:solidFill>
                            <a:srgbClr val="C00000"/>
                          </a:solidFill>
                          <a:effectLst/>
                          <a:latin typeface="Arial" panose="020B0604020202020204" pitchFamily="34" charset="0"/>
                          <a:cs typeface="Arial" panose="020B0604020202020204" pitchFamily="34" charset="0"/>
                        </a:rPr>
                        <a:t>Non-Neural</a:t>
                      </a:r>
                      <a:endParaRPr lang="en-US" sz="1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cs typeface="Arial" panose="020B0604020202020204" pitchFamily="34" charset="0"/>
                        </a:rPr>
                        <a:t>88.75% vs </a:t>
                      </a:r>
                    </a:p>
                    <a:p>
                      <a:pPr marL="0" marR="0" algn="ctr">
                        <a:buNone/>
                      </a:pPr>
                      <a:r>
                        <a:rPr lang="en-US" sz="1400" dirty="0">
                          <a:effectLst/>
                          <a:latin typeface="Arial" panose="020B0604020202020204" pitchFamily="34" charset="0"/>
                          <a:cs typeface="Arial" panose="020B0604020202020204" pitchFamily="34" charset="0"/>
                        </a:rPr>
                        <a:t>84.22%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cs typeface="Arial" panose="020B0604020202020204" pitchFamily="34" charset="0"/>
                        </a:rPr>
                        <a:t>+4.54%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cs typeface="Arial" panose="020B0604020202020204" pitchFamily="34" charset="0"/>
                        </a:rPr>
                        <a:t>1.189 vs 0.955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cs typeface="Arial" panose="020B0604020202020204" pitchFamily="34" charset="0"/>
                        </a:rPr>
                        <a:t>0.233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p>
                      <a:pPr marL="0" marR="0" algn="ctr">
                        <a:buNone/>
                      </a:pPr>
                      <a:r>
                        <a:rPr lang="en-US" sz="1400" dirty="0">
                          <a:effectLst/>
                          <a:latin typeface="Arial" panose="020B0604020202020204" pitchFamily="34" charset="0"/>
                          <a:cs typeface="Arial" panose="020B0604020202020204" pitchFamily="34" charset="0"/>
                        </a:rPr>
                        <a:t>0.185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2470181"/>
                  </a:ext>
                </a:extLst>
              </a:tr>
            </a:tbl>
          </a:graphicData>
        </a:graphic>
      </p:graphicFrame>
    </p:spTree>
    <p:extLst>
      <p:ext uri="{BB962C8B-B14F-4D97-AF65-F5344CB8AC3E}">
        <p14:creationId xmlns:p14="http://schemas.microsoft.com/office/powerpoint/2010/main" val="3548517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C0327D1-2FDC-7794-5A1C-50504F0332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133" y="840014"/>
            <a:ext cx="9576306" cy="5177972"/>
          </a:xfrm>
          <a:prstGeom prst="rect">
            <a:avLst/>
          </a:prstGeom>
        </p:spPr>
      </p:pic>
      <p:sp>
        <p:nvSpPr>
          <p:cNvPr id="4" name="Title 1">
            <a:extLst>
              <a:ext uri="{FF2B5EF4-FFF2-40B4-BE49-F238E27FC236}">
                <a16:creationId xmlns:a16="http://schemas.microsoft.com/office/drawing/2014/main" id="{1DAFE709-EFCE-A455-4B58-98994B2D031D}"/>
              </a:ext>
            </a:extLst>
          </p:cNvPr>
          <p:cNvSpPr>
            <a:spLocks noGrp="1"/>
          </p:cNvSpPr>
          <p:nvPr>
            <p:ph type="title"/>
          </p:nvPr>
        </p:nvSpPr>
        <p:spPr>
          <a:xfrm>
            <a:off x="267947" y="261262"/>
            <a:ext cx="9576306" cy="578752"/>
          </a:xfrm>
        </p:spPr>
        <p:txBody>
          <a:bodyPr>
            <a:noAutofit/>
          </a:bodyPr>
          <a:lstStyle/>
          <a:p>
            <a:r>
              <a:rPr lang="en-US" sz="5400" dirty="0">
                <a:latin typeface="Crimson Pro Medium" pitchFamily="2" charset="77"/>
              </a:rPr>
              <a:t>Downsampled Coding vs lncRNA</a:t>
            </a:r>
          </a:p>
        </p:txBody>
      </p:sp>
    </p:spTree>
    <p:extLst>
      <p:ext uri="{BB962C8B-B14F-4D97-AF65-F5344CB8AC3E}">
        <p14:creationId xmlns:p14="http://schemas.microsoft.com/office/powerpoint/2010/main" val="925865238"/>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B4A67CAF-A6B9-AC44-B6ED-235348304A0F}"/>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05BCF2A0-0A02-9747-B1AE-CFD2E7CD41F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LM-CKN_2025_06_22  -  Read-Only" id="{99CFE9FB-BD86-2B44-BC7A-D8419F87F57D}" vid="{1F563B07-A3B6-9044-8803-CF76EE09BA6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90759288C404409F2252B22162A91E" ma:contentTypeVersion="15" ma:contentTypeDescription="Create a new document." ma:contentTypeScope="" ma:versionID="8640dae9b4a0695d60698293740eff8d">
  <xsd:schema xmlns:xsd="http://www.w3.org/2001/XMLSchema" xmlns:xs="http://www.w3.org/2001/XMLSchema" xmlns:p="http://schemas.microsoft.com/office/2006/metadata/properties" xmlns:ns2="e29302da-b2f9-4288-a31a-52fbcfe93320" xmlns:ns3="a5e8744b-6de0-40df-8e0a-8933fd3368a6" targetNamespace="http://schemas.microsoft.com/office/2006/metadata/properties" ma:root="true" ma:fieldsID="1c10790bc1a111e166d2626e261a6c56" ns2:_="" ns3:_="">
    <xsd:import namespace="e29302da-b2f9-4288-a31a-52fbcfe93320"/>
    <xsd:import namespace="a5e8744b-6de0-40df-8e0a-8933fd3368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9302da-b2f9-4288-a31a-52fbcfe933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ce9f98e-9ad5-43de-b59a-72d7e946aae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5e8744b-6de0-40df-8e0a-8933fd3368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463e1611-faea-4afc-b38e-a3c52ca141cd}" ma:internalName="TaxCatchAll" ma:showField="CatchAllData" ma:web="a5e8744b-6de0-40df-8e0a-8933fd3368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29302da-b2f9-4288-a31a-52fbcfe93320">
      <Terms xmlns="http://schemas.microsoft.com/office/infopath/2007/PartnerControls"/>
    </lcf76f155ced4ddcb4097134ff3c332f>
    <TaxCatchAll xmlns="a5e8744b-6de0-40df-8e0a-8933fd3368a6" xsi:nil="true"/>
    <SharedWithUsers xmlns="a5e8744b-6de0-40df-8e0a-8933fd3368a6">
      <UserInfo>
        <DisplayName>Winderlin, Christine (NIH/NLM) [E]</DisplayName>
        <AccountId>71</AccountId>
        <AccountType/>
      </UserInfo>
      <UserInfo>
        <DisplayName>Dehoff, Jeffrey (NIH/NLM) [E]</DisplayName>
        <AccountId>135</AccountId>
        <AccountType/>
      </UserInfo>
      <UserInfo>
        <DisplayName>Manco, Dina (NIH/NLM) [E]</DisplayName>
        <AccountId>86</AccountId>
        <AccountType/>
      </UserInfo>
      <UserInfo>
        <DisplayName>Middleton, Grace (NIH/NLM) [C]</DisplayName>
        <AccountId>16</AccountId>
        <AccountType/>
      </UserInfo>
      <UserInfo>
        <DisplayName>Nurik, Jody (NIH/NLM) [E]</DisplayName>
        <AccountId>17</AccountId>
        <AccountType/>
      </UserInfo>
      <UserInfo>
        <DisplayName>Lemon, Alison (NIH/NLM) [E]</DisplayName>
        <AccountId>22</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75208D-6BCD-46B9-9A60-E7C3508C3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9302da-b2f9-4288-a31a-52fbcfe93320"/>
    <ds:schemaRef ds:uri="a5e8744b-6de0-40df-8e0a-8933fd3368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033EEA-8F72-47E8-97DC-7CE869DC6F13}">
  <ds:schemaRefs>
    <ds:schemaRef ds:uri="http://purl.org/dc/dcmitype/"/>
    <ds:schemaRef ds:uri="http://schemas.microsoft.com/office/2006/metadata/properties"/>
    <ds:schemaRef ds:uri="e29302da-b2f9-4288-a31a-52fbcfe93320"/>
    <ds:schemaRef ds:uri="http://schemas.microsoft.com/office/2006/documentManagement/types"/>
    <ds:schemaRef ds:uri="http://purl.org/dc/elements/1.1/"/>
    <ds:schemaRef ds:uri="http://www.w3.org/XML/1998/namespace"/>
    <ds:schemaRef ds:uri="http://schemas.microsoft.com/office/infopath/2007/PartnerControls"/>
    <ds:schemaRef ds:uri="http://purl.org/dc/terms/"/>
    <ds:schemaRef ds:uri="http://schemas.openxmlformats.org/package/2006/metadata/core-properties"/>
    <ds:schemaRef ds:uri="a5e8744b-6de0-40df-8e0a-8933fd3368a6"/>
  </ds:schemaRefs>
</ds:datastoreItem>
</file>

<file path=customXml/itemProps3.xml><?xml version="1.0" encoding="utf-8"?>
<ds:datastoreItem xmlns:ds="http://schemas.openxmlformats.org/officeDocument/2006/customXml" ds:itemID="{79E27D62-6581-49A6-B4E8-4DBBDB69AC6A}">
  <ds:schemaRefs>
    <ds:schemaRef ds:uri="http://schemas.microsoft.com/sharepoint/v3/contenttype/forms"/>
  </ds:schemaRefs>
</ds:datastoreItem>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38778</TotalTime>
  <Words>3077</Words>
  <Application>Microsoft Macintosh PowerPoint</Application>
  <PresentationFormat>Widescreen</PresentationFormat>
  <Paragraphs>625</Paragraphs>
  <Slides>31</Slides>
  <Notes>30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31</vt:i4>
      </vt:variant>
    </vt:vector>
  </HeadingPairs>
  <TitlesOfParts>
    <vt:vector size="42" baseType="lpstr">
      <vt:lpstr>Arial</vt:lpstr>
      <vt:lpstr>Calibri</vt:lpstr>
      <vt:lpstr>Calibri Light</vt:lpstr>
      <vt:lpstr>Cambria Math</vt:lpstr>
      <vt:lpstr>Courier New</vt:lpstr>
      <vt:lpstr>Crimson Pro Medium</vt:lpstr>
      <vt:lpstr>Montserrat</vt:lpstr>
      <vt:lpstr>Times New Roman</vt:lpstr>
      <vt:lpstr>Office Theme</vt:lpstr>
      <vt:lpstr>Custom Design</vt:lpstr>
      <vt:lpstr>1_Custom Design</vt:lpstr>
      <vt:lpstr>lncRNAs as cell type-specific biomarkers across neural and non-neural human tissues.</vt:lpstr>
      <vt:lpstr>Overview</vt:lpstr>
      <vt:lpstr>PowerPoint Presentation</vt:lpstr>
      <vt:lpstr>Non-Coding RNA (ncRNA)</vt:lpstr>
      <vt:lpstr>Long Non-Coding RNA</vt:lpstr>
      <vt:lpstr>NS-Forest v4.1</vt:lpstr>
      <vt:lpstr>PowerPoint Presentation</vt:lpstr>
      <vt:lpstr>PowerPoint Presentation</vt:lpstr>
      <vt:lpstr>Descriptive Table of  Cell x Gene Tissue Datasets  </vt:lpstr>
      <vt:lpstr>NS-Forest Pipeline</vt:lpstr>
      <vt:lpstr>PowerPoint Presentation</vt:lpstr>
      <vt:lpstr>PowerPoint Presentation</vt:lpstr>
      <vt:lpstr>Distribution of Non-Zero Binary Scores</vt:lpstr>
      <vt:lpstr>NS-Forest Performance Metrics by Gene Set.</vt:lpstr>
      <vt:lpstr>PowerPoint Presentation</vt:lpstr>
      <vt:lpstr>PowerPoint Presentation</vt:lpstr>
      <vt:lpstr>Distribution of Non-Zero Retina Binary Scores</vt:lpstr>
      <vt:lpstr>Retina Non-Zero Binary Score Distributions by Major Cell Type Class</vt:lpstr>
      <vt:lpstr>Retina Non-Zero Binary Score Distributions by Major Cell Type Class</vt:lpstr>
      <vt:lpstr>NS-Forest Performance Metrics</vt:lpstr>
      <vt:lpstr>Top 10 Cell-Type Biomarkers in the lncRNA Set by On-Target Fraction</vt:lpstr>
      <vt:lpstr>PowerPoint Presentation</vt:lpstr>
      <vt:lpstr>Conclusions: Neural vs Non-Neural</vt:lpstr>
      <vt:lpstr>Conclusions: Retina-Specific</vt:lpstr>
      <vt:lpstr>Future Directions</vt:lpstr>
      <vt:lpstr>PowerPoint Presentation</vt:lpstr>
      <vt:lpstr>Bibliography</vt:lpstr>
      <vt:lpstr>PowerPoint Presentation</vt:lpstr>
      <vt:lpstr>Binary Scores</vt:lpstr>
      <vt:lpstr>Cluster Medians</vt:lpstr>
      <vt:lpstr>Downsampled Coding vs lncRNA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Xu, Bingfang (NIH/NLM/NCBI) [E]</dc:creator>
  <cp:keywords/>
  <dc:description/>
  <cp:lastModifiedBy>Becker, Sasha (NIH/NLM) [F]</cp:lastModifiedBy>
  <cp:revision>75</cp:revision>
  <cp:lastPrinted>2023-08-17T16:46:21Z</cp:lastPrinted>
  <dcterms:created xsi:type="dcterms:W3CDTF">2025-07-04T00:37:52Z</dcterms:created>
  <dcterms:modified xsi:type="dcterms:W3CDTF">2026-08-14T14:42:45Z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0x0101006690759288C404409F2252B22162A91E</vt:lpwstr>
  </property>
  <property fmtid="{D5CDD505-2E9C-101B-9397-08002B2CF9AE}" pid="3" name="MediaServiceImageTags">
    <vt:lpwstr/>
  </property>
</Properties>
</file>