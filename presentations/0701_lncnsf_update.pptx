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3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4"/>
    <p:sldMasterId id="2147483658" r:id="rId5"/>
    <p:sldMasterId id="2147483670" r:id="rId6"/>
  </p:sldMasterIdLst>
  <p:notesMasterIdLst>
    <p:notesMasterId r:id="rId69"/>
  </p:notesMasterIdLst>
  <p:handoutMasterIdLst>
    <p:handoutMasterId r:id="rId70"/>
  </p:handoutMasterIdLst>
  <p:sldIdLst>
    <p:sldId id="256" r:id="rId7"/>
    <p:sldId id="2147474911" r:id="rId8"/>
    <p:sldId id="2147474912" r:id="rId9"/>
    <p:sldId id="2147474947" r:id="rId10"/>
    <p:sldId id="2147474973" r:id="rId11"/>
    <p:sldId id="2147474969" r:id="rId12"/>
    <p:sldId id="2147474975" r:id="rId13"/>
    <p:sldId id="2147474976" r:id="rId14"/>
    <p:sldId id="2147474977" r:id="rId15"/>
    <p:sldId id="2147474978" r:id="rId16"/>
    <p:sldId id="2147474979" r:id="rId17"/>
    <p:sldId id="2147474990" r:id="rId18"/>
    <p:sldId id="2147474991" r:id="rId19"/>
    <p:sldId id="2147474980" r:id="rId20"/>
    <p:sldId id="2147475014" r:id="rId21"/>
    <p:sldId id="2147474994" r:id="rId22"/>
    <p:sldId id="2147475016" r:id="rId23"/>
    <p:sldId id="2147474985" r:id="rId24"/>
    <p:sldId id="2147474993" r:id="rId25"/>
    <p:sldId id="2147474995" r:id="rId26"/>
    <p:sldId id="2147474996" r:id="rId27"/>
    <p:sldId id="2147474986" r:id="rId28"/>
    <p:sldId id="2147474992" r:id="rId29"/>
    <p:sldId id="2147474997" r:id="rId30"/>
    <p:sldId id="2147474998" r:id="rId31"/>
    <p:sldId id="2147474989" r:id="rId32"/>
    <p:sldId id="2147475004" r:id="rId33"/>
    <p:sldId id="2147475005" r:id="rId34"/>
    <p:sldId id="2147475006" r:id="rId35"/>
    <p:sldId id="2147475007" r:id="rId36"/>
    <p:sldId id="2147475008" r:id="rId37"/>
    <p:sldId id="2147475009" r:id="rId38"/>
    <p:sldId id="2147475010" r:id="rId39"/>
    <p:sldId id="2147475011" r:id="rId40"/>
    <p:sldId id="2147475012" r:id="rId41"/>
    <p:sldId id="2147475013" r:id="rId42"/>
    <p:sldId id="2147474950" r:id="rId43"/>
    <p:sldId id="2147474951" r:id="rId44"/>
    <p:sldId id="2147474952" r:id="rId45"/>
    <p:sldId id="2147474954" r:id="rId46"/>
    <p:sldId id="2147474955" r:id="rId47"/>
    <p:sldId id="2147474956" r:id="rId48"/>
    <p:sldId id="2147474957" r:id="rId49"/>
    <p:sldId id="2147474958" r:id="rId50"/>
    <p:sldId id="2147474959" r:id="rId51"/>
    <p:sldId id="2147474965" r:id="rId52"/>
    <p:sldId id="2147474961" r:id="rId53"/>
    <p:sldId id="2147474962" r:id="rId54"/>
    <p:sldId id="2147474963" r:id="rId55"/>
    <p:sldId id="2147474964" r:id="rId56"/>
    <p:sldId id="2147474966" r:id="rId57"/>
    <p:sldId id="2147474967" r:id="rId58"/>
    <p:sldId id="2147474968" r:id="rId59"/>
    <p:sldId id="2147474999" r:id="rId60"/>
    <p:sldId id="2147474970" r:id="rId61"/>
    <p:sldId id="2147474971" r:id="rId62"/>
    <p:sldId id="2147474972" r:id="rId63"/>
    <p:sldId id="2147475000" r:id="rId64"/>
    <p:sldId id="2147474974" r:id="rId65"/>
    <p:sldId id="2147475001" r:id="rId66"/>
    <p:sldId id="2147475002" r:id="rId67"/>
    <p:sldId id="2147475003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y Slide Deck" id="{CB4E31F3-679C-974D-9146-AFCB780D1742}">
          <p14:sldIdLst>
            <p14:sldId id="256"/>
            <p14:sldId id="2147474911"/>
            <p14:sldId id="2147474912"/>
            <p14:sldId id="2147474947"/>
            <p14:sldId id="2147474973"/>
            <p14:sldId id="2147474969"/>
            <p14:sldId id="2147474975"/>
            <p14:sldId id="2147474976"/>
            <p14:sldId id="2147474977"/>
            <p14:sldId id="2147474978"/>
            <p14:sldId id="2147474979"/>
            <p14:sldId id="2147474990"/>
            <p14:sldId id="2147474991"/>
            <p14:sldId id="2147474980"/>
            <p14:sldId id="2147475014"/>
            <p14:sldId id="2147474994"/>
            <p14:sldId id="2147475016"/>
            <p14:sldId id="2147474985"/>
            <p14:sldId id="2147474993"/>
            <p14:sldId id="2147474995"/>
            <p14:sldId id="2147474996"/>
            <p14:sldId id="2147474986"/>
            <p14:sldId id="2147474992"/>
            <p14:sldId id="2147474997"/>
            <p14:sldId id="2147474998"/>
            <p14:sldId id="2147474989"/>
            <p14:sldId id="2147475004"/>
            <p14:sldId id="2147475005"/>
            <p14:sldId id="2147475006"/>
            <p14:sldId id="2147475007"/>
            <p14:sldId id="2147475008"/>
            <p14:sldId id="2147475009"/>
            <p14:sldId id="2147475010"/>
            <p14:sldId id="2147475011"/>
            <p14:sldId id="2147475012"/>
            <p14:sldId id="2147475013"/>
          </p14:sldIdLst>
        </p14:section>
        <p14:section name="lncRNA Retina and Kidney Results" id="{A5F0B391-D575-AE4F-B5B3-4E184BBBEE63}">
          <p14:sldIdLst>
            <p14:sldId id="2147474950"/>
            <p14:sldId id="2147474951"/>
            <p14:sldId id="2147474952"/>
            <p14:sldId id="2147474954"/>
            <p14:sldId id="2147474955"/>
            <p14:sldId id="2147474956"/>
            <p14:sldId id="2147474957"/>
            <p14:sldId id="2147474958"/>
            <p14:sldId id="2147474959"/>
            <p14:sldId id="2147474965"/>
            <p14:sldId id="2147474961"/>
            <p14:sldId id="2147474962"/>
            <p14:sldId id="2147474963"/>
            <p14:sldId id="2147474964"/>
            <p14:sldId id="2147474966"/>
            <p14:sldId id="2147474967"/>
            <p14:sldId id="2147474968"/>
            <p14:sldId id="2147474999"/>
            <p14:sldId id="2147474970"/>
            <p14:sldId id="2147474971"/>
            <p14:sldId id="2147474972"/>
            <p14:sldId id="2147475000"/>
            <p14:sldId id="2147474974"/>
            <p14:sldId id="2147475001"/>
            <p14:sldId id="2147475002"/>
            <p14:sldId id="214747500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4ACD38-47BA-3EDC-7A1D-0C4F83D3BF81}" name="Nurik, Jody (NIH/NLM) [E]" initials="NJ([" userId="S::nurikjl@nih.gov::49b2bdca-6fe7-48dd-ab42-7db317df6e4c" providerId="AD"/>
  <p188:author id="{332541D7-3D88-A461-9CB6-85B213F49D30}" name="Manco, Dina (NIH/NLM) [E]" initials="MD([" userId="S::mancodm@nih.gov::a2db41b2-3247-4a42-8663-e1f3c84e0c6f" providerId="AD"/>
  <p188:author id="{EB3167FA-192F-ADE3-DF06-19FCEA52E3FA}" name="Winderlin, Christine (NIH/NLM) [E]" initials="WC([" userId="S::winderlinca@nih.gov::ba9aa90f-88c9-4a91-bc78-820f3b7ebaf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lly, Sarah Ashley (NIH/NLM) [C]" initials="JSA([" lastIdx="4" clrIdx="0">
    <p:extLst>
      <p:ext uri="{19B8F6BF-5375-455C-9EA6-DF929625EA0E}">
        <p15:presenceInfo xmlns:p15="http://schemas.microsoft.com/office/powerpoint/2012/main" userId="Jolly, Sarah Ashley (NIH/NLM) [C]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200"/>
    <a:srgbClr val="FFFC00"/>
    <a:srgbClr val="601AB9"/>
    <a:srgbClr val="523279"/>
    <a:srgbClr val="0433FF"/>
    <a:srgbClr val="FFC0CA"/>
    <a:srgbClr val="B85826"/>
    <a:srgbClr val="A99C00"/>
    <a:srgbClr val="AD58AB"/>
    <a:srgbClr val="305F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88" autoAdjust="0"/>
    <p:restoredTop sz="88099" autoAdjust="0"/>
  </p:normalViewPr>
  <p:slideViewPr>
    <p:cSldViewPr snapToGrid="0">
      <p:cViewPr>
        <p:scale>
          <a:sx n="83" d="100"/>
          <a:sy n="83" d="100"/>
        </p:scale>
        <p:origin x="456" y="656"/>
      </p:cViewPr>
      <p:guideLst/>
    </p:cSldViewPr>
  </p:slideViewPr>
  <p:outlineViewPr>
    <p:cViewPr>
      <p:scale>
        <a:sx n="33" d="100"/>
        <a:sy n="33" d="100"/>
      </p:scale>
      <p:origin x="0" y="-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114" d="100"/>
          <a:sy n="114" d="100"/>
        </p:scale>
        <p:origin x="420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handoutMaster" Target="handoutMasters/handoutMaster1.xml"/><Relationship Id="rId7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microsoft.com/office/2018/10/relationships/authors" Target="authors.xml"/><Relationship Id="rId7" Type="http://schemas.openxmlformats.org/officeDocument/2006/relationships/slide" Target="slides/slide1.xml"/><Relationship Id="rId7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1D8B876-C59D-4E87-8065-05E60B40C7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D186FF-3B33-44DF-BC06-A6BEDEA5BC4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52C7D-D774-47DB-8A60-CED9713D1233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A4AF60-A001-46D4-8D3F-49E3CDA623F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26134-311D-476E-A38C-949E8092E5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B2D407-E3A5-4537-889B-49E0FF2CA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670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1T19:03:48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1T19:06:37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743 4249 24575,'-7'-5'0,"-25"-22"0,2 0 0,1 0 0,-1-3 0,1 2 0,-2-3 0,3 1 0,0 0 0,0-1 0,2 2 0,-1-1 0,1-1 0,-1 0 0,0-3 0,0 0 0,0 1 0,2 0 0,0 1 0,3 1 0,1 0 0,-5-6 0,9 10 0,-6-6 0,10 11 0,-1-3 0,1 0 0,1 0 0,0-2 0,1 0 0,1-2 0,2-2 0,0 1 0,1-1 0,1 4 0,2 0 0,1-1 0,1-2 0,1-3 0,1 0 0,0-2 0,0 1 0,0-1 0,0 1 0,0-1 0,1 1 0,5-7 0,7-16 0,0 12 0,6-12 0,-6 24 0,3-5 0,0 1 0,1-3 0,5-4 0,-2 1 0,0 4 0,0-1 0,-2 7 0,-1 2 0,-1 2 0,-1 3 0,1 1 0,2-4 0,2 0 0,1 0 0,-1 0 0,1 1 0,0 2 0,-1 1 0,1 2 0,8-9 0,-7 11 0,8-7 0,-9 9 0,4-2 0,1 1 0,0-1 0,0 2 0,0 0 0,1-1 0,4 1 0,-2 0 0,1 1 0,-1 0 0,-5 3 0,2-1 0,0 2 0,1-1 0,2-3 0,1 1 0,-1-1 0,1-1 0,-3 0 0,-1-1 0,-1 0 0,-1 1 0,12-11 0,-10 9 0,9-10 0,-13 10 0,3-2 0,0 0 0,1-1 0,-1 2 0,1-2 0,-1 2 0,-2 0 0,2 0 0,-1 1 0,-3 1 0,1 0 0,-2 2 0,-1-2 0,2-1 0,0-1 0,1-1 0,-3 0 0,1-1 0,-2 2 0,3-7 0,-4 0 0,7-15 0,-8 9 0,2-9 0,-5 12 0,-1-4 0,0 2 0,-1-1 0,-2 1 0,-1 1 0,-1 3 0,-1 3 0,1 2 0,-2 3 0,0 3 0,0 0 0,0 1 0,-2-1 0,1-2 0,-1 2 0,0 0 0,-1 1 0,0 1 0,0 0 0,1 1 0,-1-3 0,0 5 0,1-3 0,-1 5 0,1 2 0,-1-1 0,1 0 0,1-1 0,0-1 0,1 1 0,0 2 0,-1 1 0,1 1 0,1-2 0,0 1 0,1-1 0,4 1 0,1 0 0,2-1 0,3 0 0,2 0 0,3 1 0,2 1 0,1 0 0,0 1 0,1 1 0,13 1 0,-11 1 0,13 1 0,-13 1 0,4 1 0,2 0 0,-2 1 0,0 0 0,0 0 0,-2 0 0,-1 0 0,-2 0 0,-3 0 0,-2 0 0,-3 0 0,0 0 0,1 0 0,0 0 0,3 0 0,-1 0 0,1 0 0,2 0 0,-2 0 0,0 0 0,6 0 0,-9 0 0,8 0 0,-12 0 0,3 0 0,0 1 0,0 1 0,-1 2 0,-1 1 0,0 0 0,-1 1 0,-2-1 0,0 0 0,-2 0 0,0 0 0,-2 0 0,0 0 0,-2 1 0,1 2 0,1 0 0,0 2 0,-1-1 0,-1 1 0,0 1 0,0 1 0,1 6 0,-3-6 0,2 6 0,-3-5 0,-1 2 0,-1 1 0,-1 0 0,-2 2 0,0 1 0,0 0 0,0-1 0,0-1 0,0 0 0,-2-1 0,-2-3 0,-3 0 0,-3 0 0,-2-1 0,-5 3 0,-2 0 0,-2 1 0,-2 0 0,-1-1 0,1-1 0,0-2 0,1-1 0,-6 2 0,7-6 0,-5 3 0,8-5 0,-3 1 0,1-1 0,1 1 0,0 0 0,2-1 0,0 0 0,0-1 0,1 0 0,1 0 0,2 0 0,1-1 0,1 0 0,-1 1 0,-1 0 0,1 1 0,0 0 0,0 0 0,2 0 0,1 1 0,1 1 0,-1 1 0,-1 8 0,2-5 0,-2 8 0,3-4 0,-2 4 0,0 1 0,1 0 0,-2 2 0,3-1 0,-1 0 0,2 0 0,0-3 0,1 3 0,-1-3 0,2-1 0,1 2 0,-1 1 0,0 1 0,1 2 0,1-2 0,2-2 0,0 0 0,0-2 0,0 0 0,-1-2 0,1 1 0,0-5 0,0 2 0,0-3 0,0 3 0,0 0 0,0 4 0,1 1 0,2 0 0,0 1 0,-1-1 0,0 0 0,-1-2 0,0 0 0,1-4 0,-1 0 0,-1-3 0,0 0 0,0 0 0,1 1 0,0 0 0,0 1 0,1 1 0,0 3 0,-1 1 0,1 11 0,-1-4 0,1 8 0,-1-7 0,-1 2 0,1-1 0,-1 0 0,0 0 0,0-2 0,1-2 0,0 0 0,1-1 0,-1 3 0,0 2 0,2-1 0,0 1 0,1 2 0,-1 1 0,0 3 0,2 0 0,0 1 0,0-2 0,0 0 0,-1-3 0,1-2 0,2 8 0,-2-9 0,2 11 0,-3-7 0,1 4 0,-1 1 0,1 3 0,0 2 0,0 2 0,-2 2 0,-1-2 0,0 0 0,0-2 0,-1-2 0,1-6 0,0-2 0,-2-4 0,0 2 0,0 2 0,0 2 0,0-1 0,0 1 0,0 2 0,0 0 0,-3 1 0,-5 12 0,1-13 0,-3 10 0,5-15 0,-2 2 0,1-1 0,-2-1 0,1-2 0,-1 0 0,-1 0 0,1 0 0,-2 2 0,1 0 0,0-1 0,0-3 0,1-2 0,0-1 0,0-1 0,-1 3 0,-2-1 0,1 2 0,-2-1 0,0-2 0,-1 1 0,1-2 0,-3 5 0,4-7 0,-4 4 0,3-6 0,-1 1 0,-1-1 0,1 1 0,-1-2 0,0 2 0,-2-2 0,0 1 0,1-1 0,0-2 0,2 0 0,-2-1 0,1-1 0,-1 0 0,-1 0 0,-1 0 0,1 0 0,-1 0 0,-2 0 0,1 0 0,-1-1 0,-1 1 0,-5 2 0,7-4 0,-4 1 0,7-3 0,-1 0 0,0 0 0,-1 0 0,2-1 0,0 0 0,0 2 0,-1 0 0,0 0 0,1-1 0,1-1 0,1 0 0,1 0 0,-3 1 0,1 1 0,-2 0 0,-1 0 0,2 0 0,0 1 0,0-1 0,1 0 0,-1-1 0,-4 1 0,6-2 0,-6 2 0,6-2 0,-1 0 0,-1 0 0,0 0 0,1 1 0,0-1 0,-1 0 0,0 1 0,0-2 0,0 0 0,2-1 0,2-1 0,0 1 0,0-1 0,-1 2 0,-1-1 0,-1 0 0,-1 1 0,0 0 0,0 0 0,0 1 0,1 0 0,1 1 0,-4 0 0,7-1 0,-5 1 0,6-1 0,-1-1 0,1 1 0,-1 0 0,-1 0 0,-1 1 0,0 1 0,2-1 0,2-1 0,1 0 0,1-1 0,0 0 0,1-1 0,-1 0 0,0-1 0,1 0 0,-1-1 0,1-1 0,1 0 0,0 0 0,-2 0 0,-1 0 0,1 0 0,0 0 0,2 0 0,0 0 0,0 0 0,0 0 0,-1 0 0,0 0 0,-1 0 0,1 0 0,1 0 0,0 0 0,-1 0 0,0 0 0,-2 0 0,0 0 0,1 0 0,0 0 0,0 0 0,-1 0 0,0 0 0,0 0 0,1 0 0,1 0 0,1 0 0,0 0 0,0 0 0,0 0 0,-1 0 0,1 0 0,0 0 0,-2 0 0,0 0 0,0 0 0,-1 0 0,1 0 0,-1 0 0,3 0 0</inkml:trace>
  <inkml:trace contextRef="#ctx0" brushRef="#br0" timeOffset="-1">664 4219 24575,'-1'-2'0,"0"0"0,-1-1 0,1-1 0,-1 1 0,0 0 0,1 0 0,0 1 0,-1-1 0,0 1 0,0 0 0,1-1 0,-1 1 0,1 0 0,0-1 0,-1 1 0,1-1 0,0 1 0,0-1 0,1-1 0,0 0 0,-2 0 0,2 0 0,-2 0 0,1 1 0,0 1 0,0-1 0,-1 1 0,1-1 0,0-1 0,-1 2 0,0-1 0,1 0 0,0 0 0,0 0 0,0 0 0,-1 2 0,1-1 0,0 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1T19:03:48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FACEE6-9C36-5843-8332-3A0FA88FCC83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EF54A-9134-8641-A991-457FAC8A6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04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649504-AEB8-4325-8A2D-55FA0AD00220}" type="slidenum">
              <a:rPr lang="en-US" smtClean="0"/>
              <a:t>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174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71F2E-924B-825B-42F4-010D54388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DA8604-D99A-E77A-D051-6608C8036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22089E-446A-179C-DB8D-8B9902BE0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1C91A-AC16-E541-6142-6E6195DD9C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006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72953-0B5D-FE02-964E-7A2898657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407076-A95E-7F13-6470-F6904858DE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9E3838-7047-765C-14DD-A597F1098F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0B0DA-35DB-C5A9-324A-5AECB236C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12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273A4-9F54-21FF-53A1-63C237653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5CA7B5-E7DB-ED1D-1495-0B7D5F8D9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49DB83-E730-85F3-9029-A0079B399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9EA26-C291-8037-F6B9-A3CDCD1E9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973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257E9-5801-DBCC-CA3F-270FE76D4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7DC75F-6BAE-3DDE-D8C7-ECFF1F4EF7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FA0DB-6A2C-9B6F-38BD-A856A51BC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NB-lncRNAs exhibit restricted expression pattern; only &lt;1% are widespread (detected in &gt;1/3 of cells), compared to 26% of standard protein-coding genes.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On average, a specific NB-lncRNA is detected in only ~15 cells out of a 741-cell dataset, whereas protein-coding genes are detected in ~140 cells.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Despite being expressed in fewer cells, NB-lncRNAs have a median expression level nearly twice that of protein-coding genes within those specific cells (p &lt; 1.9e−06).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Set of broadly expressed protein coding genes is enriched in known housekeeping genes (47%, P-value ∼ 0; Supplementary Table S15).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Protein-coding genes nearest or co-expressed with the 121 broadly expressed NB-lncRNAs were also enriched for known housekeeping genes (46% with P-value 5.4e−31 and 35% with P-value 9.6e−19; Supplementary Table S15) e.g. GAPDH, HSPA5, IAH1, MKLN1, PSMD7, SYNCRIP and TIMM44.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CAB31-576A-3E36-BA91-5FB9833EA7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5817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61D7F-A31F-40FF-0FE4-6BD7FB0A8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289A7E-8EBE-AA66-818D-E76FD2E18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A24532-E147-1D2B-A168-64C16E206F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To explore the ability of NB-lncRNAs to distinguish normal breast cell subpopulations, we quantified the expression of NB-lncRNAs using published </a:t>
            </a:r>
            <a:r>
              <a:rPr lang="en-US" b="0" dirty="0" err="1"/>
              <a:t>scRNAseq</a:t>
            </a:r>
            <a:r>
              <a:rPr lang="en-US" b="0" dirty="0"/>
              <a:t> data of 867 cells from three donors, with &gt;1.5M reads per cell (6). Using flow cytometry, Nguyen et al. sorted cells from the luminal and basal populations before performing </a:t>
            </a:r>
            <a:r>
              <a:rPr lang="en-US" b="0" dirty="0" err="1"/>
              <a:t>scRNAseq</a:t>
            </a:r>
            <a:r>
              <a:rPr lang="en-US" b="0" dirty="0"/>
              <a:t> (File S4). On average, each cell expressed close to 900 NB-lncRNAs, with over one-third expressing at least 1000 NB-lncRNAs.</a:t>
            </a:r>
          </a:p>
          <a:p>
            <a:endParaRPr lang="en-US" b="1" dirty="0"/>
          </a:p>
          <a:p>
            <a:r>
              <a:rPr lang="en-US" b="1" dirty="0"/>
              <a:t>Figure Description:</a:t>
            </a:r>
          </a:p>
          <a:p>
            <a:r>
              <a:rPr lang="en-US" b="0" dirty="0"/>
              <a:t>NB-lncRNAs and GENCODE-annotated genes can distinguish breast epithelial cell types. </a:t>
            </a:r>
            <a:r>
              <a:rPr lang="en-US" b="1" dirty="0"/>
              <a:t>(A) </a:t>
            </a:r>
            <a:r>
              <a:rPr lang="en-US" b="0" dirty="0"/>
              <a:t>Uniform manifold approximation projection (UMAP) of normal breast cells, clustered based on NB-lncRNAs expression, quantified on Fluidigm </a:t>
            </a:r>
            <a:r>
              <a:rPr lang="en-US" b="0" dirty="0" err="1"/>
              <a:t>scRNAseq</a:t>
            </a:r>
            <a:r>
              <a:rPr lang="en-US" b="0" dirty="0"/>
              <a:t> data (L-clusters). Cells are color-coded for clusters, which are numbered according to cell counts. </a:t>
            </a:r>
            <a:r>
              <a:rPr lang="en-US" b="1" dirty="0"/>
              <a:t>(B) </a:t>
            </a:r>
            <a:r>
              <a:rPr lang="en-US" b="0" dirty="0"/>
              <a:t>UMAP of normal breast cells, clustered based on GENCODE-annotated gene expression, quantified on Fluidigm </a:t>
            </a:r>
            <a:r>
              <a:rPr lang="en-US" b="0" dirty="0" err="1"/>
              <a:t>scRNAseq</a:t>
            </a:r>
            <a:r>
              <a:rPr lang="en-US" b="0" dirty="0"/>
              <a:t> data (A-clusters). </a:t>
            </a:r>
            <a:r>
              <a:rPr lang="en-US" b="1" dirty="0"/>
              <a:t>(C)</a:t>
            </a:r>
            <a:r>
              <a:rPr lang="en-US" b="0" dirty="0"/>
              <a:t> Heatmap showing the top ten Seurat-assigned markers for each L-cluster. </a:t>
            </a:r>
            <a:r>
              <a:rPr lang="en-US" b="1" dirty="0"/>
              <a:t>(D)</a:t>
            </a:r>
            <a:r>
              <a:rPr lang="en-US" b="0" dirty="0"/>
              <a:t> Heatmap showing the top ten Seurat-assigned markers for each A-cluster. </a:t>
            </a:r>
            <a:r>
              <a:rPr lang="en-US" b="1" dirty="0"/>
              <a:t>(E) </a:t>
            </a:r>
            <a:r>
              <a:rPr lang="en-US" b="0" dirty="0"/>
              <a:t>Heatmap showing Seurat-assigned markers for A-clusters previously reported in the literature.</a:t>
            </a:r>
          </a:p>
          <a:p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Cell set from published </a:t>
            </a:r>
            <a:r>
              <a:rPr lang="en-US" dirty="0" err="1"/>
              <a:t>scRNAseq</a:t>
            </a:r>
            <a:r>
              <a:rPr lang="en-US" dirty="0"/>
              <a:t> data of 867 cells from three donors, with &gt;1.5M reads per cell (6). Using flow cytometry, Nguyen et al. sorted cells from the luminal and basal populations before performing </a:t>
            </a:r>
            <a:r>
              <a:rPr lang="en-US" dirty="0" err="1"/>
              <a:t>scRNAseq</a:t>
            </a:r>
            <a:r>
              <a:rPr lang="en-US" dirty="0"/>
              <a:t> (File S4). On average, each cell expressed close to 900 NB-lncRNAs, with over one-third expressing at least 1000 NB-lncRNAs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Eight clusters were obtained after filtering, normalizing and clustering cells with Seurat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Annotations from prior described biomarkers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Basal vs luminal cluster label given if &gt;70% of cells in cluster having that label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 stands for lncRNA, A stands for Annotated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Clustering cells using </a:t>
            </a:r>
            <a:r>
              <a:rPr lang="en-US" b="0" dirty="0"/>
              <a:t>only</a:t>
            </a:r>
            <a:r>
              <a:rPr lang="en-US" dirty="0"/>
              <a:t> NB-lncRNA expression (L-clusters) successfully replicated the primary Basal and Luminal divisions.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L-clusters showed high correspondence with standard FACS labels and A-cluster identities.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Non-coding transcriptome alone contains sufficient signal to define tissue-level cell types.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E4390-D849-32B6-431B-70B29DB127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3263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3D8A7-622D-4347-4FB8-FFA101EF6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BF7A07-5514-1F13-19D8-A2C8962FB2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12F442-6676-9393-5F7B-BF967C6C5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When breast-specific NB-lncRNAs were used to cluster healthy human brain cells, they failed to unambiguously discern microglia or OPCs.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lncRNA identity is tissue-specific; calculated tau indices show NB-lncRNAs have significantly higher global tissue specificity than protein-coding genes across 27 human tissues.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When breast-specific NB-lncRNAs were used to cluster cells from a healthy human brain, they failed to unambiguously discern standard brain cell types like microglia or oligodendrocyte precursors (OPCs).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The resulting brain UMAP shows mixed clusters that lack clear protein-marker correspondence, providing a critical warning that lncRNA discovery must be performed a priori for every new tissue type being studied.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Figure 6. NB-lncRNAs cannot identify human brain cell types.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(A) Global tissue-specificity of annotated protein-coding genes (top), annotated lncRNAs (middle) and NB-lncRNAs (bottom) across 27 human tissues. </a:t>
            </a:r>
            <a:r>
              <a:rPr lang="en-US" b="1" dirty="0"/>
              <a:t>The tissue-specificity was summarized by calculating the tau index of every transcript in each set and counting the number of occurrences where each tissue had the highest tau overall.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 (B) UMAP of normal breast cells, clustered based on GENCODE-annotated gene expression, quantified on Fluidigm </a:t>
            </a:r>
            <a:r>
              <a:rPr lang="en-US" b="0" dirty="0" err="1"/>
              <a:t>scRNAseq</a:t>
            </a:r>
            <a:r>
              <a:rPr lang="en-US" b="0" dirty="0"/>
              <a:t> data. Cells are color-coded for clusters, which are numbered according to cell counts.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(C) UMAP of normal breast cells, clustered based on NB-lncRNAs expression, quantified on Fluidigm </a:t>
            </a:r>
            <a:r>
              <a:rPr lang="en-US" b="0" dirty="0" err="1"/>
              <a:t>scRNAseq</a:t>
            </a:r>
            <a:r>
              <a:rPr lang="en-US" b="0" dirty="0"/>
              <a:t> data. Clusters were labeled based on the information provided in (35) and known protein-coding markers of the represented brain cell types.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EF73A-30D4-3D55-538B-08AC853DBA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1923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42A58-6272-1393-3D32-12E65D934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9328FF-0868-83EE-580E-024E857595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A0E3C8-4047-8A5A-7D7B-225B66AAE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5EC92-B188-2562-8462-1DC55CFACA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7604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0485F-FE35-CDB3-FAC7-A2987A9C9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0FE568-CA0E-0EC7-A8DE-1FCF94B978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D1ACAA-741F-ACE9-9AC5-254AFE743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0C75C-5304-ECC3-162F-3BB9F4AD59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678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89 of the 119 neuronal cell types (~75%) are amacrine cells</a:t>
            </a:r>
          </a:p>
          <a:p>
            <a:r>
              <a:rPr lang="en-US" dirty="0"/>
              <a:t>RGC = retinal ganglion cells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9334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A4214-3DEC-ADCC-C145-F778DEAC9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016314-5B9F-1232-2A1E-DC02EEA44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BF6B30-81EC-6919-473B-F9826AE27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002BC-98B4-8A6E-D62D-7D9C68929B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1574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3F6C4-6411-B22D-F722-DD3476036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A4E356-B028-1BD9-222B-47E037AC48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209B05-6AED-396A-6968-3883C14DC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89 amacrine cell types (author cell type) -&gt; 4 (cell type)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E8525-12E5-4653-7AD6-8F39B96156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935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F8283-2F21-7109-DDE0-90A93B385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DF666C-5329-88AF-D0E6-50A725E1D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701DE3-EB10-DF69-84CF-528013233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Part 2 of the issue:</a:t>
            </a:r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Issue is that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E6D15-957B-CE3C-8875-635B71B86A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425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B6463-BA2B-60C0-96EC-D4A3A299C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679AAD-BA4F-CA89-C220-B69F0D97CD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600147-D834-2243-7D6C-CA15C7C09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E4439-62C8-45A4-60FE-535C7BB58A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9244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04C5E-4BFB-A814-7DC5-424B729F9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6563FD-4C1B-1421-6405-CCA9BBF63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2BCDA2-D2B9-2492-9186-8F3616357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stratification for kicks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10F182-A936-9090-E602-64229D955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8576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1AFF8-159E-DD5E-B493-B8104FCD8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AA774A-1820-12B3-94B1-4F9D5F7BF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C913A3-BFEE-CEEE-E944-F68B57BF7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C27AE-94D0-623B-4380-5A15E22299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9410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919C8-1616-4080-BC33-CACBEBA81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2ADA23-58D5-FE40-7289-B64B57ADCC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0B9066-3397-B616-B804-0C05D9134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18509-43B2-6129-FDCA-E2F1480F43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0089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EEC7E-6B32-68AB-DE14-08355C56A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88A515-907A-D335-D3B2-C51C3DB2FB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E83C83-24B0-C859-3AA1-4D4024A4E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 gets us as close to T as feasible (within 2% is what I currently have set)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0117D-AFC4-1067-4EC2-9AFD85DE40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3963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72E6D-800D-2C97-33C6-39B5A5183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FADAAB-5E30-E69F-D3DC-36B1D62D6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2267C8-5F43-4A27-DF96-E6714F523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n gets us as close to N as feasible?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BB2D3-219C-308B-77EF-5B3FB803FC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1295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3619C-1170-AD84-7D87-670F6C42C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A31683-1FBF-C34B-9FD0-00C1F6E4F9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DDE4B5-BA59-C530-F8A4-D401A6107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n gets us as close to N as feasible?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8A4EC-76DC-89B1-F29F-9F1EDBEBA0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7188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95D2B-65B0-C69A-B529-2AEC1700C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0F0535-2C40-DDC9-458C-C9A32A56A1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4F2E37-4A80-F4E6-A268-BF0561D0D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70D87-B0D4-5C0C-F627-BA2D22F946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1929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58C60-0601-6C7F-D50B-2B8BCC700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2869BD-3EE6-7AF4-8D0F-ADC53DBAD4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447079-41FE-4991-1FFF-048795403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EDAE1-BBE5-837D-C701-F462DD4473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4152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52A11-8AEC-D4FE-2F50-7A1D435E9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3A0DB7-238D-9CF7-60ED-FAB9928106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57FFD-9D89-CE0E-FB78-7C30F9CFC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B4F8E-F405-FF3D-2F0C-92BC3FEFA8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3570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6A1D0-3EFE-CE7F-B2C5-2E1BAA65A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D53D9B-E884-A8FC-6C2B-EAF15C01C6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BDA2BD-9A69-8023-C689-16B526C62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17F99-4F71-96CB-3B56-790F644785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1296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912B2-24C6-001B-843A-7532CB2BC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860BF-AC70-80E9-EB54-04564D3063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3CA5FA-F817-8E19-09B7-9FD520671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09285-0D93-3A3D-5285-8EA0E82453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4688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12CC4-1C97-AD9E-F07D-41D92B103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25F77-85D7-95D8-4669-BE63D4429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3C6047-8FFA-53D9-325C-74908FFB9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AD971-0A23-1B0F-F8E4-B86A2419B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8825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61AF7-7416-59F6-54A5-DEB671D2B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D5277D-5584-3599-5A94-D928C5EC5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D4A84C-CA32-5190-CA89-2C45AC67C1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Approximately the same as in the scRNA dataset</a:t>
            </a:r>
          </a:p>
          <a:p>
            <a:r>
              <a:rPr lang="en-US" dirty="0"/>
              <a:t>REMINDER: x axis is median expression of gene in a cluster, y axis is number of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gene-cluster pairs</a:t>
            </a:r>
            <a:r>
              <a:rPr lang="en-US" dirty="0"/>
              <a:t> with that binned expression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ED646-5A73-B298-7936-5982235163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5337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B4ADF-8330-0E69-B4DF-DB1CA3E55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9EF415-21AD-BCF6-62A4-DAE6964A5F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AB7C36-60E3-15A9-420F-7D6D01495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Approximately the same as in the scRNA dataset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REMINDER: x axis is median expression of gene in a cluster, y axis is number of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gene-cluster pairs</a:t>
            </a:r>
            <a:r>
              <a:rPr lang="en-US" dirty="0"/>
              <a:t> with that binned expression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34D5F-30CD-A859-88E8-A7DB873554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7299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A97BE-676C-B2C5-3F04-6C9D1C8AE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FB6E01-CA35-803D-6A98-6450D2826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B4A6A6-537F-0F0F-3785-E1A0FCB99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Approximately the same as in the scRNA dataset</a:t>
            </a:r>
          </a:p>
          <a:p>
            <a:r>
              <a:rPr lang="en-US" dirty="0"/>
              <a:t>REMINDER: x axis is binary score of gene in a cluster, y axis is number of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gene-cluster pairs</a:t>
            </a:r>
            <a:r>
              <a:rPr lang="en-US" dirty="0"/>
              <a:t> with that binary score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CD986-B0BC-26C1-65DD-4713BEDAA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599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68518-B571-B6F3-1D36-74C4614F1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BD127F-0057-E8A0-E381-01B306044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E08ED3-87CD-0730-5EFD-35E68E6F8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Approximately the same as in the scRNA datasets</a:t>
            </a:r>
          </a:p>
          <a:p>
            <a:r>
              <a:rPr lang="en-US" dirty="0"/>
              <a:t>REMINDER: x axis is binary score of gene in a cluster, y axis is number of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gene-cluster pairs</a:t>
            </a:r>
            <a:r>
              <a:rPr lang="en-US" dirty="0"/>
              <a:t> with that binary score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7FC7F-0892-0022-D4AE-58E58E851B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3552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4840C-FB68-70F4-733F-658B4A61E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9D6E9-414F-9F2F-723C-0AE1ABEAB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01D429-9791-48DE-9736-56F212563F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E38C7-B35D-6890-12C5-D0D75556D8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2777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3159C-2E67-ADBA-4E2E-7ACFFB18D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D31D10-8FE7-411E-879A-637EAF8E81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9BDCF0-E6B4-706C-E2CA-664585F57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165F-727F-8B99-EFB3-3A327D5901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1749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4B8F2-8E4A-0E90-20E6-7F047A3EF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F24C6D-6AD7-A295-99DA-AFC4F3467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A14642-C55B-5982-F276-3004D1139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824E0-3E70-810A-8F24-64D1764635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7220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8D2C0-E5B0-70D8-730B-EE72156B6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D400AB-6C7C-A187-807B-A7CACA16A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2C6622-6663-924E-69EE-D0D037937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stratification for kicks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44A36-3D82-767B-6CFC-589988694E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0744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7452D-8FB4-04CE-4184-EA966A8EC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607E8A-7210-64CE-FE43-8796302033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F19582-56D5-B2FF-5922-34380F65B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stratification for kicks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040A0-9997-144D-AA89-56B99E123A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57833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10C76-F7B4-4D3F-6056-BD11BB6D0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BCB60E-8F18-9335-6B14-324A1C39BE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F95DCB-0A4A-8851-CA70-4291216C2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D88ED-29A4-0125-A51B-38F2437F8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649504-AEB8-4325-8A2D-55FA0AD00220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77648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82377-F017-CC04-953D-A2C35364F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3EAF0E-1085-ED9D-01FE-7EBDD0522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7DC050-1D14-D611-34E9-0A6460CF4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61A60-75C2-774B-114D-4CDDC92E0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73462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788CB-F542-F08E-D245-C31AC7624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A82C9C-1C59-378F-9FFB-75059A64B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3E8EE6-FAE7-7187-410D-C28544B3E8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03A7A-3DF7-376D-78BC-CD00D7317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81156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DC38D-7B3B-2BE9-B6C8-63EE7A46F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4E84AC-4083-EF22-C62D-ADD171B1CD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0BDA4E-9322-9414-0586-7BCE6EBFC4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AB552-AE34-1D45-C83E-5A17A066B8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79370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C5447-21AF-3739-0AF4-FB70B3BAD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78AFAC-5C7A-1C65-134A-45651B6489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4904B4-E1F0-9A46-09D2-6693FBA7B3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A4262-F505-F029-6625-FB831F99E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78865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17A8A-E413-99B3-F021-EEEBF7F42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5F3ED7-5A0C-D6D9-2650-13C59400B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F07665-DB43-B814-89A8-533DEA3763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575B5-2409-4DB8-43FD-92C4F880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63807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F6085-25DC-DB79-1483-CA9B8CDB0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B5A194-B86E-5523-1F32-48E8B3D5F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A9680E-C155-7254-ED3B-4C60B63194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3E9A2-2C84-487E-68EF-77B6F360BE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79879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4CD32-2A5B-19A7-C8B0-D32C6B89C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4EBD74-5F94-2B87-4819-BB382E821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8616AD-6199-5FC7-F201-0464A3C8C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C0996-4A73-FFC3-09FE-FFB144F308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249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C2A23-4A7B-75C5-0933-9EE9EEEA7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E4D469-338E-0CC5-D847-723CC0AAB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E41F19-8F26-DB2E-000B-BF3448B9DD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9879F-C0C8-4DCF-301D-19D360A08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92726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F5F5C-D8E5-91B6-29B0-01FB08E77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F3F60D-3328-C8AF-ECA5-D14E7629F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9267AA-E748-9403-A7C1-295EE4BFF0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9566A-91C0-16ED-9D74-290B922516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20076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F7B4E-9980-EE3F-A162-5B70707F1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AFCF87-0EB7-A75B-E09C-A4BA924CD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F7BB8D-96BC-4E17-42B8-E63088A1A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CD630-8A54-FD18-1252-C89044546C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65390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21857-FF4C-1E68-B82A-C77028E81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3F7E72-7F14-0D04-C546-E6E99F709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451E4F-E3EF-8B7D-0568-B7ADF11BB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7C194-8B6C-A3BA-C59E-6C72DBF9A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30998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D7C43-BE22-5CDE-C2BD-CAC8BBBA7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4D878D-AC76-180B-A1EA-C13BE886C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2537E3-FFDD-A8CD-F9AD-6C4442ECA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88232-5F0A-9BE5-41D4-443D4645D3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4618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C698D-026E-F74A-5146-890F4DD50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366C78-6B0B-5330-D95E-51E5D84E5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6A76E8-3519-B42B-82AE-38BC39732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4EFFC-493E-3A99-36B2-6CCF731C7A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50580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4F929-6ACF-E73D-9E7D-C71E12341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4BEC23-FD96-2477-1A61-9509D0B2C1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2A653-AAED-83EF-58E5-9CAC8E51A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9957C-E1CE-E5DF-19C8-D3BB62B67B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2597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4ABC3-489D-00F7-6F18-F1003C69E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0E397B-CA72-7227-5BFE-69A608730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038AF1-D862-E8F9-82C4-C3224A951A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0EDDD-AFF6-8298-71D6-3717FB985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08828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2B6C4-4CB2-9A1B-8562-AADF33BED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DB2A72-277F-AC17-E281-737055A60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FEDD42-0D64-6D22-AB95-A6BF1D364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4637E-9591-3163-4EEF-9F04F8A673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79995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0D58A-F5B2-3A2D-0DFA-B7BB4067A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73E01A-C7BC-D919-844F-C798476AFD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15595C-B417-1B4D-BCEE-19579035F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B8B0E-156D-A880-69E8-F56605FE6C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76868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B8F67-D17F-6537-EDE1-DBBD106B1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337B27-D1A4-749B-F134-7BAFD2B46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950D57-5892-437C-B515-9F0697DC5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F1499-85A9-EBFD-D645-179C74A4F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55226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2F7A8-C254-86F2-5C57-BB717091F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365801-5EC8-150A-A293-FBE07DB84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E453CA-E656-1C6D-F269-D24C19DAE8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AA4F1-1431-04F3-84CE-0D7FD6E9F0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92620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042F7-D057-8935-56DA-412F27CE8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A80AD8-675A-5715-2D3B-EE0C7D43C4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94DF0D-C921-61C6-3924-32CFFE31A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ECDC2-C4A3-446F-229C-76849653A0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51835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87EC3-89E9-BD6E-DFCD-689AA25EE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E82662-A20F-755E-BDEF-B7B03A6B5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4DE786-4794-2F65-8718-260E90D29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88A3D-1C2D-B15A-4F4A-857058291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95843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976E7-0E68-694B-5C50-6C2CE8993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E4EEE1-B012-1FD9-0141-A875A8EB1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B54DE8-CB9B-C0FA-C35F-2D581FA779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339F0-E371-401D-F1ED-B506D60DA1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37522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A75F7-65F5-EFC3-E34D-974614F68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1F3BC-D6EE-2043-E73A-86D67D73C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DE085-C1A4-6B1F-76E8-2EED79FDB5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98411-852D-D7D2-0A09-707B27F40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83563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3FF2-2490-3300-EAD6-A969351C0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E0DC40-64E5-6099-B1EA-2C2B687EF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A66A52-5895-E56D-73A6-2A71507CB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C2606-BA98-6F44-0E02-36B9CEEF4A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58032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2969F-7939-A2D1-E4B6-1148EC89C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02BC84-36D8-E106-0FE0-420AB8D397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BFDEA5-3616-D90E-82B0-A40503228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987-D0CE-DEED-1F0C-EDB209533F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762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071DA-A33A-46E6-9AB6-F0ADE99EC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4695E-AC84-4688-A74E-04DB0D17EB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FAC192-0DE6-71BE-52C6-1ED2907A842C}"/>
              </a:ext>
            </a:extLst>
          </p:cNvPr>
          <p:cNvSpPr txBox="1"/>
          <p:nvPr userDrawn="1"/>
        </p:nvSpPr>
        <p:spPr>
          <a:xfrm>
            <a:off x="11442032" y="6015789"/>
            <a:ext cx="529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D06770D-C131-FA45-B33F-98816BA1FC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830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3839A95-D286-4305-88D6-D686612B48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240A26-FF24-4B62-AD41-DDA9D44EE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FD89F-9A31-4DD6-9C95-A8E96700B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977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026961D-1D7C-4A74-9291-7AFBF7B164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43C8BF-FB3B-47E6-923C-BF77E9613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5FAE4-54C3-47E3-8D66-6DC40303B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24988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57C2115-2A3E-4D75-BF91-C2D668D06D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736430-14A1-4BA2-83C0-8A53ACEB5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5CB4D-BAC5-4B09-B394-C904EA9E4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4954CC-D6CE-4C10-8CB2-6826A52DA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8C02E8-077D-4865-A502-DC130FC82A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F93428-F0AA-4902-9195-6434C9A757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7325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1E397A9-BAE3-42F3-81E4-58B08040BE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95DA63-6999-4B88-BEEB-3C1D1E472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72314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66919CE-08D3-4ADA-A705-7CDCB9A2AD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197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73E0ADD-61B1-4710-91B4-291242148D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6FC309-F318-4862-BC38-3368C5F9B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2C403-ED21-4045-8396-6B5FD854D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844497-95B6-4596-9589-0036623F6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7952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9E18608-F2C5-42EC-90AD-EE7DDEB616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B162D4-CA25-43A3-A8ED-219C79F87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39B57C-8104-4916-8FEA-8B79049D03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662372-0DDA-4B3A-9F7E-DBE11D8C0B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4018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9F49BD0-3689-4119-A0D1-AEEBC81B07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1E3D7E-97AC-4AE3-934E-02464129CBC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03851C-AB83-4B86-B1F8-F8F94C2B5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61B55-30D5-4E10-9F58-15283F08BE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1DF679-34AE-4D31-83FE-5974A31D70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" y="6025663"/>
            <a:ext cx="12192000" cy="83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73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CA45A2C-D225-45F9-9F81-02A65C0412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5913D0-3FDF-487F-A88E-2683A3D4E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FB6AA-FC45-40A8-BDC6-E1DADC144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9809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D23B10D-8F28-4069-B04B-D7845887D5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C3C2AA-3EA1-4419-AF0D-E12E02FF3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7F62F3-F4AC-4546-B96F-0045811BF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5843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DF44AC8-8B5F-4870-8249-8F9A0E7C6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9D8871-79A8-4429-8222-B51CA9C44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B21D2-DED5-4A5F-AA9B-1BB37A43E1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0D2A44-C1D1-42EB-B9BB-5ABD8F203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995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A4AD278-E165-4912-B926-A7864010DB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34087"/>
            <a:ext cx="12192000" cy="8239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D70325-5EB5-4468-BC79-656FB3DD2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E2972-1C48-4505-9701-5514CEB38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DDE98-B9BC-4F8D-BAAD-50D72777B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03921D-9B75-41F9-839F-394DB24EF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E4E502-D27B-42D0-A1AC-1BB5629654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8487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271FB14-04C2-484F-BC80-C8E02EF678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C828C8-E368-4A36-887A-7361DC23A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000377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089A2E-5B2A-4F91-B064-F52F779CA3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3747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0B3B48B-5898-473E-A0CD-474F8A65A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12B534-7B05-49E0-8F47-77E40537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C84A6-B9B3-496A-9EB1-27D850680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D6DC76-A15A-45E1-A9B2-4741220E9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25688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849AFD8-F165-4307-A1B9-CFDE9A1BD3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F9643D-7186-4D6A-8E1C-3BFA00348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5F3987-7318-4536-98EE-2EF7DBEB70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07C0B-9896-42F1-8411-345B7ED69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4227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7E6D44-A92E-43DA-9ABB-43157B9394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A5608F-BED7-4E9A-A2E4-07F43D544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149542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1ECBA-10E6-4E28-99EF-99525B8F39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056FC1-8E3B-4769-86EC-78F0C92FAF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985116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A8EBD9F0-FFB9-413F-A29F-5F6478706A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010839-4D97-4509-904E-97453EA29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D3B8D-146D-4D2C-92DC-C2B3CEA95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439228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5FEA4278-0263-41FA-B99F-92D08E4407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7A9C4C-0911-418B-A68B-F2571CE02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E0456-303C-4752-BC72-EFA5E54E9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53168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0A3805D-BBA6-4CD8-902E-8BB9FE88E1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947F1E-2D41-4838-9062-4D58B969C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1426F-93EF-49D2-AEFD-96BD9A590C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863032-6F48-4EC0-9E04-F64A956A3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50486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A787DE3A-9044-4902-BB3D-7DBD2EF626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6F352C-E8E9-43FB-8B89-ED32167D0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CDA2E-E393-4DB8-B7C0-A47F543C8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338140-1A0C-430C-8FFF-41893D504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D5411B-917C-4400-86DE-ABFCD61047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0554B9-9C5B-4D8A-9385-EC81F45437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67356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B4F34D4-D9B8-4CB8-9C32-38913C3F62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EB23FA-6E6B-469A-8B10-618C6060D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447673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7EDFFC-3E6B-4D60-96D2-EC5C518775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4719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8A826CF-0ECB-434D-B30E-25F27A8B47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8315FA-0986-4DA3-B550-640BE6B21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3B989-7F03-4E4C-9588-C4B75DEBE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8488C5-2042-4F90-851E-77D33959F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4972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61EE0B8-3C09-45D9-91FE-63841F5932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CE0676-53A9-4CC6-8EAA-B05F01934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A66C3E-3CDC-4EAC-9E3C-FC8D9643BF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94B7E-26EE-4436-B802-DE6AC8328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247184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44C377-3B74-488B-A521-C0AF73D94F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E056E2-9C63-4EF6-A71B-310C5B38A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91963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image" Target="../media/image8.pn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30F85F-C49E-4405-BDD4-C3E071F09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355"/>
            <a:ext cx="10515600" cy="7274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3901C-63AA-4FC2-B01F-2ED6FB32D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64871"/>
            <a:ext cx="10515600" cy="4813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7459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D7B6D92-67F2-44AB-B5E0-D84743307F81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CC1242-FA9B-4906-89D9-34ECA0F4C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56C02-09F3-4FEB-A508-886862686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1231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A1BAFAF-D3D3-48C2-AD74-C26D4F427FA3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7C5BA6-5F87-4AEE-9731-B58F5CB71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D89A6C-A538-418B-A219-83B3647FD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01381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84" r:id="rId5"/>
    <p:sldLayoutId id="2147483676" r:id="rId6"/>
    <p:sldLayoutId id="2147483677" r:id="rId7"/>
    <p:sldLayoutId id="2147483678" r:id="rId8"/>
    <p:sldLayoutId id="2147483679" r:id="rId9"/>
    <p:sldLayoutId id="2147483681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humancellatlas.org/hca-bio-networks/eye/atlases/retina-v1-0" TargetMode="External"/><Relationship Id="rId7" Type="http://schemas.openxmlformats.org/officeDocument/2006/relationships/hyperlink" Target="https://data.humancellatlas.org/hca-bio-networks/lung/atlases/lung-v1-0" TargetMode="External"/><Relationship Id="rId2" Type="http://schemas.openxmlformats.org/officeDocument/2006/relationships/hyperlink" Target="https://data.humancellatlas.org/hca-bio-networks/nervous-system/atlases/brain-v1-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ellxgene.cziscience.com/collections/bcb61471-2a44-4d00-a0af-ff085512674c" TargetMode="External"/><Relationship Id="rId5" Type="http://schemas.openxmlformats.org/officeDocument/2006/relationships/hyperlink" Target="https://cellxgene.cziscience.com/collections/854c0855-23ad-4362-8b77-6b1639e7a9fc" TargetMode="External"/><Relationship Id="rId4" Type="http://schemas.openxmlformats.org/officeDocument/2006/relationships/hyperlink" Target="https://cellxgene.cziscience.com/collections/48259aa8-f168-4bf5-b797-af8e88da6637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customXml" Target="../ink/ink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7.png"/><Relationship Id="rId4" Type="http://schemas.openxmlformats.org/officeDocument/2006/relationships/customXml" Target="../ink/ink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70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5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ront of the NLM building with crab apple blossoms in bloom.">
            <a:extLst>
              <a:ext uri="{FF2B5EF4-FFF2-40B4-BE49-F238E27FC236}">
                <a16:creationId xmlns:a16="http://schemas.microsoft.com/office/drawing/2014/main" id="{48567582-F46E-FF83-EFE1-64DB69B9071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697" y="0"/>
            <a:ext cx="12197697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6C29FA85-98CC-5CDC-AEA3-F4AFADD3B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2019339"/>
            <a:ext cx="5779182" cy="1525719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rimson Pro Medium" pitchFamily="2" charset="77"/>
              </a:rPr>
              <a:t>2 July 2026</a:t>
            </a:r>
            <a:br>
              <a:rPr lang="en-US" sz="4000" dirty="0">
                <a:latin typeface="Crimson Pro Medium" pitchFamily="2" charset="77"/>
              </a:rPr>
            </a:br>
            <a:r>
              <a:rPr lang="en-US" sz="4000" dirty="0">
                <a:latin typeface="Crimson Pro Medium" pitchFamily="2" charset="77"/>
              </a:rPr>
              <a:t>Progress Report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7E5CEC59-E88F-1AA9-2954-884AC4F432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5402" y="3545058"/>
            <a:ext cx="4600377" cy="769083"/>
          </a:xfrm>
        </p:spPr>
        <p:txBody>
          <a:bodyPr>
            <a:normAutofit/>
          </a:bodyPr>
          <a:lstStyle/>
          <a:p>
            <a:pPr algn="l">
              <a:spcBef>
                <a:spcPts val="400"/>
              </a:spcBef>
            </a:pPr>
            <a:r>
              <a:rPr lang="en-US" sz="2000" i="1" dirty="0">
                <a:latin typeface="Montserrat" pitchFamily="2" charset="77"/>
                <a:cs typeface="Calibri" panose="020F0502020204030204" pitchFamily="34" charset="0"/>
              </a:rPr>
              <a:t>Vik Becker</a:t>
            </a:r>
          </a:p>
          <a:p>
            <a:pPr algn="l">
              <a:spcBef>
                <a:spcPts val="400"/>
              </a:spcBef>
            </a:pPr>
            <a:r>
              <a:rPr lang="en-US" sz="2000" i="1" dirty="0">
                <a:latin typeface="Montserrat" pitchFamily="2" charset="77"/>
                <a:cs typeface="Calibri" panose="020F0502020204030204" pitchFamily="34" charset="0"/>
              </a:rPr>
              <a:t>National Library of Medicine (NIH)</a:t>
            </a:r>
          </a:p>
        </p:txBody>
      </p:sp>
    </p:spTree>
    <p:extLst>
      <p:ext uri="{BB962C8B-B14F-4D97-AF65-F5344CB8AC3E}">
        <p14:creationId xmlns:p14="http://schemas.microsoft.com/office/powerpoint/2010/main" val="2835075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F2778-EA56-DEFC-4FBF-198CE7B57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BDA4E-B18C-BB5E-5B75-033084A42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4880" y="367933"/>
            <a:ext cx="3502240" cy="727405"/>
          </a:xfrm>
        </p:spPr>
        <p:txBody>
          <a:bodyPr>
            <a:noAutofit/>
          </a:bodyPr>
          <a:lstStyle/>
          <a:p>
            <a:pPr algn="ctr"/>
            <a:r>
              <a:rPr lang="en-US" sz="5400" dirty="0">
                <a:latin typeface="Crimson Pro Medium" pitchFamily="2" charset="77"/>
                <a:cs typeface="Calibri" panose="020F0502020204030204" pitchFamily="34" charset="0"/>
              </a:rPr>
              <a:t>Overview</a:t>
            </a:r>
            <a:endParaRPr lang="en-US" sz="5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3BD35-1ED2-FE9D-F919-273C461F0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5157" y="1095338"/>
            <a:ext cx="8181685" cy="4859378"/>
          </a:xfrm>
        </p:spPr>
        <p:txBody>
          <a:bodyPr>
            <a:noAutofit/>
          </a:bodyPr>
          <a:lstStyle/>
          <a:p>
            <a:pPr marL="571500" indent="-5715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/>
            </a:pPr>
            <a:r>
              <a:rPr lang="en-US" sz="2400" i="1" dirty="0">
                <a:latin typeface="Montserrat" pitchFamily="2" charset="77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Montserrat" pitchFamily="2" charset="77"/>
                <a:cs typeface="Arial" panose="020B0604020202020204" pitchFamily="34" charset="0"/>
              </a:rPr>
              <a:t>Review of 6/30 Journal Club Presentation.</a:t>
            </a:r>
          </a:p>
          <a:p>
            <a:pPr marL="571500" indent="-5715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/>
            </a:pPr>
            <a:r>
              <a:rPr lang="en-US" sz="2400" i="1" dirty="0">
                <a:latin typeface="Montserrat" pitchFamily="2" charset="77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Montserrat" pitchFamily="2" charset="77"/>
                <a:cs typeface="Arial" panose="020B0604020202020204" pitchFamily="34" charset="0"/>
              </a:rPr>
              <a:t>Collected Neural and Non-Neural Datasets.</a:t>
            </a:r>
          </a:p>
          <a:p>
            <a:pPr marL="571500" indent="-5715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/>
            </a:pPr>
            <a:r>
              <a:rPr lang="en-US" sz="2400" i="1" dirty="0">
                <a:latin typeface="Montserrat" pitchFamily="2" charset="77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Montserrat" pitchFamily="2" charset="77"/>
                <a:cs typeface="Arial" panose="020B0604020202020204" pitchFamily="34" charset="0"/>
              </a:rPr>
              <a:t>The Special Case of Retina snRNA.</a:t>
            </a:r>
          </a:p>
          <a:p>
            <a:pPr marL="571500" indent="-5715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/>
            </a:pPr>
            <a:r>
              <a:rPr lang="en-US" sz="2400" i="1" dirty="0">
                <a:latin typeface="Montserrat" pitchFamily="2" charset="77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Montserrat" pitchFamily="2" charset="77"/>
                <a:cs typeface="Arial" panose="020B0604020202020204" pitchFamily="34" charset="0"/>
              </a:rPr>
              <a:t>Writing a Downsampling/Stratification Script for Big .h5ad Data.</a:t>
            </a:r>
          </a:p>
          <a:p>
            <a:pPr marL="571500" indent="-5715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/>
            </a:pPr>
            <a:r>
              <a:rPr lang="en-US" sz="2400" i="1" dirty="0">
                <a:latin typeface="Montserrat" pitchFamily="2" charset="77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Montserrat" pitchFamily="2" charset="77"/>
                <a:cs typeface="Arial" panose="020B0604020202020204" pitchFamily="34" charset="0"/>
              </a:rPr>
              <a:t>Neuron/Non-Neuron Runs.</a:t>
            </a:r>
          </a:p>
          <a:p>
            <a:pPr marL="571500" indent="-5715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/>
            </a:pPr>
            <a:r>
              <a:rPr lang="en-US" sz="2400" i="1" dirty="0">
                <a:latin typeface="Montserrat" pitchFamily="2" charset="77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Montserrat" pitchFamily="2" charset="77"/>
                <a:cs typeface="Arial" panose="020B0604020202020204" pitchFamily="34" charset="0"/>
              </a:rPr>
              <a:t>Future Directions (and Poster Titles)</a:t>
            </a:r>
          </a:p>
          <a:p>
            <a:pPr marL="571500" indent="-5715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/>
            </a:pPr>
            <a:endParaRPr lang="en-US" sz="2400" dirty="0">
              <a:latin typeface="Montserrat" pitchFamily="2" charset="77"/>
              <a:cs typeface="Arial" panose="020B0604020202020204" pitchFamily="34" charset="0"/>
            </a:endParaRPr>
          </a:p>
          <a:p>
            <a:pPr marL="571500" indent="-5715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/>
            </a:pPr>
            <a:endParaRPr lang="en-US" sz="2400" dirty="0">
              <a:latin typeface="Montserrat" pitchFamily="2" charset="7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122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807C8-E1C4-16DE-944C-4737902C3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B11F2-E8B6-A235-D1B7-FD64270D7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9342" y="2104181"/>
            <a:ext cx="7653315" cy="2125578"/>
          </a:xfrm>
        </p:spPr>
        <p:txBody>
          <a:bodyPr>
            <a:noAutofit/>
          </a:bodyPr>
          <a:lstStyle/>
          <a:p>
            <a:pPr marL="571500" indent="-5715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/>
            </a:pPr>
            <a:r>
              <a:rPr lang="en-US" sz="5400" dirty="0">
                <a:latin typeface="Crimson Pro Medium" pitchFamily="2" charset="77"/>
                <a:cs typeface="Arial" panose="020B0604020202020204" pitchFamily="34" charset="0"/>
              </a:rPr>
              <a:t>Review of 6/30 Journal Club Presentation.</a:t>
            </a:r>
          </a:p>
          <a:p>
            <a:pPr marL="571500" indent="-5715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/>
            </a:pPr>
            <a:endParaRPr lang="en-US" sz="5400" dirty="0">
              <a:latin typeface="Crimson Pro Medium" pitchFamily="2" charset="7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104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18614-4E3C-8155-B7A8-7D7D580D9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9DB2B-9E91-F996-DD1B-8ED97F520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755" y="356834"/>
            <a:ext cx="10548490" cy="727405"/>
          </a:xfrm>
        </p:spPr>
        <p:txBody>
          <a:bodyPr>
            <a:noAutofit/>
          </a:bodyPr>
          <a:lstStyle/>
          <a:p>
            <a:pPr algn="ctr"/>
            <a:r>
              <a:rPr lang="en-US" sz="4800" dirty="0">
                <a:latin typeface="Crimson Pro Medium" pitchFamily="2" charset="77"/>
              </a:rPr>
              <a:t>It went well!</a:t>
            </a:r>
            <a:endParaRPr lang="en-US" sz="4800" dirty="0">
              <a:effectLst/>
              <a:latin typeface="Crimson Pro Medium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C7269-EDD2-359A-18C4-B3B8A0B96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691" y="1051565"/>
            <a:ext cx="5144618" cy="4804117"/>
          </a:xfrm>
        </p:spPr>
        <p:txBody>
          <a:bodyPr>
            <a:normAutofit/>
          </a:bodyPr>
          <a:lstStyle/>
          <a:p>
            <a:pPr fontAlgn="base">
              <a:lnSpc>
                <a:spcPct val="125000"/>
              </a:lnSpc>
            </a:pPr>
            <a:r>
              <a:rPr lang="en-US" sz="2400" dirty="0">
                <a:latin typeface="Montserrat" pitchFamily="2" charset="77"/>
              </a:rPr>
              <a:t>The paper I presented was </a:t>
            </a:r>
            <a:r>
              <a:rPr lang="en-US" sz="2400" u="sng" dirty="0">
                <a:latin typeface="Montserrat" pitchFamily="2" charset="77"/>
              </a:rPr>
              <a:t>"Redefining normal breast cell populations using long noncoding RNAs"</a:t>
            </a:r>
            <a:r>
              <a:rPr lang="en-US" sz="2400" dirty="0">
                <a:latin typeface="Montserrat" pitchFamily="2" charset="77"/>
              </a:rPr>
              <a:t> (2023) by Bitar et al.</a:t>
            </a:r>
          </a:p>
          <a:p>
            <a:pPr fontAlgn="base">
              <a:lnSpc>
                <a:spcPct val="125000"/>
              </a:lnSpc>
            </a:pPr>
            <a:r>
              <a:rPr lang="en-US" sz="2400" dirty="0">
                <a:latin typeface="Montserrat" pitchFamily="2" charset="77"/>
              </a:rPr>
              <a:t>Presented for approximately 45 minutes.</a:t>
            </a:r>
          </a:p>
          <a:p>
            <a:pPr lvl="1" fontAlgn="base">
              <a:lnSpc>
                <a:spcPct val="125000"/>
              </a:lnSpc>
            </a:pPr>
            <a:r>
              <a:rPr lang="en-US" sz="2000" dirty="0">
                <a:latin typeface="Montserrat" pitchFamily="2" charset="77"/>
              </a:rPr>
              <a:t>Started late due to the CellKN meeting running over.</a:t>
            </a:r>
          </a:p>
          <a:p>
            <a:pPr fontAlgn="base">
              <a:lnSpc>
                <a:spcPct val="125000"/>
              </a:lnSpc>
            </a:pPr>
            <a:r>
              <a:rPr lang="en-US" sz="2400" dirty="0">
                <a:latin typeface="Montserrat" pitchFamily="2" charset="77"/>
              </a:rPr>
              <a:t>Meeting was recorded.</a:t>
            </a:r>
          </a:p>
          <a:p>
            <a:pPr fontAlgn="base">
              <a:lnSpc>
                <a:spcPct val="125000"/>
              </a:lnSpc>
            </a:pPr>
            <a:endParaRPr lang="en-US" sz="2400" dirty="0">
              <a:latin typeface="Montserrat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AC67E0-2587-714E-FAC1-FED630AF9B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4260" y="1174652"/>
            <a:ext cx="5990053" cy="43461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09B064-504E-ED73-C178-46C1DDCC49D9}"/>
              </a:ext>
            </a:extLst>
          </p:cNvPr>
          <p:cNvSpPr txBox="1"/>
          <p:nvPr/>
        </p:nvSpPr>
        <p:spPr>
          <a:xfrm>
            <a:off x="3700833" y="6160678"/>
            <a:ext cx="83532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Bitar et al. (2023) 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Redefining normal breast cell populations using long noncoding RNAs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Graphical Abstract.</a:t>
            </a:r>
          </a:p>
        </p:txBody>
      </p:sp>
    </p:spTree>
    <p:extLst>
      <p:ext uri="{BB962C8B-B14F-4D97-AF65-F5344CB8AC3E}">
        <p14:creationId xmlns:p14="http://schemas.microsoft.com/office/powerpoint/2010/main" val="2764368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2BB75-3B5C-FEAC-0ECB-EB055DDFD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62881-5B6D-F1B9-BFB3-3C50080DE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616" y="244468"/>
            <a:ext cx="5964450" cy="1476322"/>
          </a:xfrm>
        </p:spPr>
        <p:txBody>
          <a:bodyPr>
            <a:noAutofit/>
          </a:bodyPr>
          <a:lstStyle/>
          <a:p>
            <a:r>
              <a:rPr lang="en-US" sz="4800" dirty="0">
                <a:latin typeface="Crimson Pro Medium" pitchFamily="2" charset="77"/>
              </a:rPr>
              <a:t>Compartmentalized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B8ED3-D9B7-95A7-4684-676FD1748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137" y="1720790"/>
            <a:ext cx="5381991" cy="415407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Montserrat" pitchFamily="2" charset="77"/>
              </a:rPr>
              <a:t>(A)</a:t>
            </a:r>
            <a:r>
              <a:rPr lang="en-US" sz="2400" dirty="0">
                <a:latin typeface="Montserrat" pitchFamily="2" charset="77"/>
              </a:rPr>
              <a:t>: The proportion of genes with…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Montserrat" pitchFamily="2" charset="77"/>
              </a:rPr>
              <a:t>…restricted expression pattern (dark).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Montserrat" pitchFamily="2" charset="77"/>
              </a:rPr>
              <a:t>…widespread expression pattern (light).</a:t>
            </a:r>
          </a:p>
          <a:p>
            <a:pPr>
              <a:lnSpc>
                <a:spcPct val="100000"/>
              </a:lnSpc>
            </a:pPr>
            <a:r>
              <a:rPr lang="en-US" sz="2400" b="1" dirty="0">
                <a:latin typeface="Montserrat" pitchFamily="2" charset="77"/>
              </a:rPr>
              <a:t>(B)</a:t>
            </a:r>
            <a:r>
              <a:rPr lang="en-US" sz="2400" dirty="0">
                <a:latin typeface="Montserrat" pitchFamily="2" charset="77"/>
              </a:rPr>
              <a:t>: Number of cells where genes are expressed.</a:t>
            </a:r>
          </a:p>
          <a:p>
            <a:pPr>
              <a:lnSpc>
                <a:spcPct val="100000"/>
              </a:lnSpc>
            </a:pPr>
            <a:r>
              <a:rPr lang="en-US" sz="2400" b="1" dirty="0">
                <a:latin typeface="Montserrat" pitchFamily="2" charset="77"/>
              </a:rPr>
              <a:t>(C)</a:t>
            </a:r>
            <a:r>
              <a:rPr lang="en-US" sz="2400" dirty="0">
                <a:latin typeface="Montserrat" pitchFamily="2" charset="77"/>
              </a:rPr>
              <a:t>: Median expression of genes per cell when detected.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0BE9E0-A5F5-C342-FB3A-B28CFB708C8E}"/>
              </a:ext>
            </a:extLst>
          </p:cNvPr>
          <p:cNvSpPr txBox="1"/>
          <p:nvPr/>
        </p:nvSpPr>
        <p:spPr>
          <a:xfrm>
            <a:off x="3373822" y="6160678"/>
            <a:ext cx="8680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Bitar et al. (2023) 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Redefining normal breast cell populations using long noncoding RNAs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Figure 5(A-C). “NB-lncRNAs have compartmentalized expression levels, which are higher at cell-level.”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59E604-25B3-E498-AED1-7409376327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07873"/>
            <a:ext cx="5851768" cy="5466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091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4488B-7073-6953-2E19-C72118192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47848-28C9-3D1B-4A24-3CF7C6B02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728" y="244468"/>
            <a:ext cx="5772385" cy="909508"/>
          </a:xfrm>
        </p:spPr>
        <p:txBody>
          <a:bodyPr>
            <a:noAutofit/>
          </a:bodyPr>
          <a:lstStyle/>
          <a:p>
            <a:r>
              <a:rPr lang="en-US" sz="4800" dirty="0">
                <a:latin typeface="Crimson Pro Medium" pitchFamily="2" charset="77"/>
              </a:rPr>
              <a:t>Population Resolution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49D604-7108-5561-9FB5-D759253981DF}"/>
              </a:ext>
            </a:extLst>
          </p:cNvPr>
          <p:cNvSpPr txBox="1"/>
          <p:nvPr/>
        </p:nvSpPr>
        <p:spPr>
          <a:xfrm>
            <a:off x="3700833" y="6160678"/>
            <a:ext cx="83532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Bitar et al. (2023) 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Redefining normal breast cell populations using long noncoding RNAs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Figure 3. “NB-lncRNAs and GENCODE-annotated genes can distinguish breast epithelial cell types.”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472EE1-3432-5F8C-0530-790674B009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2547"/>
            <a:ext cx="5967664" cy="5818865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FC9B9A-E65C-32BA-E96B-8B8D5BBF7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137" y="1153976"/>
            <a:ext cx="4918529" cy="455004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Montserrat" pitchFamily="2" charset="77"/>
              </a:rPr>
              <a:t>UMAP of normal breast cells clustered by their NB-lncRNA expression </a:t>
            </a:r>
            <a:r>
              <a:rPr lang="en-US" sz="2400" b="1" dirty="0">
                <a:latin typeface="Montserrat" pitchFamily="2" charset="77"/>
              </a:rPr>
              <a:t>(A) </a:t>
            </a:r>
            <a:r>
              <a:rPr lang="en-US" sz="2400" dirty="0">
                <a:latin typeface="Montserrat" pitchFamily="2" charset="77"/>
              </a:rPr>
              <a:t>or GENCODE-annotated gene expression </a:t>
            </a:r>
            <a:r>
              <a:rPr lang="en-US" sz="2400" b="1" dirty="0">
                <a:latin typeface="Montserrat" pitchFamily="2" charset="77"/>
              </a:rPr>
              <a:t>(B)</a:t>
            </a:r>
            <a:r>
              <a:rPr lang="en-US" sz="2400" dirty="0">
                <a:latin typeface="Montserrat" pitchFamily="2" charset="77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Montserrat" pitchFamily="2" charset="77"/>
              </a:rPr>
              <a:t>Heatmaps showing the top 10 assigned markers for each L-cluster </a:t>
            </a:r>
            <a:r>
              <a:rPr lang="en-US" sz="2400" b="1" dirty="0">
                <a:latin typeface="Montserrat" pitchFamily="2" charset="77"/>
              </a:rPr>
              <a:t>(C) </a:t>
            </a:r>
            <a:r>
              <a:rPr lang="en-US" sz="2400" dirty="0">
                <a:latin typeface="Montserrat" pitchFamily="2" charset="77"/>
              </a:rPr>
              <a:t>or A-Cluster </a:t>
            </a:r>
            <a:r>
              <a:rPr lang="en-US" sz="2400" b="1" dirty="0">
                <a:latin typeface="Montserrat" pitchFamily="2" charset="77"/>
              </a:rPr>
              <a:t>(D)</a:t>
            </a:r>
            <a:r>
              <a:rPr lang="en-US" sz="2400" dirty="0">
                <a:latin typeface="Montserrat" pitchFamily="2" charset="77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Montserrat" pitchFamily="2" charset="77"/>
              </a:rPr>
              <a:t>Heatmap of assigned A-cluster markers previously reported in literature </a:t>
            </a:r>
            <a:r>
              <a:rPr lang="en-US" sz="2400" b="1" dirty="0">
                <a:latin typeface="Montserrat" pitchFamily="2" charset="77"/>
              </a:rPr>
              <a:t>(E)</a:t>
            </a:r>
            <a:r>
              <a:rPr lang="en-US" sz="2400" dirty="0">
                <a:latin typeface="Montserrat" pitchFamily="2" charset="77"/>
              </a:rPr>
              <a:t>.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72725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FD1F1-9684-32C3-2EB4-48E0D2BC6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DBEEF-3E93-D5FA-4C4A-236A990B3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283" y="322845"/>
            <a:ext cx="6345176" cy="865875"/>
          </a:xfrm>
        </p:spPr>
        <p:txBody>
          <a:bodyPr>
            <a:noAutofit/>
          </a:bodyPr>
          <a:lstStyle/>
          <a:p>
            <a:r>
              <a:rPr lang="en-US" sz="4800" dirty="0">
                <a:latin typeface="Crimson Pro Medium" pitchFamily="2" charset="77"/>
              </a:rPr>
              <a:t>lncRNA Tissue Specificity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AB294-A982-5E8E-5698-702B8F7AE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616" y="1188720"/>
            <a:ext cx="6037996" cy="468614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Montserrat" pitchFamily="2" charset="77"/>
              </a:rPr>
              <a:t>(A): </a:t>
            </a:r>
            <a:r>
              <a:rPr lang="en-US" sz="2400" dirty="0">
                <a:latin typeface="Montserrat" pitchFamily="2" charset="77"/>
              </a:rPr>
              <a:t>Global tissue specificity of genes across 27 human tissues.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Montserrat" pitchFamily="2" charset="77"/>
              </a:rPr>
              <a:t>UMAP of cells from a healthy human brain based on GENCODE genes expression </a:t>
            </a:r>
            <a:r>
              <a:rPr lang="en-US" sz="2400" b="1" dirty="0">
                <a:latin typeface="Montserrat" pitchFamily="2" charset="77"/>
              </a:rPr>
              <a:t>(B) </a:t>
            </a:r>
            <a:r>
              <a:rPr lang="en-US" sz="2400" dirty="0">
                <a:latin typeface="Montserrat" pitchFamily="2" charset="77"/>
              </a:rPr>
              <a:t>or NB-lncRNAs </a:t>
            </a:r>
            <a:r>
              <a:rPr lang="en-US" sz="2400" b="1" dirty="0">
                <a:latin typeface="Montserrat" pitchFamily="2" charset="77"/>
              </a:rPr>
              <a:t>(C)</a:t>
            </a:r>
            <a:r>
              <a:rPr lang="en-US" sz="2400" dirty="0">
                <a:latin typeface="Montserrat" pitchFamily="2" charset="77"/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Montserrat" pitchFamily="2" charset="77"/>
              </a:rPr>
              <a:t>Clusters labelled based on known biomarkers of the represented brain cell types.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Montserrat" pitchFamily="2" charset="77"/>
              </a:rPr>
              <a:t>LncRNAs </a:t>
            </a:r>
            <a:r>
              <a:rPr lang="en-US" sz="2400" i="1" dirty="0">
                <a:latin typeface="Montserrat" pitchFamily="2" charset="77"/>
              </a:rPr>
              <a:t>(both GENCODE and NB-lncRNAs)</a:t>
            </a:r>
            <a:r>
              <a:rPr lang="en-US" sz="2400" dirty="0">
                <a:latin typeface="Montserrat" pitchFamily="2" charset="77"/>
              </a:rPr>
              <a:t> demonstrate increased specificity in tissue type compared to coding genes.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2000" dirty="0">
              <a:latin typeface="Montserrat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3192BD-A235-22C2-8A0D-7A705FE5E8A2}"/>
              </a:ext>
            </a:extLst>
          </p:cNvPr>
          <p:cNvSpPr txBox="1"/>
          <p:nvPr/>
        </p:nvSpPr>
        <p:spPr>
          <a:xfrm>
            <a:off x="3700833" y="6160678"/>
            <a:ext cx="83532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Bitar et al. (2023) 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Redefining normal breast cell populations using long noncoding RNAs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Figure 6. “NB-lncRNAs cannot identify human brain cell types.”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39CC4A-C09B-4987-616F-B41704A088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8792" y="112547"/>
            <a:ext cx="5199592" cy="576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235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8C0FC-5FBC-93B7-F0EB-C307477B2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F21E4-7FA1-D387-37C4-879A3078D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5791" y="2005707"/>
            <a:ext cx="7240418" cy="2125578"/>
          </a:xfrm>
        </p:spPr>
        <p:txBody>
          <a:bodyPr>
            <a:noAutofit/>
          </a:bodyPr>
          <a:lstStyle/>
          <a:p>
            <a:pPr marL="1028700" indent="-10287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 startAt="2"/>
            </a:pPr>
            <a:r>
              <a:rPr lang="en-US" sz="5400" dirty="0">
                <a:latin typeface="Crimson Pro Medium" pitchFamily="2" charset="77"/>
                <a:cs typeface="Arial" panose="020B0604020202020204" pitchFamily="34" charset="0"/>
              </a:rPr>
              <a:t>Collected Neural and Non-Neural Datasets.</a:t>
            </a:r>
          </a:p>
          <a:p>
            <a:pPr marL="571500" indent="-5715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 startAt="2"/>
            </a:pPr>
            <a:endParaRPr lang="en-US" sz="5400" dirty="0">
              <a:latin typeface="Crimson Pro Medium" pitchFamily="2" charset="7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256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F8D71-C530-D08F-B631-5D88A5621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652660-B1DA-9787-3B79-75A3ADE80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391072"/>
              </p:ext>
            </p:extLst>
          </p:nvPr>
        </p:nvGraphicFramePr>
        <p:xfrm>
          <a:off x="207083" y="129033"/>
          <a:ext cx="11767203" cy="575081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81029">
                  <a:extLst>
                    <a:ext uri="{9D8B030D-6E8A-4147-A177-3AD203B41FA5}">
                      <a16:colId xmlns:a16="http://schemas.microsoft.com/office/drawing/2014/main" val="4147756789"/>
                    </a:ext>
                  </a:extLst>
                </a:gridCol>
                <a:gridCol w="1681029">
                  <a:extLst>
                    <a:ext uri="{9D8B030D-6E8A-4147-A177-3AD203B41FA5}">
                      <a16:colId xmlns:a16="http://schemas.microsoft.com/office/drawing/2014/main" val="3531113738"/>
                    </a:ext>
                  </a:extLst>
                </a:gridCol>
                <a:gridCol w="1681029">
                  <a:extLst>
                    <a:ext uri="{9D8B030D-6E8A-4147-A177-3AD203B41FA5}">
                      <a16:colId xmlns:a16="http://schemas.microsoft.com/office/drawing/2014/main" val="3468737431"/>
                    </a:ext>
                  </a:extLst>
                </a:gridCol>
                <a:gridCol w="1681029">
                  <a:extLst>
                    <a:ext uri="{9D8B030D-6E8A-4147-A177-3AD203B41FA5}">
                      <a16:colId xmlns:a16="http://schemas.microsoft.com/office/drawing/2014/main" val="1421334018"/>
                    </a:ext>
                  </a:extLst>
                </a:gridCol>
                <a:gridCol w="1681029">
                  <a:extLst>
                    <a:ext uri="{9D8B030D-6E8A-4147-A177-3AD203B41FA5}">
                      <a16:colId xmlns:a16="http://schemas.microsoft.com/office/drawing/2014/main" val="626293669"/>
                    </a:ext>
                  </a:extLst>
                </a:gridCol>
                <a:gridCol w="1681029">
                  <a:extLst>
                    <a:ext uri="{9D8B030D-6E8A-4147-A177-3AD203B41FA5}">
                      <a16:colId xmlns:a16="http://schemas.microsoft.com/office/drawing/2014/main" val="2049199426"/>
                    </a:ext>
                  </a:extLst>
                </a:gridCol>
                <a:gridCol w="1681029">
                  <a:extLst>
                    <a:ext uri="{9D8B030D-6E8A-4147-A177-3AD203B41FA5}">
                      <a16:colId xmlns:a16="http://schemas.microsoft.com/office/drawing/2014/main" val="2976415646"/>
                    </a:ext>
                  </a:extLst>
                </a:gridCol>
              </a:tblGrid>
              <a:tr h="926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Neural v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Non-Neural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Tissue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File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Annotation Hierarchy</a:t>
                      </a:r>
                      <a:br>
                        <a:rPr lang="en-US" sz="1600" b="1" u="none" strike="noStrike" dirty="0">
                          <a:effectLst/>
                        </a:rPr>
                      </a:br>
                      <a:r>
                        <a:rPr lang="en-US" sz="1200" b="1" i="0" u="none" strike="noStrike" dirty="0">
                          <a:effectLst/>
                        </a:rPr>
                        <a:t>(</a:t>
                      </a:r>
                      <a:r>
                        <a:rPr lang="en-US" sz="1200" b="1" i="1" u="none" strike="noStrike" dirty="0">
                          <a:effectLst/>
                        </a:rPr>
                        <a:t>finest granularity</a:t>
                      </a:r>
                      <a:r>
                        <a:rPr lang="en-US" sz="1200" b="1" i="0" u="none" strike="noStrike" dirty="0">
                          <a:effectLst/>
                        </a:rPr>
                        <a:t>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Number of Cell Types</a:t>
                      </a:r>
                      <a:br>
                        <a:rPr lang="en-US" sz="1600" b="1" u="none" strike="noStrike" dirty="0">
                          <a:effectLst/>
                        </a:rPr>
                      </a:br>
                      <a:r>
                        <a:rPr lang="en-US" sz="1200" b="1" u="none" strike="noStrike" dirty="0">
                          <a:effectLst/>
                        </a:rPr>
                        <a:t>(← in finest granularity)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Cells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File Size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3397112"/>
                  </a:ext>
                </a:extLst>
              </a:tr>
              <a:tr h="600485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1" u="none" strike="noStrike" dirty="0">
                          <a:effectLst/>
                        </a:rPr>
                        <a:t>Neural</a:t>
                      </a:r>
                      <a:endParaRPr lang="en-US" sz="1400" b="1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Motor Cortex (M1)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sng" strike="noStrike">
                          <a:effectLst/>
                          <a:hlinkClick r:id="rId2"/>
                        </a:rPr>
                        <a:t>Dissection: Cerebral cortex (Cx) - Precentral gyrus (PrCG) - Primary motor cortex - M1C</a:t>
                      </a:r>
                      <a:endParaRPr lang="en-US" sz="900" b="0" i="0" u="sng" strike="noStrike">
                        <a:solidFill>
                          <a:srgbClr val="215C98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i="1" u="none" strike="noStrike" dirty="0" err="1">
                          <a:effectLst/>
                        </a:rPr>
                        <a:t>cell_type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35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116.6k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1.49 GB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96640962"/>
                  </a:ext>
                </a:extLst>
              </a:tr>
              <a:tr h="6004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Middle Temporal Gyrus (MTG)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sng" strike="noStrike">
                          <a:effectLst/>
                          <a:hlinkClick r:id="rId2"/>
                        </a:rPr>
                        <a:t>Dissection: Cerebral cortex (Cx) - Middle Temporal Gyrus - MTG</a:t>
                      </a:r>
                      <a:endParaRPr lang="en-US" sz="900" b="0" i="0" u="sng" strike="noStrike">
                        <a:solidFill>
                          <a:srgbClr val="215C98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i="1" u="none" strike="noStrike" dirty="0" err="1">
                          <a:effectLst/>
                        </a:rPr>
                        <a:t>cell_type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28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107.3k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1.32 GB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31437333"/>
                  </a:ext>
                </a:extLst>
              </a:tr>
              <a:tr h="6004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Retina (snRNA)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sng" strike="noStrike" dirty="0">
                          <a:effectLst/>
                          <a:hlinkClick r:id="rId3"/>
                        </a:rPr>
                        <a:t>snRNA-seq of human retina - all cells</a:t>
                      </a:r>
                      <a:endParaRPr lang="en-US" sz="900" b="0" i="0" u="sng" strike="noStrike" dirty="0">
                        <a:solidFill>
                          <a:srgbClr val="215C98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majorclass</a:t>
                      </a:r>
                      <a:r>
                        <a:rPr lang="en-US" sz="1200" u="none" strike="noStrike" dirty="0">
                          <a:effectLst/>
                        </a:rPr>
                        <a:t> → </a:t>
                      </a:r>
                      <a:r>
                        <a:rPr lang="en-US" sz="1200" u="none" strike="noStrike" dirty="0" err="1">
                          <a:effectLst/>
                        </a:rPr>
                        <a:t>cell_type</a:t>
                      </a:r>
                      <a:r>
                        <a:rPr lang="en-US" sz="1200" u="none" strike="noStrike" dirty="0">
                          <a:effectLst/>
                        </a:rPr>
                        <a:t> → </a:t>
                      </a:r>
                      <a:r>
                        <a:rPr lang="en-US" sz="1200" i="1" u="none" strike="noStrike" dirty="0" err="1">
                          <a:effectLst/>
                        </a:rPr>
                        <a:t>author_cell_type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205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3.2M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37.74 GB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59952615"/>
                  </a:ext>
                </a:extLst>
              </a:tr>
              <a:tr h="6004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Spinal Cord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sng" strike="noStrike">
                          <a:effectLst/>
                          <a:hlinkClick r:id="rId2"/>
                        </a:rPr>
                        <a:t>(Dissection: Spinal cord - SpC)</a:t>
                      </a:r>
                      <a:endParaRPr lang="en-US" sz="900" b="0" i="0" u="sng" strike="noStrike">
                        <a:solidFill>
                          <a:srgbClr val="215C98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i="1" u="none" strike="noStrike" dirty="0" err="1">
                          <a:effectLst/>
                        </a:rPr>
                        <a:t>cell_type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24.2k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154.4 MB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6569976"/>
                  </a:ext>
                </a:extLst>
              </a:tr>
              <a:tr h="621371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1" u="none" strike="noStrike" dirty="0">
                          <a:effectLst/>
                        </a:rPr>
                        <a:t>Non-Neural</a:t>
                      </a:r>
                      <a:endParaRPr lang="en-US" sz="1400" b="1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Breast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sng" strike="noStrike">
                          <a:effectLst/>
                          <a:hlinkClick r:id="rId4"/>
                        </a:rPr>
                        <a:t>(HBCA - global)</a:t>
                      </a:r>
                      <a:endParaRPr lang="en-US" sz="900" b="0" i="0" u="sng" strike="noStrike">
                        <a:solidFill>
                          <a:srgbClr val="215C98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level0_global → level1_global → </a:t>
                      </a:r>
                      <a:r>
                        <a:rPr lang="en-US" sz="1200" u="none" strike="noStrike" dirty="0" err="1">
                          <a:effectLst/>
                        </a:rPr>
                        <a:t>cell_type</a:t>
                      </a:r>
                      <a:r>
                        <a:rPr lang="en-US" sz="1200" u="none" strike="noStrike" dirty="0">
                          <a:effectLst/>
                        </a:rPr>
                        <a:t> → </a:t>
                      </a:r>
                      <a:r>
                        <a:rPr lang="en-US" sz="1200" i="1" u="none" strike="noStrike" dirty="0">
                          <a:effectLst/>
                        </a:rPr>
                        <a:t>level2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44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803.2k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8.34 GB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764040"/>
                  </a:ext>
                </a:extLst>
              </a:tr>
              <a:tr h="6004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Heart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sng" strike="noStrike">
                          <a:effectLst/>
                          <a:hlinkClick r:id="rId5"/>
                        </a:rPr>
                        <a:t>(Heart)</a:t>
                      </a:r>
                      <a:endParaRPr lang="en-US" sz="900" b="0" i="0" u="sng" strike="noStrike">
                        <a:solidFill>
                          <a:srgbClr val="215C98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cell_type</a:t>
                      </a:r>
                      <a:r>
                        <a:rPr lang="en-US" sz="1200" u="none" strike="noStrike" dirty="0">
                          <a:effectLst/>
                        </a:rPr>
                        <a:t> → </a:t>
                      </a:r>
                      <a:r>
                        <a:rPr lang="en-US" sz="1200" i="1" u="none" strike="noStrike" dirty="0" err="1">
                          <a:effectLst/>
                        </a:rPr>
                        <a:t>Curated_annotation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931.0k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6.45 GB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17326967"/>
                  </a:ext>
                </a:extLst>
              </a:tr>
              <a:tr h="6004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Kidney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sng" strike="noStrike">
                          <a:effectLst/>
                          <a:hlinkClick r:id="rId6"/>
                        </a:rPr>
                        <a:t>(Integrated Single-nucleus and Single-cell RNA-seq of the Adult Human Kidney)</a:t>
                      </a:r>
                      <a:endParaRPr lang="en-US" sz="900" b="0" i="0" u="sng" strike="noStrike">
                        <a:solidFill>
                          <a:srgbClr val="215C98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cell_type</a:t>
                      </a:r>
                      <a:r>
                        <a:rPr lang="en-US" sz="1200" u="none" strike="noStrike" dirty="0">
                          <a:effectLst/>
                        </a:rPr>
                        <a:t> → </a:t>
                      </a:r>
                      <a:r>
                        <a:rPr lang="en-US" sz="1200" i="1" u="none" strike="noStrike" dirty="0" err="1">
                          <a:effectLst/>
                        </a:rPr>
                        <a:t>subclass.full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304.6k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2.96 GB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88663272"/>
                  </a:ext>
                </a:extLst>
              </a:tr>
              <a:tr h="6004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Lung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sng" strike="noStrike" dirty="0">
                          <a:effectLst/>
                          <a:hlinkClick r:id="rId7"/>
                        </a:rPr>
                        <a:t>(An integrated cell atlas of the human lung in health and disease (core)</a:t>
                      </a:r>
                      <a:endParaRPr lang="en-US" sz="900" b="0" i="0" u="sng" strike="noStrike" dirty="0">
                        <a:solidFill>
                          <a:srgbClr val="215C98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cell_type</a:t>
                      </a:r>
                      <a:r>
                        <a:rPr lang="en-US" sz="1200" u="none" strike="noStrike" dirty="0">
                          <a:effectLst/>
                        </a:rPr>
                        <a:t> → </a:t>
                      </a:r>
                      <a:r>
                        <a:rPr lang="en-US" sz="1200" i="1" u="none" strike="noStrike" dirty="0" err="1">
                          <a:effectLst/>
                        </a:rPr>
                        <a:t>ann_finest_level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61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584.9k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5.87 GB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40752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2818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4E8B3-B469-3215-47AE-21CD612F7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EB038-6D6B-FD1C-1509-7B249DECA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5791" y="2005707"/>
            <a:ext cx="7240418" cy="2125578"/>
          </a:xfrm>
        </p:spPr>
        <p:txBody>
          <a:bodyPr>
            <a:noAutofit/>
          </a:bodyPr>
          <a:lstStyle/>
          <a:p>
            <a:pPr marL="1028700" indent="-10287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 startAt="3"/>
            </a:pPr>
            <a:r>
              <a:rPr lang="en-US" sz="5400" dirty="0">
                <a:latin typeface="Crimson Pro Medium" pitchFamily="2" charset="77"/>
                <a:cs typeface="Arial" panose="020B0604020202020204" pitchFamily="34" charset="0"/>
              </a:rPr>
              <a:t>The Special Case of Retina snRNA.</a:t>
            </a:r>
          </a:p>
          <a:p>
            <a:pPr marL="571500" indent="-5715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 startAt="3"/>
            </a:pPr>
            <a:endParaRPr lang="en-US" sz="5400" dirty="0">
              <a:latin typeface="Crimson Pro Medium" pitchFamily="2" charset="7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115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C9A97-FCE9-BFFF-C187-0AF258E82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86A2C-535D-0D53-591E-3EB5811EC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39" y="421420"/>
            <a:ext cx="714339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scRNA Retina Cell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02F1F-6C32-8714-7026-51AC4A683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4600" y="1425135"/>
            <a:ext cx="7807400" cy="4424656"/>
          </a:xfrm>
        </p:spPr>
        <p:txBody>
          <a:bodyPr>
            <a:noAutofit/>
          </a:bodyPr>
          <a:lstStyle/>
          <a:p>
            <a:pPr>
              <a:lnSpc>
                <a:spcPts val="2880"/>
              </a:lnSpc>
            </a:pPr>
            <a:r>
              <a:rPr lang="en-US" sz="2400" i="1" dirty="0">
                <a:latin typeface="Montserrat" pitchFamily="2" charset="77"/>
              </a:rPr>
              <a:t>Are there differences in lncRNA biomarker performance between neuronal and non-neuronal cells in the retina?</a:t>
            </a:r>
          </a:p>
          <a:p>
            <a:pPr>
              <a:lnSpc>
                <a:spcPts val="2880"/>
              </a:lnSpc>
            </a:pPr>
            <a:r>
              <a:rPr lang="en-US" sz="2400" dirty="0">
                <a:latin typeface="Montserrat" pitchFamily="2" charset="77"/>
              </a:rPr>
              <a:t>The numerous neuronal cell types </a:t>
            </a:r>
            <a:r>
              <a:rPr lang="en-US" sz="2400" b="1" dirty="0">
                <a:latin typeface="Montserrat" pitchFamily="2" charset="77"/>
              </a:rPr>
              <a:t>drastically raises runtime </a:t>
            </a:r>
            <a:r>
              <a:rPr lang="en-US" sz="2400" dirty="0">
                <a:latin typeface="Montserrat" pitchFamily="2" charset="77"/>
              </a:rPr>
              <a:t>without harsh down sampling.</a:t>
            </a:r>
          </a:p>
          <a:p>
            <a:pPr lvl="1">
              <a:lnSpc>
                <a:spcPts val="2880"/>
              </a:lnSpc>
            </a:pPr>
            <a:r>
              <a:rPr lang="en-US" sz="2000" dirty="0">
                <a:latin typeface="Montserrat" pitchFamily="2" charset="77"/>
              </a:rPr>
              <a:t>At T = 500k </a:t>
            </a:r>
            <a:r>
              <a:rPr lang="en-US" sz="2000" i="1" dirty="0">
                <a:latin typeface="Montserrat" pitchFamily="2" charset="77"/>
              </a:rPr>
              <a:t>(~85% reduction of 3.2M)</a:t>
            </a:r>
            <a:r>
              <a:rPr lang="en-US" sz="2000" dirty="0">
                <a:latin typeface="Montserrat" pitchFamily="2" charset="77"/>
              </a:rPr>
              <a:t>, out of the </a:t>
            </a:r>
            <a:r>
              <a:rPr lang="en-US" sz="2000" b="1" dirty="0">
                <a:latin typeface="Montserrat" pitchFamily="2" charset="77"/>
              </a:rPr>
              <a:t>10</a:t>
            </a:r>
            <a:r>
              <a:rPr lang="en-US" sz="2000" dirty="0">
                <a:latin typeface="Montserrat" pitchFamily="2" charset="77"/>
              </a:rPr>
              <a:t> clusters ran before manual interruption, avg runtime was ~</a:t>
            </a:r>
            <a:r>
              <a:rPr lang="en-US" sz="2000" b="1" dirty="0">
                <a:latin typeface="Montserrat" pitchFamily="2" charset="77"/>
              </a:rPr>
              <a:t>7 mins / cluster</a:t>
            </a:r>
            <a:r>
              <a:rPr lang="en-US" sz="2000" dirty="0">
                <a:latin typeface="Montserrat" pitchFamily="2" charset="77"/>
              </a:rPr>
              <a:t>.</a:t>
            </a:r>
          </a:p>
          <a:p>
            <a:pPr lvl="1">
              <a:lnSpc>
                <a:spcPts val="2880"/>
              </a:lnSpc>
            </a:pPr>
            <a:r>
              <a:rPr lang="en-US" sz="2000" dirty="0">
                <a:latin typeface="Montserrat" pitchFamily="2" charset="77"/>
              </a:rPr>
              <a:t>For just the neuronal subset, that's </a:t>
            </a:r>
            <a:r>
              <a:rPr lang="en-US" sz="2000" b="1" dirty="0">
                <a:latin typeface="Montserrat" pitchFamily="2" charset="77"/>
              </a:rPr>
              <a:t>~14 hours </a:t>
            </a:r>
            <a:r>
              <a:rPr lang="en-US" sz="2000" dirty="0">
                <a:latin typeface="Montserrat" pitchFamily="2" charset="77"/>
              </a:rPr>
              <a:t>to run NS-Forest on all 119 neuronal cell types :[</a:t>
            </a:r>
          </a:p>
          <a:p>
            <a:pPr lvl="1">
              <a:lnSpc>
                <a:spcPts val="2880"/>
              </a:lnSpc>
            </a:pPr>
            <a:r>
              <a:rPr lang="en-US" sz="2000" dirty="0">
                <a:latin typeface="Montserrat" pitchFamily="2" charset="77"/>
              </a:rPr>
              <a:t>For T = 250k </a:t>
            </a:r>
            <a:r>
              <a:rPr lang="en-US" sz="2000" i="1" dirty="0">
                <a:latin typeface="Montserrat" pitchFamily="2" charset="77"/>
              </a:rPr>
              <a:t>(~92%)</a:t>
            </a:r>
            <a:r>
              <a:rPr lang="en-US" sz="2000" dirty="0">
                <a:latin typeface="Montserrat" pitchFamily="2" charset="77"/>
              </a:rPr>
              <a:t>, its </a:t>
            </a:r>
            <a:r>
              <a:rPr lang="en-US" sz="2000" b="1" dirty="0">
                <a:latin typeface="Montserrat" pitchFamily="2" charset="77"/>
              </a:rPr>
              <a:t>~3 mins / cluster </a:t>
            </a:r>
            <a:r>
              <a:rPr lang="en-US" sz="2000" dirty="0">
                <a:latin typeface="Montserrat" pitchFamily="2" charset="77"/>
              </a:rPr>
              <a:t>(</a:t>
            </a:r>
            <a:r>
              <a:rPr lang="en-US" sz="2000" b="1" dirty="0">
                <a:latin typeface="Montserrat" pitchFamily="2" charset="77"/>
              </a:rPr>
              <a:t>~6 hours</a:t>
            </a:r>
            <a:r>
              <a:rPr lang="en-US" sz="2000" dirty="0">
                <a:latin typeface="Montserrat" pitchFamily="2" charset="77"/>
              </a:rPr>
              <a:t>)</a:t>
            </a:r>
          </a:p>
          <a:p>
            <a:pPr lvl="1">
              <a:lnSpc>
                <a:spcPts val="2880"/>
              </a:lnSpc>
            </a:pPr>
            <a:endParaRPr lang="en-US" sz="2000" dirty="0">
              <a:latin typeface="Montserrat" pitchFamily="2" charset="77"/>
            </a:endParaRPr>
          </a:p>
          <a:p>
            <a:pPr lvl="1">
              <a:lnSpc>
                <a:spcPts val="2880"/>
              </a:lnSpc>
            </a:pPr>
            <a:endParaRPr lang="en-US" sz="2000" dirty="0">
              <a:latin typeface="Montserrat" pitchFamily="2" charset="77"/>
            </a:endParaRPr>
          </a:p>
          <a:p>
            <a:pPr lvl="1">
              <a:lnSpc>
                <a:spcPts val="2880"/>
              </a:lnSpc>
            </a:pPr>
            <a:endParaRPr lang="en-US" sz="2000" dirty="0">
              <a:latin typeface="Montserrat" pitchFamily="2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63B50F-0A83-BD7B-845A-6AABA963496A}"/>
              </a:ext>
            </a:extLst>
          </p:cNvPr>
          <p:cNvSpPr txBox="1"/>
          <p:nvPr/>
        </p:nvSpPr>
        <p:spPr>
          <a:xfrm>
            <a:off x="7435885" y="453303"/>
            <a:ext cx="409070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i="1" dirty="0">
                <a:latin typeface="Montserrat" pitchFamily="2" charset="77"/>
              </a:rPr>
              <a:t>(</a:t>
            </a:r>
            <a:r>
              <a:rPr lang="en-US" sz="2000" b="1" i="1" dirty="0">
                <a:latin typeface="Montserrat" pitchFamily="2" charset="77"/>
              </a:rPr>
              <a:t>205</a:t>
            </a:r>
            <a:r>
              <a:rPr lang="en-US" sz="2000" i="1" dirty="0">
                <a:latin typeface="Montserrat" pitchFamily="2" charset="77"/>
              </a:rPr>
              <a:t> in total, with </a:t>
            </a:r>
            <a:r>
              <a:rPr lang="en-US" sz="2000" b="1" i="1" dirty="0">
                <a:latin typeface="Montserrat" pitchFamily="2" charset="77"/>
              </a:rPr>
              <a:t>119</a:t>
            </a:r>
            <a:r>
              <a:rPr lang="en-US" sz="2000" i="1" dirty="0">
                <a:latin typeface="Montserrat" pitchFamily="2" charset="77"/>
              </a:rPr>
              <a:t> neuronal and </a:t>
            </a:r>
            <a:r>
              <a:rPr lang="en-US" sz="2000" b="1" i="1" dirty="0">
                <a:latin typeface="Montserrat" pitchFamily="2" charset="77"/>
              </a:rPr>
              <a:t>4</a:t>
            </a:r>
            <a:r>
              <a:rPr lang="en-US" sz="2000" i="1" dirty="0">
                <a:latin typeface="Montserrat" pitchFamily="2" charset="77"/>
              </a:rPr>
              <a:t> non-neuronal)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7949F1-723B-C6D6-4261-E16CCF789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198" y="1404648"/>
            <a:ext cx="3661026" cy="395988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2AD194B-FC25-C422-AD63-7978BBEC4EAD}"/>
                  </a:ext>
                </a:extLst>
              </p14:cNvPr>
              <p14:cNvContentPartPr/>
              <p14:nvPr/>
            </p14:nvContentPartPr>
            <p14:xfrm>
              <a:off x="1070529" y="5646766"/>
              <a:ext cx="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2AD194B-FC25-C422-AD63-7978BBEC4EA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4409" y="5640646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Rounded Rectangular Callout 24">
            <a:extLst>
              <a:ext uri="{FF2B5EF4-FFF2-40B4-BE49-F238E27FC236}">
                <a16:creationId xmlns:a16="http://schemas.microsoft.com/office/drawing/2014/main" id="{1ECF6575-31A7-B48A-CF70-F159CA63FBD2}"/>
              </a:ext>
            </a:extLst>
          </p:cNvPr>
          <p:cNvSpPr/>
          <p:nvPr/>
        </p:nvSpPr>
        <p:spPr>
          <a:xfrm>
            <a:off x="3298849" y="4958464"/>
            <a:ext cx="1260035" cy="1019239"/>
          </a:xfrm>
          <a:prstGeom prst="wedgeRoundRectCallout">
            <a:avLst>
              <a:gd name="adj1" fmla="val -58385"/>
              <a:gd name="adj2" fmla="val -3398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A2BBAA2-79D7-CCAB-3F0C-B9AB38BE7C40}"/>
              </a:ext>
            </a:extLst>
          </p:cNvPr>
          <p:cNvGrpSpPr/>
          <p:nvPr/>
        </p:nvGrpSpPr>
        <p:grpSpPr>
          <a:xfrm>
            <a:off x="3383634" y="5040327"/>
            <a:ext cx="1085751" cy="850712"/>
            <a:chOff x="9369082" y="2841397"/>
            <a:chExt cx="1911776" cy="149860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BB8F7EB-E00E-52DD-2E06-4840B07D3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75083"/>
            <a:stretch>
              <a:fillRect/>
            </a:stretch>
          </p:blipFill>
          <p:spPr>
            <a:xfrm>
              <a:off x="10360004" y="2841397"/>
              <a:ext cx="920854" cy="14986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A87F4BE-4282-A229-A904-97A306026A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72244"/>
            <a:stretch>
              <a:fillRect/>
            </a:stretch>
          </p:blipFill>
          <p:spPr>
            <a:xfrm>
              <a:off x="9369082" y="2841397"/>
              <a:ext cx="1025775" cy="1498600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3FB40C7-B7A2-BA84-A758-612DD3303DA1}"/>
                  </a:ext>
                </a:extLst>
              </p14:cNvPr>
              <p14:cNvContentPartPr/>
              <p14:nvPr/>
            </p14:nvContentPartPr>
            <p14:xfrm>
              <a:off x="2267358" y="3847622"/>
              <a:ext cx="1156680" cy="15433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3FB40C7-B7A2-BA84-A758-612DD3303DA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61238" y="3841502"/>
                <a:ext cx="1168920" cy="155556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Rounded Rectangular Callout 18">
            <a:extLst>
              <a:ext uri="{FF2B5EF4-FFF2-40B4-BE49-F238E27FC236}">
                <a16:creationId xmlns:a16="http://schemas.microsoft.com/office/drawing/2014/main" id="{508BC724-14D3-DD59-25F0-64F3D259A99F}"/>
              </a:ext>
            </a:extLst>
          </p:cNvPr>
          <p:cNvSpPr/>
          <p:nvPr/>
        </p:nvSpPr>
        <p:spPr>
          <a:xfrm>
            <a:off x="258902" y="5396111"/>
            <a:ext cx="975770" cy="379307"/>
          </a:xfrm>
          <a:prstGeom prst="wedgeRoundRectCallout">
            <a:avLst>
              <a:gd name="adj1" fmla="val 29322"/>
              <a:gd name="adj2" fmla="val -12424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Amacrine</a:t>
            </a:r>
          </a:p>
        </p:txBody>
      </p:sp>
      <p:sp>
        <p:nvSpPr>
          <p:cNvPr id="20" name="Rounded Rectangular Callout 19">
            <a:extLst>
              <a:ext uri="{FF2B5EF4-FFF2-40B4-BE49-F238E27FC236}">
                <a16:creationId xmlns:a16="http://schemas.microsoft.com/office/drawing/2014/main" id="{30F8D587-9E3A-DA32-7605-04961F623C8A}"/>
              </a:ext>
            </a:extLst>
          </p:cNvPr>
          <p:cNvSpPr/>
          <p:nvPr/>
        </p:nvSpPr>
        <p:spPr>
          <a:xfrm>
            <a:off x="582644" y="1493466"/>
            <a:ext cx="975770" cy="379307"/>
          </a:xfrm>
          <a:prstGeom prst="wedgeRoundRectCallout">
            <a:avLst>
              <a:gd name="adj1" fmla="val 39881"/>
              <a:gd name="adj2" fmla="val 177943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Bipolar</a:t>
            </a:r>
          </a:p>
        </p:txBody>
      </p:sp>
      <p:sp>
        <p:nvSpPr>
          <p:cNvPr id="21" name="Rounded Rectangular Callout 20">
            <a:extLst>
              <a:ext uri="{FF2B5EF4-FFF2-40B4-BE49-F238E27FC236}">
                <a16:creationId xmlns:a16="http://schemas.microsoft.com/office/drawing/2014/main" id="{B4B07DFA-4E32-ED5C-14EE-5099C8CA3D23}"/>
              </a:ext>
            </a:extLst>
          </p:cNvPr>
          <p:cNvSpPr/>
          <p:nvPr/>
        </p:nvSpPr>
        <p:spPr>
          <a:xfrm>
            <a:off x="4070999" y="4010441"/>
            <a:ext cx="975770" cy="379307"/>
          </a:xfrm>
          <a:prstGeom prst="wedgeRoundRectCallout">
            <a:avLst>
              <a:gd name="adj1" fmla="val -63069"/>
              <a:gd name="adj2" fmla="val 2515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Cone</a:t>
            </a:r>
          </a:p>
        </p:txBody>
      </p:sp>
      <p:sp>
        <p:nvSpPr>
          <p:cNvPr id="22" name="Rounded Rectangular Callout 21">
            <a:extLst>
              <a:ext uri="{FF2B5EF4-FFF2-40B4-BE49-F238E27FC236}">
                <a16:creationId xmlns:a16="http://schemas.microsoft.com/office/drawing/2014/main" id="{4447D119-F291-733D-BDC8-BF01AC9F1B47}"/>
              </a:ext>
            </a:extLst>
          </p:cNvPr>
          <p:cNvSpPr/>
          <p:nvPr/>
        </p:nvSpPr>
        <p:spPr>
          <a:xfrm>
            <a:off x="3538951" y="2224760"/>
            <a:ext cx="975770" cy="379307"/>
          </a:xfrm>
          <a:prstGeom prst="wedgeRoundRectCallout">
            <a:avLst>
              <a:gd name="adj1" fmla="val -35352"/>
              <a:gd name="adj2" fmla="val 79477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Rod</a:t>
            </a:r>
          </a:p>
        </p:txBody>
      </p:sp>
      <p:sp>
        <p:nvSpPr>
          <p:cNvPr id="23" name="Rounded Rectangular Callout 22">
            <a:extLst>
              <a:ext uri="{FF2B5EF4-FFF2-40B4-BE49-F238E27FC236}">
                <a16:creationId xmlns:a16="http://schemas.microsoft.com/office/drawing/2014/main" id="{E3553203-88B5-0CA3-F38D-8256367442CD}"/>
              </a:ext>
            </a:extLst>
          </p:cNvPr>
          <p:cNvSpPr/>
          <p:nvPr/>
        </p:nvSpPr>
        <p:spPr>
          <a:xfrm>
            <a:off x="2934803" y="1717541"/>
            <a:ext cx="975770" cy="379307"/>
          </a:xfrm>
          <a:prstGeom prst="wedgeRoundRectCallout">
            <a:avLst>
              <a:gd name="adj1" fmla="val -73628"/>
              <a:gd name="adj2" fmla="val 167757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Horizontal</a:t>
            </a:r>
          </a:p>
        </p:txBody>
      </p:sp>
      <p:sp>
        <p:nvSpPr>
          <p:cNvPr id="24" name="Rounded Rectangular Callout 23">
            <a:extLst>
              <a:ext uri="{FF2B5EF4-FFF2-40B4-BE49-F238E27FC236}">
                <a16:creationId xmlns:a16="http://schemas.microsoft.com/office/drawing/2014/main" id="{DB519DC0-58A5-D1E5-C6C3-A9724F6CD321}"/>
              </a:ext>
            </a:extLst>
          </p:cNvPr>
          <p:cNvSpPr/>
          <p:nvPr/>
        </p:nvSpPr>
        <p:spPr>
          <a:xfrm>
            <a:off x="2323079" y="1228189"/>
            <a:ext cx="975770" cy="379307"/>
          </a:xfrm>
          <a:prstGeom prst="wedgeRoundRectCallout">
            <a:avLst>
              <a:gd name="adj1" fmla="val -63069"/>
              <a:gd name="adj2" fmla="val 3873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RGC</a:t>
            </a:r>
          </a:p>
        </p:txBody>
      </p:sp>
    </p:spTree>
    <p:extLst>
      <p:ext uri="{BB962C8B-B14F-4D97-AF65-F5344CB8AC3E}">
        <p14:creationId xmlns:p14="http://schemas.microsoft.com/office/powerpoint/2010/main" val="2287893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64ACC-EE8A-0947-B742-D727D4AE9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321BC-33D1-7760-401B-62ED20B6C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235" y="410300"/>
            <a:ext cx="10615491" cy="727405"/>
          </a:xfrm>
        </p:spPr>
        <p:txBody>
          <a:bodyPr anchor="ctr">
            <a:normAutofit/>
          </a:bodyPr>
          <a:lstStyle/>
          <a:p>
            <a:r>
              <a:rPr lang="en-US" sz="4400" dirty="0">
                <a:effectLst/>
                <a:latin typeface="Crimson Pro Medium" pitchFamily="2" charset="77"/>
              </a:rPr>
              <a:t>Neuron and Non-Neuron Cell Annotations</a:t>
            </a:r>
            <a:endParaRPr lang="en-US" sz="4400" i="1" dirty="0">
              <a:effectLst/>
              <a:latin typeface="Crimson Pro Medium" pitchFamily="2" charset="77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CCF0BE6-9D1B-FDE2-CCE7-0D103862E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574" y="1199916"/>
            <a:ext cx="5077615" cy="4704937"/>
          </a:xfrm>
        </p:spPr>
        <p:txBody>
          <a:bodyPr>
            <a:normAutofit/>
          </a:bodyPr>
          <a:lstStyle/>
          <a:p>
            <a:pPr fontAlgn="base"/>
            <a:r>
              <a:rPr lang="en-US" sz="2400" dirty="0">
                <a:latin typeface="Montserrat" pitchFamily="2" charset="77"/>
              </a:rPr>
              <a:t>All cell types within high-level annotation </a:t>
            </a:r>
            <a:r>
              <a:rPr lang="en-US" sz="2400" i="1" dirty="0" err="1">
                <a:latin typeface="Montserrat" pitchFamily="2" charset="77"/>
              </a:rPr>
              <a:t>majorclass</a:t>
            </a:r>
            <a:r>
              <a:rPr lang="en-US" sz="2400" dirty="0">
                <a:latin typeface="Montserrat" pitchFamily="2" charset="77"/>
              </a:rPr>
              <a:t>.</a:t>
            </a:r>
          </a:p>
          <a:p>
            <a:pPr fontAlgn="base"/>
            <a:r>
              <a:rPr lang="en-US" sz="2400" dirty="0">
                <a:latin typeface="Montserrat" pitchFamily="2" charset="77"/>
              </a:rPr>
              <a:t>Major Class </a:t>
            </a:r>
            <a:r>
              <a:rPr lang="en-US" sz="2400" dirty="0"/>
              <a:t>→</a:t>
            </a:r>
            <a:r>
              <a:rPr lang="en-US" sz="2400" dirty="0">
                <a:latin typeface="Montserrat" pitchFamily="2" charset="77"/>
              </a:rPr>
              <a:t> Number of Author Cell Types:</a:t>
            </a:r>
          </a:p>
          <a:p>
            <a:pPr lvl="1" fontAlgn="base"/>
            <a:r>
              <a:rPr lang="en-US" sz="2000" dirty="0">
                <a:latin typeface="Montserrat" pitchFamily="2" charset="77"/>
              </a:rPr>
              <a:t>Amacrine (AC) → 86</a:t>
            </a:r>
          </a:p>
          <a:p>
            <a:pPr lvl="1" fontAlgn="base"/>
            <a:r>
              <a:rPr lang="en-US" sz="2000" dirty="0">
                <a:latin typeface="Montserrat" pitchFamily="2" charset="77"/>
              </a:rPr>
              <a:t>Bipolar (BC) → 14</a:t>
            </a:r>
          </a:p>
          <a:p>
            <a:pPr lvl="1" fontAlgn="base"/>
            <a:r>
              <a:rPr lang="en-US" sz="2000" dirty="0">
                <a:latin typeface="Montserrat" pitchFamily="2" charset="77"/>
              </a:rPr>
              <a:t>Cone → 2</a:t>
            </a:r>
          </a:p>
          <a:p>
            <a:pPr lvl="1" fontAlgn="base"/>
            <a:r>
              <a:rPr lang="en-US" sz="2000" dirty="0">
                <a:latin typeface="Montserrat" pitchFamily="2" charset="77"/>
              </a:rPr>
              <a:t>Horizontal (HC) → 2</a:t>
            </a:r>
          </a:p>
          <a:p>
            <a:pPr lvl="1" fontAlgn="base"/>
            <a:r>
              <a:rPr lang="en-US" sz="2000" dirty="0">
                <a:latin typeface="Montserrat" pitchFamily="2" charset="77"/>
              </a:rPr>
              <a:t>RGC → 11</a:t>
            </a:r>
          </a:p>
          <a:p>
            <a:pPr lvl="1" fontAlgn="base"/>
            <a:r>
              <a:rPr lang="en-US" sz="2000" dirty="0">
                <a:latin typeface="Montserrat" pitchFamily="2" charset="77"/>
              </a:rPr>
              <a:t>Rod → 1</a:t>
            </a:r>
          </a:p>
          <a:p>
            <a:pPr fontAlgn="base"/>
            <a:r>
              <a:rPr lang="en-US" sz="2400" dirty="0">
                <a:latin typeface="Montserrat" pitchFamily="2" charset="77"/>
              </a:rPr>
              <a:t>Non-neuronal classes from </a:t>
            </a:r>
            <a:r>
              <a:rPr lang="en-US" sz="2400" i="1" dirty="0" err="1">
                <a:latin typeface="Montserrat" pitchFamily="2" charset="77"/>
              </a:rPr>
              <a:t>majorclass</a:t>
            </a:r>
            <a:r>
              <a:rPr lang="en-US" sz="2400" dirty="0">
                <a:latin typeface="Montserrat" pitchFamily="2" charset="77"/>
              </a:rPr>
              <a:t> map 1-1 to associated </a:t>
            </a:r>
            <a:r>
              <a:rPr lang="en-US" sz="2400" i="1" dirty="0">
                <a:latin typeface="Montserrat" pitchFamily="2" charset="77"/>
              </a:rPr>
              <a:t>author_cell_type</a:t>
            </a:r>
            <a:r>
              <a:rPr lang="en-US" sz="2400" dirty="0">
                <a:latin typeface="Montserrat" pitchFamily="2" charset="77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6302E7-00AC-2D31-0D65-7A162CADEF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189" y="1337147"/>
            <a:ext cx="6193083" cy="418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628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7E40A-F445-8EDB-D274-0C65B2EEC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87E68FE-A7EE-3B65-506F-853578BB5F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404"/>
          <a:stretch>
            <a:fillRect/>
          </a:stretch>
        </p:blipFill>
        <p:spPr>
          <a:xfrm>
            <a:off x="6725655" y="1576356"/>
            <a:ext cx="2842056" cy="40704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13E4D0-948A-6083-478B-BECC20D2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39" y="421420"/>
            <a:ext cx="9298101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Amacrine Cell Type Annotations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661D229-4CFE-CF96-DF7D-63F37B5DE724}"/>
                  </a:ext>
                </a:extLst>
              </p14:cNvPr>
              <p14:cNvContentPartPr/>
              <p14:nvPr/>
            </p14:nvContentPartPr>
            <p14:xfrm>
              <a:off x="1070529" y="5646766"/>
              <a:ext cx="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661D229-4CFE-CF96-DF7D-63F37B5DE72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4409" y="5640646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9A8559F8-0C87-DCC2-9ECE-5B3B949FA0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9"/>
          <a:stretch>
            <a:fillRect/>
          </a:stretch>
        </p:blipFill>
        <p:spPr>
          <a:xfrm>
            <a:off x="3120558" y="1576356"/>
            <a:ext cx="2842058" cy="4070410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740C481-917B-28D6-5A42-892BE9A79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502" y="4410361"/>
            <a:ext cx="2842056" cy="87128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2400" dirty="0" err="1">
                <a:latin typeface="Montserrat" pitchFamily="2" charset="77"/>
              </a:rPr>
              <a:t>author_cell_type</a:t>
            </a:r>
            <a:r>
              <a:rPr lang="en-US" sz="2400" dirty="0">
                <a:latin typeface="Montserrat" pitchFamily="2" charset="77"/>
              </a:rPr>
              <a:t>:</a:t>
            </a:r>
          </a:p>
          <a:p>
            <a:pPr marL="0" indent="0" fontAlgn="base">
              <a:buNone/>
            </a:pPr>
            <a:r>
              <a:rPr lang="en-US" sz="2400" dirty="0">
                <a:latin typeface="Montserrat" pitchFamily="2" charset="77"/>
              </a:rPr>
              <a:t>86 Clusters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D77028C9-3444-C4F2-61BF-2B0D01D5B969}"/>
              </a:ext>
            </a:extLst>
          </p:cNvPr>
          <p:cNvSpPr txBox="1">
            <a:spLocks/>
          </p:cNvSpPr>
          <p:nvPr/>
        </p:nvSpPr>
        <p:spPr>
          <a:xfrm>
            <a:off x="9349971" y="4410361"/>
            <a:ext cx="2042038" cy="87128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en-US" sz="2400" dirty="0" err="1">
                <a:latin typeface="Montserrat" pitchFamily="2" charset="77"/>
              </a:rPr>
              <a:t>cell_type</a:t>
            </a:r>
            <a:r>
              <a:rPr lang="en-US" sz="2400" dirty="0">
                <a:latin typeface="Montserrat" pitchFamily="2" charset="77"/>
              </a:rPr>
              <a:t>:</a:t>
            </a:r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en-US" sz="2400" dirty="0">
                <a:latin typeface="Montserrat" pitchFamily="2" charset="77"/>
              </a:rPr>
              <a:t>4 Clusters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3CB07BD-BA28-DAEF-90B2-810C4999FE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9953" y="1576356"/>
            <a:ext cx="2842056" cy="104143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3D938A3-38FD-C321-6152-2F3F62FA5C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0"/>
          <a:stretch>
            <a:fillRect/>
          </a:stretch>
        </p:blipFill>
        <p:spPr>
          <a:xfrm>
            <a:off x="479710" y="1576356"/>
            <a:ext cx="2439640" cy="1488453"/>
          </a:xfrm>
          <a:prstGeom prst="rect">
            <a:avLst/>
          </a:prstGeom>
        </p:spPr>
      </p:pic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54302008-3047-E19E-C17F-3BA1D76ADA84}"/>
              </a:ext>
            </a:extLst>
          </p:cNvPr>
          <p:cNvSpPr txBox="1">
            <a:spLocks/>
          </p:cNvSpPr>
          <p:nvPr/>
        </p:nvSpPr>
        <p:spPr>
          <a:xfrm>
            <a:off x="455139" y="3111547"/>
            <a:ext cx="2439640" cy="31745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buFont typeface="Arial" panose="020B0604020202020204" pitchFamily="34" charset="0"/>
              <a:buNone/>
            </a:pPr>
            <a:r>
              <a:rPr lang="en-US" sz="1400" dirty="0">
                <a:latin typeface="Montserrat" pitchFamily="2" charset="77"/>
              </a:rPr>
              <a:t>80 more cell types unshown.</a:t>
            </a:r>
          </a:p>
        </p:txBody>
      </p:sp>
    </p:spTree>
    <p:extLst>
      <p:ext uri="{BB962C8B-B14F-4D97-AF65-F5344CB8AC3E}">
        <p14:creationId xmlns:p14="http://schemas.microsoft.com/office/powerpoint/2010/main" val="2720325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879AC-43B9-F70B-2588-134502CB1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00AFE-C8DD-0AC0-9133-13A3B2A59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4768" y="1567824"/>
            <a:ext cx="8342464" cy="3274631"/>
          </a:xfrm>
        </p:spPr>
        <p:txBody>
          <a:bodyPr>
            <a:noAutofit/>
          </a:bodyPr>
          <a:lstStyle/>
          <a:p>
            <a:pPr marL="1028700" indent="-10287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 startAt="4"/>
            </a:pPr>
            <a:r>
              <a:rPr lang="en-US" sz="5400" dirty="0">
                <a:latin typeface="Crimson Pro Medium" pitchFamily="2" charset="77"/>
                <a:cs typeface="Arial" panose="020B0604020202020204" pitchFamily="34" charset="0"/>
              </a:rPr>
              <a:t>Writing a Downsampling and Stratification Script for Big .h5ad Data.</a:t>
            </a:r>
          </a:p>
          <a:p>
            <a:pPr marL="571500" indent="-5715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 startAt="4"/>
            </a:pPr>
            <a:endParaRPr lang="en-US" sz="5400" dirty="0">
              <a:latin typeface="Crimson Pro Medium" pitchFamily="2" charset="7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653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753B6-F5C0-6255-4F6A-6C15B7863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A559CF4-DBF9-3BF4-5C45-AA0DD9014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04" y="244468"/>
            <a:ext cx="11073652" cy="727405"/>
          </a:xfrm>
        </p:spPr>
        <p:txBody>
          <a:bodyPr>
            <a:noAutofit/>
          </a:bodyPr>
          <a:lstStyle/>
          <a:p>
            <a:r>
              <a:rPr lang="en-US" sz="4800" dirty="0">
                <a:latin typeface="Crimson Pro Medium" pitchFamily="2" charset="77"/>
              </a:rPr>
              <a:t>Original Downsampling Example </a:t>
            </a:r>
            <a:r>
              <a:rPr lang="en-US" sz="4800" i="1" dirty="0">
                <a:latin typeface="Crimson Pro Medium" pitchFamily="2" charset="77"/>
              </a:rPr>
              <a:t>(past data)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9312C2-5BFA-16A9-B01E-02503B7AE9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366" y="1196382"/>
            <a:ext cx="2880403" cy="45126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BA9DE5-A87D-85DA-7C40-659E4F7A3A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890" y="1169712"/>
            <a:ext cx="2944412" cy="4565973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362B53B-1701-9916-8CA6-231F1D518356}"/>
              </a:ext>
            </a:extLst>
          </p:cNvPr>
          <p:cNvCxnSpPr>
            <a:cxnSpLocks/>
          </p:cNvCxnSpPr>
          <p:nvPr/>
        </p:nvCxnSpPr>
        <p:spPr>
          <a:xfrm>
            <a:off x="5315919" y="2945581"/>
            <a:ext cx="154983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ACDE97D-73A5-6EFD-1C8D-7CAAA4529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311" y="2479993"/>
            <a:ext cx="2069046" cy="359838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latin typeface="Montserrat" pitchFamily="2" charset="77"/>
              </a:rPr>
              <a:t>Downsample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3159630-FC14-85BF-D0BE-6E1FDDCFFE02}"/>
              </a:ext>
            </a:extLst>
          </p:cNvPr>
          <p:cNvSpPr txBox="1">
            <a:spLocks/>
          </p:cNvSpPr>
          <p:nvPr/>
        </p:nvSpPr>
        <p:spPr>
          <a:xfrm>
            <a:off x="215778" y="2935280"/>
            <a:ext cx="1498495" cy="7274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dirty="0">
                <a:latin typeface="Montserrat" pitchFamily="2" charset="77"/>
              </a:rPr>
              <a:t>N (cells) = 265,767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9300E4A-D303-EB4B-AABC-ED3D9E8AD87E}"/>
              </a:ext>
            </a:extLst>
          </p:cNvPr>
          <p:cNvSpPr txBox="1">
            <a:spLocks/>
          </p:cNvSpPr>
          <p:nvPr/>
        </p:nvSpPr>
        <p:spPr>
          <a:xfrm>
            <a:off x="10403386" y="2935280"/>
            <a:ext cx="1498495" cy="7274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dirty="0">
                <a:latin typeface="Montserrat" pitchFamily="2" charset="77"/>
              </a:rPr>
              <a:t>N (cells) = 150,000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2CA0A6A-8186-9934-C4A3-A3637DA9CA06}"/>
              </a:ext>
            </a:extLst>
          </p:cNvPr>
          <p:cNvSpPr txBox="1">
            <a:spLocks/>
          </p:cNvSpPr>
          <p:nvPr/>
        </p:nvSpPr>
        <p:spPr>
          <a:xfrm>
            <a:off x="5056311" y="3072627"/>
            <a:ext cx="2069046" cy="1359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dirty="0">
                <a:latin typeface="Montserrat" pitchFamily="2" charset="77"/>
              </a:rPr>
              <a:t>All cell types reduced, regardless of size.</a:t>
            </a:r>
          </a:p>
        </p:txBody>
      </p:sp>
    </p:spTree>
    <p:extLst>
      <p:ext uri="{BB962C8B-B14F-4D97-AF65-F5344CB8AC3E}">
        <p14:creationId xmlns:p14="http://schemas.microsoft.com/office/powerpoint/2010/main" val="4053312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85922-D21D-433B-CB3A-E25EC4EE4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4DB3811-5AF8-7366-8A12-D77B755C0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107" y="533271"/>
            <a:ext cx="11105786" cy="5325088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latin typeface="Montserrat" pitchFamily="2" charset="77"/>
              </a:rPr>
              <a:t>Loading a 3.2M cell CxG into memory is </a:t>
            </a:r>
            <a:r>
              <a:rPr lang="en-US" b="1" dirty="0">
                <a:latin typeface="Montserrat" pitchFamily="2" charset="77"/>
              </a:rPr>
              <a:t>infeasible</a:t>
            </a:r>
            <a:r>
              <a:rPr lang="en-US" dirty="0">
                <a:latin typeface="Montserrat" pitchFamily="2" charset="77"/>
              </a:rPr>
              <a:t>.</a:t>
            </a:r>
          </a:p>
          <a:p>
            <a:pPr fontAlgn="base"/>
            <a:r>
              <a:rPr lang="en-US" b="1" dirty="0">
                <a:latin typeface="Montserrat" pitchFamily="2" charset="77"/>
              </a:rPr>
              <a:t>"Each" Downsampling Method</a:t>
            </a:r>
            <a:endParaRPr lang="en-US" dirty="0">
              <a:latin typeface="Montserrat" pitchFamily="2" charset="77"/>
            </a:endParaRPr>
          </a:p>
          <a:p>
            <a:pPr lvl="1" fontAlgn="base"/>
            <a:r>
              <a:rPr lang="en-US" dirty="0">
                <a:latin typeface="Montserrat" pitchFamily="2" charset="77"/>
              </a:rPr>
              <a:t>You set a threshold </a:t>
            </a:r>
            <a:r>
              <a:rPr lang="en-US" i="1" dirty="0">
                <a:latin typeface="Montserrat" pitchFamily="2" charset="77"/>
              </a:rPr>
              <a:t>t</a:t>
            </a:r>
            <a:r>
              <a:rPr lang="en-US" dirty="0">
                <a:latin typeface="Montserrat" pitchFamily="2" charset="77"/>
              </a:rPr>
              <a:t> as a "cluster cap"</a:t>
            </a:r>
            <a:r>
              <a:rPr lang="en-US" i="1" dirty="0">
                <a:latin typeface="Montserrat" pitchFamily="2" charset="77"/>
              </a:rPr>
              <a:t> </a:t>
            </a:r>
            <a:r>
              <a:rPr lang="en-US" dirty="0">
                <a:latin typeface="Montserrat" pitchFamily="2" charset="77"/>
              </a:rPr>
              <a:t>to act on the set of all cluster sizes </a:t>
            </a:r>
            <a:r>
              <a:rPr lang="en-US" i="1" dirty="0">
                <a:latin typeface="Montserrat" pitchFamily="2" charset="77"/>
              </a:rPr>
              <a:t>n</a:t>
            </a:r>
            <a:r>
              <a:rPr lang="en-US" i="1" dirty="0">
                <a:latin typeface="Montserrat" pitchFamily="2" charset="77"/>
                <a:sym typeface="Wingdings" pitchFamily="2" charset="2"/>
              </a:rPr>
              <a:t>. </a:t>
            </a:r>
            <a:r>
              <a:rPr lang="en-US" dirty="0">
                <a:latin typeface="Montserrat" pitchFamily="2" charset="77"/>
              </a:rPr>
              <a:t>Then examine the size of each cluster.</a:t>
            </a:r>
          </a:p>
          <a:p>
            <a:pPr lvl="1" fontAlgn="base"/>
            <a:r>
              <a:rPr lang="en-US" dirty="0">
                <a:latin typeface="Montserrat" pitchFamily="2" charset="77"/>
              </a:rPr>
              <a:t>If less than </a:t>
            </a:r>
            <a:r>
              <a:rPr lang="en-US" i="1" dirty="0">
                <a:latin typeface="Montserrat" pitchFamily="2" charset="77"/>
              </a:rPr>
              <a:t>t</a:t>
            </a:r>
            <a:r>
              <a:rPr lang="en-US" dirty="0">
                <a:latin typeface="Montserrat" pitchFamily="2" charset="77"/>
              </a:rPr>
              <a:t>, keep all cells.</a:t>
            </a:r>
          </a:p>
          <a:p>
            <a:pPr lvl="1" fontAlgn="base"/>
            <a:r>
              <a:rPr lang="en-US" dirty="0">
                <a:latin typeface="Montserrat" pitchFamily="2" charset="77"/>
              </a:rPr>
              <a:t>If greater than </a:t>
            </a:r>
            <a:r>
              <a:rPr lang="en-US" i="1" dirty="0">
                <a:latin typeface="Montserrat" pitchFamily="2" charset="77"/>
              </a:rPr>
              <a:t>t</a:t>
            </a:r>
            <a:r>
              <a:rPr lang="en-US" dirty="0">
                <a:latin typeface="Montserrat" pitchFamily="2" charset="77"/>
              </a:rPr>
              <a:t>, randomly sample </a:t>
            </a:r>
            <a:r>
              <a:rPr lang="en-US" i="1" dirty="0">
                <a:latin typeface="Montserrat" pitchFamily="2" charset="77"/>
              </a:rPr>
              <a:t>t</a:t>
            </a:r>
            <a:r>
              <a:rPr lang="en-US" dirty="0">
                <a:latin typeface="Montserrat" pitchFamily="2" charset="77"/>
              </a:rPr>
              <a:t> cells from the cluster to bring it down to the cap (all in </a:t>
            </a:r>
            <a:r>
              <a:rPr lang="en-US" i="1" dirty="0" err="1">
                <a:latin typeface="Montserrat" pitchFamily="2" charset="77"/>
              </a:rPr>
              <a:t>n_downsampled</a:t>
            </a:r>
            <a:r>
              <a:rPr lang="en-US" i="1" dirty="0">
                <a:latin typeface="Montserrat" pitchFamily="2" charset="77"/>
              </a:rPr>
              <a:t> &lt;= t</a:t>
            </a:r>
            <a:r>
              <a:rPr lang="en-US" dirty="0">
                <a:latin typeface="Montserrat" pitchFamily="2" charset="77"/>
              </a:rPr>
              <a:t>)</a:t>
            </a:r>
          </a:p>
          <a:p>
            <a:pPr marL="457200" lvl="1" indent="0" fontAlgn="base">
              <a:buNone/>
            </a:pPr>
            <a:endParaRPr lang="en-US" dirty="0">
              <a:latin typeface="Montserrat" pitchFamily="2" charset="77"/>
            </a:endParaRPr>
          </a:p>
          <a:p>
            <a:pPr fontAlgn="base"/>
            <a:r>
              <a:rPr lang="en-US" dirty="0">
                <a:latin typeface="Montserrat" pitchFamily="2" charset="77"/>
              </a:rPr>
              <a:t>But for </a:t>
            </a:r>
            <a:r>
              <a:rPr lang="en-US" b="1" dirty="0">
                <a:latin typeface="Montserrat" pitchFamily="2" charset="77"/>
              </a:rPr>
              <a:t>big data</a:t>
            </a:r>
            <a:r>
              <a:rPr lang="en-US" dirty="0">
                <a:latin typeface="Montserrat" pitchFamily="2" charset="77"/>
              </a:rPr>
              <a:t>, we want to set an </a:t>
            </a:r>
            <a:r>
              <a:rPr lang="en-US" b="1" dirty="0">
                <a:latin typeface="Montserrat" pitchFamily="2" charset="77"/>
              </a:rPr>
              <a:t>overall cap.</a:t>
            </a:r>
          </a:p>
          <a:p>
            <a:pPr lvl="1" fontAlgn="base"/>
            <a:r>
              <a:rPr lang="en-US" dirty="0">
                <a:latin typeface="Montserrat" pitchFamily="2" charset="77"/>
              </a:rPr>
              <a:t>The total number of cells </a:t>
            </a:r>
            <a:r>
              <a:rPr lang="en-US" i="1" dirty="0">
                <a:latin typeface="Montserrat" pitchFamily="2" charset="77"/>
              </a:rPr>
              <a:t>T </a:t>
            </a:r>
            <a:r>
              <a:rPr lang="en-US" dirty="0">
                <a:latin typeface="Montserrat" pitchFamily="2" charset="77"/>
              </a:rPr>
              <a:t>we want to sample from </a:t>
            </a:r>
            <a:r>
              <a:rPr lang="en-US" i="1" dirty="0">
                <a:latin typeface="Montserrat" pitchFamily="2" charset="77"/>
              </a:rPr>
              <a:t>N.</a:t>
            </a:r>
          </a:p>
          <a:p>
            <a:pPr lvl="1" fontAlgn="base"/>
            <a:r>
              <a:rPr lang="en-US" dirty="0">
                <a:latin typeface="Montserrat" pitchFamily="2" charset="77"/>
              </a:rPr>
              <a:t>Implemented as the </a:t>
            </a:r>
            <a:r>
              <a:rPr lang="en-US" b="1" dirty="0">
                <a:latin typeface="Montserrat" pitchFamily="2" charset="77"/>
              </a:rPr>
              <a:t>"Total" </a:t>
            </a:r>
            <a:r>
              <a:rPr lang="en-US" b="1" dirty="0" err="1">
                <a:latin typeface="Montserrat" pitchFamily="2" charset="77"/>
              </a:rPr>
              <a:t>downsampling</a:t>
            </a:r>
            <a:r>
              <a:rPr lang="en-US" b="1" dirty="0">
                <a:latin typeface="Montserrat" pitchFamily="2" charset="77"/>
              </a:rPr>
              <a:t> method</a:t>
            </a:r>
            <a:r>
              <a:rPr lang="en-US" dirty="0">
                <a:latin typeface="Montserrat" pitchFamily="2" charset="77"/>
              </a:rPr>
              <a:t>, but as-written the method </a:t>
            </a:r>
            <a:r>
              <a:rPr lang="en-US" i="1" dirty="0" err="1">
                <a:latin typeface="Montserrat" pitchFamily="2" charset="77"/>
              </a:rPr>
              <a:t>downsamples</a:t>
            </a:r>
            <a:r>
              <a:rPr lang="en-US" i="1" dirty="0">
                <a:latin typeface="Montserrat" pitchFamily="2" charset="77"/>
              </a:rPr>
              <a:t> all clusters </a:t>
            </a:r>
            <a:r>
              <a:rPr lang="en-US" dirty="0">
                <a:latin typeface="Montserrat" pitchFamily="2" charset="77"/>
              </a:rPr>
              <a:t>– even small ones.</a:t>
            </a:r>
          </a:p>
          <a:p>
            <a:pPr lvl="2" fontAlgn="base"/>
            <a:r>
              <a:rPr lang="en-US" dirty="0">
                <a:latin typeface="Montserrat" pitchFamily="2" charset="77"/>
              </a:rPr>
              <a:t>If </a:t>
            </a:r>
            <a:r>
              <a:rPr lang="en-US" i="1" dirty="0">
                <a:latin typeface="Montserrat" pitchFamily="2" charset="77"/>
              </a:rPr>
              <a:t>N &gt; T</a:t>
            </a:r>
            <a:r>
              <a:rPr lang="en-US" dirty="0">
                <a:latin typeface="Montserrat" pitchFamily="2" charset="77"/>
              </a:rPr>
              <a:t>, downsample from ALL clusters so </a:t>
            </a:r>
            <a:r>
              <a:rPr lang="en-US" i="1" dirty="0" err="1">
                <a:latin typeface="Montserrat" pitchFamily="2" charset="77"/>
              </a:rPr>
              <a:t>N_downsampled</a:t>
            </a:r>
            <a:r>
              <a:rPr lang="en-US" i="1" dirty="0">
                <a:latin typeface="Montserrat" pitchFamily="2" charset="77"/>
              </a:rPr>
              <a:t> </a:t>
            </a:r>
            <a:r>
              <a:rPr lang="en-US" dirty="0">
                <a:latin typeface="Montserrat" pitchFamily="2" charset="77"/>
              </a:rPr>
              <a:t>&lt;= </a:t>
            </a:r>
            <a:r>
              <a:rPr lang="en-US" i="1" dirty="0">
                <a:latin typeface="Montserrat" pitchFamily="2" charset="77"/>
              </a:rPr>
              <a:t>T</a:t>
            </a:r>
            <a:r>
              <a:rPr lang="en-US" dirty="0">
                <a:latin typeface="Montserrat" pitchFamily="2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73500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798A6-7C4E-4ED4-43F0-B2209317A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BD49B-B827-EEAE-CBCB-55620BDCE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574" y="393823"/>
            <a:ext cx="10615491" cy="727405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dirty="0">
                <a:effectLst/>
                <a:latin typeface="Crimson Pro Medium" pitchFamily="2" charset="77"/>
              </a:rPr>
              <a:t>Merging the Methods.</a:t>
            </a:r>
            <a:endParaRPr lang="en-US" sz="4400" i="1" dirty="0">
              <a:effectLst/>
              <a:latin typeface="Crimson Pro Medium" pitchFamily="2" charset="77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FF421B-3D23-7F23-6140-15D8B063F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8601" y="2083921"/>
            <a:ext cx="8513436" cy="253457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2400" b="1" dirty="0">
                <a:latin typeface="Montserrat" pitchFamily="2" charset="77"/>
              </a:rPr>
              <a:t>Goal: </a:t>
            </a:r>
            <a:r>
              <a:rPr lang="en-US" sz="2400" dirty="0">
                <a:latin typeface="Montserrat" pitchFamily="2" charset="77"/>
              </a:rPr>
              <a:t>Find per-cluster cap </a:t>
            </a:r>
            <a:r>
              <a:rPr lang="en-US" sz="2400" i="1" dirty="0">
                <a:latin typeface="Montserrat" pitchFamily="2" charset="77"/>
              </a:rPr>
              <a:t>t</a:t>
            </a:r>
            <a:r>
              <a:rPr lang="en-US" sz="2400" dirty="0">
                <a:latin typeface="Montserrat" pitchFamily="2" charset="77"/>
              </a:rPr>
              <a:t> whose resulting N_downsampled on our optimal </a:t>
            </a:r>
            <a:r>
              <a:rPr lang="en-US" sz="2400" i="1" dirty="0">
                <a:latin typeface="Montserrat" pitchFamily="2" charset="77"/>
              </a:rPr>
              <a:t>T.</a:t>
            </a:r>
          </a:p>
          <a:p>
            <a:pPr marL="0" indent="0" fontAlgn="base">
              <a:buNone/>
            </a:pPr>
            <a:endParaRPr lang="en-US" sz="2400" i="1" dirty="0">
              <a:latin typeface="Montserrat" pitchFamily="2" charset="77"/>
            </a:endParaRPr>
          </a:p>
          <a:p>
            <a:pPr marL="0" indent="0" fontAlgn="base">
              <a:buNone/>
            </a:pPr>
            <a:r>
              <a:rPr lang="en-US" sz="2400" i="1" dirty="0">
                <a:latin typeface="Montserrat" pitchFamily="2" charset="77"/>
              </a:rPr>
              <a:t>EX</a:t>
            </a:r>
            <a:r>
              <a:rPr lang="en-US" sz="2400" dirty="0">
                <a:latin typeface="Montserrat" pitchFamily="2" charset="77"/>
              </a:rPr>
              <a:t>: The retina scRNA data has </a:t>
            </a:r>
            <a:r>
              <a:rPr lang="en-US" sz="2400" i="1" dirty="0">
                <a:latin typeface="Montserrat" pitchFamily="2" charset="77"/>
              </a:rPr>
              <a:t>N</a:t>
            </a:r>
            <a:r>
              <a:rPr lang="en-US" sz="2400" dirty="0">
                <a:latin typeface="Montserrat" pitchFamily="2" charset="77"/>
              </a:rPr>
              <a:t> = 3.2M cells. My desired </a:t>
            </a:r>
            <a:r>
              <a:rPr lang="en-US" sz="2400" i="1" dirty="0">
                <a:latin typeface="Montserrat" pitchFamily="2" charset="77"/>
              </a:rPr>
              <a:t>T</a:t>
            </a:r>
            <a:r>
              <a:rPr lang="en-US" sz="2400" dirty="0">
                <a:latin typeface="Montserrat" pitchFamily="2" charset="77"/>
              </a:rPr>
              <a:t> = 250k cells. What's the "cluster cap" that brings </a:t>
            </a:r>
            <a:r>
              <a:rPr lang="en-US" sz="2400">
                <a:latin typeface="Montserrat" pitchFamily="2" charset="77"/>
              </a:rPr>
              <a:t>the total number of cells </a:t>
            </a:r>
            <a:r>
              <a:rPr lang="en-US" sz="2400" dirty="0">
                <a:latin typeface="Montserrat" pitchFamily="2" charset="77"/>
              </a:rPr>
              <a:t>closest to </a:t>
            </a:r>
            <a:r>
              <a:rPr lang="en-US" sz="2400" i="1" dirty="0">
                <a:latin typeface="Montserrat" pitchFamily="2" charset="77"/>
              </a:rPr>
              <a:t>T</a:t>
            </a:r>
            <a:r>
              <a:rPr lang="en-US" sz="2400" dirty="0">
                <a:latin typeface="Montserrat" pitchFamily="2" charset="7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424967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DF27E-5CF1-5678-E520-E3DAF7C64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81FDD-50C3-FAE4-593B-9C6E6BE33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574" y="393823"/>
            <a:ext cx="10615491" cy="727405"/>
          </a:xfrm>
        </p:spPr>
        <p:txBody>
          <a:bodyPr anchor="ctr">
            <a:normAutofit/>
          </a:bodyPr>
          <a:lstStyle/>
          <a:p>
            <a:r>
              <a:rPr lang="en-US" sz="4400" dirty="0">
                <a:effectLst/>
                <a:latin typeface="Crimson Pro Medium" pitchFamily="2" charset="77"/>
              </a:rPr>
              <a:t>Setting Configs</a:t>
            </a:r>
            <a:endParaRPr lang="en-US" sz="4400" i="1" dirty="0">
              <a:effectLst/>
              <a:latin typeface="Crimson Pro Medium" pitchFamily="2" charset="77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BD03EC1-6552-55BC-42DA-A22182C12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574" y="1199917"/>
            <a:ext cx="11130685" cy="727405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2400" b="1" dirty="0">
                <a:latin typeface="Montserrat" pitchFamily="2" charset="77"/>
              </a:rPr>
              <a:t>Goal: </a:t>
            </a:r>
            <a:r>
              <a:rPr lang="en-US" sz="2400" dirty="0">
                <a:latin typeface="Montserrat" pitchFamily="2" charset="77"/>
              </a:rPr>
              <a:t>Configuration of code/data folders and the desired number of cells in the downsampled data.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C9EA00-3827-8589-62E9-8010E2D1F8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662" y="2185030"/>
            <a:ext cx="10660675" cy="332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289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BFBE5-A0AD-3B57-E7A8-1F0AC895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56C2C-3A88-DDEE-2C21-D30A4A95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235" y="410300"/>
            <a:ext cx="10615491" cy="727405"/>
          </a:xfrm>
        </p:spPr>
        <p:txBody>
          <a:bodyPr anchor="ctr">
            <a:normAutofit/>
          </a:bodyPr>
          <a:lstStyle/>
          <a:p>
            <a:r>
              <a:rPr lang="en-US" sz="4400" dirty="0">
                <a:effectLst/>
                <a:latin typeface="Crimson Pro Medium" pitchFamily="2" charset="77"/>
              </a:rPr>
              <a:t>Threshold (</a:t>
            </a:r>
            <a:r>
              <a:rPr lang="en-US" sz="4400" i="1" dirty="0">
                <a:effectLst/>
                <a:latin typeface="Crimson Pro Medium" pitchFamily="2" charset="77"/>
              </a:rPr>
              <a:t>n</a:t>
            </a:r>
            <a:r>
              <a:rPr lang="en-US" sz="4400" dirty="0">
                <a:effectLst/>
                <a:latin typeface="Crimson Pro Medium" pitchFamily="2" charset="77"/>
              </a:rPr>
              <a:t>) Discovery</a:t>
            </a:r>
            <a:endParaRPr lang="en-US" sz="4400" i="1" dirty="0">
              <a:effectLst/>
              <a:latin typeface="Crimson Pro Medium" pitchFamily="2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C131E4-8B04-E787-340C-7686FE45C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491" y="584641"/>
            <a:ext cx="5182274" cy="50249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FFCF00-FA9E-18EF-51D8-3CB022C772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235" y="1137705"/>
            <a:ext cx="5868945" cy="307467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E2B9841-C7E9-1FF0-3276-B7F726727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35" y="4499818"/>
            <a:ext cx="5700666" cy="1220477"/>
          </a:xfrm>
        </p:spPr>
        <p:txBody>
          <a:bodyPr>
            <a:normAutofit/>
          </a:bodyPr>
          <a:lstStyle/>
          <a:p>
            <a:pPr fontAlgn="base"/>
            <a:r>
              <a:rPr lang="en-US" sz="2400" u="sng" dirty="0">
                <a:latin typeface="Montserrat" pitchFamily="2" charset="77"/>
              </a:rPr>
              <a:t>Upper Lim</a:t>
            </a:r>
            <a:r>
              <a:rPr lang="en-US" sz="2400" dirty="0">
                <a:latin typeface="Montserrat" pitchFamily="2" charset="77"/>
              </a:rPr>
              <a:t> = Only 1 cluster or </a:t>
            </a:r>
            <a:r>
              <a:rPr lang="en-US" sz="2400" i="1" dirty="0">
                <a:latin typeface="Montserrat" pitchFamily="2" charset="77"/>
              </a:rPr>
              <a:t>T</a:t>
            </a:r>
            <a:r>
              <a:rPr lang="en-US" sz="2400" dirty="0">
                <a:latin typeface="Montserrat" pitchFamily="2" charset="77"/>
              </a:rPr>
              <a:t> &lt; </a:t>
            </a:r>
            <a:r>
              <a:rPr lang="en-US" sz="2400" i="1" dirty="0">
                <a:latin typeface="Montserrat" pitchFamily="2" charset="77"/>
              </a:rPr>
              <a:t>N</a:t>
            </a:r>
          </a:p>
          <a:p>
            <a:pPr fontAlgn="base"/>
            <a:r>
              <a:rPr lang="en-US" sz="2400" u="sng" dirty="0">
                <a:latin typeface="Montserrat" pitchFamily="2" charset="77"/>
              </a:rPr>
              <a:t>Lower Lim</a:t>
            </a:r>
            <a:r>
              <a:rPr lang="en-US" sz="2400" dirty="0">
                <a:latin typeface="Montserrat" pitchFamily="2" charset="77"/>
              </a:rPr>
              <a:t> = Equally large clusters that must all be downsampled.</a:t>
            </a:r>
          </a:p>
        </p:txBody>
      </p:sp>
    </p:spTree>
    <p:extLst>
      <p:ext uri="{BB962C8B-B14F-4D97-AF65-F5344CB8AC3E}">
        <p14:creationId xmlns:p14="http://schemas.microsoft.com/office/powerpoint/2010/main" val="2611009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94212-29DF-EF88-884A-9DB91F321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48FD6-4D8B-2B21-228C-C181C5A5B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235" y="410300"/>
            <a:ext cx="11210725" cy="727405"/>
          </a:xfrm>
        </p:spPr>
        <p:txBody>
          <a:bodyPr anchor="ctr">
            <a:normAutofit/>
          </a:bodyPr>
          <a:lstStyle/>
          <a:p>
            <a:r>
              <a:rPr lang="en-US" sz="4400" dirty="0">
                <a:effectLst/>
                <a:latin typeface="Crimson Pro Medium" pitchFamily="2" charset="77"/>
              </a:rPr>
              <a:t>Returns </a:t>
            </a:r>
            <a:r>
              <a:rPr lang="en-US" sz="4400" i="1" dirty="0">
                <a:effectLst/>
                <a:latin typeface="Crimson Pro Medium" pitchFamily="2" charset="77"/>
              </a:rPr>
              <a:t>n</a:t>
            </a:r>
            <a:r>
              <a:rPr lang="en-US" sz="4400" dirty="0">
                <a:effectLst/>
                <a:latin typeface="Crimson Pro Medium" pitchFamily="2" charset="77"/>
              </a:rPr>
              <a:t> to pass to </a:t>
            </a:r>
            <a:r>
              <a:rPr lang="en-US" sz="4400" i="1" dirty="0" err="1">
                <a:effectLst/>
                <a:latin typeface="Crimson Pro Medium" pitchFamily="2" charset="77"/>
              </a:rPr>
              <a:t>downsample_adata</a:t>
            </a:r>
            <a:r>
              <a:rPr lang="en-US" sz="4400" i="1" dirty="0">
                <a:effectLst/>
                <a:latin typeface="Crimson Pro Medium" pitchFamily="2" charset="77"/>
              </a:rPr>
              <a:t>(each=)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725E6F-2001-C2CA-92BD-939304D68A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248212"/>
            <a:ext cx="7772400" cy="436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244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86038-3DC2-4B09-5EB8-499B8AE1C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BC23D-F833-72D0-95B1-5DB877990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235" y="410300"/>
            <a:ext cx="11210725" cy="727405"/>
          </a:xfrm>
        </p:spPr>
        <p:txBody>
          <a:bodyPr anchor="ctr">
            <a:normAutofit/>
          </a:bodyPr>
          <a:lstStyle/>
          <a:p>
            <a:r>
              <a:rPr lang="en-US" sz="4400" dirty="0">
                <a:effectLst/>
                <a:latin typeface="Crimson Pro Medium" pitchFamily="2" charset="77"/>
              </a:rPr>
              <a:t>Downsample and write </a:t>
            </a:r>
            <a:r>
              <a:rPr lang="en-US" sz="4400" dirty="0">
                <a:latin typeface="Crimson Pro Medium" pitchFamily="2" charset="77"/>
              </a:rPr>
              <a:t>gathered indices.</a:t>
            </a:r>
            <a:endParaRPr lang="en-US" sz="4400" i="1" dirty="0">
              <a:effectLst/>
              <a:latin typeface="Crimson Pro Medium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84A884-BB70-4ABA-F64E-EF064F1A0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398" y="1555750"/>
            <a:ext cx="9983203" cy="336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818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84A57-3962-AAFA-360C-3A96AA078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1C70A-DF22-9EC1-0EB2-D521BFEAB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235" y="410300"/>
            <a:ext cx="10615491" cy="727405"/>
          </a:xfrm>
        </p:spPr>
        <p:txBody>
          <a:bodyPr anchor="ctr">
            <a:normAutofit/>
          </a:bodyPr>
          <a:lstStyle/>
          <a:p>
            <a:r>
              <a:rPr lang="en-US" sz="4400" dirty="0">
                <a:effectLst/>
                <a:latin typeface="Crimson Pro Medium" pitchFamily="2" charset="77"/>
              </a:rPr>
              <a:t>Stratifying by Broad Retina Annotations</a:t>
            </a:r>
            <a:endParaRPr lang="en-US" sz="4400" i="1" dirty="0">
              <a:effectLst/>
              <a:latin typeface="Crimson Pro Medium" pitchFamily="2" charset="77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43F4DC3-D1D0-F241-B22E-95C76D470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574" y="1199917"/>
            <a:ext cx="5077615" cy="4458166"/>
          </a:xfrm>
        </p:spPr>
        <p:txBody>
          <a:bodyPr>
            <a:normAutofit/>
          </a:bodyPr>
          <a:lstStyle/>
          <a:p>
            <a:pPr fontAlgn="base"/>
            <a:r>
              <a:rPr lang="en-US" sz="2400" dirty="0">
                <a:latin typeface="Montserrat" pitchFamily="2" charset="77"/>
              </a:rPr>
              <a:t>All cell types within high-level annotation "</a:t>
            </a:r>
            <a:r>
              <a:rPr lang="en-US" sz="2400" dirty="0" err="1">
                <a:latin typeface="Montserrat" pitchFamily="2" charset="77"/>
              </a:rPr>
              <a:t>majorclass</a:t>
            </a:r>
            <a:r>
              <a:rPr lang="en-US" sz="2400" dirty="0">
                <a:latin typeface="Montserrat" pitchFamily="2" charset="77"/>
              </a:rPr>
              <a:t>."</a:t>
            </a:r>
          </a:p>
          <a:p>
            <a:pPr fontAlgn="base"/>
            <a:r>
              <a:rPr lang="en-US" sz="2400" dirty="0">
                <a:latin typeface="Montserrat" pitchFamily="2" charset="77"/>
              </a:rPr>
              <a:t>Major Class </a:t>
            </a:r>
            <a:r>
              <a:rPr lang="en-US" sz="2400" dirty="0"/>
              <a:t>→</a:t>
            </a:r>
            <a:r>
              <a:rPr lang="en-US" sz="2400" dirty="0">
                <a:latin typeface="Montserrat" pitchFamily="2" charset="77"/>
              </a:rPr>
              <a:t> Number of Author Cell Types:</a:t>
            </a:r>
          </a:p>
          <a:p>
            <a:pPr lvl="1" fontAlgn="base"/>
            <a:r>
              <a:rPr lang="en-US" sz="2000" dirty="0">
                <a:latin typeface="Montserrat" pitchFamily="2" charset="77"/>
              </a:rPr>
              <a:t>AC → 86</a:t>
            </a:r>
          </a:p>
          <a:p>
            <a:pPr lvl="1" fontAlgn="base"/>
            <a:r>
              <a:rPr lang="en-US" sz="2000" dirty="0">
                <a:latin typeface="Montserrat" pitchFamily="2" charset="77"/>
              </a:rPr>
              <a:t>BC → 14</a:t>
            </a:r>
          </a:p>
          <a:p>
            <a:pPr lvl="1" fontAlgn="base"/>
            <a:r>
              <a:rPr lang="en-US" sz="2000" dirty="0">
                <a:latin typeface="Montserrat" pitchFamily="2" charset="77"/>
              </a:rPr>
              <a:t>Cone → 2</a:t>
            </a:r>
          </a:p>
          <a:p>
            <a:pPr lvl="1" fontAlgn="base"/>
            <a:r>
              <a:rPr lang="en-US" sz="2000" dirty="0">
                <a:latin typeface="Montserrat" pitchFamily="2" charset="77"/>
              </a:rPr>
              <a:t>HC → 2</a:t>
            </a:r>
          </a:p>
          <a:p>
            <a:pPr lvl="1" fontAlgn="base"/>
            <a:r>
              <a:rPr lang="en-US" sz="2000" dirty="0">
                <a:latin typeface="Montserrat" pitchFamily="2" charset="77"/>
              </a:rPr>
              <a:t>RGC → 11</a:t>
            </a:r>
          </a:p>
          <a:p>
            <a:pPr lvl="1" fontAlgn="base"/>
            <a:r>
              <a:rPr lang="en-US" sz="2000" dirty="0">
                <a:latin typeface="Montserrat" pitchFamily="2" charset="77"/>
              </a:rPr>
              <a:t>Rod → 1</a:t>
            </a:r>
          </a:p>
          <a:p>
            <a:pPr fontAlgn="base"/>
            <a:r>
              <a:rPr lang="en-US" sz="2400" dirty="0">
                <a:latin typeface="Montserrat" pitchFamily="2" charset="77"/>
              </a:rPr>
              <a:t>Non-neuronal classes map 1-1 to associated author cell type.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EA727C-843B-A8FE-6652-F63E14F652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189" y="1337147"/>
            <a:ext cx="6193083" cy="418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9059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59CF9-F579-3199-7D87-562A31500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95449-23B2-5525-03FD-3136110F6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235" y="410300"/>
            <a:ext cx="10615491" cy="727405"/>
          </a:xfrm>
        </p:spPr>
        <p:txBody>
          <a:bodyPr anchor="ctr">
            <a:normAutofit/>
          </a:bodyPr>
          <a:lstStyle/>
          <a:p>
            <a:r>
              <a:rPr lang="en-US" sz="4400" dirty="0">
                <a:effectLst/>
                <a:latin typeface="Crimson Pro Medium" pitchFamily="2" charset="77"/>
              </a:rPr>
              <a:t>Compute Masks</a:t>
            </a:r>
            <a:endParaRPr lang="en-US" sz="4400" i="1" dirty="0">
              <a:effectLst/>
              <a:latin typeface="Crimson Pro Medium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BE08E9-3712-7DCC-9E9C-CE68F6E20A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50" y="1289050"/>
            <a:ext cx="6972300" cy="427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7258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DE4EF-8861-3C73-1341-4B3BCA147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4C6BE-FAB3-30C6-3DD2-A20E2B43F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8" y="2033156"/>
            <a:ext cx="4058085" cy="1987460"/>
          </a:xfrm>
        </p:spPr>
        <p:txBody>
          <a:bodyPr anchor="ctr">
            <a:normAutofit/>
          </a:bodyPr>
          <a:lstStyle/>
          <a:p>
            <a:pPr algn="r"/>
            <a:r>
              <a:rPr lang="en-US" sz="4400" dirty="0">
                <a:effectLst/>
                <a:latin typeface="Crimson Pro Medium" pitchFamily="2" charset="77"/>
              </a:rPr>
              <a:t>Discover Strata-Specific Thresholds</a:t>
            </a:r>
            <a:endParaRPr lang="en-US" sz="4400" i="1" dirty="0">
              <a:effectLst/>
              <a:latin typeface="Crimson Pro Medium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4708A0-AC41-E9FD-39E4-FCD51DC873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6747" y="362903"/>
            <a:ext cx="6613416" cy="5327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990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9D211-C3B6-C865-BE22-3856DA0F0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8ABF0-A74C-B308-849B-2FB162959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878" y="2134756"/>
            <a:ext cx="4058085" cy="1987460"/>
          </a:xfrm>
        </p:spPr>
        <p:txBody>
          <a:bodyPr anchor="ctr">
            <a:normAutofit/>
          </a:bodyPr>
          <a:lstStyle/>
          <a:p>
            <a:pPr algn="r"/>
            <a:r>
              <a:rPr lang="en-US" sz="4400" dirty="0">
                <a:effectLst/>
                <a:latin typeface="Crimson Pro Medium" pitchFamily="2" charset="77"/>
              </a:rPr>
              <a:t>Run Downsampling on Masks</a:t>
            </a:r>
            <a:endParaRPr lang="en-US" sz="4400" i="1" dirty="0">
              <a:effectLst/>
              <a:latin typeface="Crimson Pro Medium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FD322D-92F7-3B9A-33F1-E8773711F8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9149" y="325119"/>
            <a:ext cx="6586131" cy="543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78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803C4-E701-57F1-E369-6BE87D5AA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11FEB-716A-6D3B-21B3-2B6E72919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9819" y="2005149"/>
            <a:ext cx="8792362" cy="2241386"/>
          </a:xfrm>
        </p:spPr>
        <p:txBody>
          <a:bodyPr>
            <a:noAutofit/>
          </a:bodyPr>
          <a:lstStyle/>
          <a:p>
            <a:pPr marL="1028700" indent="-10287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 startAt="5"/>
            </a:pPr>
            <a:r>
              <a:rPr lang="en-US" sz="5400" dirty="0">
                <a:latin typeface="Crimson Pro Medium" pitchFamily="2" charset="77"/>
                <a:cs typeface="Arial" panose="020B0604020202020204" pitchFamily="34" charset="0"/>
              </a:rPr>
              <a:t>Neuron/Non-Neuron Runs (</a:t>
            </a:r>
            <a:r>
              <a:rPr lang="en-US" sz="5400" i="1" dirty="0">
                <a:latin typeface="Crimson Pro Medium" pitchFamily="2" charset="77"/>
                <a:cs typeface="Arial" panose="020B0604020202020204" pitchFamily="34" charset="0"/>
              </a:rPr>
              <a:t>T</a:t>
            </a:r>
            <a:r>
              <a:rPr lang="en-US" sz="5400" dirty="0">
                <a:latin typeface="Crimson Pro Medium" pitchFamily="2" charset="77"/>
                <a:cs typeface="Arial" panose="020B0604020202020204" pitchFamily="34" charset="0"/>
              </a:rPr>
              <a:t> = 500k).</a:t>
            </a:r>
          </a:p>
          <a:p>
            <a:pPr marL="571500" indent="-5715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 startAt="5"/>
            </a:pPr>
            <a:endParaRPr lang="en-US" sz="5400" dirty="0">
              <a:latin typeface="Crimson Pro Medium" pitchFamily="2" charset="7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6222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F0778-C03C-F7B5-D93F-D05BB44D3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BFB8B94-C37F-C1FC-2D22-14F793610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418" y="603320"/>
            <a:ext cx="2477462" cy="600709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latin typeface="Montserrat" pitchFamily="2" charset="77"/>
              </a:rPr>
              <a:t>Neuron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0E0E197-E964-C966-C4E9-0726C1D21438}"/>
              </a:ext>
            </a:extLst>
          </p:cNvPr>
          <p:cNvSpPr txBox="1">
            <a:spLocks/>
          </p:cNvSpPr>
          <p:nvPr/>
        </p:nvSpPr>
        <p:spPr>
          <a:xfrm>
            <a:off x="4278938" y="603320"/>
            <a:ext cx="2944821" cy="6007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3200" dirty="0">
                <a:latin typeface="Montserrat" pitchFamily="2" charset="77"/>
              </a:rPr>
              <a:t>Non-Neuron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88CD3E9-BE42-3F1A-71CC-4580A6D253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3819" y="1204029"/>
            <a:ext cx="3300424" cy="4241956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8229981-D24A-33D3-A00D-78C13E783D2D}"/>
              </a:ext>
            </a:extLst>
          </p:cNvPr>
          <p:cNvSpPr txBox="1">
            <a:spLocks/>
          </p:cNvSpPr>
          <p:nvPr/>
        </p:nvSpPr>
        <p:spPr>
          <a:xfrm>
            <a:off x="7941620" y="603320"/>
            <a:ext cx="2944821" cy="6007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3200" dirty="0">
                <a:latin typeface="Montserrat" pitchFamily="2" charset="77"/>
              </a:rPr>
              <a:t>Gene Type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FB9CE87-C401-E212-9F11-D6CBD5507C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6740" y="1204029"/>
            <a:ext cx="2628900" cy="15113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8DACE0C-8F08-2472-797D-959AEC722B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888" y="1204029"/>
            <a:ext cx="2656521" cy="375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7918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42764-E897-F8B2-FDC1-6FFDC12FB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7DC3F3B-6D8A-A80A-643E-EBAAC4669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Cluster Medians (Neuron)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A95BFC1-0184-E1DE-5A69-12988012D435}"/>
              </a:ext>
            </a:extLst>
          </p:cNvPr>
          <p:cNvSpPr txBox="1">
            <a:spLocks/>
          </p:cNvSpPr>
          <p:nvPr/>
        </p:nvSpPr>
        <p:spPr>
          <a:xfrm>
            <a:off x="2429116" y="1378992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E0ED362-DCEF-36E4-F034-E2F11D9E8095}"/>
              </a:ext>
            </a:extLst>
          </p:cNvPr>
          <p:cNvSpPr txBox="1">
            <a:spLocks/>
          </p:cNvSpPr>
          <p:nvPr/>
        </p:nvSpPr>
        <p:spPr>
          <a:xfrm>
            <a:off x="8237569" y="1342827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146825B-F733-4D88-4FF2-365DFCFA3722}"/>
              </a:ext>
            </a:extLst>
          </p:cNvPr>
          <p:cNvSpPr txBox="1">
            <a:spLocks/>
          </p:cNvSpPr>
          <p:nvPr/>
        </p:nvSpPr>
        <p:spPr>
          <a:xfrm>
            <a:off x="1174747" y="5204151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Unscaled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97A84E16-0ED4-1DDD-3082-071961D216FA}"/>
              </a:ext>
            </a:extLst>
          </p:cNvPr>
          <p:cNvSpPr txBox="1">
            <a:spLocks/>
          </p:cNvSpPr>
          <p:nvPr/>
        </p:nvSpPr>
        <p:spPr>
          <a:xfrm>
            <a:off x="3823126" y="5193984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Log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EDB16E7E-AF61-8E4F-0046-9B60D9627028}"/>
              </a:ext>
            </a:extLst>
          </p:cNvPr>
          <p:cNvSpPr txBox="1">
            <a:spLocks/>
          </p:cNvSpPr>
          <p:nvPr/>
        </p:nvSpPr>
        <p:spPr>
          <a:xfrm>
            <a:off x="7006978" y="5224143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Unscaled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BD4C541D-DCEB-BAA9-7415-A5B655CAF464}"/>
              </a:ext>
            </a:extLst>
          </p:cNvPr>
          <p:cNvSpPr txBox="1">
            <a:spLocks/>
          </p:cNvSpPr>
          <p:nvPr/>
        </p:nvSpPr>
        <p:spPr>
          <a:xfrm>
            <a:off x="9655357" y="5213976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Log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617EC5-A608-3E8F-6939-61A995AD2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341" y="3150844"/>
            <a:ext cx="2784021" cy="20181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C5BBA0-35DE-BF5B-706C-AF6BDBBF6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292" y="3147470"/>
            <a:ext cx="2740179" cy="20163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EDDC0B-9296-A256-AB48-15FE15CE5F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2981" y="3147469"/>
            <a:ext cx="2768897" cy="20766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8DDF94-FB2C-E61E-F803-77E21946DB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0471" y="3171284"/>
            <a:ext cx="2656724" cy="19925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2F9BAA7-A38A-12FB-C1DF-BFF31335BF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923" y="1871645"/>
            <a:ext cx="5090116" cy="11028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C85EBE3-4E73-C2C6-37A7-8EEB6133FAD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187" y="1871183"/>
            <a:ext cx="5010568" cy="110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2649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C7AB4-7E09-012D-6545-DACBEE097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026EA24-703F-374E-8FFD-36A6CDEE2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Cluster Medians (Non-Neuron)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6EB7CE1-FB3D-6956-E970-02C4C763F1C1}"/>
              </a:ext>
            </a:extLst>
          </p:cNvPr>
          <p:cNvSpPr txBox="1">
            <a:spLocks/>
          </p:cNvSpPr>
          <p:nvPr/>
        </p:nvSpPr>
        <p:spPr>
          <a:xfrm>
            <a:off x="2429116" y="1378992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BA84BC0-3854-2521-13B6-D79B7AC504FC}"/>
              </a:ext>
            </a:extLst>
          </p:cNvPr>
          <p:cNvSpPr txBox="1">
            <a:spLocks/>
          </p:cNvSpPr>
          <p:nvPr/>
        </p:nvSpPr>
        <p:spPr>
          <a:xfrm>
            <a:off x="8237569" y="1342827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AA38B81A-6E34-0501-1DAC-BA001ADBB8FE}"/>
              </a:ext>
            </a:extLst>
          </p:cNvPr>
          <p:cNvSpPr txBox="1">
            <a:spLocks/>
          </p:cNvSpPr>
          <p:nvPr/>
        </p:nvSpPr>
        <p:spPr>
          <a:xfrm>
            <a:off x="1174747" y="5204151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Unscaled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AAC36AD-66D8-8325-DFAB-5C8C519D025B}"/>
              </a:ext>
            </a:extLst>
          </p:cNvPr>
          <p:cNvSpPr txBox="1">
            <a:spLocks/>
          </p:cNvSpPr>
          <p:nvPr/>
        </p:nvSpPr>
        <p:spPr>
          <a:xfrm>
            <a:off x="3823126" y="5193984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Log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A04B850-3B27-CB54-4D61-79024402DCE1}"/>
              </a:ext>
            </a:extLst>
          </p:cNvPr>
          <p:cNvSpPr txBox="1">
            <a:spLocks/>
          </p:cNvSpPr>
          <p:nvPr/>
        </p:nvSpPr>
        <p:spPr>
          <a:xfrm>
            <a:off x="7006978" y="5224143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Unscaled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B878B055-069A-7D04-99BE-DCC793AAB42D}"/>
              </a:ext>
            </a:extLst>
          </p:cNvPr>
          <p:cNvSpPr txBox="1">
            <a:spLocks/>
          </p:cNvSpPr>
          <p:nvPr/>
        </p:nvSpPr>
        <p:spPr>
          <a:xfrm>
            <a:off x="9655357" y="5213976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Log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01DDB6-27E8-4C88-205B-5BA2A75797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416" y="1871183"/>
            <a:ext cx="4631129" cy="10792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043316-EC3E-228F-1F7F-5E22DEA853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457" y="1821279"/>
            <a:ext cx="4804313" cy="11210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7931B0-3396-3432-B15C-E7B2196239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069" y="3129218"/>
            <a:ext cx="2768897" cy="20766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DC3CE83-B5B1-6768-10AA-C883757DB7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707" y="3171284"/>
            <a:ext cx="2602906" cy="19826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FE172F0-43C7-9658-406A-C16F31E706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2980" y="3137303"/>
            <a:ext cx="2768897" cy="207667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7EC5916-B157-3B2D-BB63-20CCBA4455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9868" y="3171282"/>
            <a:ext cx="2643577" cy="1982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4615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405D6-CEB3-DCD3-30B4-8A25F31B1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CE131038-49F1-68E2-A39D-B8CE5F7EF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Binary Scores (Neuron)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5D9D69F-DB1B-AA83-1415-05814AF672CE}"/>
              </a:ext>
            </a:extLst>
          </p:cNvPr>
          <p:cNvSpPr txBox="1">
            <a:spLocks/>
          </p:cNvSpPr>
          <p:nvPr/>
        </p:nvSpPr>
        <p:spPr>
          <a:xfrm>
            <a:off x="2429116" y="1378992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C6CA2889-5FA9-BA73-56A3-746B8EA23468}"/>
              </a:ext>
            </a:extLst>
          </p:cNvPr>
          <p:cNvSpPr txBox="1">
            <a:spLocks/>
          </p:cNvSpPr>
          <p:nvPr/>
        </p:nvSpPr>
        <p:spPr>
          <a:xfrm>
            <a:off x="8237569" y="1342827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66D048D-6DCB-A0EC-9FBD-80C8C564C2C2}"/>
              </a:ext>
            </a:extLst>
          </p:cNvPr>
          <p:cNvSpPr txBox="1">
            <a:spLocks/>
          </p:cNvSpPr>
          <p:nvPr/>
        </p:nvSpPr>
        <p:spPr>
          <a:xfrm>
            <a:off x="1174747" y="5204151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Unscaled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35FAF7ED-A03A-52D9-87C8-8B744FC53B3B}"/>
              </a:ext>
            </a:extLst>
          </p:cNvPr>
          <p:cNvSpPr txBox="1">
            <a:spLocks/>
          </p:cNvSpPr>
          <p:nvPr/>
        </p:nvSpPr>
        <p:spPr>
          <a:xfrm>
            <a:off x="3823126" y="5193984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Log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AC1AE70C-DBFA-0D21-7714-4F4C1AB44853}"/>
              </a:ext>
            </a:extLst>
          </p:cNvPr>
          <p:cNvSpPr txBox="1">
            <a:spLocks/>
          </p:cNvSpPr>
          <p:nvPr/>
        </p:nvSpPr>
        <p:spPr>
          <a:xfrm>
            <a:off x="7006978" y="5224143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Unscaled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3F3E68E-3619-4A05-E8B6-3A75DC13BDC0}"/>
              </a:ext>
            </a:extLst>
          </p:cNvPr>
          <p:cNvSpPr txBox="1">
            <a:spLocks/>
          </p:cNvSpPr>
          <p:nvPr/>
        </p:nvSpPr>
        <p:spPr>
          <a:xfrm>
            <a:off x="9655357" y="5213976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Log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47DE23-56C3-A730-0966-D3B5FDE152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81" y="1860540"/>
            <a:ext cx="5516999" cy="9806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777275-91E0-83BD-9837-551C5D37BD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540" y="1860540"/>
            <a:ext cx="5235757" cy="9453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578A004-EF05-76C3-BEE0-860E1C12D1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826" y="3150764"/>
            <a:ext cx="2768897" cy="20071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37F5C0-9C73-C1A3-D9B0-B1D298D32C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3694" y="3171283"/>
            <a:ext cx="2656724" cy="19925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7623D66-36F2-5C97-DAA9-F4683A63DF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2980" y="3165413"/>
            <a:ext cx="2656724" cy="19925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D62A15E-4E26-27E6-F429-201068AACB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7675" y="3165413"/>
            <a:ext cx="2656725" cy="199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2634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D43D2-8A47-E2D0-E289-FEE74C0BD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B6897EE0-AE74-89C0-AB16-7AB802F8E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Binary Scores (Non-Neuron)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9A07BEC-80FC-3D6B-F886-43F164082AE1}"/>
              </a:ext>
            </a:extLst>
          </p:cNvPr>
          <p:cNvSpPr txBox="1">
            <a:spLocks/>
          </p:cNvSpPr>
          <p:nvPr/>
        </p:nvSpPr>
        <p:spPr>
          <a:xfrm>
            <a:off x="2429116" y="1378992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031CBE9-77A9-B14C-65C8-44907A52CA07}"/>
              </a:ext>
            </a:extLst>
          </p:cNvPr>
          <p:cNvSpPr txBox="1">
            <a:spLocks/>
          </p:cNvSpPr>
          <p:nvPr/>
        </p:nvSpPr>
        <p:spPr>
          <a:xfrm>
            <a:off x="8217186" y="1378991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50224AB-F8F1-A607-642C-81D3F4C859FB}"/>
              </a:ext>
            </a:extLst>
          </p:cNvPr>
          <p:cNvSpPr txBox="1">
            <a:spLocks/>
          </p:cNvSpPr>
          <p:nvPr/>
        </p:nvSpPr>
        <p:spPr>
          <a:xfrm>
            <a:off x="1174747" y="5204151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Unscaled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48D60D7-5683-23DC-0B70-F50106FB5672}"/>
              </a:ext>
            </a:extLst>
          </p:cNvPr>
          <p:cNvSpPr txBox="1">
            <a:spLocks/>
          </p:cNvSpPr>
          <p:nvPr/>
        </p:nvSpPr>
        <p:spPr>
          <a:xfrm>
            <a:off x="3823126" y="5193984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Log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B0D91544-8850-4DED-F691-8EF1A01977FD}"/>
              </a:ext>
            </a:extLst>
          </p:cNvPr>
          <p:cNvSpPr txBox="1">
            <a:spLocks/>
          </p:cNvSpPr>
          <p:nvPr/>
        </p:nvSpPr>
        <p:spPr>
          <a:xfrm>
            <a:off x="7006978" y="5224143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Unscaled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F92789A5-24D4-D35B-59FC-D132BF939024}"/>
              </a:ext>
            </a:extLst>
          </p:cNvPr>
          <p:cNvSpPr txBox="1">
            <a:spLocks/>
          </p:cNvSpPr>
          <p:nvPr/>
        </p:nvSpPr>
        <p:spPr>
          <a:xfrm>
            <a:off x="9809117" y="5224143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Log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43B785-C01D-9845-F47B-FBDDFE0A0A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66" y="1860540"/>
            <a:ext cx="5516999" cy="10461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33ED3E-3A9B-AE37-082B-D2527C172B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918" y="1860540"/>
            <a:ext cx="5516999" cy="10717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176066-785E-6B05-3D60-FC4C84AEE7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233" y="3165411"/>
            <a:ext cx="2656727" cy="19925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9F6277-A6BC-35E9-490A-270DA5BB95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1505" y="3164801"/>
            <a:ext cx="2703546" cy="20593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C1C27C-183B-947F-3F75-A05F5B0A8A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5960" y="3179851"/>
            <a:ext cx="2715239" cy="20442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A88AF2-88B5-33E0-3AB3-649021307D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6744" y="3179851"/>
            <a:ext cx="2745789" cy="205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7667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61CB2-BF24-18A2-33F1-E300EF8CD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CDAC3669-B42B-DC9E-D8D1-43E85F7EB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NS-Forest (Neuron)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476699A-EB0C-05F9-501E-2A76C4E565B3}"/>
              </a:ext>
            </a:extLst>
          </p:cNvPr>
          <p:cNvSpPr txBox="1">
            <a:spLocks/>
          </p:cNvSpPr>
          <p:nvPr/>
        </p:nvSpPr>
        <p:spPr>
          <a:xfrm>
            <a:off x="1369651" y="2305764"/>
            <a:ext cx="1748911" cy="4503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741AB0D-2F75-3C7F-F8B5-FDAC72E116E5}"/>
              </a:ext>
            </a:extLst>
          </p:cNvPr>
          <p:cNvSpPr txBox="1">
            <a:spLocks/>
          </p:cNvSpPr>
          <p:nvPr/>
        </p:nvSpPr>
        <p:spPr>
          <a:xfrm>
            <a:off x="1406231" y="4139696"/>
            <a:ext cx="1748911" cy="4503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69ABC9-B792-9E7A-1078-35AD801291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6699" y="1523039"/>
            <a:ext cx="8080220" cy="16485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B78B2A-F739-2AA4-56D1-0FD29C9AE7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6699" y="3547966"/>
            <a:ext cx="7772400" cy="163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0886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A6FF8-FE72-4B31-04D8-2D7B312EE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1862083-5FB0-91B3-EB92-7C97773A4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NS-Forest (Non-Neuron)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E28A44F-0958-25AC-5B86-121C8DE58E31}"/>
              </a:ext>
            </a:extLst>
          </p:cNvPr>
          <p:cNvSpPr txBox="1">
            <a:spLocks/>
          </p:cNvSpPr>
          <p:nvPr/>
        </p:nvSpPr>
        <p:spPr>
          <a:xfrm>
            <a:off x="1369651" y="2305764"/>
            <a:ext cx="1748911" cy="4503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2A42EEF-BEBB-4F5B-6098-7B7C60D8FCC1}"/>
              </a:ext>
            </a:extLst>
          </p:cNvPr>
          <p:cNvSpPr txBox="1">
            <a:spLocks/>
          </p:cNvSpPr>
          <p:nvPr/>
        </p:nvSpPr>
        <p:spPr>
          <a:xfrm>
            <a:off x="1406231" y="4139696"/>
            <a:ext cx="1748911" cy="4503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A78396-26AC-518B-9BFB-AEF49D8B95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5142" y="1707338"/>
            <a:ext cx="6838196" cy="16471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B1CC74-6321-BE86-D261-F466F24EF6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5142" y="3568591"/>
            <a:ext cx="6674678" cy="164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9097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24F2C-639C-B323-0BB6-ECACC654E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06DF9-830E-5445-A438-629C861FB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3841" y="2098138"/>
            <a:ext cx="6204317" cy="2086403"/>
          </a:xfrm>
        </p:spPr>
        <p:txBody>
          <a:bodyPr>
            <a:noAutofit/>
          </a:bodyPr>
          <a:lstStyle/>
          <a:p>
            <a:pPr marL="1028700" indent="-10287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 startAt="6"/>
            </a:pPr>
            <a:r>
              <a:rPr lang="en-US" sz="5400" dirty="0">
                <a:latin typeface="Crimson Pro Medium" pitchFamily="2" charset="77"/>
                <a:cs typeface="Arial" panose="020B0604020202020204" pitchFamily="34" charset="0"/>
              </a:rPr>
              <a:t>Future Directions and Poster Titles</a:t>
            </a:r>
          </a:p>
          <a:p>
            <a:pPr marL="571500" indent="-5715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 startAt="6"/>
            </a:pPr>
            <a:endParaRPr lang="en-US" sz="5400" dirty="0">
              <a:latin typeface="Crimson Pro Medium" pitchFamily="2" charset="7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3368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70897-B314-32B6-9CAD-139B808DA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9D35AB6-F037-C582-BCDB-95E20E1D4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107" y="424783"/>
            <a:ext cx="11105786" cy="5309590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latin typeface="Montserrat" pitchFamily="2" charset="77"/>
              </a:rPr>
              <a:t>Decide upon retina cell type annotations.</a:t>
            </a:r>
          </a:p>
          <a:p>
            <a:pPr lvl="1" fontAlgn="base"/>
            <a:r>
              <a:rPr lang="en-US" dirty="0">
                <a:latin typeface="Montserrat" pitchFamily="2" charset="77"/>
              </a:rPr>
              <a:t>Less amacrine granularity? Run on HPC?</a:t>
            </a:r>
          </a:p>
          <a:p>
            <a:pPr lvl="1" fontAlgn="base"/>
            <a:r>
              <a:rPr lang="en-US" dirty="0">
                <a:latin typeface="Montserrat" pitchFamily="2" charset="77"/>
              </a:rPr>
              <a:t>Try to find annotations for higher non-neuronal granularity?</a:t>
            </a:r>
          </a:p>
          <a:p>
            <a:pPr lvl="1" fontAlgn="base"/>
            <a:r>
              <a:rPr lang="en-US" dirty="0">
                <a:latin typeface="Montserrat" pitchFamily="2" charset="77"/>
              </a:rPr>
              <a:t>Just going to run on the full data and color based on neuron vs non-neuronal. Unsure that it's worth figuring out stratification if we're not focusing exclusively on retina.</a:t>
            </a:r>
          </a:p>
          <a:p>
            <a:pPr fontAlgn="base"/>
            <a:r>
              <a:rPr lang="en-US" dirty="0">
                <a:latin typeface="Montserrat" pitchFamily="2" charset="77"/>
              </a:rPr>
              <a:t>Run on the rest of the tissues and assemble results.</a:t>
            </a:r>
          </a:p>
          <a:p>
            <a:pPr lvl="1" fontAlgn="base"/>
            <a:r>
              <a:rPr lang="en-US" dirty="0">
                <a:latin typeface="Montserrat" pitchFamily="2" charset="77"/>
              </a:rPr>
              <a:t>Once I have that, I can compare cluster median/binary score/performance results across tissues and gene subsets.</a:t>
            </a:r>
          </a:p>
          <a:p>
            <a:pPr fontAlgn="base"/>
            <a:r>
              <a:rPr lang="en-US" dirty="0">
                <a:latin typeface="Montserrat" pitchFamily="2" charset="77"/>
              </a:rPr>
              <a:t>Make personal visualization suite.</a:t>
            </a:r>
          </a:p>
          <a:p>
            <a:pPr fontAlgn="base"/>
            <a:r>
              <a:rPr lang="en-US" dirty="0">
                <a:latin typeface="Montserrat" pitchFamily="2" charset="77"/>
              </a:rPr>
              <a:t>Poster title...</a:t>
            </a:r>
          </a:p>
          <a:p>
            <a:pPr lvl="1" fontAlgn="base"/>
            <a:r>
              <a:rPr lang="en-US" dirty="0">
                <a:latin typeface="Montserrat" pitchFamily="2" charset="77"/>
              </a:rPr>
              <a:t>Comparative evaluation of lncRNA feature sets for cell type prediction across</a:t>
            </a:r>
          </a:p>
        </p:txBody>
      </p:sp>
    </p:spTree>
    <p:extLst>
      <p:ext uri="{BB962C8B-B14F-4D97-AF65-F5344CB8AC3E}">
        <p14:creationId xmlns:p14="http://schemas.microsoft.com/office/powerpoint/2010/main" val="10891909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EC0E7-08E2-2F5F-47F1-BF8202EB3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90C7780-020E-5BA4-29A2-838C79ED8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107" y="247972"/>
            <a:ext cx="11105786" cy="5703377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latin typeface="Montserrat" pitchFamily="2" charset="77"/>
              </a:rPr>
              <a:t>Don't want to get into results when there's still runs and analysis yet to completed.</a:t>
            </a:r>
          </a:p>
          <a:p>
            <a:pPr fontAlgn="base"/>
            <a:r>
              <a:rPr lang="en-US" dirty="0">
                <a:latin typeface="Montserrat" pitchFamily="2" charset="77"/>
              </a:rPr>
              <a:t>Key elements are lncRNA, neural vs non-neural human tissue/structures, cell type biomarkers, etc.</a:t>
            </a:r>
          </a:p>
          <a:p>
            <a:pPr fontAlgn="base"/>
            <a:r>
              <a:rPr lang="en-US" dirty="0">
                <a:latin typeface="Montserrat" pitchFamily="2" charset="77"/>
              </a:rPr>
              <a:t>Brainstorm:</a:t>
            </a:r>
          </a:p>
          <a:p>
            <a:pPr lvl="1" fontAlgn="base">
              <a:spcAft>
                <a:spcPts val="600"/>
              </a:spcAft>
            </a:pPr>
            <a:r>
              <a:rPr lang="en-US" sz="2000" dirty="0">
                <a:latin typeface="Montserrat" pitchFamily="2" charset="77"/>
              </a:rPr>
              <a:t>Comparative evaluation of lncRNA feature sets for cell type prediction across neural and non-neural human tissues.</a:t>
            </a:r>
          </a:p>
          <a:p>
            <a:pPr lvl="1" fontAlgn="base">
              <a:spcAft>
                <a:spcPts val="600"/>
              </a:spcAft>
            </a:pPr>
            <a:r>
              <a:rPr lang="en-US" sz="2000" dirty="0">
                <a:latin typeface="Montserrat" pitchFamily="2" charset="77"/>
              </a:rPr>
              <a:t>Evaluating lncRNA expression, specificity, and effect on biomarker selection across neural and non-neural human tissues.</a:t>
            </a:r>
          </a:p>
          <a:p>
            <a:pPr lvl="1" fontAlgn="base">
              <a:spcAft>
                <a:spcPts val="600"/>
              </a:spcAft>
            </a:pPr>
            <a:r>
              <a:rPr lang="en-US" sz="2000" dirty="0">
                <a:latin typeface="Montserrat" pitchFamily="2" charset="77"/>
              </a:rPr>
              <a:t>Comparing whole transcriptome and lncRNA subset for cell type prediction in diverse tissue types.</a:t>
            </a:r>
          </a:p>
          <a:p>
            <a:pPr lvl="1" fontAlgn="base">
              <a:spcAft>
                <a:spcPts val="600"/>
              </a:spcAft>
            </a:pPr>
            <a:r>
              <a:rPr lang="en-US" sz="2000" dirty="0">
                <a:latin typeface="Montserrat" pitchFamily="2" charset="77"/>
              </a:rPr>
              <a:t>Characterizing lncRNA expression and role in computationally predicted biomarker discovery for neural vs non-neural cell types.</a:t>
            </a:r>
          </a:p>
          <a:p>
            <a:pPr lvl="1" fontAlgn="base">
              <a:spcAft>
                <a:spcPts val="600"/>
              </a:spcAft>
            </a:pPr>
            <a:r>
              <a:rPr lang="en-US" sz="2000" dirty="0">
                <a:latin typeface="Montserrat" pitchFamily="2" charset="77"/>
              </a:rPr>
              <a:t>Neural and non-neural tissue differences in lncRNA expression and cell type biomarker potential.</a:t>
            </a:r>
          </a:p>
        </p:txBody>
      </p:sp>
    </p:spTree>
    <p:extLst>
      <p:ext uri="{BB962C8B-B14F-4D97-AF65-F5344CB8AC3E}">
        <p14:creationId xmlns:p14="http://schemas.microsoft.com/office/powerpoint/2010/main" val="260203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A4A32-5291-0819-9F21-2B394A9E9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ront of the NLM building with crab apple blossoms in bloom.">
            <a:extLst>
              <a:ext uri="{FF2B5EF4-FFF2-40B4-BE49-F238E27FC236}">
                <a16:creationId xmlns:a16="http://schemas.microsoft.com/office/drawing/2014/main" id="{A490232F-D28D-DAE4-4C2C-7B026E39E24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697" y="0"/>
            <a:ext cx="12197697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3811677-A62D-DACA-FE77-148897FB2D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1911927"/>
            <a:ext cx="5581135" cy="166619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rimson Pro Medium" pitchFamily="2" charset="77"/>
              </a:rPr>
              <a:t>Preliminary Results for </a:t>
            </a:r>
            <a:br>
              <a:rPr lang="en-US" sz="3600" dirty="0">
                <a:latin typeface="Crimson Pro Medium" pitchFamily="2" charset="77"/>
              </a:rPr>
            </a:br>
            <a:r>
              <a:rPr lang="en-US" sz="3600" dirty="0">
                <a:latin typeface="Crimson Pro Medium" pitchFamily="2" charset="77"/>
              </a:rPr>
              <a:t>NS-Forest Comparison Runs on Retina and Kidney Data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0981F9EE-D184-0514-929C-8AD1EDDA4C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5403" y="3575306"/>
            <a:ext cx="4600377" cy="769083"/>
          </a:xfrm>
        </p:spPr>
        <p:txBody>
          <a:bodyPr>
            <a:normAutofit/>
          </a:bodyPr>
          <a:lstStyle/>
          <a:p>
            <a:pPr algn="l">
              <a:spcBef>
                <a:spcPts val="400"/>
              </a:spcBef>
            </a:pPr>
            <a:r>
              <a:rPr lang="en-US" sz="2000" i="1" dirty="0">
                <a:latin typeface="Montserrat" pitchFamily="2" charset="77"/>
                <a:cs typeface="Calibri" panose="020F0502020204030204" pitchFamily="34" charset="0"/>
              </a:rPr>
              <a:t>Vik Becker</a:t>
            </a:r>
          </a:p>
          <a:p>
            <a:pPr algn="l">
              <a:spcBef>
                <a:spcPts val="400"/>
              </a:spcBef>
            </a:pPr>
            <a:r>
              <a:rPr lang="en-US" sz="2000" i="1" dirty="0">
                <a:latin typeface="Montserrat" pitchFamily="2" charset="77"/>
                <a:cs typeface="Calibri" panose="020F0502020204030204" pitchFamily="34" charset="0"/>
              </a:rPr>
              <a:t>National Library of Medicine (NIH)</a:t>
            </a:r>
          </a:p>
        </p:txBody>
      </p:sp>
    </p:spTree>
    <p:extLst>
      <p:ext uri="{BB962C8B-B14F-4D97-AF65-F5344CB8AC3E}">
        <p14:creationId xmlns:p14="http://schemas.microsoft.com/office/powerpoint/2010/main" val="12841311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03910-D334-3E32-AEC5-A9C09A99D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2DBD-B6E4-5EA2-588A-24200C754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446" y="789963"/>
            <a:ext cx="3502240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  <a:cs typeface="Calibri" panose="020F0502020204030204" pitchFamily="34" charset="0"/>
              </a:rPr>
              <a:t>Overview</a:t>
            </a:r>
            <a:endParaRPr lang="en-US" sz="5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9FA63-68E3-0BA7-F632-5045CCC93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172" y="1709206"/>
            <a:ext cx="10045655" cy="3831545"/>
          </a:xfrm>
        </p:spPr>
        <p:txBody>
          <a:bodyPr>
            <a:noAutofit/>
          </a:bodyPr>
          <a:lstStyle/>
          <a:p>
            <a:pPr marL="571500" indent="-5715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/>
            </a:pPr>
            <a:r>
              <a:rPr lang="en-US" sz="3200" dirty="0">
                <a:latin typeface="Montserrat" pitchFamily="2" charset="77"/>
                <a:cs typeface="Arial" panose="020B0604020202020204" pitchFamily="34" charset="0"/>
              </a:rPr>
              <a:t>Summary of NS-Forest Comparison Pipeline.</a:t>
            </a:r>
          </a:p>
          <a:p>
            <a:pPr marL="571500" indent="-5715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/>
            </a:pPr>
            <a:r>
              <a:rPr lang="en-US" sz="3200" dirty="0">
                <a:latin typeface="Montserrat" pitchFamily="2" charset="77"/>
                <a:cs typeface="Arial" panose="020B0604020202020204" pitchFamily="34" charset="0"/>
              </a:rPr>
              <a:t>Results on HCA Retina Data.</a:t>
            </a:r>
          </a:p>
          <a:p>
            <a:pPr marL="571500" indent="-5715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/>
            </a:pPr>
            <a:r>
              <a:rPr lang="en-US" sz="3200" dirty="0">
                <a:latin typeface="Montserrat" pitchFamily="2" charset="77"/>
                <a:cs typeface="Arial" panose="020B0604020202020204" pitchFamily="34" charset="0"/>
              </a:rPr>
              <a:t>Results on HuBMAP Kidney Data.</a:t>
            </a:r>
          </a:p>
          <a:p>
            <a:pPr marL="571500" indent="-5715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/>
            </a:pPr>
            <a:r>
              <a:rPr lang="en-US" sz="3200" dirty="0">
                <a:latin typeface="Montserrat" pitchFamily="2" charset="77"/>
                <a:cs typeface="Arial" panose="020B0604020202020204" pitchFamily="34" charset="0"/>
              </a:rPr>
              <a:t>Future Directions</a:t>
            </a:r>
          </a:p>
          <a:p>
            <a:pPr marL="571500" indent="-5715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/>
            </a:pPr>
            <a:endParaRPr lang="en-US" sz="3200" dirty="0">
              <a:latin typeface="Montserrat" pitchFamily="2" charset="7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0441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7C5E1-26F9-FD60-FE49-9355E0697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32D9D-F38E-2A5C-E740-80651113F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5543" y="1910218"/>
            <a:ext cx="7040913" cy="2125578"/>
          </a:xfrm>
        </p:spPr>
        <p:txBody>
          <a:bodyPr>
            <a:noAutofit/>
          </a:bodyPr>
          <a:lstStyle/>
          <a:p>
            <a:pPr marL="571500" indent="-5715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/>
            </a:pPr>
            <a:r>
              <a:rPr lang="en-US" sz="5400" dirty="0">
                <a:latin typeface="Crimson Pro Medium" pitchFamily="2" charset="77"/>
                <a:cs typeface="Arial" panose="020B0604020202020204" pitchFamily="34" charset="0"/>
              </a:rPr>
              <a:t>Summary of NS-Forest Comparison Pipeline.</a:t>
            </a:r>
          </a:p>
        </p:txBody>
      </p:sp>
    </p:spTree>
    <p:extLst>
      <p:ext uri="{BB962C8B-B14F-4D97-AF65-F5344CB8AC3E}">
        <p14:creationId xmlns:p14="http://schemas.microsoft.com/office/powerpoint/2010/main" val="2296397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AACBA-4115-DB82-69F3-2064DD717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D12DC-98A7-0B1D-C186-D72EB71FC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40" y="421420"/>
            <a:ext cx="5908589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Basic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64784-C1AF-72C4-A7E7-71027CA6B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539" y="1259661"/>
            <a:ext cx="10600789" cy="4545393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i="1" dirty="0">
                <a:latin typeface="Montserrat" pitchFamily="2" charset="77"/>
              </a:rPr>
              <a:t> </a:t>
            </a:r>
            <a:r>
              <a:rPr lang="en-US" b="1" dirty="0">
                <a:latin typeface="Montserrat SemiBold" panose="00000700000000000000" pitchFamily="2" charset="77"/>
              </a:rPr>
              <a:t>Load raw sc/snRNA-seq Cell x Gene Data </a:t>
            </a:r>
            <a:r>
              <a:rPr lang="en-US" dirty="0">
                <a:latin typeface="Montserrat" pitchFamily="2" charset="77"/>
                <a:cs typeface="Courier New" panose="02070309020205020404" pitchFamily="49" charset="0"/>
              </a:rPr>
              <a:t>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scanpy</a:t>
            </a:r>
            <a:r>
              <a:rPr lang="en-US" dirty="0">
                <a:latin typeface="Montserrat" pitchFamily="2" charset="77"/>
                <a:cs typeface="Courier New" panose="02070309020205020404" pitchFamily="49" charset="0"/>
              </a:rPr>
              <a:t>).</a:t>
            </a:r>
          </a:p>
          <a:p>
            <a:pPr marL="1143000" lvl="1">
              <a:lnSpc>
                <a:spcPct val="100000"/>
              </a:lnSpc>
              <a:buFont typeface="+mj-lt"/>
              <a:buAutoNum type="alphaLcPeriod"/>
            </a:pPr>
            <a:r>
              <a:rPr lang="en-US" i="1" dirty="0">
                <a:latin typeface="Montserrat" pitchFamily="2" charset="77"/>
              </a:rPr>
              <a:t> Optional: </a:t>
            </a:r>
            <a:r>
              <a:rPr lang="en-US" dirty="0">
                <a:latin typeface="Montserrat" pitchFamily="2" charset="77"/>
              </a:rPr>
              <a:t>Downsample by cell type </a:t>
            </a:r>
            <a:r>
              <a:rPr lang="en-US" dirty="0">
                <a:latin typeface="Montserrat" pitchFamily="2" charset="77"/>
                <a:cs typeface="Courier New" panose="02070309020205020404" pitchFamily="49" charset="0"/>
              </a:rPr>
              <a:t>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celltypist</a:t>
            </a:r>
            <a:r>
              <a:rPr lang="en-US" dirty="0">
                <a:latin typeface="Montserrat" pitchFamily="2" charset="77"/>
                <a:cs typeface="Courier New" panose="02070309020205020404" pitchFamily="49" charset="0"/>
              </a:rPr>
              <a:t>).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i="1" dirty="0">
                <a:latin typeface="Montserrat" pitchFamily="2" charset="77"/>
              </a:rPr>
              <a:t> </a:t>
            </a:r>
            <a:r>
              <a:rPr lang="en-US" b="1" dirty="0">
                <a:latin typeface="Montserrat SemiBold" panose="00000700000000000000" pitchFamily="2" charset="77"/>
              </a:rPr>
              <a:t>Obtain lncRNA subset from data </a:t>
            </a:r>
            <a:r>
              <a:rPr lang="en-US" dirty="0">
                <a:latin typeface="Montserrat" pitchFamily="2" charset="77"/>
              </a:rPr>
              <a:t>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anndata</a:t>
            </a:r>
            <a:r>
              <a:rPr lang="en-US" dirty="0">
                <a:latin typeface="Montserrat" pitchFamily="2" charset="77"/>
              </a:rPr>
              <a:t>).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i="1" dirty="0">
                <a:latin typeface="Montserrat" pitchFamily="2" charset="77"/>
              </a:rPr>
              <a:t> </a:t>
            </a:r>
            <a:r>
              <a:rPr lang="en-US" b="1" dirty="0">
                <a:latin typeface="Montserrat SemiBold" panose="00000700000000000000" pitchFamily="2" charset="77"/>
              </a:rPr>
              <a:t>Perform preprocessing on full and subset data:</a:t>
            </a:r>
          </a:p>
          <a:p>
            <a:pPr marL="1143000" lvl="1">
              <a:lnSpc>
                <a:spcPct val="100000"/>
              </a:lnSpc>
              <a:buFont typeface="+mj-lt"/>
              <a:buAutoNum type="alphaLcPeriod"/>
            </a:pPr>
            <a:r>
              <a:rPr lang="en-US" i="1" dirty="0">
                <a:latin typeface="Montserrat" pitchFamily="2" charset="77"/>
              </a:rPr>
              <a:t> </a:t>
            </a:r>
            <a:r>
              <a:rPr lang="en-US" dirty="0">
                <a:latin typeface="Montserrat" pitchFamily="2" charset="77"/>
              </a:rPr>
              <a:t>Generate dendrograms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scanpy</a:t>
            </a:r>
            <a:r>
              <a:rPr lang="en-US" dirty="0">
                <a:latin typeface="Montserrat" pitchFamily="2" charset="77"/>
              </a:rPr>
              <a:t>).</a:t>
            </a:r>
          </a:p>
          <a:p>
            <a:pPr marL="1143000" lvl="1">
              <a:lnSpc>
                <a:spcPct val="100000"/>
              </a:lnSpc>
              <a:buFont typeface="+mj-lt"/>
              <a:buAutoNum type="alphaLcPeriod"/>
            </a:pPr>
            <a:r>
              <a:rPr lang="en-US" i="1" dirty="0">
                <a:latin typeface="Montserrat" pitchFamily="2" charset="77"/>
              </a:rPr>
              <a:t> </a:t>
            </a:r>
            <a:r>
              <a:rPr lang="en-US" dirty="0">
                <a:latin typeface="Montserrat" pitchFamily="2" charset="77"/>
              </a:rPr>
              <a:t>Calculate cluster medians per gene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nsforest</a:t>
            </a:r>
            <a:r>
              <a:rPr lang="en-US" dirty="0">
                <a:latin typeface="Montserrat" pitchFamily="2" charset="77"/>
              </a:rPr>
              <a:t>).</a:t>
            </a:r>
          </a:p>
          <a:p>
            <a:pPr marL="1143000" lvl="1">
              <a:lnSpc>
                <a:spcPct val="100000"/>
              </a:lnSpc>
              <a:buFont typeface="+mj-lt"/>
              <a:buAutoNum type="alphaLcPeriod"/>
            </a:pPr>
            <a:r>
              <a:rPr lang="en-US" i="1" dirty="0">
                <a:latin typeface="Montserrat" pitchFamily="2" charset="77"/>
              </a:rPr>
              <a:t> </a:t>
            </a:r>
            <a:r>
              <a:rPr lang="en-US" dirty="0">
                <a:latin typeface="Montserrat" pitchFamily="2" charset="77"/>
              </a:rPr>
              <a:t>Calculate binary scores per gene per cluster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nsforest</a:t>
            </a:r>
            <a:r>
              <a:rPr lang="en-US" dirty="0">
                <a:latin typeface="Montserrat" pitchFamily="2" charset="77"/>
              </a:rPr>
              <a:t>).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i="1" dirty="0">
                <a:latin typeface="Montserrat" pitchFamily="2" charset="77"/>
              </a:rPr>
              <a:t> </a:t>
            </a:r>
            <a:r>
              <a:rPr lang="en-US" b="1" dirty="0">
                <a:latin typeface="Montserrat SemiBold" panose="00000700000000000000" pitchFamily="2" charset="77"/>
              </a:rPr>
              <a:t>Run NS-Forest on the full and subset data </a:t>
            </a:r>
            <a:r>
              <a:rPr lang="en-US" dirty="0">
                <a:latin typeface="Montserrat" pitchFamily="2" charset="77"/>
              </a:rPr>
              <a:t>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nsforest</a:t>
            </a:r>
            <a:r>
              <a:rPr lang="en-US" dirty="0">
                <a:latin typeface="Montserrat" pitchFamily="2" charset="77"/>
              </a:rPr>
              <a:t>).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i="1" dirty="0">
                <a:latin typeface="Montserrat" pitchFamily="2" charset="77"/>
              </a:rPr>
              <a:t> </a:t>
            </a:r>
            <a:r>
              <a:rPr lang="en-US" b="1" dirty="0">
                <a:latin typeface="Montserrat SemiBold" panose="00000700000000000000" pitchFamily="2" charset="77"/>
              </a:rPr>
              <a:t>Run visualization suite </a:t>
            </a:r>
            <a:r>
              <a:rPr lang="en-US" dirty="0">
                <a:latin typeface="Montserrat" pitchFamily="2" charset="77"/>
              </a:rPr>
              <a:t>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nsforest</a:t>
            </a:r>
            <a:r>
              <a:rPr lang="en-US" dirty="0">
                <a:latin typeface="Montserrat" pitchFamily="2" charset="77"/>
              </a:rPr>
              <a:t>).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dirty="0">
              <a:latin typeface="Montserrat" pitchFamily="2" charset="77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424554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C01AF-D50A-649A-7A61-E478DDD94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97DC9-39E8-6C2C-EB6C-41AC35406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6103" y="1984108"/>
            <a:ext cx="5599793" cy="2125578"/>
          </a:xfrm>
        </p:spPr>
        <p:txBody>
          <a:bodyPr>
            <a:noAutofit/>
          </a:bodyPr>
          <a:lstStyle/>
          <a:p>
            <a:pPr marL="1028700" indent="-10287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 startAt="2"/>
            </a:pPr>
            <a:r>
              <a:rPr lang="en-US" sz="5400" dirty="0">
                <a:latin typeface="Crimson Pro Medium" pitchFamily="2" charset="77"/>
                <a:cs typeface="Arial" panose="020B0604020202020204" pitchFamily="34" charset="0"/>
              </a:rPr>
              <a:t>Results on HCA Retina Data.</a:t>
            </a:r>
          </a:p>
        </p:txBody>
      </p:sp>
    </p:spTree>
    <p:extLst>
      <p:ext uri="{BB962C8B-B14F-4D97-AF65-F5344CB8AC3E}">
        <p14:creationId xmlns:p14="http://schemas.microsoft.com/office/powerpoint/2010/main" val="39133033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D6A34-AAC0-E5AB-955A-56DB47756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40F3806-3141-B52C-D713-6FD4EFC6FF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493" y="2126281"/>
            <a:ext cx="5372100" cy="2387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7B5859-BA51-4B07-B936-312855AFC7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0599" y="2126282"/>
            <a:ext cx="3683195" cy="238759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CFA42663-C32A-4922-1B71-11BF9C622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657346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Raw Data and Gene Type Counts</a:t>
            </a:r>
          </a:p>
        </p:txBody>
      </p:sp>
    </p:spTree>
    <p:extLst>
      <p:ext uri="{BB962C8B-B14F-4D97-AF65-F5344CB8AC3E}">
        <p14:creationId xmlns:p14="http://schemas.microsoft.com/office/powerpoint/2010/main" val="40584966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E1594-422A-A6C6-0C06-9065898D6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A212988-899A-2A1A-382B-9052441BD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04" y="244468"/>
            <a:ext cx="4316390" cy="727405"/>
          </a:xfrm>
        </p:spPr>
        <p:txBody>
          <a:bodyPr>
            <a:noAutofit/>
          </a:bodyPr>
          <a:lstStyle/>
          <a:p>
            <a:r>
              <a:rPr lang="en-US" sz="4800" dirty="0">
                <a:latin typeface="Crimson Pro Medium" pitchFamily="2" charset="77"/>
              </a:rPr>
              <a:t>Cell Type Counts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21B3AE-054B-73F3-F0C6-81D099AFD6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366" y="1196382"/>
            <a:ext cx="2880403" cy="45126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C925CD-DC13-D880-11FB-162930C4C1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890" y="1169712"/>
            <a:ext cx="2944412" cy="4565973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EFB8813-1B60-7287-9AA3-10C93A7BD5F8}"/>
              </a:ext>
            </a:extLst>
          </p:cNvPr>
          <p:cNvCxnSpPr/>
          <p:nvPr/>
        </p:nvCxnSpPr>
        <p:spPr>
          <a:xfrm>
            <a:off x="5315919" y="3426028"/>
            <a:ext cx="154983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3671E24-EDA5-EF24-902B-4DB851497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311" y="2960440"/>
            <a:ext cx="2069046" cy="338543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latin typeface="Montserrat" pitchFamily="2" charset="77"/>
              </a:rPr>
              <a:t>Downsample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0BB41F6-35A8-9465-4259-C91DF8E15CE3}"/>
              </a:ext>
            </a:extLst>
          </p:cNvPr>
          <p:cNvSpPr txBox="1">
            <a:spLocks/>
          </p:cNvSpPr>
          <p:nvPr/>
        </p:nvSpPr>
        <p:spPr>
          <a:xfrm>
            <a:off x="215778" y="2935280"/>
            <a:ext cx="1498495" cy="7274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dirty="0">
                <a:latin typeface="Montserrat" pitchFamily="2" charset="77"/>
              </a:rPr>
              <a:t>n (cells) = 265,767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499A20F-A09D-D768-AD4F-925AA1F3285B}"/>
              </a:ext>
            </a:extLst>
          </p:cNvPr>
          <p:cNvSpPr txBox="1">
            <a:spLocks/>
          </p:cNvSpPr>
          <p:nvPr/>
        </p:nvSpPr>
        <p:spPr>
          <a:xfrm>
            <a:off x="10403386" y="2935280"/>
            <a:ext cx="1498495" cy="7274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dirty="0">
                <a:latin typeface="Montserrat" pitchFamily="2" charset="77"/>
              </a:rPr>
              <a:t>n (cells) = 150,000 </a:t>
            </a:r>
          </a:p>
        </p:txBody>
      </p:sp>
    </p:spTree>
    <p:extLst>
      <p:ext uri="{BB962C8B-B14F-4D97-AF65-F5344CB8AC3E}">
        <p14:creationId xmlns:p14="http://schemas.microsoft.com/office/powerpoint/2010/main" val="16473874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8F630-AC2B-68F2-E1C8-4F3206CA9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DDAC3C2-CAA0-C3C5-3CFE-F498A100E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Dendrograms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EBE9F7-95EB-76A3-773C-4CDE77D0CE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596" y="2029525"/>
            <a:ext cx="4699000" cy="326390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19A7E5F-8457-AAE6-D9B1-B53016744D31}"/>
              </a:ext>
            </a:extLst>
          </p:cNvPr>
          <p:cNvSpPr txBox="1">
            <a:spLocks/>
          </p:cNvSpPr>
          <p:nvPr/>
        </p:nvSpPr>
        <p:spPr>
          <a:xfrm>
            <a:off x="2793825" y="1563187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7974845-3E1C-4FD4-0251-94624F829A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406" y="2029525"/>
            <a:ext cx="4699000" cy="3263900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E9309B5-BF1C-D8DC-F108-96446796A31E}"/>
              </a:ext>
            </a:extLst>
          </p:cNvPr>
          <p:cNvSpPr txBox="1">
            <a:spLocks/>
          </p:cNvSpPr>
          <p:nvPr/>
        </p:nvSpPr>
        <p:spPr>
          <a:xfrm>
            <a:off x="7852475" y="1563186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</p:spTree>
    <p:extLst>
      <p:ext uri="{BB962C8B-B14F-4D97-AF65-F5344CB8AC3E}">
        <p14:creationId xmlns:p14="http://schemas.microsoft.com/office/powerpoint/2010/main" val="15498403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14771-B46E-5D68-F023-4E53F48B4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97C88D4-E258-681B-0F08-8C53984EB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Cluster Medians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B19165-E82B-8D63-E15A-21EDF45D00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47"/>
          <a:stretch>
            <a:fillRect/>
          </a:stretch>
        </p:blipFill>
        <p:spPr>
          <a:xfrm>
            <a:off x="656909" y="1871645"/>
            <a:ext cx="5090115" cy="10888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56B92D-6964-46E3-4E0C-89EA9289C9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967" y="3150844"/>
            <a:ext cx="2719794" cy="20434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0939B6-0AF7-A15C-A6B6-B7B7D9029F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946" y="3150844"/>
            <a:ext cx="2784021" cy="20533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93DDE0-DE6C-D4EE-0D0E-F6062B9E3B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23"/>
          <a:stretch>
            <a:fillRect/>
          </a:stretch>
        </p:blipFill>
        <p:spPr>
          <a:xfrm>
            <a:off x="6495413" y="1871645"/>
            <a:ext cx="5090116" cy="11283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C9461DE-4B84-2236-C6A6-677C7D956C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0419" y="3160669"/>
            <a:ext cx="2719794" cy="204348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8711B76-6E72-C504-ADA2-A963CD6652B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240" y="3150844"/>
            <a:ext cx="2740179" cy="2053307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C5F7EC3-CBD8-7E61-C94F-54F00E9FC420}"/>
              </a:ext>
            </a:extLst>
          </p:cNvPr>
          <p:cNvSpPr txBox="1">
            <a:spLocks/>
          </p:cNvSpPr>
          <p:nvPr/>
        </p:nvSpPr>
        <p:spPr>
          <a:xfrm>
            <a:off x="2429116" y="1378992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5D75724-A0AF-A172-B9BA-16D5E45360CD}"/>
              </a:ext>
            </a:extLst>
          </p:cNvPr>
          <p:cNvSpPr txBox="1">
            <a:spLocks/>
          </p:cNvSpPr>
          <p:nvPr/>
        </p:nvSpPr>
        <p:spPr>
          <a:xfrm>
            <a:off x="8237569" y="1342827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F2EF8C76-AC93-23A2-3B32-B2D2D64B8677}"/>
              </a:ext>
            </a:extLst>
          </p:cNvPr>
          <p:cNvSpPr txBox="1">
            <a:spLocks/>
          </p:cNvSpPr>
          <p:nvPr/>
        </p:nvSpPr>
        <p:spPr>
          <a:xfrm>
            <a:off x="1174747" y="5204151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Unscaled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052B8C79-A15F-FFC8-3EC6-6CB272877BE9}"/>
              </a:ext>
            </a:extLst>
          </p:cNvPr>
          <p:cNvSpPr txBox="1">
            <a:spLocks/>
          </p:cNvSpPr>
          <p:nvPr/>
        </p:nvSpPr>
        <p:spPr>
          <a:xfrm>
            <a:off x="3823126" y="5193984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Log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543FD22D-B5C8-8AB4-660A-0038AB07F7B0}"/>
              </a:ext>
            </a:extLst>
          </p:cNvPr>
          <p:cNvSpPr txBox="1">
            <a:spLocks/>
          </p:cNvSpPr>
          <p:nvPr/>
        </p:nvSpPr>
        <p:spPr>
          <a:xfrm>
            <a:off x="7006978" y="5224143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Unscaled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60B34C9-4477-D27D-5382-FE663CE48B16}"/>
              </a:ext>
            </a:extLst>
          </p:cNvPr>
          <p:cNvSpPr txBox="1">
            <a:spLocks/>
          </p:cNvSpPr>
          <p:nvPr/>
        </p:nvSpPr>
        <p:spPr>
          <a:xfrm>
            <a:off x="9655357" y="5213976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Log</a:t>
            </a:r>
          </a:p>
        </p:txBody>
      </p:sp>
    </p:spTree>
    <p:extLst>
      <p:ext uri="{BB962C8B-B14F-4D97-AF65-F5344CB8AC3E}">
        <p14:creationId xmlns:p14="http://schemas.microsoft.com/office/powerpoint/2010/main" val="32155006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3C689-68C2-0713-355F-3AA5F0334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233D64BE-DEDE-61A0-715E-B42D1A2B4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Binary Scores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023DC54-86FE-F467-583A-E6E50EA7426C}"/>
              </a:ext>
            </a:extLst>
          </p:cNvPr>
          <p:cNvSpPr txBox="1">
            <a:spLocks/>
          </p:cNvSpPr>
          <p:nvPr/>
        </p:nvSpPr>
        <p:spPr>
          <a:xfrm>
            <a:off x="2429116" y="1378992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9BE57DB-3B74-8125-CECD-ED6B2269401C}"/>
              </a:ext>
            </a:extLst>
          </p:cNvPr>
          <p:cNvSpPr txBox="1">
            <a:spLocks/>
          </p:cNvSpPr>
          <p:nvPr/>
        </p:nvSpPr>
        <p:spPr>
          <a:xfrm>
            <a:off x="8237569" y="1342827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763E34EF-8BFD-1853-A737-AF2B943AC339}"/>
              </a:ext>
            </a:extLst>
          </p:cNvPr>
          <p:cNvSpPr txBox="1">
            <a:spLocks/>
          </p:cNvSpPr>
          <p:nvPr/>
        </p:nvSpPr>
        <p:spPr>
          <a:xfrm>
            <a:off x="1174747" y="5204151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Unscaled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2B4C2-7F37-F8BB-1B1C-104DEB863BBA}"/>
              </a:ext>
            </a:extLst>
          </p:cNvPr>
          <p:cNvSpPr txBox="1">
            <a:spLocks/>
          </p:cNvSpPr>
          <p:nvPr/>
        </p:nvSpPr>
        <p:spPr>
          <a:xfrm>
            <a:off x="3823126" y="5193984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Log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35D155DA-B890-087C-6C4B-9A459FD9F51C}"/>
              </a:ext>
            </a:extLst>
          </p:cNvPr>
          <p:cNvSpPr txBox="1">
            <a:spLocks/>
          </p:cNvSpPr>
          <p:nvPr/>
        </p:nvSpPr>
        <p:spPr>
          <a:xfrm>
            <a:off x="7006978" y="5224143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Unscaled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C7155DD0-8260-2E48-D1A1-8A0074D9F569}"/>
              </a:ext>
            </a:extLst>
          </p:cNvPr>
          <p:cNvSpPr txBox="1">
            <a:spLocks/>
          </p:cNvSpPr>
          <p:nvPr/>
        </p:nvSpPr>
        <p:spPr>
          <a:xfrm>
            <a:off x="9758980" y="5193983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Log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7CCAE5-93AD-F92F-5675-F002098E42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609"/>
          <a:stretch>
            <a:fillRect/>
          </a:stretch>
        </p:blipFill>
        <p:spPr>
          <a:xfrm>
            <a:off x="617899" y="1968718"/>
            <a:ext cx="5168134" cy="912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6C20CE-D506-D296-CAAB-1D6E42305F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945" y="3150844"/>
            <a:ext cx="2784021" cy="20533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6ED6E9-9EA7-1B43-5168-403DDED075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4335" y="3122794"/>
            <a:ext cx="2783281" cy="20911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98BBA5-D6FA-D724-8BD8-83661370BF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909" y="3070928"/>
            <a:ext cx="2783281" cy="20856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BDD582-BD63-42AF-F4B4-9A7B56C628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0190" y="3065352"/>
            <a:ext cx="2783281" cy="20911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571283-A86C-9752-E019-372323F6D8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104"/>
          <a:stretch>
            <a:fillRect/>
          </a:stretch>
        </p:blipFill>
        <p:spPr>
          <a:xfrm>
            <a:off x="6681802" y="1933731"/>
            <a:ext cx="4916775" cy="91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0085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0E3E3-8A3D-8D8A-3E57-882D16902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9B101CD1-13B0-2858-ACA6-95DB1E98E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NS-Forest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431ED92-7514-D77B-6A52-175E9B15F06D}"/>
              </a:ext>
            </a:extLst>
          </p:cNvPr>
          <p:cNvSpPr txBox="1">
            <a:spLocks/>
          </p:cNvSpPr>
          <p:nvPr/>
        </p:nvSpPr>
        <p:spPr>
          <a:xfrm>
            <a:off x="1369651" y="2305764"/>
            <a:ext cx="1748911" cy="4503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B6F0E6B-7B2F-FC37-DE32-42C0AFB80A14}"/>
              </a:ext>
            </a:extLst>
          </p:cNvPr>
          <p:cNvSpPr txBox="1">
            <a:spLocks/>
          </p:cNvSpPr>
          <p:nvPr/>
        </p:nvSpPr>
        <p:spPr>
          <a:xfrm>
            <a:off x="1406231" y="4139696"/>
            <a:ext cx="1748911" cy="4503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B9C87A-0F7F-2AC2-C3A5-3FCE53DC1E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5471" y="1582615"/>
            <a:ext cx="8255654" cy="17045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292856-B49C-F17F-9FA4-BFBCB83D7F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6699" y="3448861"/>
            <a:ext cx="7982281" cy="164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7174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BF563-B49C-1515-E50B-69FF62A9A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23BF8439-5AC1-ADDE-BB32-671459E3C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Dot Plot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1405CBF-BF7D-69F0-3840-FC52858FDFBC}"/>
              </a:ext>
            </a:extLst>
          </p:cNvPr>
          <p:cNvSpPr txBox="1">
            <a:spLocks/>
          </p:cNvSpPr>
          <p:nvPr/>
        </p:nvSpPr>
        <p:spPr>
          <a:xfrm>
            <a:off x="2452928" y="1334560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2563079-7515-4CDA-9204-698E44EEE2A8}"/>
              </a:ext>
            </a:extLst>
          </p:cNvPr>
          <p:cNvSpPr txBox="1">
            <a:spLocks/>
          </p:cNvSpPr>
          <p:nvPr/>
        </p:nvSpPr>
        <p:spPr>
          <a:xfrm>
            <a:off x="8039648" y="1334560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2E8EE3-5116-AB57-862E-626DC15F2C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38" y="1804745"/>
            <a:ext cx="6071481" cy="38227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98C9A4-3ADB-152B-59C6-3D6C0722F0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968" y="1835267"/>
            <a:ext cx="6277061" cy="3792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3595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AF1A4-8B60-13D3-4A6E-ADDAF88E1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0D78F9E-BCFA-ADD3-B9EF-DF8642DB5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Heat Map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5BD2BF7-4C85-6C4C-67FB-DC5021018B41}"/>
              </a:ext>
            </a:extLst>
          </p:cNvPr>
          <p:cNvSpPr txBox="1">
            <a:spLocks/>
          </p:cNvSpPr>
          <p:nvPr/>
        </p:nvSpPr>
        <p:spPr>
          <a:xfrm>
            <a:off x="2496062" y="1334561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0D0311A-5D16-4794-A988-B73A9BCD6612}"/>
              </a:ext>
            </a:extLst>
          </p:cNvPr>
          <p:cNvSpPr txBox="1">
            <a:spLocks/>
          </p:cNvSpPr>
          <p:nvPr/>
        </p:nvSpPr>
        <p:spPr>
          <a:xfrm>
            <a:off x="8150239" y="1334562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9201EE-7F4C-6947-D091-9492E65CBC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1" y="1715919"/>
            <a:ext cx="6295556" cy="39638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54F551-A992-1FB3-C725-62933F991B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848" y="1804745"/>
            <a:ext cx="6414152" cy="387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440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DAD31-67AE-CD15-FB84-B11F952E1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93CF47DC-FC6B-C2B9-4931-B028B829E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Box Plot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E6CA9CA-AE28-441B-E4D8-29A46F40AED5}"/>
              </a:ext>
            </a:extLst>
          </p:cNvPr>
          <p:cNvSpPr txBox="1">
            <a:spLocks/>
          </p:cNvSpPr>
          <p:nvPr/>
        </p:nvSpPr>
        <p:spPr>
          <a:xfrm>
            <a:off x="2460893" y="1510406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007F103-5BB1-2F59-87B8-F43605D2E5BD}"/>
              </a:ext>
            </a:extLst>
          </p:cNvPr>
          <p:cNvSpPr txBox="1">
            <a:spLocks/>
          </p:cNvSpPr>
          <p:nvPr/>
        </p:nvSpPr>
        <p:spPr>
          <a:xfrm>
            <a:off x="8277744" y="1525691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20EAB2-E6D1-8E6B-D177-14DD592067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015" y="2005385"/>
            <a:ext cx="5934660" cy="37091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94335D-8843-A56F-BF29-D74C0224FE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05385"/>
            <a:ext cx="5934659" cy="370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3953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FB456-8B01-0B0A-BBA3-B17F12C6D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8AA5F-4A75-4D35-219E-BD3438F38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3305" y="2072031"/>
            <a:ext cx="6885389" cy="2125578"/>
          </a:xfrm>
        </p:spPr>
        <p:txBody>
          <a:bodyPr>
            <a:noAutofit/>
          </a:bodyPr>
          <a:lstStyle/>
          <a:p>
            <a:pPr marL="1028700" indent="-10287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 startAt="3"/>
            </a:pPr>
            <a:r>
              <a:rPr lang="en-US" sz="5400" dirty="0">
                <a:latin typeface="Crimson Pro Medium" pitchFamily="2" charset="77"/>
                <a:cs typeface="Arial" panose="020B0604020202020204" pitchFamily="34" charset="0"/>
              </a:rPr>
              <a:t>Results on HuBMAP Kidney Data.</a:t>
            </a:r>
          </a:p>
        </p:txBody>
      </p:sp>
    </p:spTree>
    <p:extLst>
      <p:ext uri="{BB962C8B-B14F-4D97-AF65-F5344CB8AC3E}">
        <p14:creationId xmlns:p14="http://schemas.microsoft.com/office/powerpoint/2010/main" val="28838919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1FC36-9393-DFE4-892D-200FBAD4E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7212775-AC3D-1B97-2C25-C141695A4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623835"/>
            <a:ext cx="9657346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Raw Data and Gene Type Counts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91BE31-2396-FE9B-194E-55B88E6760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69" y="2126281"/>
            <a:ext cx="5372100" cy="25151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88EAB4-D7B1-0FAE-1A72-BA34E04CB2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70618"/>
            <a:ext cx="5738446" cy="231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6321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2BF54-4B56-43DB-88C4-A7CE6A914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9C5653A-F80B-BD6D-C5F6-AAA1C1DFD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04" y="244468"/>
            <a:ext cx="4316390" cy="727405"/>
          </a:xfrm>
        </p:spPr>
        <p:txBody>
          <a:bodyPr>
            <a:noAutofit/>
          </a:bodyPr>
          <a:lstStyle/>
          <a:p>
            <a:r>
              <a:rPr lang="en-US" sz="4800" dirty="0">
                <a:latin typeface="Crimson Pro Medium" pitchFamily="2" charset="77"/>
              </a:rPr>
              <a:t>Cell Type Counts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28781C5-1D69-1B9F-2AFE-1413A765D955}"/>
              </a:ext>
            </a:extLst>
          </p:cNvPr>
          <p:cNvCxnSpPr/>
          <p:nvPr/>
        </p:nvCxnSpPr>
        <p:spPr>
          <a:xfrm>
            <a:off x="5315919" y="3426028"/>
            <a:ext cx="154983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EF6C07F-62B1-1BE1-EA83-578AAC381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311" y="2960440"/>
            <a:ext cx="2069046" cy="338543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latin typeface="Montserrat" pitchFamily="2" charset="77"/>
              </a:rPr>
              <a:t>Downsample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3A6E325-89F7-1DE6-101C-2F21BA7B7C90}"/>
              </a:ext>
            </a:extLst>
          </p:cNvPr>
          <p:cNvSpPr txBox="1">
            <a:spLocks/>
          </p:cNvSpPr>
          <p:nvPr/>
        </p:nvSpPr>
        <p:spPr>
          <a:xfrm>
            <a:off x="215778" y="2935280"/>
            <a:ext cx="1498495" cy="7274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dirty="0">
                <a:latin typeface="Montserrat" pitchFamily="2" charset="77"/>
              </a:rPr>
              <a:t>n (cells) = 304,652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8D99332-76D7-B740-1C13-F1DA3DF02E81}"/>
              </a:ext>
            </a:extLst>
          </p:cNvPr>
          <p:cNvSpPr txBox="1">
            <a:spLocks/>
          </p:cNvSpPr>
          <p:nvPr/>
        </p:nvSpPr>
        <p:spPr>
          <a:xfrm>
            <a:off x="10424054" y="2947940"/>
            <a:ext cx="1498495" cy="7274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dirty="0">
                <a:latin typeface="Montserrat" pitchFamily="2" charset="77"/>
              </a:rPr>
              <a:t>n (cells) = 150,000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118B1D-9E60-2AD7-E1D0-532F042425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890" y="1220129"/>
            <a:ext cx="2944412" cy="46182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D0CCC6-501C-822D-4F33-482D5F14C9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700" y="1284012"/>
            <a:ext cx="2880403" cy="455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4979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6BEDE-9D8B-5AC3-ABBF-31FF128E8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BB39B30-B8C2-EAF1-79B1-CA04AF1AC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Dendrograms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CD4B9F-2AA3-6F7B-4AFE-671C2BE8A86A}"/>
              </a:ext>
            </a:extLst>
          </p:cNvPr>
          <p:cNvSpPr txBox="1">
            <a:spLocks/>
          </p:cNvSpPr>
          <p:nvPr/>
        </p:nvSpPr>
        <p:spPr>
          <a:xfrm>
            <a:off x="2793825" y="1563187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29512F2-451C-2390-8C4F-8EB55AD6978C}"/>
              </a:ext>
            </a:extLst>
          </p:cNvPr>
          <p:cNvSpPr txBox="1">
            <a:spLocks/>
          </p:cNvSpPr>
          <p:nvPr/>
        </p:nvSpPr>
        <p:spPr>
          <a:xfrm>
            <a:off x="7852475" y="1563186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AFC4F2-ED63-93C9-FFE4-C6EE846195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156" y="2029525"/>
            <a:ext cx="3403600" cy="3826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16F1FA-45EA-329A-3094-FF63DB3052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4243" y="2029524"/>
            <a:ext cx="3403601" cy="382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0156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DBE45-DCD7-3A3C-2DD3-821660672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6934DD3-8587-AED5-8BE9-F6EE783ED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Cluster Medians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C3E273-C621-96B5-BC1C-18B4B62D3C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47"/>
          <a:stretch>
            <a:fillRect/>
          </a:stretch>
        </p:blipFill>
        <p:spPr>
          <a:xfrm>
            <a:off x="656909" y="1871645"/>
            <a:ext cx="5090115" cy="1088861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F628204-5BC9-6901-54DD-9B5FF0EA5A6B}"/>
              </a:ext>
            </a:extLst>
          </p:cNvPr>
          <p:cNvSpPr txBox="1">
            <a:spLocks/>
          </p:cNvSpPr>
          <p:nvPr/>
        </p:nvSpPr>
        <p:spPr>
          <a:xfrm>
            <a:off x="2429116" y="1378992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22B0D83-9DD5-86B0-2BC4-ECBE693E7E50}"/>
              </a:ext>
            </a:extLst>
          </p:cNvPr>
          <p:cNvSpPr txBox="1">
            <a:spLocks/>
          </p:cNvSpPr>
          <p:nvPr/>
        </p:nvSpPr>
        <p:spPr>
          <a:xfrm>
            <a:off x="8237569" y="1342827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EC27F99A-CCAD-5FC3-D49E-69D7033A9334}"/>
              </a:ext>
            </a:extLst>
          </p:cNvPr>
          <p:cNvSpPr txBox="1">
            <a:spLocks/>
          </p:cNvSpPr>
          <p:nvPr/>
        </p:nvSpPr>
        <p:spPr>
          <a:xfrm>
            <a:off x="1174747" y="5204151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Unscaled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3435E8-9B68-DF26-DE2E-EF6E28EB81EF}"/>
              </a:ext>
            </a:extLst>
          </p:cNvPr>
          <p:cNvSpPr txBox="1">
            <a:spLocks/>
          </p:cNvSpPr>
          <p:nvPr/>
        </p:nvSpPr>
        <p:spPr>
          <a:xfrm>
            <a:off x="3823126" y="5193984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Log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E289B25D-B1CB-A8F2-8B9C-BCCB2D9FB314}"/>
              </a:ext>
            </a:extLst>
          </p:cNvPr>
          <p:cNvSpPr txBox="1">
            <a:spLocks/>
          </p:cNvSpPr>
          <p:nvPr/>
        </p:nvSpPr>
        <p:spPr>
          <a:xfrm>
            <a:off x="6836527" y="5224143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Unscaled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1CFAB84E-BF6C-23D8-01A1-C2E044F5E7CC}"/>
              </a:ext>
            </a:extLst>
          </p:cNvPr>
          <p:cNvSpPr txBox="1">
            <a:spLocks/>
          </p:cNvSpPr>
          <p:nvPr/>
        </p:nvSpPr>
        <p:spPr>
          <a:xfrm>
            <a:off x="9652993" y="5217743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Log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EEED92-85CF-58FB-34B2-546233EBCD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104"/>
          <a:stretch>
            <a:fillRect/>
          </a:stretch>
        </p:blipFill>
        <p:spPr>
          <a:xfrm>
            <a:off x="656909" y="1789596"/>
            <a:ext cx="5090115" cy="11709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05EE56-389F-8384-A607-D3887317AB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72" y="3150844"/>
            <a:ext cx="2719794" cy="20380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C9ABC7-E22F-995E-2A3E-5DEC9E527F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6079" y="3145394"/>
            <a:ext cx="2719794" cy="20434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4D48D5A-87EE-B419-E864-0D8F783ECB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821"/>
          <a:stretch>
            <a:fillRect/>
          </a:stretch>
        </p:blipFill>
        <p:spPr>
          <a:xfrm>
            <a:off x="6490580" y="1801816"/>
            <a:ext cx="5039678" cy="114647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D4095B-B804-1039-70C6-7DA54BF8DA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129" y="3160669"/>
            <a:ext cx="2740179" cy="212704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361F455-463D-4490-2533-3B3CF03C12F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308" y="3145394"/>
            <a:ext cx="2831015" cy="212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4585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53DD0-B4A7-20A3-674F-B15E0FBF3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DE718DC-6271-8FAD-6FEA-87EA578E0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Binary Scores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1A344A0-507E-E25C-2160-417D26A7F14F}"/>
              </a:ext>
            </a:extLst>
          </p:cNvPr>
          <p:cNvSpPr txBox="1">
            <a:spLocks/>
          </p:cNvSpPr>
          <p:nvPr/>
        </p:nvSpPr>
        <p:spPr>
          <a:xfrm>
            <a:off x="2429116" y="1378992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B419427-7EFF-A75D-63C0-BB6649EFD168}"/>
              </a:ext>
            </a:extLst>
          </p:cNvPr>
          <p:cNvSpPr txBox="1">
            <a:spLocks/>
          </p:cNvSpPr>
          <p:nvPr/>
        </p:nvSpPr>
        <p:spPr>
          <a:xfrm>
            <a:off x="8237569" y="1342827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272F3115-5B6F-C081-7669-FA3E3D4FD1F7}"/>
              </a:ext>
            </a:extLst>
          </p:cNvPr>
          <p:cNvSpPr txBox="1">
            <a:spLocks/>
          </p:cNvSpPr>
          <p:nvPr/>
        </p:nvSpPr>
        <p:spPr>
          <a:xfrm>
            <a:off x="1071124" y="5155293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Unscaled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62B5F7D7-0F8F-06AB-9C0B-63FC57845007}"/>
              </a:ext>
            </a:extLst>
          </p:cNvPr>
          <p:cNvSpPr txBox="1">
            <a:spLocks/>
          </p:cNvSpPr>
          <p:nvPr/>
        </p:nvSpPr>
        <p:spPr>
          <a:xfrm>
            <a:off x="3823126" y="5193984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Log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F2924E91-EE2E-6098-BD60-BD5A21E22B1A}"/>
              </a:ext>
            </a:extLst>
          </p:cNvPr>
          <p:cNvSpPr txBox="1">
            <a:spLocks/>
          </p:cNvSpPr>
          <p:nvPr/>
        </p:nvSpPr>
        <p:spPr>
          <a:xfrm>
            <a:off x="7006978" y="5224143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Unscaled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A1A6FC2C-CDE8-D40E-ADD8-394D0B5516F4}"/>
              </a:ext>
            </a:extLst>
          </p:cNvPr>
          <p:cNvSpPr txBox="1">
            <a:spLocks/>
          </p:cNvSpPr>
          <p:nvPr/>
        </p:nvSpPr>
        <p:spPr>
          <a:xfrm>
            <a:off x="9758980" y="5193983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Log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8891A8-BDF2-98BB-CEA5-65EF6FC630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79"/>
          <a:stretch>
            <a:fillRect/>
          </a:stretch>
        </p:blipFill>
        <p:spPr>
          <a:xfrm>
            <a:off x="819482" y="1891037"/>
            <a:ext cx="5168134" cy="9385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607FB0B-F1DE-F50A-1507-338DF33862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685" y="3092136"/>
            <a:ext cx="2783281" cy="20856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DB0A1D4-601C-B7A5-11FD-780BF2FB55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4335" y="3102801"/>
            <a:ext cx="2783281" cy="20911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A951487-6C7B-2CB1-BD55-631F48D2B2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410"/>
          <a:stretch>
            <a:fillRect/>
          </a:stretch>
        </p:blipFill>
        <p:spPr>
          <a:xfrm>
            <a:off x="6473129" y="1891037"/>
            <a:ext cx="5334122" cy="93852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5E79CE4-CAA5-98F8-BC54-9C1134C63E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909" y="3102801"/>
            <a:ext cx="2783281" cy="212527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5061DB6-1F44-ED54-1FF3-C546CFBB98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0190" y="3102801"/>
            <a:ext cx="2783281" cy="209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6505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524D4-909D-505D-33EA-7D21DD79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C1E5DFC-B2D7-F02B-EAC9-A4C46E651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NS-Forest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A9FCA46E-6871-5095-7072-093666925BFF}"/>
              </a:ext>
            </a:extLst>
          </p:cNvPr>
          <p:cNvSpPr txBox="1">
            <a:spLocks/>
          </p:cNvSpPr>
          <p:nvPr/>
        </p:nvSpPr>
        <p:spPr>
          <a:xfrm>
            <a:off x="1369651" y="2305764"/>
            <a:ext cx="1748911" cy="4503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2AD1F7C-DF41-5EFB-087D-568C90125BAF}"/>
              </a:ext>
            </a:extLst>
          </p:cNvPr>
          <p:cNvSpPr txBox="1">
            <a:spLocks/>
          </p:cNvSpPr>
          <p:nvPr/>
        </p:nvSpPr>
        <p:spPr>
          <a:xfrm>
            <a:off x="1406231" y="4139696"/>
            <a:ext cx="1748911" cy="4503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8E4428-636E-3AC8-4C85-D8D6E9474B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6698" y="1666774"/>
            <a:ext cx="8167639" cy="16485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E11100-2985-4F9E-0732-6EFC72D4A2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6698" y="3542713"/>
            <a:ext cx="8103078" cy="164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852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DD59C-C585-EE48-7214-E74098318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01FA302-D3B7-BC54-EEAD-4B8D18FC1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Dot Plot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773DF99-DC70-4678-41A7-5ED5FD2F8216}"/>
              </a:ext>
            </a:extLst>
          </p:cNvPr>
          <p:cNvSpPr txBox="1">
            <a:spLocks/>
          </p:cNvSpPr>
          <p:nvPr/>
        </p:nvSpPr>
        <p:spPr>
          <a:xfrm>
            <a:off x="3307834" y="1258934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8B0CFC9-CFA0-5751-C39C-FBE2D93B564B}"/>
              </a:ext>
            </a:extLst>
          </p:cNvPr>
          <p:cNvSpPr txBox="1">
            <a:spLocks/>
          </p:cNvSpPr>
          <p:nvPr/>
        </p:nvSpPr>
        <p:spPr>
          <a:xfrm>
            <a:off x="8410746" y="1245732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C6BAC3-DB32-C75A-EA87-9987918A60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69" y="1715917"/>
            <a:ext cx="6071481" cy="40979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633978-7E13-9723-BCD2-DFDFB8524C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354" y="1640292"/>
            <a:ext cx="4578468" cy="428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1130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E7B9F-6797-5640-D1F0-4C63AD1C3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A5824E1-B800-A316-EF8D-56224A3C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Heat Map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37CB8CE-690F-DD90-ECC0-5CFE02EB5066}"/>
              </a:ext>
            </a:extLst>
          </p:cNvPr>
          <p:cNvSpPr txBox="1">
            <a:spLocks/>
          </p:cNvSpPr>
          <p:nvPr/>
        </p:nvSpPr>
        <p:spPr>
          <a:xfrm>
            <a:off x="3287369" y="1361450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247D3DB-702B-AC8F-9E9B-FFCB1BB1067C}"/>
              </a:ext>
            </a:extLst>
          </p:cNvPr>
          <p:cNvSpPr txBox="1">
            <a:spLocks/>
          </p:cNvSpPr>
          <p:nvPr/>
        </p:nvSpPr>
        <p:spPr>
          <a:xfrm>
            <a:off x="8589854" y="1245732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58D840-0C50-BF95-EF81-9735D7809B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308" y="1787509"/>
            <a:ext cx="5940438" cy="40094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0D5ADE-BFB7-A865-6ED7-397A8AF366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686" y="1715919"/>
            <a:ext cx="4435038" cy="415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0059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4B359-C4BE-5951-F497-68CA647E1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A1CB79E-75E8-FE67-B14B-FEC891C81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Box Plot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499DD9A-CB77-4475-49F2-85A2BDC45AA5}"/>
              </a:ext>
            </a:extLst>
          </p:cNvPr>
          <p:cNvSpPr txBox="1">
            <a:spLocks/>
          </p:cNvSpPr>
          <p:nvPr/>
        </p:nvSpPr>
        <p:spPr>
          <a:xfrm>
            <a:off x="2460893" y="1510406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30CC8D1-4870-1A46-3CF9-170C2AF486CA}"/>
              </a:ext>
            </a:extLst>
          </p:cNvPr>
          <p:cNvSpPr txBox="1">
            <a:spLocks/>
          </p:cNvSpPr>
          <p:nvPr/>
        </p:nvSpPr>
        <p:spPr>
          <a:xfrm>
            <a:off x="8277744" y="1525691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289C44-9DCD-A78C-A0BD-677C901F7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56" y="2005385"/>
            <a:ext cx="5934659" cy="37091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22C5FE-0C0E-06D2-3D9F-A655C1AD68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2005385"/>
            <a:ext cx="5934658" cy="370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0180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B3511-547E-1433-A154-3354D4526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98B7A-FE28-B7FD-6103-BAB4F2F9A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5369" y="2490624"/>
            <a:ext cx="6301262" cy="1116176"/>
          </a:xfrm>
        </p:spPr>
        <p:txBody>
          <a:bodyPr>
            <a:noAutofit/>
          </a:bodyPr>
          <a:lstStyle/>
          <a:p>
            <a:pPr marL="1028700" indent="-10287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 startAt="4"/>
            </a:pPr>
            <a:r>
              <a:rPr lang="en-US" sz="5400" dirty="0">
                <a:latin typeface="Crimson Pro Medium" pitchFamily="2" charset="77"/>
                <a:cs typeface="Arial" panose="020B0604020202020204" pitchFamily="34" charset="0"/>
              </a:rPr>
              <a:t>Future directions.</a:t>
            </a:r>
          </a:p>
        </p:txBody>
      </p:sp>
    </p:spTree>
    <p:extLst>
      <p:ext uri="{BB962C8B-B14F-4D97-AF65-F5344CB8AC3E}">
        <p14:creationId xmlns:p14="http://schemas.microsoft.com/office/powerpoint/2010/main" val="19869924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33CCD-8980-72E8-DB35-0AA463B91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76D21C-6C24-7759-7D71-64F6C7722F5C}"/>
              </a:ext>
            </a:extLst>
          </p:cNvPr>
          <p:cNvSpPr txBox="1"/>
          <p:nvPr/>
        </p:nvSpPr>
        <p:spPr>
          <a:xfrm>
            <a:off x="419100" y="377345"/>
            <a:ext cx="11353800" cy="5817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fontAlgn="base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itchFamily="2" charset="77"/>
              </a:rPr>
              <a:t>Run without down-sampling (likely need </a:t>
            </a:r>
            <a:r>
              <a:rPr lang="en-US" sz="2400" dirty="0" err="1">
                <a:latin typeface="Montserrat" pitchFamily="2" charset="77"/>
              </a:rPr>
              <a:t>Biowulf</a:t>
            </a:r>
            <a:r>
              <a:rPr lang="en-US" sz="2400" dirty="0">
                <a:latin typeface="Montserrat" pitchFamily="2" charset="77"/>
              </a:rPr>
              <a:t>).</a:t>
            </a:r>
          </a:p>
          <a:p>
            <a:pPr marL="457200" indent="-457200" fontAlgn="base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itchFamily="2" charset="77"/>
              </a:rPr>
              <a:t>Calculate ratio of the median number of passed genes per cluster from full to lncRNA subset for full and subset.</a:t>
            </a:r>
          </a:p>
          <a:p>
            <a:pPr marL="914400" lvl="1" indent="-457200" fontAlgn="base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Montserrat" pitchFamily="2" charset="77"/>
              </a:rPr>
              <a:t>n</a:t>
            </a:r>
            <a:r>
              <a:rPr lang="en-US" sz="2200" dirty="0">
                <a:latin typeface="Montserrat" pitchFamily="2" charset="77"/>
              </a:rPr>
              <a:t> (genes passed to NS forest) </a:t>
            </a:r>
            <a:r>
              <a:rPr lang="en-US" sz="2200" b="1" dirty="0">
                <a:latin typeface="Montserrat" pitchFamily="2" charset="77"/>
              </a:rPr>
              <a:t>:</a:t>
            </a:r>
            <a:r>
              <a:rPr lang="en-US" sz="2200" dirty="0">
                <a:latin typeface="Montserrat" pitchFamily="2" charset="77"/>
              </a:rPr>
              <a:t> </a:t>
            </a:r>
            <a:r>
              <a:rPr lang="en-US" sz="2200" b="1" dirty="0">
                <a:latin typeface="Montserrat" pitchFamily="2" charset="77"/>
              </a:rPr>
              <a:t>N</a:t>
            </a:r>
            <a:r>
              <a:rPr lang="en-US" sz="2200" dirty="0">
                <a:latin typeface="Montserrat" pitchFamily="2" charset="77"/>
              </a:rPr>
              <a:t> (all genes in data)</a:t>
            </a:r>
          </a:p>
          <a:p>
            <a:pPr marL="914400" lvl="1" indent="-457200" fontAlgn="base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Montserrat" pitchFamily="2" charset="77"/>
              </a:rPr>
              <a:t>Examine clusters that had small amount or no </a:t>
            </a:r>
            <a:r>
              <a:rPr lang="en-US" sz="2200" dirty="0" err="1">
                <a:latin typeface="Montserrat" pitchFamily="2" charset="77"/>
              </a:rPr>
              <a:t>lncRNAs</a:t>
            </a:r>
            <a:r>
              <a:rPr lang="en-US" sz="2200" dirty="0">
                <a:latin typeface="Montserrat" pitchFamily="2" charset="77"/>
              </a:rPr>
              <a:t> pass the threshold versus those that did.</a:t>
            </a:r>
          </a:p>
          <a:p>
            <a:pPr marL="457200" indent="-457200" fontAlgn="base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itchFamily="2" charset="77"/>
              </a:rPr>
              <a:t>Run coding RNA or complement to lncRNA subset to see lncRNA contribution to full cluster median and binary score distributions.</a:t>
            </a:r>
          </a:p>
          <a:p>
            <a:pPr marL="457200" indent="-457200" fontAlgn="base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itchFamily="2" charset="77"/>
              </a:rPr>
              <a:t>Run on other neural and non-neural related organs.</a:t>
            </a:r>
          </a:p>
          <a:p>
            <a:pPr marL="457200" indent="-457200" fontAlgn="base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itchFamily="2" charset="77"/>
              </a:rPr>
              <a:t>See if any markers we found (or missed) are experimentally validated.</a:t>
            </a:r>
          </a:p>
          <a:p>
            <a:pPr marL="457200" indent="-457200" fontAlgn="base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itchFamily="2" charset="77"/>
              </a:rPr>
              <a:t>Test marker evaluation on experimentally validated markers for retinal cell types.</a:t>
            </a:r>
          </a:p>
          <a:p>
            <a:pPr marL="914400" lvl="1" indent="-457200" fontAlgn="base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Montserrat" pitchFamily="2" charset="77"/>
              </a:rPr>
              <a:t>lncRNA biomarkers more commonly validated for disease :[</a:t>
            </a:r>
          </a:p>
          <a:p>
            <a:pPr marL="457200" indent="-457200" fontAlgn="base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99031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terature Review Example" id="{78CFFB3B-C639-7B41-B4D1-5A175A6A184A}" vid="{8CFA546A-29CE-914C-A3F2-A3ED2BAF2535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terature Review Example" id="{78CFFB3B-C639-7B41-B4D1-5A175A6A184A}" vid="{7A1F7639-D145-3D4B-8808-D1247EE103CD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terature Review Example" id="{78CFFB3B-C639-7B41-B4D1-5A175A6A184A}" vid="{BC3CD28C-4246-604A-B224-BE77A9B9A22C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9302da-b2f9-4288-a31a-52fbcfe93320">
      <Terms xmlns="http://schemas.microsoft.com/office/infopath/2007/PartnerControls"/>
    </lcf76f155ced4ddcb4097134ff3c332f>
    <TaxCatchAll xmlns="a5e8744b-6de0-40df-8e0a-8933fd3368a6" xsi:nil="true"/>
    <SharedWithUsers xmlns="a5e8744b-6de0-40df-8e0a-8933fd3368a6">
      <UserInfo>
        <DisplayName>Winderlin, Christine (NIH/NLM) [E]</DisplayName>
        <AccountId>71</AccountId>
        <AccountType/>
      </UserInfo>
      <UserInfo>
        <DisplayName>Dehoff, Jeffrey (NIH/NLM) [E]</DisplayName>
        <AccountId>135</AccountId>
        <AccountType/>
      </UserInfo>
      <UserInfo>
        <DisplayName>Manco, Dina (NIH/NLM) [E]</DisplayName>
        <AccountId>86</AccountId>
        <AccountType/>
      </UserInfo>
      <UserInfo>
        <DisplayName>Middleton, Grace (NIH/NLM) [C]</DisplayName>
        <AccountId>16</AccountId>
        <AccountType/>
      </UserInfo>
      <UserInfo>
        <DisplayName>Nurik, Jody (NIH/NLM) [E]</DisplayName>
        <AccountId>17</AccountId>
        <AccountType/>
      </UserInfo>
      <UserInfo>
        <DisplayName>Lemon, Alison (NIH/NLM) [E]</DisplayName>
        <AccountId>22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90759288C404409F2252B22162A91E" ma:contentTypeVersion="15" ma:contentTypeDescription="Create a new document." ma:contentTypeScope="" ma:versionID="8640dae9b4a0695d60698293740eff8d">
  <xsd:schema xmlns:xsd="http://www.w3.org/2001/XMLSchema" xmlns:xs="http://www.w3.org/2001/XMLSchema" xmlns:p="http://schemas.microsoft.com/office/2006/metadata/properties" xmlns:ns2="e29302da-b2f9-4288-a31a-52fbcfe93320" xmlns:ns3="a5e8744b-6de0-40df-8e0a-8933fd3368a6" targetNamespace="http://schemas.microsoft.com/office/2006/metadata/properties" ma:root="true" ma:fieldsID="1c10790bc1a111e166d2626e261a6c56" ns2:_="" ns3:_="">
    <xsd:import namespace="e29302da-b2f9-4288-a31a-52fbcfe93320"/>
    <xsd:import namespace="a5e8744b-6de0-40df-8e0a-8933fd3368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9302da-b2f9-4288-a31a-52fbcfe933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ce9f98e-9ad5-43de-b59a-72d7e946aa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e8744b-6de0-40df-8e0a-8933fd3368a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463e1611-faea-4afc-b38e-a3c52ca141cd}" ma:internalName="TaxCatchAll" ma:showField="CatchAllData" ma:web="a5e8744b-6de0-40df-8e0a-8933fd3368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5033EEA-8F72-47E8-97DC-7CE869DC6F13}">
  <ds:schemaRefs>
    <ds:schemaRef ds:uri="http://purl.org/dc/dcmitype/"/>
    <ds:schemaRef ds:uri="http://schemas.microsoft.com/office/2006/metadata/properties"/>
    <ds:schemaRef ds:uri="e29302da-b2f9-4288-a31a-52fbcfe93320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a5e8744b-6de0-40df-8e0a-8933fd3368a6"/>
  </ds:schemaRefs>
</ds:datastoreItem>
</file>

<file path=customXml/itemProps2.xml><?xml version="1.0" encoding="utf-8"?>
<ds:datastoreItem xmlns:ds="http://schemas.openxmlformats.org/officeDocument/2006/customXml" ds:itemID="{9D75208D-6BCD-46B9-9A60-E7C3508C3B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9302da-b2f9-4288-a31a-52fbcfe93320"/>
    <ds:schemaRef ds:uri="a5e8744b-6de0-40df-8e0a-8933fd3368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E27D62-6581-49A6-B4E8-4DBBDB69AC6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4b77578-9773-42d5-8507-251ca2dc2b06}" enabled="0" method="" siteId="{14b77578-9773-42d5-8507-251ca2dc2b0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1434</TotalTime>
  <Words>2987</Words>
  <Application>Microsoft Macintosh PowerPoint</Application>
  <PresentationFormat>Widescreen</PresentationFormat>
  <Paragraphs>434</Paragraphs>
  <Slides>62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62</vt:i4>
      </vt:variant>
    </vt:vector>
  </HeadingPairs>
  <TitlesOfParts>
    <vt:vector size="74" baseType="lpstr">
      <vt:lpstr>Aptos Narrow</vt:lpstr>
      <vt:lpstr>Arial</vt:lpstr>
      <vt:lpstr>Calibri</vt:lpstr>
      <vt:lpstr>Calibri Light</vt:lpstr>
      <vt:lpstr>Courier New</vt:lpstr>
      <vt:lpstr>Crimson Pro Medium</vt:lpstr>
      <vt:lpstr>Montserrat</vt:lpstr>
      <vt:lpstr>Montserrat SemiBold</vt:lpstr>
      <vt:lpstr>Times New Roman</vt:lpstr>
      <vt:lpstr>Office Theme</vt:lpstr>
      <vt:lpstr>Custom Design</vt:lpstr>
      <vt:lpstr>1_Custom Design</vt:lpstr>
      <vt:lpstr>2 July 2026 Progress Report</vt:lpstr>
      <vt:lpstr>Overview</vt:lpstr>
      <vt:lpstr>PowerPoint Presentation</vt:lpstr>
      <vt:lpstr>It went well!</vt:lpstr>
      <vt:lpstr>Compartmentalized Expression</vt:lpstr>
      <vt:lpstr>Population Resolution</vt:lpstr>
      <vt:lpstr>lncRNA Tissue Specificity</vt:lpstr>
      <vt:lpstr>PowerPoint Presentation</vt:lpstr>
      <vt:lpstr>PowerPoint Presentation</vt:lpstr>
      <vt:lpstr>PowerPoint Presentation</vt:lpstr>
      <vt:lpstr>scRNA Retina Cell Types</vt:lpstr>
      <vt:lpstr>Neuron and Non-Neuron Cell Annotations</vt:lpstr>
      <vt:lpstr>Amacrine Cell Type Annotations</vt:lpstr>
      <vt:lpstr>PowerPoint Presentation</vt:lpstr>
      <vt:lpstr>Original Downsampling Example (past data)</vt:lpstr>
      <vt:lpstr>PowerPoint Presentation</vt:lpstr>
      <vt:lpstr>Merging the Methods.</vt:lpstr>
      <vt:lpstr>Setting Configs</vt:lpstr>
      <vt:lpstr>Threshold (n) Discovery</vt:lpstr>
      <vt:lpstr>Returns n to pass to downsample_adata(each=)</vt:lpstr>
      <vt:lpstr>Downsample and write gathered indices.</vt:lpstr>
      <vt:lpstr>Stratifying by Broad Retina Annotations</vt:lpstr>
      <vt:lpstr>Compute Masks</vt:lpstr>
      <vt:lpstr>Discover Strata-Specific Thresholds</vt:lpstr>
      <vt:lpstr>Run Downsampling on Masks</vt:lpstr>
      <vt:lpstr>PowerPoint Presentation</vt:lpstr>
      <vt:lpstr>PowerPoint Presentation</vt:lpstr>
      <vt:lpstr>Cluster Medians (Neuron)</vt:lpstr>
      <vt:lpstr>Cluster Medians (Non-Neuron)</vt:lpstr>
      <vt:lpstr>Binary Scores (Neuron)</vt:lpstr>
      <vt:lpstr>Binary Scores (Non-Neuron)</vt:lpstr>
      <vt:lpstr>NS-Forest (Neuron)</vt:lpstr>
      <vt:lpstr>NS-Forest (Non-Neuron)</vt:lpstr>
      <vt:lpstr>PowerPoint Presentation</vt:lpstr>
      <vt:lpstr>PowerPoint Presentation</vt:lpstr>
      <vt:lpstr>PowerPoint Presentation</vt:lpstr>
      <vt:lpstr>Preliminary Results for  NS-Forest Comparison Runs on Retina and Kidney Data</vt:lpstr>
      <vt:lpstr>Overview</vt:lpstr>
      <vt:lpstr>PowerPoint Presentation</vt:lpstr>
      <vt:lpstr>Basic Pipeline</vt:lpstr>
      <vt:lpstr>PowerPoint Presentation</vt:lpstr>
      <vt:lpstr>Raw Data and Gene Type Counts</vt:lpstr>
      <vt:lpstr>Cell Type Counts</vt:lpstr>
      <vt:lpstr>Dendrograms</vt:lpstr>
      <vt:lpstr>Cluster Medians</vt:lpstr>
      <vt:lpstr>Binary Scores</vt:lpstr>
      <vt:lpstr>NS-Forest</vt:lpstr>
      <vt:lpstr>Dot Plot</vt:lpstr>
      <vt:lpstr>Heat Map</vt:lpstr>
      <vt:lpstr>Box Plot</vt:lpstr>
      <vt:lpstr>PowerPoint Presentation</vt:lpstr>
      <vt:lpstr>Raw Data and Gene Type Counts</vt:lpstr>
      <vt:lpstr>Cell Type Counts</vt:lpstr>
      <vt:lpstr>Dendrograms</vt:lpstr>
      <vt:lpstr>Cluster Medians</vt:lpstr>
      <vt:lpstr>Binary Scores</vt:lpstr>
      <vt:lpstr>NS-Forest</vt:lpstr>
      <vt:lpstr>Dot Plot</vt:lpstr>
      <vt:lpstr>Heat Map</vt:lpstr>
      <vt:lpstr>Box Plot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Becker, Sasha (NIH/NLM) [F]</dc:creator>
  <cp:keywords/>
  <dc:description/>
  <cp:lastModifiedBy>Becker, Sasha (NIH/NLM) [F]</cp:lastModifiedBy>
  <cp:revision>4</cp:revision>
  <cp:lastPrinted>2023-08-17T16:46:21Z</cp:lastPrinted>
  <dcterms:created xsi:type="dcterms:W3CDTF">2026-07-01T17:06:43Z</dcterms:created>
  <dcterms:modified xsi:type="dcterms:W3CDTF">2026-07-02T17:01:11Z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0x0101006690759288C404409F2252B22162A91E</vt:lpwstr>
  </property>
  <property fmtid="{D5CDD505-2E9C-101B-9397-08002B2CF9AE}" pid="3" name="MediaServiceImageTags">
    <vt:lpwstr/>
  </property>
</Properties>
</file>