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1" r:id="rId2"/>
    <p:sldId id="256" r:id="rId3"/>
    <p:sldId id="263" r:id="rId4"/>
    <p:sldId id="267" r:id="rId5"/>
    <p:sldId id="262" r:id="rId6"/>
    <p:sldId id="257" r:id="rId7"/>
    <p:sldId id="264" r:id="rId8"/>
    <p:sldId id="265" r:id="rId9"/>
    <p:sldId id="260" r:id="rId10"/>
    <p:sldId id="270" r:id="rId11"/>
    <p:sldId id="271" r:id="rId12"/>
    <p:sldId id="273" r:id="rId13"/>
    <p:sldId id="274" r:id="rId14"/>
    <p:sldId id="268" r:id="rId15"/>
    <p:sldId id="276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32"/>
    <p:restoredTop sz="85172"/>
  </p:normalViewPr>
  <p:slideViewPr>
    <p:cSldViewPr snapToGrid="0">
      <p:cViewPr>
        <p:scale>
          <a:sx n="107" d="100"/>
          <a:sy n="107" d="100"/>
        </p:scale>
        <p:origin x="-3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1A506-5B66-5149-9810-4DBBF7C9C23C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D3D56-930D-FA47-9ABC-6315FF8CC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25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ricgate.com/docs/confidence-interval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Double check "positive gene"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D3D56-930D-FA47-9ABC-6315FF8CCC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71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53DDA-B79F-5E11-FDF4-7BAC552E8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714EA-22BF-A165-448F-2177105E4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12E02-B41E-B126-390A-DC36453E7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sure that I want to keep the full group, but have regardless </a:t>
            </a:r>
          </a:p>
          <a:p>
            <a:endParaRPr lang="en-US" dirty="0"/>
          </a:p>
          <a:p>
            <a:r>
              <a:rPr lang="en-US" dirty="0"/>
              <a:t>Higher binary scores -&gt; more cell type specific</a:t>
            </a:r>
          </a:p>
          <a:p>
            <a:endParaRPr lang="en-US" dirty="0"/>
          </a:p>
          <a:p>
            <a:r>
              <a:rPr lang="en-US" dirty="0"/>
              <a:t>Run on coding subset (don't worry about pseudogenes)</a:t>
            </a:r>
          </a:p>
          <a:p>
            <a:endParaRPr lang="en-US" dirty="0"/>
          </a:p>
          <a:p>
            <a:pPr lvl="0"/>
            <a:r>
              <a:rPr lang="en-US" b="1" dirty="0"/>
              <a:t>For </a:t>
            </a:r>
            <a:r>
              <a:rPr lang="en-US" b="1" dirty="0" err="1"/>
              <a:t>cohen</a:t>
            </a:r>
            <a:r>
              <a:rPr lang="en-US" b="1" dirty="0"/>
              <a:t> and cliff, it was group A </a:t>
            </a:r>
            <a:r>
              <a:rPr lang="en-US" b="1" dirty="0" err="1"/>
              <a:t>lnc</a:t>
            </a:r>
            <a:r>
              <a:rPr lang="en-US" b="1" dirty="0"/>
              <a:t> and group B full. Aka magnitude is strength, positive = lncRNA higher, negative = full higher </a:t>
            </a:r>
          </a:p>
          <a:p>
            <a:pPr lvl="0"/>
            <a:endParaRPr lang="en-US" b="1" dirty="0"/>
          </a:p>
          <a:p>
            <a:pPr lvl="0"/>
            <a:r>
              <a:rPr lang="en-US" b="1" dirty="0" err="1"/>
              <a:t>δ</a:t>
            </a:r>
            <a:r>
              <a:rPr lang="en-US" b="1" dirty="0"/>
              <a:t> near 0:</a:t>
            </a:r>
            <a:r>
              <a:rPr lang="en-US" dirty="0"/>
              <a:t> The two groups overlap substantially; one group does not tend to outperform the other.</a:t>
            </a:r>
          </a:p>
          <a:p>
            <a:pPr lvl="0"/>
            <a:r>
              <a:rPr lang="en-US" b="1" dirty="0" err="1"/>
              <a:t>δ</a:t>
            </a:r>
            <a:r>
              <a:rPr lang="en-US" b="1" dirty="0"/>
              <a:t> near +1:</a:t>
            </a:r>
            <a:r>
              <a:rPr lang="en-US" dirty="0"/>
              <a:t> Almost every observation in group A exceeds the corresponding observation in group B — strong stochastic dominance.</a:t>
            </a:r>
          </a:p>
          <a:p>
            <a:pPr lvl="0"/>
            <a:r>
              <a:rPr lang="en-US" b="1" dirty="0" err="1"/>
              <a:t>δ</a:t>
            </a:r>
            <a:r>
              <a:rPr lang="en-US" b="1" dirty="0"/>
              <a:t> near −1:</a:t>
            </a:r>
            <a:r>
              <a:rPr lang="en-US" dirty="0"/>
              <a:t> Group B dominates group A in nearly every pairwise comparison.</a:t>
            </a:r>
          </a:p>
          <a:p>
            <a:pPr lvl="0"/>
            <a:r>
              <a:rPr lang="en-US" b="1" dirty="0">
                <a:hlinkClick r:id="rId3"/>
              </a:rPr>
              <a:t>Confidence interval</a:t>
            </a:r>
            <a:r>
              <a:rPr lang="en-US" b="1" dirty="0"/>
              <a:t> includes 0:</a:t>
            </a:r>
            <a:r>
              <a:rPr lang="en-US" dirty="0"/>
              <a:t> The direction of the effect is uncertain; interpret the point estimate cautiously.</a:t>
            </a:r>
          </a:p>
          <a:p>
            <a:pPr lvl="0"/>
            <a:r>
              <a:rPr lang="en-US" b="1" dirty="0"/>
              <a:t>Medium effect (</a:t>
            </a:r>
            <a:r>
              <a:rPr lang="en-US" b="1" dirty="0" err="1"/>
              <a:t>δ</a:t>
            </a:r>
            <a:r>
              <a:rPr lang="en-US" b="1" dirty="0"/>
              <a:t> ≈ 0.40):</a:t>
            </a:r>
            <a:r>
              <a:rPr lang="en-US" dirty="0"/>
              <a:t> In a clinical context this would suggest a practically meaningful difference worth reporting to stakeholders.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145DA-0C9A-5952-793F-F9E4ADD02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D3D56-930D-FA47-9ABC-6315FF8CCC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4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64251-FC01-418F-443A-277DDDD0B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DCB46-E254-860D-895A-28ADC3414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84606-4243-AE3E-721D-B55257C65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sure that I want to keep the full group, but have regardless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36FAB-FC3B-979E-2260-E26773473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D3D56-930D-FA47-9ABC-6315FF8CCC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051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Frequentist testing, not particularly descriptive since at this sample size basically any p-value will be significant.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D3D56-930D-FA47-9ABC-6315FF8CCC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9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 to 2d density plot</a:t>
            </a:r>
          </a:p>
          <a:p>
            <a:endParaRPr lang="en-US" dirty="0"/>
          </a:p>
          <a:p>
            <a:r>
              <a:rPr lang="en-US" dirty="0"/>
              <a:t>Look into importance metric</a:t>
            </a:r>
          </a:p>
          <a:p>
            <a:endParaRPr lang="en-US" dirty="0"/>
          </a:p>
          <a:p>
            <a:r>
              <a:rPr lang="en-US" dirty="0"/>
              <a:t>Downsample coding genes subset to lncRNA proportion (similar distribution)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D3D56-930D-FA47-9ABC-6315FF8CCC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08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Improved recall -&gt; cell types with high lncRNA expression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D3D56-930D-FA47-9ABC-6315FF8CCC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17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Expression metric in comparison to other classification metrics</a:t>
            </a:r>
          </a:p>
          <a:p>
            <a:endParaRPr lang="en-US" dirty="0"/>
          </a:p>
          <a:p>
            <a:r>
              <a:rPr lang="en-US" dirty="0"/>
              <a:t>Measures how well NSForest achieves the ideal scenario of identifying markers for each cluster that are exclusively expressed in that cluster.</a:t>
            </a:r>
          </a:p>
          <a:p>
            <a:endParaRPr lang="en-US" dirty="0"/>
          </a:p>
          <a:p>
            <a:r>
              <a:rPr lang="en-US" dirty="0"/>
              <a:t>On Target Fraction (of gene g in cluster T) = median expression in target cluster / sum of median expression across all clusters</a:t>
            </a:r>
          </a:p>
          <a:p>
            <a:endParaRPr lang="en-US" dirty="0"/>
          </a:p>
          <a:p>
            <a:r>
              <a:rPr lang="en-US" dirty="0"/>
              <a:t>- focus on binary score but include on-target fraction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D3D56-930D-FA47-9ABC-6315FF8CCC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89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1F283-3EB2-787A-849A-DD256768B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DF50C-6D62-36DB-0C71-EFAF23023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D981F-DD3E-6B59-84AA-BBCADC8C9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Expression metric in comparison to other classification metrics</a:t>
            </a:r>
          </a:p>
          <a:p>
            <a:endParaRPr lang="en-US" dirty="0"/>
          </a:p>
          <a:p>
            <a:r>
              <a:rPr lang="en-US" dirty="0"/>
              <a:t>Measures how well NSForest achieves the ideal scenario of identifying markers for each cluster that are exclusively expressed in that cluster.</a:t>
            </a:r>
          </a:p>
          <a:p>
            <a:endParaRPr lang="en-US" dirty="0"/>
          </a:p>
          <a:p>
            <a:r>
              <a:rPr lang="en-US" dirty="0"/>
              <a:t>On Target Fraction (of gene g in cluster T) = median expression in target cluster / sum of median expression across all clusters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D3E8E-B3CF-B0B5-A182-5C78391F9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D3D56-930D-FA47-9ABC-6315FF8CCC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17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0F243-7B69-9365-8932-66DFCCD99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8D9FD-3ABD-F7F5-2886-ABAB82491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2F5DD-495D-98D9-1AEE-35F6FDD9D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think this visualization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0E1DA-9D28-0EF4-093C-28F387F28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D3D56-930D-FA47-9ABC-6315FF8CCCD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21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8F4BD-E313-A8C1-DB40-8963C0937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BAE58-FBD4-95C8-ABA0-1CFFC59CE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A9D96-C425-652E-6A2E-3ACA6EC87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think this visualization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ECE9E-FB9A-3C9F-6FF3-29D361080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D3D56-930D-FA47-9ABC-6315FF8CCCD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14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0DD52-2611-707B-BC7E-0B9AE0744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2EA41-6727-4E13-75CD-CF8775D84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4E4703-3893-A6A7-707E-FA48A3815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Least favorite, emphasizes extremes over more </a:t>
            </a:r>
            <a:r>
              <a:rPr lang="en-US" dirty="0" err="1"/>
              <a:t>pertinant</a:t>
            </a:r>
            <a:r>
              <a:rPr lang="en-US" dirty="0"/>
              <a:t> differences within the log(retention) = -1 range</a:t>
            </a:r>
          </a:p>
          <a:p>
            <a:endParaRPr lang="en-US" dirty="0"/>
          </a:p>
          <a:p>
            <a:r>
              <a:rPr lang="en-US" dirty="0"/>
              <a:t>log2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235CF-3CE7-B805-0370-AAE92D5E4A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D3D56-930D-FA47-9ABC-6315FF8CCCD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94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94DB5-B4CF-17FD-316B-1E9E7EBA4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520A9C-A92B-59B1-BE71-AD4D93EDB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89A50-ACCB-4D27-5038-78A7C4FB8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Expression metric in comparison to other classification metrics</a:t>
            </a:r>
          </a:p>
          <a:p>
            <a:endParaRPr lang="en-US" dirty="0"/>
          </a:p>
          <a:p>
            <a:r>
              <a:rPr lang="en-US" dirty="0"/>
              <a:t>Measures how well NSForest achieves the ideal scenario of identifying markers for each cluster that are exclusively expressed in that cluster.</a:t>
            </a:r>
          </a:p>
          <a:p>
            <a:endParaRPr lang="en-US" dirty="0"/>
          </a:p>
          <a:p>
            <a:r>
              <a:rPr lang="en-US" dirty="0"/>
              <a:t>On Target Fraction (of gene g in cluster T) = median expression in target cluster / sum of median expression across all clusters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696C0-0DD8-746D-EC8C-3C33F9B7D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D3D56-930D-FA47-9ABC-6315FF8CCCD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451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D9530-2501-A139-770C-1C771F660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F0C663-6788-1E35-C228-A498FABC1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1F2697-F155-A70C-4ECE-E3C2E7428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lncRNA has higher precision than sim number of coding genes </a:t>
            </a:r>
            <a:r>
              <a:rPr lang="en-US" dirty="0" err="1"/>
              <a:t>inneural</a:t>
            </a:r>
            <a:r>
              <a:rPr lang="en-US" dirty="0"/>
              <a:t> prediction, non-neural has lower.</a:t>
            </a:r>
          </a:p>
          <a:p>
            <a:endParaRPr lang="en-US" dirty="0"/>
          </a:p>
          <a:p>
            <a:r>
              <a:rPr lang="en-US" dirty="0"/>
              <a:t>Coding protein performance relatively similar, lncRNA performance changes </a:t>
            </a:r>
            <a:r>
              <a:rPr lang="en-US"/>
              <a:t>across tissues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6158E-47B2-BA15-45C7-4C91C2F20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D3D56-930D-FA47-9ABC-6315FF8CCCD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6766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55FF-409E-41A2-83C1-A2CFBDBBC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61FEF-C983-D111-2340-6C381BF2B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0B69D-4A90-4455-6C3E-0BDF18B5A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95575-DBF3-FDFB-6BF3-3AFD1E500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D3D56-930D-FA47-9ABC-6315FF8CCCD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6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6471-65B1-DCBA-435E-512F45D79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2DCC59-D4E4-4B18-FD05-CE9663213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AAFDF-0648-D71E-CFC8-0409921D6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4800-2050-714B-9D42-F89061F380EA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89B75-06E1-FEF3-8986-D60D1FC17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52AED-35A3-F9BE-882F-281982F2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4C97-9EE7-B341-834B-C82AB92B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14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959D-7363-9DB1-3740-346757679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B269A-88AD-F320-27D7-6ACE48A69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D9C08-77CD-FA0B-A3D0-65ED75152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4800-2050-714B-9D42-F89061F380EA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5733E-6596-8080-A75D-D4B57C3C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96E3D-19E0-3724-231E-8F988CF55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4C97-9EE7-B341-834B-C82AB92B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0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A177-85A5-366D-8916-51BC8F87C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2BAAF-4936-87FD-6CE7-26AA8E7FE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062EE-C6A3-04CC-2ED8-F651DB94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4800-2050-714B-9D42-F89061F380EA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77800-5F0F-92B8-4346-7646288B6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6753F-70BE-B994-3012-8CE5D156F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4C97-9EE7-B341-834B-C82AB92B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2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4AB14-DA2F-2349-60AF-BE4C212E5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CA5EC-24F5-4AE1-46A7-71E09F9124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324A7-DB7A-9E30-FEEF-4D4710111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30748-FEB1-1F9A-5F38-D123E2DF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4800-2050-714B-9D42-F89061F380EA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C91B4-3014-A8B1-151F-3E1168F6D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E07F4-AD2F-DF31-FCFC-F7010F37A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4C97-9EE7-B341-834B-C82AB92B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29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7477F-3798-8E3F-19EB-9760D950D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BD4A8-25F8-0C7E-175E-5CE3BDB56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FAE28-F0A7-BF0B-3458-E6B50A62E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6071F4-EB83-9A2D-7362-850E7288A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AF8BF-F2FC-1D5E-6268-58A8BAE56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DA4E15-720D-8C86-47A2-3308DE82A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4800-2050-714B-9D42-F89061F380EA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D06AD8-07BC-8B1A-00D2-A07E47B87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F1AFB9-8D95-A494-D16B-83C28AC66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4C97-9EE7-B341-834B-C82AB92B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42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57065-0BCF-EC05-7236-2858E7A69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CB7B6-6143-E983-FCFC-3B0C44479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4800-2050-714B-9D42-F89061F380EA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CCD71B-FE79-20FE-7E12-BB676CEA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221A54-E0D9-D5EF-3D3E-6A1BBEC0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4C97-9EE7-B341-834B-C82AB92B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57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60CD1-6413-530C-AB70-CFE8AAD7E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4800-2050-714B-9D42-F89061F380EA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EA497-89CD-4130-AC64-A24668CE0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8A6D3-9568-573D-FE14-8DDE00AB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4C97-9EE7-B341-834B-C82AB92B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259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FD7FA-A686-59E3-E4DA-41702579E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4025B-B694-9D72-C601-39815A32F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59750-43EE-B5DA-7462-67AC37D39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96955-E4D4-DEE4-FDE6-11B76728D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4800-2050-714B-9D42-F89061F380EA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C8A88-A9FA-1AB3-86C7-6231E5426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3A81E-B270-0C45-9F3B-BD46478B3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4C97-9EE7-B341-834B-C82AB92B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97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93E40-0C0C-30CB-4A25-6C05BC1EE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85C968-34B4-9641-2709-C6439ECFD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0771F4-18CD-FC09-81A5-62F9B9484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FA3AD-043D-A7A5-E7B0-882B2E56E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4800-2050-714B-9D42-F89061F380EA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12A60-CEB8-1B7F-554D-15408410C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2338A-583D-4C3E-6E6F-B0D471FB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4C97-9EE7-B341-834B-C82AB92B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53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C4302-DCEC-9172-31C2-B9E515CA9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736AF-9616-45A3-69D0-83062952C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A054B-57F9-9EDB-DFB3-094FC649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4800-2050-714B-9D42-F89061F380EA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D8FD3-DEAC-DBC6-1A0F-B00D84E1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A3F26-3538-0FB6-3F5C-22B2FBD7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4C97-9EE7-B341-834B-C82AB92B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1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100E09-EDE7-72B9-7C48-38BF7F1DD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2DFC82-371E-DA87-9B01-651260143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69277-D5D3-439F-BA69-E143329E0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4800-2050-714B-9D42-F89061F380EA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755D8-9AB4-9ED0-720C-01F85845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A1DDF-8706-3BF9-6149-13357CCA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4C97-9EE7-B341-834B-C82AB92B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544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9A2047-8486-3DC8-01FE-930C7ABA4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92230-F04F-50F6-7090-98E50DE5F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FF6FF-3C3F-2535-1C54-F0670F05D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084800-2050-714B-9D42-F89061F380EA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EBC8E-F0F1-7ACF-A770-0574A01E66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C2F9-C287-3AC9-7794-60136C659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A4C97-9EE7-B341-834B-C82AB92B9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34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17CA-DCA5-8CA7-6333-EE45CC069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D80E8F-786B-673D-C59C-C6EF6A833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05" y="491883"/>
            <a:ext cx="11345390" cy="562204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2583833E-FCD1-BDCB-AE59-6A033DF7C412}"/>
              </a:ext>
            </a:extLst>
          </p:cNvPr>
          <p:cNvSpPr/>
          <p:nvPr/>
        </p:nvSpPr>
        <p:spPr>
          <a:xfrm>
            <a:off x="7817224" y="410547"/>
            <a:ext cx="1308847" cy="4321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07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1B75A7-FA4A-D51A-29C5-35DF966BFCBB}"/>
              </a:ext>
            </a:extLst>
          </p:cNvPr>
          <p:cNvSpPr txBox="1"/>
          <p:nvPr/>
        </p:nvSpPr>
        <p:spPr>
          <a:xfrm>
            <a:off x="402462" y="426482"/>
            <a:ext cx="3804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Cluster Median (gene-cluster pairs)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0A8782-4B06-F36D-555D-FC743560F87C}"/>
              </a:ext>
            </a:extLst>
          </p:cNvPr>
          <p:cNvSpPr txBox="1"/>
          <p:nvPr/>
        </p:nvSpPr>
        <p:spPr>
          <a:xfrm>
            <a:off x="7411191" y="503891"/>
            <a:ext cx="3804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Binary Scores (gene-cluster pairs)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421A6F-491C-2EA3-90BD-96F8667B6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653" y="873223"/>
            <a:ext cx="3009900" cy="5651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8963AA-2ECF-995D-66D3-A7E53DB4D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135" y="962123"/>
            <a:ext cx="2959100" cy="5638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C21A51-AEFC-0500-F9BA-B455A2358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506" y="1630834"/>
            <a:ext cx="3576067" cy="14456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FF5EE2-5937-126D-0B00-CCE27B31AD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506" y="3911498"/>
            <a:ext cx="3545630" cy="144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6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F42CD-D15D-27A1-9721-E4531A69A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7FC28C6-AFF3-C15E-B306-226CD8963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922" y="432001"/>
            <a:ext cx="3987810" cy="29015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7646BBA-23BD-D9F3-6567-5BF63D6EE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922" y="3675471"/>
            <a:ext cx="3900556" cy="283809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7373537-286C-7797-453F-63D2A080D1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522" y="404185"/>
            <a:ext cx="7772400" cy="290157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6E4FC39-71B8-7390-BD81-C5A5935ED5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879" y="3429000"/>
            <a:ext cx="7772400" cy="307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09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CE17C-587A-5D1C-5641-8C77C4476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34BB86-CB63-5105-4E1E-D9C4431C0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071" y="856576"/>
            <a:ext cx="9669173" cy="22278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2F276F-F377-C1E3-E15B-20EFC9138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70" y="3429000"/>
            <a:ext cx="9657859" cy="222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1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614D2-878B-5EC7-F3BB-F6C4A0AE6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D3806D-9EA3-9A59-BE0F-624C04560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973" y="994359"/>
            <a:ext cx="3949239" cy="48692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1A793C-ADEB-4022-4A30-B98FF413E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790" y="994358"/>
            <a:ext cx="4021698" cy="48692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823F69-3C89-10F5-62C3-993D30429C0A}"/>
              </a:ext>
            </a:extLst>
          </p:cNvPr>
          <p:cNvSpPr txBox="1"/>
          <p:nvPr/>
        </p:nvSpPr>
        <p:spPr>
          <a:xfrm>
            <a:off x="1942593" y="509106"/>
            <a:ext cx="3643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Cluster Median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734750-4EBE-F0DF-B9C5-6A48EC48639F}"/>
              </a:ext>
            </a:extLst>
          </p:cNvPr>
          <p:cNvSpPr txBox="1"/>
          <p:nvPr/>
        </p:nvSpPr>
        <p:spPr>
          <a:xfrm>
            <a:off x="6718175" y="509106"/>
            <a:ext cx="3490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Binary Scores</a:t>
            </a:r>
          </a:p>
        </p:txBody>
      </p:sp>
    </p:spTree>
    <p:extLst>
      <p:ext uri="{BB962C8B-B14F-4D97-AF65-F5344CB8AC3E}">
        <p14:creationId xmlns:p14="http://schemas.microsoft.com/office/powerpoint/2010/main" val="1690374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11048-D7D2-9477-178F-223BD0392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40AC35-B6A8-CB1B-F7E4-B08441858858}"/>
                  </a:ext>
                </a:extLst>
              </p:cNvPr>
              <p:cNvSpPr txBox="1"/>
              <p:nvPr/>
            </p:nvSpPr>
            <p:spPr>
              <a:xfrm>
                <a:off x="407568" y="410386"/>
                <a:ext cx="1298714" cy="615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40AC35-B6A8-CB1B-F7E4-B08441858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68" y="410386"/>
                <a:ext cx="1298714" cy="615490"/>
              </a:xfrm>
              <a:prstGeom prst="rect">
                <a:avLst/>
              </a:prstGeom>
              <a:blipFill>
                <a:blip r:embed="rId3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5F1AA8F-8D34-2E62-638C-405488BD9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858" y="0"/>
            <a:ext cx="9152283" cy="686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997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F2554-370A-6BA3-E485-BC1F17773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D8180D-2E82-452D-C911-0A47B91A43E5}"/>
                  </a:ext>
                </a:extLst>
              </p:cNvPr>
              <p:cNvSpPr txBox="1"/>
              <p:nvPr/>
            </p:nvSpPr>
            <p:spPr>
              <a:xfrm>
                <a:off x="407568" y="410386"/>
                <a:ext cx="1298714" cy="615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40AC35-B6A8-CB1B-F7E4-B08441858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68" y="410386"/>
                <a:ext cx="1298714" cy="615490"/>
              </a:xfrm>
              <a:prstGeom prst="rect">
                <a:avLst/>
              </a:prstGeom>
              <a:blipFill>
                <a:blip r:embed="rId3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CF7280D-40A3-6D61-8872-EC1AEBF90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343" y="0"/>
            <a:ext cx="9147313" cy="686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75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5A1D-E2E6-8263-33E2-686210A33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B805D1-B79A-C71C-7AB4-D2CFFB106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343" y="0"/>
            <a:ext cx="9147313" cy="686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248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FD9F-0189-D88F-3EE5-B4C6A5879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4C95755-78C4-0CB3-C012-DA7E221E4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343" y="-2485"/>
            <a:ext cx="9147313" cy="686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531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1BCD4-9C3B-17D0-D201-486A0F4B3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336B3A-7068-90AD-A499-BB63252C8706}"/>
              </a:ext>
            </a:extLst>
          </p:cNvPr>
          <p:cNvSpPr txBox="1"/>
          <p:nvPr/>
        </p:nvSpPr>
        <p:spPr>
          <a:xfrm>
            <a:off x="2501900" y="2438400"/>
            <a:ext cx="7188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My Retention Demonstration Woes</a:t>
            </a:r>
          </a:p>
        </p:txBody>
      </p:sp>
    </p:spTree>
    <p:extLst>
      <p:ext uri="{BB962C8B-B14F-4D97-AF65-F5344CB8AC3E}">
        <p14:creationId xmlns:p14="http://schemas.microsoft.com/office/powerpoint/2010/main" val="718528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E7BBA-280B-F922-352C-ED53D85C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8AA621-C89A-E887-5D02-1947D2AA1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0" y="383191"/>
            <a:ext cx="7772400" cy="60916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0DCA33-1891-21FA-5F33-C234732B017F}"/>
              </a:ext>
            </a:extLst>
          </p:cNvPr>
          <p:cNvSpPr txBox="1"/>
          <p:nvPr/>
        </p:nvSpPr>
        <p:spPr>
          <a:xfrm>
            <a:off x="660400" y="2705725"/>
            <a:ext cx="27051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Raw Retention</a:t>
            </a:r>
          </a:p>
        </p:txBody>
      </p:sp>
    </p:spTree>
    <p:extLst>
      <p:ext uri="{BB962C8B-B14F-4D97-AF65-F5344CB8AC3E}">
        <p14:creationId xmlns:p14="http://schemas.microsoft.com/office/powerpoint/2010/main" val="2853920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7053A-2345-5752-D3DD-9D1FAED44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9511C83-475E-D8D9-CDD8-28114509C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0" y="383191"/>
            <a:ext cx="7772400" cy="60916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F839E1-3E6D-8B3E-7BC8-C9EA3FB3A104}"/>
              </a:ext>
            </a:extLst>
          </p:cNvPr>
          <p:cNvSpPr txBox="1"/>
          <p:nvPr/>
        </p:nvSpPr>
        <p:spPr>
          <a:xfrm>
            <a:off x="419100" y="2705725"/>
            <a:ext cx="33401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"Zoomed In" Retention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E9868C-F4CB-373A-FF36-3042FAE0E5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200" y="383191"/>
            <a:ext cx="7772400" cy="609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340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D2612-869A-FFF0-E1D4-31583C608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BCB4E8-8C74-DA97-A74C-5FE56B3FF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0" y="383191"/>
            <a:ext cx="7772400" cy="60916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03D66C-20E6-26F8-44FD-95B2630F41ED}"/>
              </a:ext>
            </a:extLst>
          </p:cNvPr>
          <p:cNvSpPr txBox="1"/>
          <p:nvPr/>
        </p:nvSpPr>
        <p:spPr>
          <a:xfrm>
            <a:off x="419100" y="2705725"/>
            <a:ext cx="33401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Log-Scale Retention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8E1E11-BC9C-D9ED-FD6A-00BCEE2DA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200" y="383191"/>
            <a:ext cx="7772400" cy="6091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F6EF5C-085E-5F80-342D-42D5944B0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200" y="383191"/>
            <a:ext cx="7772400" cy="609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463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B5D1B-2A8E-A390-4B2F-A14DCA488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5A296C-989B-150E-D592-790FDF9C2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369" y="172561"/>
            <a:ext cx="8829261" cy="651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3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9DE7B-A6E5-E5A9-45A1-819E68FC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7DC1CDC-9236-2F40-8D10-133CB58DD1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292" y="448502"/>
            <a:ext cx="11192868" cy="557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050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92522-E4AD-B15E-04C8-D77EEE3F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8E8E65E-13EA-393A-02E4-B2D23182A8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4682" y="3160123"/>
            <a:ext cx="6064918" cy="30216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24BA3B5-257B-5849-38A5-C6A79F168D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4682" y="141877"/>
            <a:ext cx="6064918" cy="302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050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1912</TotalTime>
  <Words>504</Words>
  <Application>Microsoft Macintosh PowerPoint</Application>
  <PresentationFormat>Widescreen</PresentationFormat>
  <Paragraphs>71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Becker, Sasha (NIH/NLM) [F]</dc:creator>
  <cp:lastModifiedBy>Becker, Sasha (NIH/NLM) [F]</cp:lastModifiedBy>
  <cp:revision>5</cp:revision>
  <dcterms:created xsi:type="dcterms:W3CDTF">2026-07-20T17:34:21Z</dcterms:created>
  <dcterms:modified xsi:type="dcterms:W3CDTF">2026-08-10T17:37:24Z</dcterms:modified>
</cp:coreProperties>
</file>