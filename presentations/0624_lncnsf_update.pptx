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  <p:sldMasterId id="2147483658" r:id="rId5"/>
    <p:sldMasterId id="2147483670" r:id="rId6"/>
  </p:sldMasterIdLst>
  <p:notesMasterIdLst>
    <p:notesMasterId r:id="rId33"/>
  </p:notesMasterIdLst>
  <p:handoutMasterIdLst>
    <p:handoutMasterId r:id="rId34"/>
  </p:handoutMasterIdLst>
  <p:sldIdLst>
    <p:sldId id="2147474950" r:id="rId7"/>
    <p:sldId id="2147474951" r:id="rId8"/>
    <p:sldId id="2147474952" r:id="rId9"/>
    <p:sldId id="2147474954" r:id="rId10"/>
    <p:sldId id="2147474955" r:id="rId11"/>
    <p:sldId id="2147474956" r:id="rId12"/>
    <p:sldId id="2147474957" r:id="rId13"/>
    <p:sldId id="2147474958" r:id="rId14"/>
    <p:sldId id="2147474959" r:id="rId15"/>
    <p:sldId id="2147474965" r:id="rId16"/>
    <p:sldId id="2147474961" r:id="rId17"/>
    <p:sldId id="2147474962" r:id="rId18"/>
    <p:sldId id="2147474963" r:id="rId19"/>
    <p:sldId id="2147474964" r:id="rId20"/>
    <p:sldId id="2147474966" r:id="rId21"/>
    <p:sldId id="2147474967" r:id="rId22"/>
    <p:sldId id="2147474968" r:id="rId23"/>
    <p:sldId id="2147474969" r:id="rId24"/>
    <p:sldId id="2147474970" r:id="rId25"/>
    <p:sldId id="2147474971" r:id="rId26"/>
    <p:sldId id="2147474972" r:id="rId27"/>
    <p:sldId id="2147474973" r:id="rId28"/>
    <p:sldId id="2147474974" r:id="rId29"/>
    <p:sldId id="2147474975" r:id="rId30"/>
    <p:sldId id="2147474976" r:id="rId31"/>
    <p:sldId id="214747497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ncRNA Retina and Kidney Results" id="{A5F0B391-D575-AE4F-B5B3-4E184BBBEE63}">
          <p14:sldIdLst>
            <p14:sldId id="2147474950"/>
            <p14:sldId id="2147474951"/>
            <p14:sldId id="2147474952"/>
            <p14:sldId id="2147474954"/>
            <p14:sldId id="2147474955"/>
            <p14:sldId id="2147474956"/>
            <p14:sldId id="2147474957"/>
            <p14:sldId id="2147474958"/>
            <p14:sldId id="2147474959"/>
            <p14:sldId id="2147474965"/>
            <p14:sldId id="2147474961"/>
            <p14:sldId id="2147474962"/>
            <p14:sldId id="2147474963"/>
            <p14:sldId id="2147474964"/>
            <p14:sldId id="2147474966"/>
            <p14:sldId id="2147474967"/>
            <p14:sldId id="2147474968"/>
            <p14:sldId id="2147474969"/>
            <p14:sldId id="2147474970"/>
            <p14:sldId id="2147474971"/>
            <p14:sldId id="2147474972"/>
            <p14:sldId id="2147474973"/>
            <p14:sldId id="2147474974"/>
            <p14:sldId id="2147474975"/>
            <p14:sldId id="2147474976"/>
            <p14:sldId id="21474749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ACD38-47BA-3EDC-7A1D-0C4F83D3BF81}" name="Nurik, Jody (NIH/NLM) [E]" initials="NJ([" userId="S::nurikjl@nih.gov::49b2bdca-6fe7-48dd-ab42-7db317df6e4c" providerId="AD"/>
  <p188:author id="{332541D7-3D88-A461-9CB6-85B213F49D30}" name="Manco, Dina (NIH/NLM) [E]" initials="MD([" userId="S::mancodm@nih.gov::a2db41b2-3247-4a42-8663-e1f3c84e0c6f" providerId="AD"/>
  <p188:author id="{EB3167FA-192F-ADE3-DF06-19FCEA52E3FA}" name="Winderlin, Christine (NIH/NLM) [E]" initials="WC([" userId="S::winderlinca@nih.gov::ba9aa90f-88c9-4a91-bc78-820f3b7ebaf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lly, Sarah Ashley (NIH/NLM) [C]" initials="JSA([" lastIdx="4" clrIdx="0">
    <p:extLst>
      <p:ext uri="{19B8F6BF-5375-455C-9EA6-DF929625EA0E}">
        <p15:presenceInfo xmlns:p15="http://schemas.microsoft.com/office/powerpoint/2012/main" userId="Jolly, Sarah Ashley (NIH/NLM) [C]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00"/>
    <a:srgbClr val="FFFC00"/>
    <a:srgbClr val="601AB9"/>
    <a:srgbClr val="523279"/>
    <a:srgbClr val="0433FF"/>
    <a:srgbClr val="FFC0CA"/>
    <a:srgbClr val="B85826"/>
    <a:srgbClr val="A99C00"/>
    <a:srgbClr val="AD58AB"/>
    <a:srgbClr val="305F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46" autoAdjust="0"/>
    <p:restoredTop sz="88146" autoAdjust="0"/>
  </p:normalViewPr>
  <p:slideViewPr>
    <p:cSldViewPr snapToGrid="0">
      <p:cViewPr>
        <p:scale>
          <a:sx n="102" d="100"/>
          <a:sy n="102" d="100"/>
        </p:scale>
        <p:origin x="144" y="120"/>
      </p:cViewPr>
      <p:guideLst/>
    </p:cSldViewPr>
  </p:slideViewPr>
  <p:outlineViewPr>
    <p:cViewPr>
      <p:scale>
        <a:sx n="33" d="100"/>
        <a:sy n="33" d="100"/>
      </p:scale>
      <p:origin x="0" y="-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420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commentAuthors" Target="commentAuthor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D8B876-C59D-4E87-8065-05E60B40C7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186FF-3B33-44DF-BC06-A6BEDEA5BC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52C7D-D774-47DB-8A60-CED9713D1233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4AF60-A001-46D4-8D3F-49E3CDA623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26134-311D-476E-A38C-949E8092E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B2D407-E3A5-4537-889B-49E0FF2CA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7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ACEE6-9C36-5843-8332-3A0FA88FCC83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EF54A-9134-8641-A991-457FAC8A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4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10C76-F7B4-4D3F-6056-BD11BB6D0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CB60E-8F18-9335-6B14-324A1C39B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95DCB-0A4A-8851-CA70-4291216C2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D88ED-29A4-0125-A51B-38F2437F8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49504-AEB8-4325-8A2D-55FA0AD00220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76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2377-F017-CC04-953D-A2C35364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EAF0E-1085-ED9D-01FE-7EBDD0522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DC050-1D14-D611-34E9-0A6460CF4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61A60-75C2-774B-114D-4CDDC92E0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734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788CB-F542-F08E-D245-C31AC762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82C9C-1C59-378F-9FFB-75059A64B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E8EE6-FAE7-7187-410D-C28544B3E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03A7A-3DF7-376D-78BC-CD00D7317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811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DC38D-7B3B-2BE9-B6C8-63EE7A46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E84AC-4083-EF22-C62D-ADD171B1C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BDA4E-9322-9414-0586-7BCE6EBFC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AB552-AE34-1D45-C83E-5A17A066B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93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C5447-21AF-3739-0AF4-FB70B3BAD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8AFAC-5C7A-1C65-134A-45651B648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904B4-E1F0-9A46-09D2-6693FBA7B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4262-F505-F029-6625-FB831F99E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788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17A8A-E413-99B3-F021-EEEBF7F42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F3ED7-5A0C-D6D9-2650-13C59400B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07665-DB43-B814-89A8-533DEA376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575B5-2409-4DB8-43FD-92C4F880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38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F6085-25DC-DB79-1483-CA9B8CDB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5A194-B86E-5523-1F32-48E8B3D5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9680E-C155-7254-ED3B-4C60B6319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3E9A2-2C84-487E-68EF-77B6F360B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798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4CD32-2A5B-19A7-C8B0-D32C6B89C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EBD74-5F94-2B87-4819-BB382E82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616AD-6199-5FC7-F201-0464A3C8C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C0996-4A73-FFC3-09FE-FFB144F30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2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C2A23-4A7B-75C5-0933-9EE9EEEA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4D469-338E-0CC5-D847-723CC0AAB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41F19-8F26-DB2E-000B-BF3448B9D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9879F-C0C8-4DCF-301D-19D360A0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927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F5F5C-D8E5-91B6-29B0-01FB08E77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3F60D-3328-C8AF-ECA5-D14E7629F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267AA-E748-9403-A7C1-295EE4BFF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9566A-91C0-16ED-9D74-290B92251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200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7B4E-9980-EE3F-A162-5B70707F1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AFCF87-0EB7-A75B-E09C-A4BA924CD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7BB8D-96BC-4E17-42B8-E63088A1A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D630-8A54-FD18-1252-C89044546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653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21857-FF4C-1E68-B82A-C77028E81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F7E72-7F14-0D04-C546-E6E99F709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51E4F-E3EF-8B7D-0568-B7ADF11BB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7C194-8B6C-A3BA-C59E-6C72DBF9A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309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7C43-BE22-5CDE-C2BD-CAC8BBBA7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D878D-AC76-180B-A1EA-C13BE886C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537E3-FFDD-A8CD-F9AD-6C4442ECA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88232-5F0A-9BE5-41D4-443D4645D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46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C698D-026E-F74A-5146-890F4DD5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66C78-6B0B-5330-D95E-51E5D84E5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A76E8-3519-B42B-82AE-38BC39732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4EFFC-493E-3A99-36B2-6CCF731C7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5058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F929-6ACF-E73D-9E7D-C71E1234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BEC23-FD96-2477-1A61-9509D0B2C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2A653-AAED-83EF-58E5-9CAC8E51A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9957C-E1CE-E5DF-19C8-D3BB62B67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25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4ABC3-489D-00F7-6F18-F1003C69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E397B-CA72-7227-5BFE-69A608730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38AF1-D862-E8F9-82C4-C3224A951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0EDDD-AFF6-8298-71D6-3717FB985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0882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2B6C4-4CB2-9A1B-8562-AADF33BE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B2A72-277F-AC17-E281-737055A60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EDD42-0D64-6D22-AB95-A6BF1D364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4637E-9591-3163-4EEF-9F04F8A67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799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D58A-F5B2-3A2D-0DFA-B7BB4067A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3E01A-C7BC-D919-844F-C798476AF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5595C-B417-1B4D-BCEE-19579035F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B8B0E-156D-A880-69E8-F56605FE6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7686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8F67-D17F-6537-EDE1-DBBD106B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37B27-D1A4-749B-F134-7BAFD2B46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50D57-5892-437C-B515-9F0697DC5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F1499-85A9-EBFD-D645-179C74A4F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552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F7A8-C254-86F2-5C57-BB717091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65801-5EC8-150A-A293-FBE07DB84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453CA-E656-1C6D-F269-D24C19DAE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AA4F1-1431-04F3-84CE-0D7FD6E9F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9262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042F7-D057-8935-56DA-412F27CE8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80AD8-675A-5715-2D3B-EE0C7D43C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4DF0D-C921-61C6-3924-32CFFE31A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ECDC2-C4A3-446F-229C-76849653A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5183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87EC3-89E9-BD6E-DFCD-689AA25E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82662-A20F-755E-BDEF-B7B03A6B5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DE786-4794-2F65-8718-260E90D29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88A3D-1C2D-B15A-4F4A-857058291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9584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976E7-0E68-694B-5C50-6C2CE8993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E4EEE1-B012-1FD9-0141-A875A8EB1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54DE8-CB9B-C0FA-C35F-2D581FA77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339F0-E371-401D-F1ED-B506D60DA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3752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A75F7-65F5-EFC3-E34D-974614F6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1F3BC-D6EE-2043-E73A-86D67D73C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DE085-C1A4-6B1F-76E8-2EED79FDB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8411-852D-D7D2-0A09-707B27F40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8356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3FF2-2490-3300-EAD6-A969351C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0DC40-64E5-6099-B1EA-2C2B687EF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66A52-5895-E56D-73A6-2A71507CB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C2606-BA98-6F44-0E02-36B9CEEF4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5803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2969F-7939-A2D1-E4B6-1148EC89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2BC84-36D8-E106-0FE0-420AB8D39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FDEA5-3616-D90E-82B0-A40503228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987-D0CE-DEED-1F0C-EDB209533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76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071DA-A33A-46E6-9AB6-F0ADE99EC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4695E-AC84-4688-A74E-04DB0D17E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AC192-0DE6-71BE-52C6-1ED2907A842C}"/>
              </a:ext>
            </a:extLst>
          </p:cNvPr>
          <p:cNvSpPr txBox="1"/>
          <p:nvPr userDrawn="1"/>
        </p:nvSpPr>
        <p:spPr>
          <a:xfrm>
            <a:off x="11442032" y="6015789"/>
            <a:ext cx="529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D06770D-C131-FA45-B33F-98816BA1FC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830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3839A95-D286-4305-88D6-D686612B48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240A26-FF24-4B62-AD41-DDA9D44E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FD89F-9A31-4DD6-9C95-A8E96700B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977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26961D-1D7C-4A74-9291-7AFBF7B164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43C8BF-FB3B-47E6-923C-BF77E9613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5FAE4-54C3-47E3-8D66-6DC40303B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498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7C2115-2A3E-4D75-BF91-C2D668D06D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736430-14A1-4BA2-83C0-8A53ACEB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5CB4D-BAC5-4B09-B394-C904EA9E4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954CC-D6CE-4C10-8CB2-6826A52DA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C02E8-077D-4865-A502-DC130FC82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F93428-F0AA-4902-9195-6434C9A75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732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E397A9-BAE3-42F3-81E4-58B08040BE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95DA63-6999-4B88-BEEB-3C1D1E472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231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6919CE-08D3-4ADA-A705-7CDCB9A2AD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9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3E0ADD-61B1-4710-91B4-291242148D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6FC309-F318-4862-BC38-3368C5F9B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2C403-ED21-4045-8396-6B5FD854D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44497-95B6-4596-9589-0036623F6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95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E18608-F2C5-42EC-90AD-EE7DDEB61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162D4-CA25-43A3-A8ED-219C79F87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39B57C-8104-4916-8FEA-8B79049D0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62372-0DDA-4B3A-9F7E-DBE11D8C0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4018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F49BD0-3689-4119-A0D1-AEEBC81B07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1E3D7E-97AC-4AE3-934E-02464129CB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03851C-AB83-4B86-B1F8-F8F94C2B5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61B55-30D5-4E10-9F58-15283F08B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1DF679-34AE-4D31-83FE-5974A31D70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6025663"/>
            <a:ext cx="12192000" cy="83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3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A45A2C-D225-45F9-9F81-02A65C041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913D0-3FDF-487F-A88E-2683A3D4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FB6AA-FC45-40A8-BDC6-E1DADC144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980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23B10D-8F28-4069-B04B-D7845887D5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C3C2AA-3EA1-4419-AF0D-E12E02FF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F62F3-F4AC-4546-B96F-0045811BF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584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F44AC8-8B5F-4870-8249-8F9A0E7C6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9D8871-79A8-4429-8222-B51CA9C4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B21D2-DED5-4A5F-AA9B-1BB37A43E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D2A44-C1D1-42EB-B9BB-5ABD8F203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99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4AD278-E165-4912-B926-A7864010DB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34087"/>
            <a:ext cx="12192000" cy="8239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70325-5EB5-4468-BC79-656FB3DD2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E2972-1C48-4505-9701-5514CEB38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DDE98-B9BC-4F8D-BAAD-50D72777B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03921D-9B75-41F9-839F-394DB24EF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4E502-D27B-42D0-A1AC-1BB562965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848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71FB14-04C2-484F-BC80-C8E02EF678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C828C8-E368-4A36-887A-7361DC23A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0037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089A2E-5B2A-4F91-B064-F52F779CA3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74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0B3B48B-5898-473E-A0CD-474F8A65A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12B534-7B05-49E0-8F47-77E40537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84A6-B9B3-496A-9EB1-27D850680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6DC76-A15A-45E1-A9B2-4741220E9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2568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849AFD8-F165-4307-A1B9-CFDE9A1BD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F9643D-7186-4D6A-8E1C-3BFA0034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F3987-7318-4536-98EE-2EF7DBEB7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07C0B-9896-42F1-8411-345B7ED69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227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E6D44-A92E-43DA-9ABB-43157B9394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A5608F-BED7-4E9A-A2E4-07F43D54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4954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ECBA-10E6-4E28-99EF-99525B8F3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56FC1-8E3B-4769-86EC-78F0C92FA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985116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8EBD9F0-FFB9-413F-A29F-5F6478706A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010839-4D97-4509-904E-97453EA2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D3B8D-146D-4D2C-92DC-C2B3CEA95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3922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FEA4278-0263-41FA-B99F-92D08E4407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7A9C4C-0911-418B-A68B-F2571CE02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E0456-303C-4752-BC72-EFA5E54E9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5316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0A3805D-BBA6-4CD8-902E-8BB9FE88E1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947F1E-2D41-4838-9062-4D58B969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1426F-93EF-49D2-AEFD-96BD9A590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63032-6F48-4EC0-9E04-F64A956A3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048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A787DE3A-9044-4902-BB3D-7DBD2EF626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6F352C-E8E9-43FB-8B89-ED32167D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CDA2E-E393-4DB8-B7C0-A47F543C8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38140-1A0C-430C-8FFF-41893D504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5411B-917C-4400-86DE-ABFCD6104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0554B9-9C5B-4D8A-9385-EC81F45437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67356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4F34D4-D9B8-4CB8-9C32-38913C3F6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EB23FA-6E6B-469A-8B10-618C6060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47673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7EDFFC-3E6B-4D60-96D2-EC5C518775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4719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8A826CF-0ECB-434D-B30E-25F27A8B47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8315FA-0986-4DA3-B550-640BE6B2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3B989-7F03-4E4C-9588-C4B75DEBE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488C5-2042-4F90-851E-77D33959F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4972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61EE0B8-3C09-45D9-91FE-63841F5932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CE0676-53A9-4CC6-8EAA-B05F01934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66C3E-3CDC-4EAC-9E3C-FC8D9643B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94B7E-26EE-4436-B802-DE6AC8328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47184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44C377-3B74-488B-A521-C0AF73D94F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E056E2-9C63-4EF6-A71B-310C5B38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1963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30F85F-C49E-4405-BDD4-C3E071F09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355"/>
            <a:ext cx="10515600" cy="7274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3901C-63AA-4FC2-B01F-2ED6FB32D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64871"/>
            <a:ext cx="10515600" cy="4813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745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D7B6D92-67F2-44AB-B5E0-D84743307F8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C1242-FA9B-4906-89D9-34ECA0F4C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56C02-09F3-4FEB-A508-886862686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123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1BAFAF-D3D3-48C2-AD74-C26D4F427FA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7C5BA6-5F87-4AEE-9731-B58F5CB71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89A6C-A538-418B-A219-83B3647F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138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84" r:id="rId5"/>
    <p:sldLayoutId id="2147483676" r:id="rId6"/>
    <p:sldLayoutId id="2147483677" r:id="rId7"/>
    <p:sldLayoutId id="2147483678" r:id="rId8"/>
    <p:sldLayoutId id="2147483679" r:id="rId9"/>
    <p:sldLayoutId id="2147483681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8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A4A32-5291-0819-9F21-2B394A9E9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ont of the NLM building with crab apple blossoms in bloom.">
            <a:extLst>
              <a:ext uri="{FF2B5EF4-FFF2-40B4-BE49-F238E27FC236}">
                <a16:creationId xmlns:a16="http://schemas.microsoft.com/office/drawing/2014/main" id="{A490232F-D28D-DAE4-4C2C-7B026E39E2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697" y="0"/>
            <a:ext cx="12197697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3811677-A62D-DACA-FE77-148897FB2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911927"/>
            <a:ext cx="5581135" cy="166619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rimson Pro Medium" pitchFamily="2" charset="77"/>
              </a:rPr>
              <a:t>Preliminary Results for </a:t>
            </a:r>
            <a:br>
              <a:rPr lang="en-US" sz="3600" dirty="0">
                <a:latin typeface="Crimson Pro Medium" pitchFamily="2" charset="77"/>
              </a:rPr>
            </a:br>
            <a:r>
              <a:rPr lang="en-US" sz="3600" dirty="0">
                <a:latin typeface="Crimson Pro Medium" pitchFamily="2" charset="77"/>
              </a:rPr>
              <a:t>NS-Forest Comparison Runs on Retina and Kidney Data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981F9EE-D184-0514-929C-8AD1EDDA4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5403" y="3575306"/>
            <a:ext cx="4600377" cy="769083"/>
          </a:xfrm>
        </p:spPr>
        <p:txBody>
          <a:bodyPr>
            <a:normAutofit/>
          </a:bodyPr>
          <a:lstStyle/>
          <a:p>
            <a:pPr algn="l">
              <a:spcBef>
                <a:spcPts val="400"/>
              </a:spcBef>
            </a:pPr>
            <a:r>
              <a:rPr lang="en-US" sz="2000" i="1" dirty="0">
                <a:latin typeface="Montserrat" pitchFamily="2" charset="77"/>
                <a:cs typeface="Calibri" panose="020F0502020204030204" pitchFamily="34" charset="0"/>
              </a:rPr>
              <a:t>Vik Becker</a:t>
            </a:r>
          </a:p>
          <a:p>
            <a:pPr algn="l">
              <a:spcBef>
                <a:spcPts val="400"/>
              </a:spcBef>
            </a:pPr>
            <a:r>
              <a:rPr lang="en-US" sz="2000" i="1" dirty="0">
                <a:latin typeface="Montserrat" pitchFamily="2" charset="77"/>
                <a:cs typeface="Calibri" panose="020F0502020204030204" pitchFamily="34" charset="0"/>
              </a:rPr>
              <a:t>National Library of Medicine (NIH)</a:t>
            </a:r>
          </a:p>
        </p:txBody>
      </p:sp>
    </p:spTree>
    <p:extLst>
      <p:ext uri="{BB962C8B-B14F-4D97-AF65-F5344CB8AC3E}">
        <p14:creationId xmlns:p14="http://schemas.microsoft.com/office/powerpoint/2010/main" val="128413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03910-D334-3E32-AEC5-A9C09A99D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2DBD-B6E4-5EA2-588A-24200C754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446" y="789963"/>
            <a:ext cx="3502240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  <a:cs typeface="Calibri" panose="020F0502020204030204" pitchFamily="34" charset="0"/>
              </a:rPr>
              <a:t>Overview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9FA63-68E3-0BA7-F632-5045CCC93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172" y="1709206"/>
            <a:ext cx="10045655" cy="3831545"/>
          </a:xfrm>
        </p:spPr>
        <p:txBody>
          <a:bodyPr>
            <a:noAutofit/>
          </a:bodyPr>
          <a:lstStyle/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3200" dirty="0">
                <a:latin typeface="Montserrat" pitchFamily="2" charset="77"/>
                <a:cs typeface="Arial" panose="020B0604020202020204" pitchFamily="34" charset="0"/>
              </a:rPr>
              <a:t>Summary of NS-Forest Comparison Pipeline.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3200" dirty="0">
                <a:latin typeface="Montserrat" pitchFamily="2" charset="77"/>
                <a:cs typeface="Arial" panose="020B0604020202020204" pitchFamily="34" charset="0"/>
              </a:rPr>
              <a:t>Results on HCA Retina Data.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3200" dirty="0">
                <a:latin typeface="Montserrat" pitchFamily="2" charset="77"/>
                <a:cs typeface="Arial" panose="020B0604020202020204" pitchFamily="34" charset="0"/>
              </a:rPr>
              <a:t>Results on HuBMAP Kidney Data.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3200" dirty="0">
                <a:latin typeface="Montserrat" pitchFamily="2" charset="77"/>
                <a:cs typeface="Arial" panose="020B0604020202020204" pitchFamily="34" charset="0"/>
              </a:rPr>
              <a:t>Future Directions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endParaRPr lang="en-US" sz="3200" dirty="0">
              <a:latin typeface="Montserrat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044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7C5E1-26F9-FD60-FE49-9355E0697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32D9D-F38E-2A5C-E740-80651113F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5543" y="1910218"/>
            <a:ext cx="7040913" cy="2125578"/>
          </a:xfrm>
        </p:spPr>
        <p:txBody>
          <a:bodyPr>
            <a:noAutofit/>
          </a:bodyPr>
          <a:lstStyle/>
          <a:p>
            <a:pPr marL="571500" indent="-5715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Summary of NS-Forest Comparison Pipeline.</a:t>
            </a:r>
          </a:p>
        </p:txBody>
      </p:sp>
    </p:spTree>
    <p:extLst>
      <p:ext uri="{BB962C8B-B14F-4D97-AF65-F5344CB8AC3E}">
        <p14:creationId xmlns:p14="http://schemas.microsoft.com/office/powerpoint/2010/main" val="229639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AACBA-4115-DB82-69F3-2064DD717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12DC-98A7-0B1D-C186-D72EB71F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0" y="421420"/>
            <a:ext cx="5908589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Basic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64784-C1AF-72C4-A7E7-71027CA6B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539" y="1259661"/>
            <a:ext cx="10600789" cy="4545393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b="1" dirty="0">
                <a:latin typeface="Montserrat SemiBold" panose="00000700000000000000" pitchFamily="2" charset="77"/>
              </a:rPr>
              <a:t>Load raw sc/snRNA-seq Cell x Gene Data </a:t>
            </a:r>
            <a:r>
              <a:rPr lang="en-US" dirty="0">
                <a:latin typeface="Montserrat" pitchFamily="2" charset="77"/>
                <a:cs typeface="Courier New" panose="02070309020205020404" pitchFamily="49" charset="0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scanpy</a:t>
            </a:r>
            <a:r>
              <a:rPr lang="en-US" dirty="0">
                <a:latin typeface="Montserrat" pitchFamily="2" charset="77"/>
                <a:cs typeface="Courier New" panose="02070309020205020404" pitchFamily="49" charset="0"/>
              </a:rPr>
              <a:t>).</a:t>
            </a:r>
          </a:p>
          <a:p>
            <a:pPr marL="1143000" lvl="1">
              <a:lnSpc>
                <a:spcPct val="100000"/>
              </a:lnSpc>
              <a:buFont typeface="+mj-lt"/>
              <a:buAutoNum type="alphaLcPeriod"/>
            </a:pPr>
            <a:r>
              <a:rPr lang="en-US" i="1" dirty="0">
                <a:latin typeface="Montserrat" pitchFamily="2" charset="77"/>
              </a:rPr>
              <a:t> Optional: </a:t>
            </a:r>
            <a:r>
              <a:rPr lang="en-US" dirty="0">
                <a:latin typeface="Montserrat" pitchFamily="2" charset="77"/>
              </a:rPr>
              <a:t>Downsample by cell type </a:t>
            </a:r>
            <a:r>
              <a:rPr lang="en-US" dirty="0">
                <a:latin typeface="Montserrat" pitchFamily="2" charset="77"/>
                <a:cs typeface="Courier New" panose="02070309020205020404" pitchFamily="49" charset="0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celltypist</a:t>
            </a:r>
            <a:r>
              <a:rPr lang="en-US" dirty="0">
                <a:latin typeface="Montserrat" pitchFamily="2" charset="77"/>
                <a:cs typeface="Courier New" panose="02070309020205020404" pitchFamily="49" charset="0"/>
              </a:rPr>
              <a:t>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b="1" dirty="0">
                <a:latin typeface="Montserrat SemiBold" panose="00000700000000000000" pitchFamily="2" charset="77"/>
              </a:rPr>
              <a:t>Obtain lncRNA subset from data </a:t>
            </a:r>
            <a:r>
              <a:rPr lang="en-US" dirty="0">
                <a:latin typeface="Montserrat" pitchFamily="2" charset="77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anndata</a:t>
            </a:r>
            <a:r>
              <a:rPr lang="en-US" dirty="0">
                <a:latin typeface="Montserrat" pitchFamily="2" charset="77"/>
              </a:rPr>
              <a:t>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b="1" dirty="0">
                <a:latin typeface="Montserrat SemiBold" panose="00000700000000000000" pitchFamily="2" charset="77"/>
              </a:rPr>
              <a:t>Perform preprocessing on full and subset data:</a:t>
            </a:r>
          </a:p>
          <a:p>
            <a:pPr marL="1143000" lvl="1">
              <a:lnSpc>
                <a:spcPct val="100000"/>
              </a:lnSpc>
              <a:buFont typeface="+mj-lt"/>
              <a:buAutoNum type="alphaL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dirty="0">
                <a:latin typeface="Montserrat" pitchFamily="2" charset="77"/>
              </a:rPr>
              <a:t>Generate dendrograms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scanpy</a:t>
            </a:r>
            <a:r>
              <a:rPr lang="en-US" dirty="0">
                <a:latin typeface="Montserrat" pitchFamily="2" charset="77"/>
              </a:rPr>
              <a:t>).</a:t>
            </a:r>
          </a:p>
          <a:p>
            <a:pPr marL="1143000" lvl="1">
              <a:lnSpc>
                <a:spcPct val="100000"/>
              </a:lnSpc>
              <a:buFont typeface="+mj-lt"/>
              <a:buAutoNum type="alphaL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dirty="0">
                <a:latin typeface="Montserrat" pitchFamily="2" charset="77"/>
              </a:rPr>
              <a:t>Calculate cluster medians per gene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nsforest</a:t>
            </a:r>
            <a:r>
              <a:rPr lang="en-US" dirty="0">
                <a:latin typeface="Montserrat" pitchFamily="2" charset="77"/>
              </a:rPr>
              <a:t>).</a:t>
            </a:r>
          </a:p>
          <a:p>
            <a:pPr marL="1143000" lvl="1">
              <a:lnSpc>
                <a:spcPct val="100000"/>
              </a:lnSpc>
              <a:buFont typeface="+mj-lt"/>
              <a:buAutoNum type="alphaL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dirty="0">
                <a:latin typeface="Montserrat" pitchFamily="2" charset="77"/>
              </a:rPr>
              <a:t>Calculate binary scores per gene per cluster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nsforest</a:t>
            </a:r>
            <a:r>
              <a:rPr lang="en-US" dirty="0">
                <a:latin typeface="Montserrat" pitchFamily="2" charset="77"/>
              </a:rPr>
              <a:t>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b="1" dirty="0">
                <a:latin typeface="Montserrat SemiBold" panose="00000700000000000000" pitchFamily="2" charset="77"/>
              </a:rPr>
              <a:t>Run NS-Forest on the full and subset data </a:t>
            </a:r>
            <a:r>
              <a:rPr lang="en-US" dirty="0">
                <a:latin typeface="Montserrat" pitchFamily="2" charset="77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nsforest</a:t>
            </a:r>
            <a:r>
              <a:rPr lang="en-US" dirty="0">
                <a:latin typeface="Montserrat" pitchFamily="2" charset="77"/>
              </a:rPr>
              <a:t>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i="1" dirty="0">
                <a:latin typeface="Montserrat" pitchFamily="2" charset="77"/>
              </a:rPr>
              <a:t> </a:t>
            </a:r>
            <a:r>
              <a:rPr lang="en-US" b="1" dirty="0">
                <a:latin typeface="Montserrat SemiBold" panose="00000700000000000000" pitchFamily="2" charset="77"/>
              </a:rPr>
              <a:t>Run visualization suite </a:t>
            </a:r>
            <a:r>
              <a:rPr lang="en-US" dirty="0">
                <a:latin typeface="Montserrat" pitchFamily="2" charset="77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nsforest</a:t>
            </a:r>
            <a:r>
              <a:rPr lang="en-US" dirty="0">
                <a:latin typeface="Montserrat" pitchFamily="2" charset="77"/>
              </a:rPr>
              <a:t>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>
              <a:latin typeface="Montserrat" pitchFamily="2" charset="77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42455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01AF-D50A-649A-7A61-E478DDD9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7DC9-39E8-6C2C-EB6C-41AC35406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103" y="1984108"/>
            <a:ext cx="5599793" cy="2125578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2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Results on HCA Retina Data.</a:t>
            </a:r>
          </a:p>
        </p:txBody>
      </p:sp>
    </p:spTree>
    <p:extLst>
      <p:ext uri="{BB962C8B-B14F-4D97-AF65-F5344CB8AC3E}">
        <p14:creationId xmlns:p14="http://schemas.microsoft.com/office/powerpoint/2010/main" val="391330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D6A34-AAC0-E5AB-955A-56DB47756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0F3806-3141-B52C-D713-6FD4EFC6F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93" y="2126281"/>
            <a:ext cx="5372100" cy="2387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7B5859-BA51-4B07-B936-312855AFC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599" y="2126282"/>
            <a:ext cx="3683195" cy="238759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FA42663-C32A-4922-1B71-11BF9C62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657346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Raw Data and Gene Type Counts</a:t>
            </a:r>
          </a:p>
        </p:txBody>
      </p:sp>
    </p:spTree>
    <p:extLst>
      <p:ext uri="{BB962C8B-B14F-4D97-AF65-F5344CB8AC3E}">
        <p14:creationId xmlns:p14="http://schemas.microsoft.com/office/powerpoint/2010/main" val="4058496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E1594-422A-A6C6-0C06-9065898D6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A212988-899A-2A1A-382B-9052441B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04" y="244468"/>
            <a:ext cx="4316390" cy="72740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Crimson Pro Medium" pitchFamily="2" charset="77"/>
              </a:rPr>
              <a:t>Cell Type Counts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21B3AE-054B-73F3-F0C6-81D099AFD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366" y="1196382"/>
            <a:ext cx="2880403" cy="4512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C925CD-DC13-D880-11FB-162930C4C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90" y="1169712"/>
            <a:ext cx="2944412" cy="456597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FB8813-1B60-7287-9AA3-10C93A7BD5F8}"/>
              </a:ext>
            </a:extLst>
          </p:cNvPr>
          <p:cNvCxnSpPr/>
          <p:nvPr/>
        </p:nvCxnSpPr>
        <p:spPr>
          <a:xfrm>
            <a:off x="5315919" y="3426028"/>
            <a:ext cx="15498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3671E24-EDA5-EF24-902B-4DB851497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311" y="2960440"/>
            <a:ext cx="2069046" cy="338543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latin typeface="Montserrat" pitchFamily="2" charset="77"/>
              </a:rPr>
              <a:t>Downsample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0BB41F6-35A8-9465-4259-C91DF8E15CE3}"/>
              </a:ext>
            </a:extLst>
          </p:cNvPr>
          <p:cNvSpPr txBox="1">
            <a:spLocks/>
          </p:cNvSpPr>
          <p:nvPr/>
        </p:nvSpPr>
        <p:spPr>
          <a:xfrm>
            <a:off x="215778" y="2935280"/>
            <a:ext cx="1498495" cy="727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Montserrat" pitchFamily="2" charset="77"/>
              </a:rPr>
              <a:t>n (cells) = 265,767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499A20F-A09D-D768-AD4F-925AA1F3285B}"/>
              </a:ext>
            </a:extLst>
          </p:cNvPr>
          <p:cNvSpPr txBox="1">
            <a:spLocks/>
          </p:cNvSpPr>
          <p:nvPr/>
        </p:nvSpPr>
        <p:spPr>
          <a:xfrm>
            <a:off x="10403386" y="2935280"/>
            <a:ext cx="1498495" cy="727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Montserrat" pitchFamily="2" charset="77"/>
              </a:rPr>
              <a:t>n (cells) = 150,000 </a:t>
            </a:r>
          </a:p>
        </p:txBody>
      </p:sp>
    </p:spTree>
    <p:extLst>
      <p:ext uri="{BB962C8B-B14F-4D97-AF65-F5344CB8AC3E}">
        <p14:creationId xmlns:p14="http://schemas.microsoft.com/office/powerpoint/2010/main" val="1647387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F630-AC2B-68F2-E1C8-4F3206CA9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DDAC3C2-CAA0-C3C5-3CFE-F498A100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Dendrograms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EBE9F7-95EB-76A3-773C-4CDE77D0C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596" y="2029525"/>
            <a:ext cx="4699000" cy="32639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19A7E5F-8457-AAE6-D9B1-B53016744D31}"/>
              </a:ext>
            </a:extLst>
          </p:cNvPr>
          <p:cNvSpPr txBox="1">
            <a:spLocks/>
          </p:cNvSpPr>
          <p:nvPr/>
        </p:nvSpPr>
        <p:spPr>
          <a:xfrm>
            <a:off x="2793825" y="156318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974845-3E1C-4FD4-0251-94624F829A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406" y="2029525"/>
            <a:ext cx="4699000" cy="326390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E9309B5-BF1C-D8DC-F108-96446796A31E}"/>
              </a:ext>
            </a:extLst>
          </p:cNvPr>
          <p:cNvSpPr txBox="1">
            <a:spLocks/>
          </p:cNvSpPr>
          <p:nvPr/>
        </p:nvSpPr>
        <p:spPr>
          <a:xfrm>
            <a:off x="7852475" y="156318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</p:spTree>
    <p:extLst>
      <p:ext uri="{BB962C8B-B14F-4D97-AF65-F5344CB8AC3E}">
        <p14:creationId xmlns:p14="http://schemas.microsoft.com/office/powerpoint/2010/main" val="1549840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14771-B46E-5D68-F023-4E53F48B4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97C88D4-E258-681B-0F08-8C53984EB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Cluster Medians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B19165-E82B-8D63-E15A-21EDF45D0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47"/>
          <a:stretch>
            <a:fillRect/>
          </a:stretch>
        </p:blipFill>
        <p:spPr>
          <a:xfrm>
            <a:off x="656909" y="1871645"/>
            <a:ext cx="5090115" cy="10888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56B92D-6964-46E3-4E0C-89EA9289C9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967" y="3150844"/>
            <a:ext cx="2719794" cy="2043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0939B6-0AF7-A15C-A6B6-B7B7D9029F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6" y="3150844"/>
            <a:ext cx="2784021" cy="20533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93DDE0-DE6C-D4EE-0D0E-F6062B9E3B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23"/>
          <a:stretch>
            <a:fillRect/>
          </a:stretch>
        </p:blipFill>
        <p:spPr>
          <a:xfrm>
            <a:off x="6495413" y="1871645"/>
            <a:ext cx="5090116" cy="11283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9461DE-4B84-2236-C6A6-677C7D956C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419" y="3160669"/>
            <a:ext cx="2719794" cy="20434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711B76-6E72-C504-ADA2-A963CD6652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240" y="3150844"/>
            <a:ext cx="2740179" cy="2053307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C5F7EC3-CBD8-7E61-C94F-54F00E9FC420}"/>
              </a:ext>
            </a:extLst>
          </p:cNvPr>
          <p:cNvSpPr txBox="1">
            <a:spLocks/>
          </p:cNvSpPr>
          <p:nvPr/>
        </p:nvSpPr>
        <p:spPr>
          <a:xfrm>
            <a:off x="2429116" y="137899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5D75724-A0AF-A172-B9BA-16D5E45360CD}"/>
              </a:ext>
            </a:extLst>
          </p:cNvPr>
          <p:cNvSpPr txBox="1">
            <a:spLocks/>
          </p:cNvSpPr>
          <p:nvPr/>
        </p:nvSpPr>
        <p:spPr>
          <a:xfrm>
            <a:off x="8237569" y="134282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2EF8C76-AC93-23A2-3B32-B2D2D64B8677}"/>
              </a:ext>
            </a:extLst>
          </p:cNvPr>
          <p:cNvSpPr txBox="1">
            <a:spLocks/>
          </p:cNvSpPr>
          <p:nvPr/>
        </p:nvSpPr>
        <p:spPr>
          <a:xfrm>
            <a:off x="1174747" y="520415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52B8C79-A15F-FFC8-3EC6-6CB272877BE9}"/>
              </a:ext>
            </a:extLst>
          </p:cNvPr>
          <p:cNvSpPr txBox="1">
            <a:spLocks/>
          </p:cNvSpPr>
          <p:nvPr/>
        </p:nvSpPr>
        <p:spPr>
          <a:xfrm>
            <a:off x="3823126" y="519398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543FD22D-B5C8-8AB4-660A-0038AB07F7B0}"/>
              </a:ext>
            </a:extLst>
          </p:cNvPr>
          <p:cNvSpPr txBox="1">
            <a:spLocks/>
          </p:cNvSpPr>
          <p:nvPr/>
        </p:nvSpPr>
        <p:spPr>
          <a:xfrm>
            <a:off x="7006978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60B34C9-4477-D27D-5382-FE663CE48B16}"/>
              </a:ext>
            </a:extLst>
          </p:cNvPr>
          <p:cNvSpPr txBox="1">
            <a:spLocks/>
          </p:cNvSpPr>
          <p:nvPr/>
        </p:nvSpPr>
        <p:spPr>
          <a:xfrm>
            <a:off x="9655357" y="521397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</p:spTree>
    <p:extLst>
      <p:ext uri="{BB962C8B-B14F-4D97-AF65-F5344CB8AC3E}">
        <p14:creationId xmlns:p14="http://schemas.microsoft.com/office/powerpoint/2010/main" val="3215500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3C689-68C2-0713-355F-3AA5F0334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33D64BE-DEDE-61A0-715E-B42D1A2B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Binary Scores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023DC54-86FE-F467-583A-E6E50EA7426C}"/>
              </a:ext>
            </a:extLst>
          </p:cNvPr>
          <p:cNvSpPr txBox="1">
            <a:spLocks/>
          </p:cNvSpPr>
          <p:nvPr/>
        </p:nvSpPr>
        <p:spPr>
          <a:xfrm>
            <a:off x="2429116" y="137899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9BE57DB-3B74-8125-CECD-ED6B2269401C}"/>
              </a:ext>
            </a:extLst>
          </p:cNvPr>
          <p:cNvSpPr txBox="1">
            <a:spLocks/>
          </p:cNvSpPr>
          <p:nvPr/>
        </p:nvSpPr>
        <p:spPr>
          <a:xfrm>
            <a:off x="8237569" y="134282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63E34EF-8BFD-1853-A737-AF2B943AC339}"/>
              </a:ext>
            </a:extLst>
          </p:cNvPr>
          <p:cNvSpPr txBox="1">
            <a:spLocks/>
          </p:cNvSpPr>
          <p:nvPr/>
        </p:nvSpPr>
        <p:spPr>
          <a:xfrm>
            <a:off x="1174747" y="520415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2B4C2-7F37-F8BB-1B1C-104DEB863BBA}"/>
              </a:ext>
            </a:extLst>
          </p:cNvPr>
          <p:cNvSpPr txBox="1">
            <a:spLocks/>
          </p:cNvSpPr>
          <p:nvPr/>
        </p:nvSpPr>
        <p:spPr>
          <a:xfrm>
            <a:off x="3823126" y="519398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5D155DA-B890-087C-6C4B-9A459FD9F51C}"/>
              </a:ext>
            </a:extLst>
          </p:cNvPr>
          <p:cNvSpPr txBox="1">
            <a:spLocks/>
          </p:cNvSpPr>
          <p:nvPr/>
        </p:nvSpPr>
        <p:spPr>
          <a:xfrm>
            <a:off x="7006978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7155DD0-8260-2E48-D1A1-8A0074D9F569}"/>
              </a:ext>
            </a:extLst>
          </p:cNvPr>
          <p:cNvSpPr txBox="1">
            <a:spLocks/>
          </p:cNvSpPr>
          <p:nvPr/>
        </p:nvSpPr>
        <p:spPr>
          <a:xfrm>
            <a:off x="9758980" y="519398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7CCAE5-93AD-F92F-5675-F002098E4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09"/>
          <a:stretch>
            <a:fillRect/>
          </a:stretch>
        </p:blipFill>
        <p:spPr>
          <a:xfrm>
            <a:off x="617899" y="1968718"/>
            <a:ext cx="5168134" cy="912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6C20CE-D506-D296-CAAB-1D6E42305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5" y="3150844"/>
            <a:ext cx="2784021" cy="2053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6ED6E9-9EA7-1B43-5168-403DDED075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335" y="3122794"/>
            <a:ext cx="2783281" cy="20911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98BBA5-D6FA-D724-8BD8-83661370BF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909" y="3070928"/>
            <a:ext cx="2783281" cy="2085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BDD582-BD63-42AF-F4B4-9A7B56C628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190" y="3065352"/>
            <a:ext cx="2783281" cy="2091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571283-A86C-9752-E019-372323F6D8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04"/>
          <a:stretch>
            <a:fillRect/>
          </a:stretch>
        </p:blipFill>
        <p:spPr>
          <a:xfrm>
            <a:off x="6681802" y="1933731"/>
            <a:ext cx="4916775" cy="91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08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E3E3-8A3D-8D8A-3E57-882D1690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B101CD1-13B0-2858-ACA6-95DB1E98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NS-Forest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431ED92-7514-D77B-6A52-175E9B15F06D}"/>
              </a:ext>
            </a:extLst>
          </p:cNvPr>
          <p:cNvSpPr txBox="1">
            <a:spLocks/>
          </p:cNvSpPr>
          <p:nvPr/>
        </p:nvSpPr>
        <p:spPr>
          <a:xfrm>
            <a:off x="1369651" y="2305764"/>
            <a:ext cx="1748911" cy="45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B6F0E6B-7B2F-FC37-DE32-42C0AFB80A14}"/>
              </a:ext>
            </a:extLst>
          </p:cNvPr>
          <p:cNvSpPr txBox="1">
            <a:spLocks/>
          </p:cNvSpPr>
          <p:nvPr/>
        </p:nvSpPr>
        <p:spPr>
          <a:xfrm>
            <a:off x="1406231" y="4139696"/>
            <a:ext cx="1748911" cy="45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B9C87A-0F7F-2AC2-C3A5-3FCE53DC1E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471" y="1582615"/>
            <a:ext cx="8255654" cy="17045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292856-B49C-F17F-9FA4-BFBCB83D7F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699" y="3448861"/>
            <a:ext cx="7982281" cy="164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17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BF563-B49C-1515-E50B-69FF62A9A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3BF8439-5AC1-ADDE-BB32-671459E3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Dot Plot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1405CBF-BF7D-69F0-3840-FC52858FDFBC}"/>
              </a:ext>
            </a:extLst>
          </p:cNvPr>
          <p:cNvSpPr txBox="1">
            <a:spLocks/>
          </p:cNvSpPr>
          <p:nvPr/>
        </p:nvSpPr>
        <p:spPr>
          <a:xfrm>
            <a:off x="2452928" y="1334560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2563079-7515-4CDA-9204-698E44EEE2A8}"/>
              </a:ext>
            </a:extLst>
          </p:cNvPr>
          <p:cNvSpPr txBox="1">
            <a:spLocks/>
          </p:cNvSpPr>
          <p:nvPr/>
        </p:nvSpPr>
        <p:spPr>
          <a:xfrm>
            <a:off x="8039648" y="1334560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2E8EE3-5116-AB57-862E-626DC15F2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38" y="1804745"/>
            <a:ext cx="6071481" cy="3822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98C9A4-3ADB-152B-59C6-3D6C0722F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968" y="1835267"/>
            <a:ext cx="6277061" cy="379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59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AF1A4-8B60-13D3-4A6E-ADDAF88E1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0D78F9E-BCFA-ADD3-B9EF-DF8642DB5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Heat Map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5BD2BF7-4C85-6C4C-67FB-DC5021018B41}"/>
              </a:ext>
            </a:extLst>
          </p:cNvPr>
          <p:cNvSpPr txBox="1">
            <a:spLocks/>
          </p:cNvSpPr>
          <p:nvPr/>
        </p:nvSpPr>
        <p:spPr>
          <a:xfrm>
            <a:off x="2496062" y="133456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0D0311A-5D16-4794-A988-B73A9BCD6612}"/>
              </a:ext>
            </a:extLst>
          </p:cNvPr>
          <p:cNvSpPr txBox="1">
            <a:spLocks/>
          </p:cNvSpPr>
          <p:nvPr/>
        </p:nvSpPr>
        <p:spPr>
          <a:xfrm>
            <a:off x="8150239" y="133456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9201EE-7F4C-6947-D091-9492E65CB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1" y="1715919"/>
            <a:ext cx="6295556" cy="3963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54F551-A992-1FB3-C725-62933F991B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848" y="1804745"/>
            <a:ext cx="6414152" cy="387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4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DAD31-67AE-CD15-FB84-B11F952E1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3CF47DC-FC6B-C2B9-4931-B028B829E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Box Plot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E6CA9CA-AE28-441B-E4D8-29A46F40AED5}"/>
              </a:ext>
            </a:extLst>
          </p:cNvPr>
          <p:cNvSpPr txBox="1">
            <a:spLocks/>
          </p:cNvSpPr>
          <p:nvPr/>
        </p:nvSpPr>
        <p:spPr>
          <a:xfrm>
            <a:off x="2460893" y="151040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007F103-5BB1-2F59-87B8-F43605D2E5BD}"/>
              </a:ext>
            </a:extLst>
          </p:cNvPr>
          <p:cNvSpPr txBox="1">
            <a:spLocks/>
          </p:cNvSpPr>
          <p:nvPr/>
        </p:nvSpPr>
        <p:spPr>
          <a:xfrm>
            <a:off x="8277744" y="152569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20EAB2-E6D1-8E6B-D177-14DD59206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15" y="2005385"/>
            <a:ext cx="5934660" cy="37091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94335D-8843-A56F-BF29-D74C0224FE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5385"/>
            <a:ext cx="5934659" cy="370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95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B456-8B01-0B0A-BBA3-B17F12C6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8AA5F-4A75-4D35-219E-BD3438F38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3305" y="2072031"/>
            <a:ext cx="6885389" cy="2125578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3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Results on HuBMAP Kidney Data.</a:t>
            </a:r>
          </a:p>
        </p:txBody>
      </p:sp>
    </p:spTree>
    <p:extLst>
      <p:ext uri="{BB962C8B-B14F-4D97-AF65-F5344CB8AC3E}">
        <p14:creationId xmlns:p14="http://schemas.microsoft.com/office/powerpoint/2010/main" val="2883891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1FC36-9393-DFE4-892D-200FBAD4E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7212775-AC3D-1B97-2C25-C141695A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623835"/>
            <a:ext cx="9657346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Raw Data and Gene Type Counts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91BE31-2396-FE9B-194E-55B88E676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69" y="2126281"/>
            <a:ext cx="5372100" cy="2515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88EAB4-D7B1-0FAE-1A72-BA34E04CB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70618"/>
            <a:ext cx="5738446" cy="231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32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2BF54-4B56-43DB-88C4-A7CE6A91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9C5653A-F80B-BD6D-C5F6-AAA1C1DFD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04" y="244468"/>
            <a:ext cx="4316390" cy="72740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Crimson Pro Medium" pitchFamily="2" charset="77"/>
              </a:rPr>
              <a:t>Cell Type Counts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8781C5-1D69-1B9F-2AFE-1413A765D955}"/>
              </a:ext>
            </a:extLst>
          </p:cNvPr>
          <p:cNvCxnSpPr/>
          <p:nvPr/>
        </p:nvCxnSpPr>
        <p:spPr>
          <a:xfrm>
            <a:off x="5315919" y="3426028"/>
            <a:ext cx="15498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EF6C07F-62B1-1BE1-EA83-578AAC381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311" y="2960440"/>
            <a:ext cx="2069046" cy="338543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latin typeface="Montserrat" pitchFamily="2" charset="77"/>
              </a:rPr>
              <a:t>Downsample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3A6E325-89F7-1DE6-101C-2F21BA7B7C90}"/>
              </a:ext>
            </a:extLst>
          </p:cNvPr>
          <p:cNvSpPr txBox="1">
            <a:spLocks/>
          </p:cNvSpPr>
          <p:nvPr/>
        </p:nvSpPr>
        <p:spPr>
          <a:xfrm>
            <a:off x="215778" y="2935280"/>
            <a:ext cx="1498495" cy="727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Montserrat" pitchFamily="2" charset="77"/>
              </a:rPr>
              <a:t>n (cells) = 304,652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8D99332-76D7-B740-1C13-F1DA3DF02E81}"/>
              </a:ext>
            </a:extLst>
          </p:cNvPr>
          <p:cNvSpPr txBox="1">
            <a:spLocks/>
          </p:cNvSpPr>
          <p:nvPr/>
        </p:nvSpPr>
        <p:spPr>
          <a:xfrm>
            <a:off x="10424054" y="2947940"/>
            <a:ext cx="1498495" cy="727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>
                <a:latin typeface="Montserrat" pitchFamily="2" charset="77"/>
              </a:rPr>
              <a:t>n (cells) = 150,000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118B1D-9E60-2AD7-E1D0-532F04242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90" y="1220129"/>
            <a:ext cx="2944412" cy="4618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D0CCC6-501C-822D-4F33-482D5F14C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700" y="1284012"/>
            <a:ext cx="2880403" cy="455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97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BEDE-9D8B-5AC3-ABBF-31FF128E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BB39B30-B8C2-EAF1-79B1-CA04AF1A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Dendrograms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CD4B9F-2AA3-6F7B-4AFE-671C2BE8A86A}"/>
              </a:ext>
            </a:extLst>
          </p:cNvPr>
          <p:cNvSpPr txBox="1">
            <a:spLocks/>
          </p:cNvSpPr>
          <p:nvPr/>
        </p:nvSpPr>
        <p:spPr>
          <a:xfrm>
            <a:off x="2793825" y="156318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29512F2-451C-2390-8C4F-8EB55AD6978C}"/>
              </a:ext>
            </a:extLst>
          </p:cNvPr>
          <p:cNvSpPr txBox="1">
            <a:spLocks/>
          </p:cNvSpPr>
          <p:nvPr/>
        </p:nvSpPr>
        <p:spPr>
          <a:xfrm>
            <a:off x="7852475" y="156318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AFC4F2-ED63-93C9-FFE4-C6EE84619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156" y="2029525"/>
            <a:ext cx="3403600" cy="3826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16F1FA-45EA-329A-3094-FF63DB305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243" y="2029524"/>
            <a:ext cx="3403601" cy="382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15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DBE45-DCD7-3A3C-2DD3-82166067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6934DD3-8587-AED5-8BE9-F6EE783ED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Cluster Medians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C3E273-C621-96B5-BC1C-18B4B62D3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47"/>
          <a:stretch>
            <a:fillRect/>
          </a:stretch>
        </p:blipFill>
        <p:spPr>
          <a:xfrm>
            <a:off x="656909" y="1871645"/>
            <a:ext cx="5090115" cy="1088861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F628204-5BC9-6901-54DD-9B5FF0EA5A6B}"/>
              </a:ext>
            </a:extLst>
          </p:cNvPr>
          <p:cNvSpPr txBox="1">
            <a:spLocks/>
          </p:cNvSpPr>
          <p:nvPr/>
        </p:nvSpPr>
        <p:spPr>
          <a:xfrm>
            <a:off x="2429116" y="137899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22B0D83-9DD5-86B0-2BC4-ECBE693E7E50}"/>
              </a:ext>
            </a:extLst>
          </p:cNvPr>
          <p:cNvSpPr txBox="1">
            <a:spLocks/>
          </p:cNvSpPr>
          <p:nvPr/>
        </p:nvSpPr>
        <p:spPr>
          <a:xfrm>
            <a:off x="8237569" y="134282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C27F99A-CCAD-5FC3-D49E-69D7033A9334}"/>
              </a:ext>
            </a:extLst>
          </p:cNvPr>
          <p:cNvSpPr txBox="1">
            <a:spLocks/>
          </p:cNvSpPr>
          <p:nvPr/>
        </p:nvSpPr>
        <p:spPr>
          <a:xfrm>
            <a:off x="1174747" y="520415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3435E8-9B68-DF26-DE2E-EF6E28EB81EF}"/>
              </a:ext>
            </a:extLst>
          </p:cNvPr>
          <p:cNvSpPr txBox="1">
            <a:spLocks/>
          </p:cNvSpPr>
          <p:nvPr/>
        </p:nvSpPr>
        <p:spPr>
          <a:xfrm>
            <a:off x="3823126" y="519398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289B25D-B1CB-A8F2-8B9C-BCCB2D9FB314}"/>
              </a:ext>
            </a:extLst>
          </p:cNvPr>
          <p:cNvSpPr txBox="1">
            <a:spLocks/>
          </p:cNvSpPr>
          <p:nvPr/>
        </p:nvSpPr>
        <p:spPr>
          <a:xfrm>
            <a:off x="6836527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CFAB84E-BF6C-23D8-01A1-C2E044F5E7CC}"/>
              </a:ext>
            </a:extLst>
          </p:cNvPr>
          <p:cNvSpPr txBox="1">
            <a:spLocks/>
          </p:cNvSpPr>
          <p:nvPr/>
        </p:nvSpPr>
        <p:spPr>
          <a:xfrm>
            <a:off x="9652993" y="52177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EED92-85CF-58FB-34B2-546233EBCD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04"/>
          <a:stretch>
            <a:fillRect/>
          </a:stretch>
        </p:blipFill>
        <p:spPr>
          <a:xfrm>
            <a:off x="656909" y="1789596"/>
            <a:ext cx="5090115" cy="1170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05EE56-389F-8384-A607-D3887317AB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72" y="3150844"/>
            <a:ext cx="2719794" cy="2038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C9ABC7-E22F-995E-2A3E-5DEC9E527F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079" y="3145394"/>
            <a:ext cx="2719794" cy="20434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D48D5A-87EE-B419-E864-0D8F783ECB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21"/>
          <a:stretch>
            <a:fillRect/>
          </a:stretch>
        </p:blipFill>
        <p:spPr>
          <a:xfrm>
            <a:off x="6490580" y="1801816"/>
            <a:ext cx="5039678" cy="11464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D4095B-B804-1039-70C6-7DA54BF8DA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129" y="3160669"/>
            <a:ext cx="2740179" cy="21270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361F455-463D-4490-2533-3B3CF03C12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08" y="3145394"/>
            <a:ext cx="2831015" cy="212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58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53DD0-B4A7-20A3-674F-B15E0FBF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DE718DC-6271-8FAD-6FEA-87EA578E0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Binary Scores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A344A0-507E-E25C-2160-417D26A7F14F}"/>
              </a:ext>
            </a:extLst>
          </p:cNvPr>
          <p:cNvSpPr txBox="1">
            <a:spLocks/>
          </p:cNvSpPr>
          <p:nvPr/>
        </p:nvSpPr>
        <p:spPr>
          <a:xfrm>
            <a:off x="2429116" y="137899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B419427-7EFF-A75D-63C0-BB6649EFD168}"/>
              </a:ext>
            </a:extLst>
          </p:cNvPr>
          <p:cNvSpPr txBox="1">
            <a:spLocks/>
          </p:cNvSpPr>
          <p:nvPr/>
        </p:nvSpPr>
        <p:spPr>
          <a:xfrm>
            <a:off x="8237569" y="1342827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72F3115-5B6F-C081-7669-FA3E3D4FD1F7}"/>
              </a:ext>
            </a:extLst>
          </p:cNvPr>
          <p:cNvSpPr txBox="1">
            <a:spLocks/>
          </p:cNvSpPr>
          <p:nvPr/>
        </p:nvSpPr>
        <p:spPr>
          <a:xfrm>
            <a:off x="1071124" y="515529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2B5F7D7-0F8F-06AB-9C0B-63FC57845007}"/>
              </a:ext>
            </a:extLst>
          </p:cNvPr>
          <p:cNvSpPr txBox="1">
            <a:spLocks/>
          </p:cNvSpPr>
          <p:nvPr/>
        </p:nvSpPr>
        <p:spPr>
          <a:xfrm>
            <a:off x="3823126" y="519398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2924E91-EE2E-6098-BD60-BD5A21E22B1A}"/>
              </a:ext>
            </a:extLst>
          </p:cNvPr>
          <p:cNvSpPr txBox="1">
            <a:spLocks/>
          </p:cNvSpPr>
          <p:nvPr/>
        </p:nvSpPr>
        <p:spPr>
          <a:xfrm>
            <a:off x="7006978" y="522414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Unscaled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1A6FC2C-CDE8-D40E-ADD8-394D0B5516F4}"/>
              </a:ext>
            </a:extLst>
          </p:cNvPr>
          <p:cNvSpPr txBox="1">
            <a:spLocks/>
          </p:cNvSpPr>
          <p:nvPr/>
        </p:nvSpPr>
        <p:spPr>
          <a:xfrm>
            <a:off x="9758980" y="5193983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i="1" dirty="0">
                <a:latin typeface="Montserrat" pitchFamily="2" charset="77"/>
              </a:rPr>
              <a:t>Log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8891A8-BDF2-98BB-CEA5-65EF6FC63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79"/>
          <a:stretch>
            <a:fillRect/>
          </a:stretch>
        </p:blipFill>
        <p:spPr>
          <a:xfrm>
            <a:off x="819482" y="1891037"/>
            <a:ext cx="5168134" cy="9385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07FB0B-F1DE-F50A-1507-338DF3386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85" y="3092136"/>
            <a:ext cx="2783281" cy="20856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B0A1D4-601C-B7A5-11FD-780BF2FB55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335" y="3102801"/>
            <a:ext cx="2783281" cy="20911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951487-6C7B-2CB1-BD55-631F48D2B2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10"/>
          <a:stretch>
            <a:fillRect/>
          </a:stretch>
        </p:blipFill>
        <p:spPr>
          <a:xfrm>
            <a:off x="6473129" y="1891037"/>
            <a:ext cx="5334122" cy="9385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E79CE4-CAA5-98F8-BC54-9C1134C63E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909" y="3102801"/>
            <a:ext cx="2783281" cy="21252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5061DB6-1F44-ED54-1FF3-C546CFBB9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190" y="3102801"/>
            <a:ext cx="2783281" cy="209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650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524D4-909D-505D-33EA-7D21DD79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C1E5DFC-B2D7-F02B-EAC9-A4C46E651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NS-Forest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9FCA46E-6871-5095-7072-093666925BFF}"/>
              </a:ext>
            </a:extLst>
          </p:cNvPr>
          <p:cNvSpPr txBox="1">
            <a:spLocks/>
          </p:cNvSpPr>
          <p:nvPr/>
        </p:nvSpPr>
        <p:spPr>
          <a:xfrm>
            <a:off x="1369651" y="2305764"/>
            <a:ext cx="1748911" cy="45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2AD1F7C-DF41-5EFB-087D-568C90125BAF}"/>
              </a:ext>
            </a:extLst>
          </p:cNvPr>
          <p:cNvSpPr txBox="1">
            <a:spLocks/>
          </p:cNvSpPr>
          <p:nvPr/>
        </p:nvSpPr>
        <p:spPr>
          <a:xfrm>
            <a:off x="1406231" y="4139696"/>
            <a:ext cx="1748911" cy="45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E4428-636E-3AC8-4C85-D8D6E9474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698" y="1666774"/>
            <a:ext cx="8167639" cy="1648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E11100-2985-4F9E-0732-6EFC72D4A2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698" y="3542713"/>
            <a:ext cx="8103078" cy="164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5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DD59C-C585-EE48-7214-E7409831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01FA302-D3B7-BC54-EEAD-4B8D18FC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Dot Plot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773DF99-DC70-4678-41A7-5ED5FD2F8216}"/>
              </a:ext>
            </a:extLst>
          </p:cNvPr>
          <p:cNvSpPr txBox="1">
            <a:spLocks/>
          </p:cNvSpPr>
          <p:nvPr/>
        </p:nvSpPr>
        <p:spPr>
          <a:xfrm>
            <a:off x="3307834" y="1258934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8B0CFC9-CFA0-5751-C39C-FBE2D93B564B}"/>
              </a:ext>
            </a:extLst>
          </p:cNvPr>
          <p:cNvSpPr txBox="1">
            <a:spLocks/>
          </p:cNvSpPr>
          <p:nvPr/>
        </p:nvSpPr>
        <p:spPr>
          <a:xfrm>
            <a:off x="8410746" y="124573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C6BAC3-DB32-C75A-EA87-9987918A6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69" y="1715917"/>
            <a:ext cx="6071481" cy="40979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633978-7E13-9723-BCD2-DFDFB8524C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354" y="1640292"/>
            <a:ext cx="4578468" cy="428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13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E7B9F-6797-5640-D1F0-4C63AD1C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A5824E1-B800-A316-EF8D-56224A3C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Heat Map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37CB8CE-690F-DD90-ECC0-5CFE02EB5066}"/>
              </a:ext>
            </a:extLst>
          </p:cNvPr>
          <p:cNvSpPr txBox="1">
            <a:spLocks/>
          </p:cNvSpPr>
          <p:nvPr/>
        </p:nvSpPr>
        <p:spPr>
          <a:xfrm>
            <a:off x="3287369" y="1361450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247D3DB-702B-AC8F-9E9B-FFCB1BB1067C}"/>
              </a:ext>
            </a:extLst>
          </p:cNvPr>
          <p:cNvSpPr txBox="1">
            <a:spLocks/>
          </p:cNvSpPr>
          <p:nvPr/>
        </p:nvSpPr>
        <p:spPr>
          <a:xfrm>
            <a:off x="8589854" y="1245732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58D840-0C50-BF95-EF81-9735D7809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08" y="1787509"/>
            <a:ext cx="5940438" cy="4009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0D5ADE-BFB7-A865-6ED7-397A8AF366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686" y="1715919"/>
            <a:ext cx="4435038" cy="415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05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4B359-C4BE-5951-F497-68CA647E1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A1CB79E-75E8-FE67-B14B-FEC891C81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9" y="518327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Box Plot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499DD9A-CB77-4475-49F2-85A2BDC45AA5}"/>
              </a:ext>
            </a:extLst>
          </p:cNvPr>
          <p:cNvSpPr txBox="1">
            <a:spLocks/>
          </p:cNvSpPr>
          <p:nvPr/>
        </p:nvSpPr>
        <p:spPr>
          <a:xfrm>
            <a:off x="2460893" y="1510406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All Genes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0CC8D1-4870-1A46-3CF9-170C2AF486CA}"/>
              </a:ext>
            </a:extLst>
          </p:cNvPr>
          <p:cNvSpPr txBox="1">
            <a:spLocks/>
          </p:cNvSpPr>
          <p:nvPr/>
        </p:nvSpPr>
        <p:spPr>
          <a:xfrm>
            <a:off x="8277744" y="1525691"/>
            <a:ext cx="1545700" cy="381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Montserrat" pitchFamily="2" charset="77"/>
              </a:rPr>
              <a:t>lncRNA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289C44-9DCD-A78C-A0BD-677C901F7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56" y="2005385"/>
            <a:ext cx="5934659" cy="3709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22C5FE-0C0E-06D2-3D9F-A655C1AD6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005385"/>
            <a:ext cx="5934658" cy="370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18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3511-547E-1433-A154-3354D4526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98B7A-FE28-B7FD-6103-BAB4F2F9A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5369" y="2490624"/>
            <a:ext cx="6301262" cy="1116176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4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Future directions.</a:t>
            </a:r>
          </a:p>
        </p:txBody>
      </p:sp>
    </p:spTree>
    <p:extLst>
      <p:ext uri="{BB962C8B-B14F-4D97-AF65-F5344CB8AC3E}">
        <p14:creationId xmlns:p14="http://schemas.microsoft.com/office/powerpoint/2010/main" val="198699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33CCD-8980-72E8-DB35-0AA463B91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76D21C-6C24-7759-7D71-64F6C7722F5C}"/>
              </a:ext>
            </a:extLst>
          </p:cNvPr>
          <p:cNvSpPr txBox="1"/>
          <p:nvPr/>
        </p:nvSpPr>
        <p:spPr>
          <a:xfrm>
            <a:off x="419100" y="377345"/>
            <a:ext cx="11353800" cy="5817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itchFamily="2" charset="77"/>
              </a:rPr>
              <a:t>Run without down-sampling (likely need </a:t>
            </a:r>
            <a:r>
              <a:rPr lang="en-US" sz="2400" dirty="0" err="1">
                <a:latin typeface="Montserrat" pitchFamily="2" charset="77"/>
              </a:rPr>
              <a:t>Biowulf</a:t>
            </a:r>
            <a:r>
              <a:rPr lang="en-US" sz="2400" dirty="0">
                <a:latin typeface="Montserrat" pitchFamily="2" charset="77"/>
              </a:rPr>
              <a:t>).</a:t>
            </a:r>
          </a:p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itchFamily="2" charset="77"/>
              </a:rPr>
              <a:t>Calculate ratio of the median number of passed genes per cluster from full to lncRNA subset for full and subset.</a:t>
            </a:r>
          </a:p>
          <a:p>
            <a:pPr marL="914400" lvl="1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Montserrat" pitchFamily="2" charset="77"/>
              </a:rPr>
              <a:t>n</a:t>
            </a:r>
            <a:r>
              <a:rPr lang="en-US" sz="2200" dirty="0">
                <a:latin typeface="Montserrat" pitchFamily="2" charset="77"/>
              </a:rPr>
              <a:t> (genes passed to NS forest) </a:t>
            </a:r>
            <a:r>
              <a:rPr lang="en-US" sz="2200" b="1" dirty="0">
                <a:latin typeface="Montserrat" pitchFamily="2" charset="77"/>
              </a:rPr>
              <a:t>:</a:t>
            </a:r>
            <a:r>
              <a:rPr lang="en-US" sz="2200" dirty="0">
                <a:latin typeface="Montserrat" pitchFamily="2" charset="77"/>
              </a:rPr>
              <a:t> </a:t>
            </a:r>
            <a:r>
              <a:rPr lang="en-US" sz="2200" b="1" dirty="0">
                <a:latin typeface="Montserrat" pitchFamily="2" charset="77"/>
              </a:rPr>
              <a:t>N</a:t>
            </a:r>
            <a:r>
              <a:rPr lang="en-US" sz="2200" dirty="0">
                <a:latin typeface="Montserrat" pitchFamily="2" charset="77"/>
              </a:rPr>
              <a:t> (all genes in data)</a:t>
            </a:r>
          </a:p>
          <a:p>
            <a:pPr marL="914400" lvl="1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Montserrat" pitchFamily="2" charset="77"/>
              </a:rPr>
              <a:t>Examine clusters that had small amount or no </a:t>
            </a:r>
            <a:r>
              <a:rPr lang="en-US" sz="2200" dirty="0" err="1">
                <a:latin typeface="Montserrat" pitchFamily="2" charset="77"/>
              </a:rPr>
              <a:t>lncRNAs</a:t>
            </a:r>
            <a:r>
              <a:rPr lang="en-US" sz="2200" dirty="0">
                <a:latin typeface="Montserrat" pitchFamily="2" charset="77"/>
              </a:rPr>
              <a:t> pass the threshold versus those that did.</a:t>
            </a:r>
          </a:p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itchFamily="2" charset="77"/>
              </a:rPr>
              <a:t>Run coding RNA or complement to lncRNA subset to see lncRNA contribution to full cluster median and binary score distributions.</a:t>
            </a:r>
          </a:p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itchFamily="2" charset="77"/>
              </a:rPr>
              <a:t>Run on other neural and non-neural related organs.</a:t>
            </a:r>
          </a:p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itchFamily="2" charset="77"/>
              </a:rPr>
              <a:t>See if any markers we found (or missed) are experimentally validated.</a:t>
            </a:r>
          </a:p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itchFamily="2" charset="77"/>
              </a:rPr>
              <a:t>Test marker evaluation on experimentally validated markers for retinal cell types.</a:t>
            </a:r>
          </a:p>
          <a:p>
            <a:pPr marL="914400" lvl="1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Montserrat" pitchFamily="2" charset="77"/>
              </a:rPr>
              <a:t>lncRNA biomarkers more commonly validated for disease :[</a:t>
            </a:r>
          </a:p>
          <a:p>
            <a:pPr marL="457200" indent="-4572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9031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terature Review Example" id="{78CFFB3B-C639-7B41-B4D1-5A175A6A184A}" vid="{8CFA546A-29CE-914C-A3F2-A3ED2BAF253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terature Review Example" id="{78CFFB3B-C639-7B41-B4D1-5A175A6A184A}" vid="{7A1F7639-D145-3D4B-8808-D1247EE103CD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terature Review Example" id="{78CFFB3B-C639-7B41-B4D1-5A175A6A184A}" vid="{BC3CD28C-4246-604A-B224-BE77A9B9A22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9302da-b2f9-4288-a31a-52fbcfe93320">
      <Terms xmlns="http://schemas.microsoft.com/office/infopath/2007/PartnerControls"/>
    </lcf76f155ced4ddcb4097134ff3c332f>
    <TaxCatchAll xmlns="a5e8744b-6de0-40df-8e0a-8933fd3368a6" xsi:nil="true"/>
    <SharedWithUsers xmlns="a5e8744b-6de0-40df-8e0a-8933fd3368a6">
      <UserInfo>
        <DisplayName>Winderlin, Christine (NIH/NLM) [E]</DisplayName>
        <AccountId>71</AccountId>
        <AccountType/>
      </UserInfo>
      <UserInfo>
        <DisplayName>Dehoff, Jeffrey (NIH/NLM) [E]</DisplayName>
        <AccountId>135</AccountId>
        <AccountType/>
      </UserInfo>
      <UserInfo>
        <DisplayName>Manco, Dina (NIH/NLM) [E]</DisplayName>
        <AccountId>86</AccountId>
        <AccountType/>
      </UserInfo>
      <UserInfo>
        <DisplayName>Middleton, Grace (NIH/NLM) [C]</DisplayName>
        <AccountId>16</AccountId>
        <AccountType/>
      </UserInfo>
      <UserInfo>
        <DisplayName>Nurik, Jody (NIH/NLM) [E]</DisplayName>
        <AccountId>17</AccountId>
        <AccountType/>
      </UserInfo>
      <UserInfo>
        <DisplayName>Lemon, Alison (NIH/NLM) [E]</DisplayName>
        <AccountId>22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90759288C404409F2252B22162A91E" ma:contentTypeVersion="15" ma:contentTypeDescription="Create a new document." ma:contentTypeScope="" ma:versionID="8640dae9b4a0695d60698293740eff8d">
  <xsd:schema xmlns:xsd="http://www.w3.org/2001/XMLSchema" xmlns:xs="http://www.w3.org/2001/XMLSchema" xmlns:p="http://schemas.microsoft.com/office/2006/metadata/properties" xmlns:ns2="e29302da-b2f9-4288-a31a-52fbcfe93320" xmlns:ns3="a5e8744b-6de0-40df-8e0a-8933fd3368a6" targetNamespace="http://schemas.microsoft.com/office/2006/metadata/properties" ma:root="true" ma:fieldsID="1c10790bc1a111e166d2626e261a6c56" ns2:_="" ns3:_="">
    <xsd:import namespace="e29302da-b2f9-4288-a31a-52fbcfe93320"/>
    <xsd:import namespace="a5e8744b-6de0-40df-8e0a-8933fd3368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9302da-b2f9-4288-a31a-52fbcfe933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ce9f98e-9ad5-43de-b59a-72d7e946aa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e8744b-6de0-40df-8e0a-8933fd3368a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463e1611-faea-4afc-b38e-a3c52ca141cd}" ma:internalName="TaxCatchAll" ma:showField="CatchAllData" ma:web="a5e8744b-6de0-40df-8e0a-8933fd3368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033EEA-8F72-47E8-97DC-7CE869DC6F13}">
  <ds:schemaRefs>
    <ds:schemaRef ds:uri="http://purl.org/dc/dcmitype/"/>
    <ds:schemaRef ds:uri="http://schemas.microsoft.com/office/2006/metadata/properties"/>
    <ds:schemaRef ds:uri="e29302da-b2f9-4288-a31a-52fbcfe93320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a5e8744b-6de0-40df-8e0a-8933fd3368a6"/>
  </ds:schemaRefs>
</ds:datastoreItem>
</file>

<file path=customXml/itemProps2.xml><?xml version="1.0" encoding="utf-8"?>
<ds:datastoreItem xmlns:ds="http://schemas.openxmlformats.org/officeDocument/2006/customXml" ds:itemID="{9D75208D-6BCD-46B9-9A60-E7C3508C3B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9302da-b2f9-4288-a31a-52fbcfe93320"/>
    <ds:schemaRef ds:uri="a5e8744b-6de0-40df-8e0a-8933fd3368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E27D62-6581-49A6-B4E8-4DBBDB69AC6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</TotalTime>
  <Words>429</Words>
  <Application>Microsoft Macintosh PowerPoint</Application>
  <PresentationFormat>Widescreen</PresentationFormat>
  <Paragraphs>125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Calibri</vt:lpstr>
      <vt:lpstr>Calibri Light</vt:lpstr>
      <vt:lpstr>Courier New</vt:lpstr>
      <vt:lpstr>Crimson Pro Medium</vt:lpstr>
      <vt:lpstr>Montserrat</vt:lpstr>
      <vt:lpstr>Montserrat SemiBold</vt:lpstr>
      <vt:lpstr>Times New Roman</vt:lpstr>
      <vt:lpstr>Office Theme</vt:lpstr>
      <vt:lpstr>Custom Design</vt:lpstr>
      <vt:lpstr>1_Custom Design</vt:lpstr>
      <vt:lpstr>Preliminary Results for  NS-Forest Comparison Runs on Retina and Kidney Data</vt:lpstr>
      <vt:lpstr>Overview</vt:lpstr>
      <vt:lpstr>PowerPoint Presentation</vt:lpstr>
      <vt:lpstr>Basic Pipeline</vt:lpstr>
      <vt:lpstr>PowerPoint Presentation</vt:lpstr>
      <vt:lpstr>Raw Data and Gene Type Counts</vt:lpstr>
      <vt:lpstr>Cell Type Counts</vt:lpstr>
      <vt:lpstr>Dendrograms</vt:lpstr>
      <vt:lpstr>Cluster Medians</vt:lpstr>
      <vt:lpstr>Binary Scores</vt:lpstr>
      <vt:lpstr>NS-Forest</vt:lpstr>
      <vt:lpstr>Dot Plot</vt:lpstr>
      <vt:lpstr>Heat Map</vt:lpstr>
      <vt:lpstr>Box Plot</vt:lpstr>
      <vt:lpstr>PowerPoint Presentation</vt:lpstr>
      <vt:lpstr>Raw Data and Gene Type Counts</vt:lpstr>
      <vt:lpstr>Cell Type Counts</vt:lpstr>
      <vt:lpstr>Dendrograms</vt:lpstr>
      <vt:lpstr>Cluster Medians</vt:lpstr>
      <vt:lpstr>Binary Scores</vt:lpstr>
      <vt:lpstr>NS-Forest</vt:lpstr>
      <vt:lpstr>Dot Plot</vt:lpstr>
      <vt:lpstr>Heat Map</vt:lpstr>
      <vt:lpstr>Box Plot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Becker, Sasha (NIH/NLM) [F]</dc:creator>
  <cp:keywords/>
  <dc:description/>
  <cp:lastModifiedBy>Becker, Sasha (NIH/NLM) [F]</cp:lastModifiedBy>
  <cp:revision>1</cp:revision>
  <cp:lastPrinted>2023-08-17T16:46:21Z</cp:lastPrinted>
  <dcterms:created xsi:type="dcterms:W3CDTF">2026-06-24T14:04:47Z</dcterms:created>
  <dcterms:modified xsi:type="dcterms:W3CDTF">2026-06-24T17:16:33Z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0x0101006690759288C404409F2252B22162A91E</vt:lpwstr>
  </property>
  <property fmtid="{D5CDD505-2E9C-101B-9397-08002B2CF9AE}" pid="3" name="MediaServiceImageTags">
    <vt:lpwstr/>
  </property>
</Properties>
</file>