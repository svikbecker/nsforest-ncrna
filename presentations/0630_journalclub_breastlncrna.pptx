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4"/>
    <p:sldMasterId id="2147483658" r:id="rId5"/>
    <p:sldMasterId id="2147483670" r:id="rId6"/>
  </p:sldMasterIdLst>
  <p:notesMasterIdLst>
    <p:notesMasterId r:id="rId38"/>
  </p:notesMasterIdLst>
  <p:handoutMasterIdLst>
    <p:handoutMasterId r:id="rId39"/>
  </p:handoutMasterIdLst>
  <p:sldIdLst>
    <p:sldId id="256" r:id="rId7"/>
    <p:sldId id="2147474911" r:id="rId8"/>
    <p:sldId id="2147474952" r:id="rId9"/>
    <p:sldId id="2147474958" r:id="rId10"/>
    <p:sldId id="2147474953" r:id="rId11"/>
    <p:sldId id="2147474950" r:id="rId12"/>
    <p:sldId id="2147474951" r:id="rId13"/>
    <p:sldId id="2147474971" r:id="rId14"/>
    <p:sldId id="2147474954" r:id="rId15"/>
    <p:sldId id="2147474957" r:id="rId16"/>
    <p:sldId id="2147474964" r:id="rId17"/>
    <p:sldId id="2147474955" r:id="rId18"/>
    <p:sldId id="2147474969" r:id="rId19"/>
    <p:sldId id="2147474972" r:id="rId20"/>
    <p:sldId id="2147474973" r:id="rId21"/>
    <p:sldId id="2147474974" r:id="rId22"/>
    <p:sldId id="2147474975" r:id="rId23"/>
    <p:sldId id="2147474956" r:id="rId24"/>
    <p:sldId id="2147474968" r:id="rId25"/>
    <p:sldId id="2147474983" r:id="rId26"/>
    <p:sldId id="2147474966" r:id="rId27"/>
    <p:sldId id="2147474967" r:id="rId28"/>
    <p:sldId id="2147474981" r:id="rId29"/>
    <p:sldId id="2147474982" r:id="rId30"/>
    <p:sldId id="2147474980" r:id="rId31"/>
    <p:sldId id="2147474963" r:id="rId32"/>
    <p:sldId id="2147474970" r:id="rId33"/>
    <p:sldId id="2147474977" r:id="rId34"/>
    <p:sldId id="2147474978" r:id="rId35"/>
    <p:sldId id="2147474979" r:id="rId36"/>
    <p:sldId id="2147474976"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ournal Club" id="{4843FCC7-26C9-DC48-8F9C-EF62BA7B7BB0}">
          <p14:sldIdLst>
            <p14:sldId id="256"/>
            <p14:sldId id="2147474911"/>
            <p14:sldId id="2147474952"/>
            <p14:sldId id="2147474958"/>
            <p14:sldId id="2147474953"/>
            <p14:sldId id="2147474950"/>
            <p14:sldId id="2147474951"/>
            <p14:sldId id="2147474971"/>
            <p14:sldId id="2147474954"/>
            <p14:sldId id="2147474957"/>
            <p14:sldId id="2147474964"/>
            <p14:sldId id="2147474955"/>
            <p14:sldId id="2147474969"/>
            <p14:sldId id="2147474972"/>
            <p14:sldId id="2147474973"/>
            <p14:sldId id="2147474974"/>
            <p14:sldId id="2147474975"/>
            <p14:sldId id="2147474956"/>
            <p14:sldId id="2147474968"/>
            <p14:sldId id="2147474983"/>
            <p14:sldId id="2147474966"/>
            <p14:sldId id="2147474967"/>
          </p14:sldIdLst>
        </p14:section>
        <p14:section name="Supplemental" id="{D16925C2-F530-1A49-983D-8BBD5E3E14DE}">
          <p14:sldIdLst>
            <p14:sldId id="2147474981"/>
            <p14:sldId id="2147474982"/>
            <p14:sldId id="2147474980"/>
            <p14:sldId id="2147474963"/>
            <p14:sldId id="2147474970"/>
            <p14:sldId id="2147474977"/>
            <p14:sldId id="2147474978"/>
            <p14:sldId id="2147474979"/>
            <p14:sldId id="21474749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4ACD38-47BA-3EDC-7A1D-0C4F83D3BF81}" name="Nurik, Jody (NIH/NLM) [E]" initials="NJ([" userId="S::nurikjl@nih.gov::49b2bdca-6fe7-48dd-ab42-7db317df6e4c" providerId="AD"/>
  <p188:author id="{332541D7-3D88-A461-9CB6-85B213F49D30}" name="Manco, Dina (NIH/NLM) [E]" initials="MD([" userId="S::mancodm@nih.gov::a2db41b2-3247-4a42-8663-e1f3c84e0c6f" providerId="AD"/>
  <p188:author id="{EB3167FA-192F-ADE3-DF06-19FCEA52E3FA}" name="Winderlin, Christine (NIH/NLM) [E]" initials="WC([" userId="S::winderlinca@nih.gov::ba9aa90f-88c9-4a91-bc78-820f3b7ebaf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olly, Sarah Ashley (NIH/NLM) [C]" initials="JSA([" lastIdx="4" clrIdx="0">
    <p:extLst>
      <p:ext uri="{19B8F6BF-5375-455C-9EA6-DF929625EA0E}">
        <p15:presenceInfo xmlns:p15="http://schemas.microsoft.com/office/powerpoint/2012/main" userId="Jolly, Sarah Ashley (NIH/NLM) [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F34"/>
    <a:srgbClr val="FFF200"/>
    <a:srgbClr val="FFFC00"/>
    <a:srgbClr val="601AB9"/>
    <a:srgbClr val="523279"/>
    <a:srgbClr val="0433FF"/>
    <a:srgbClr val="FFC0CA"/>
    <a:srgbClr val="B85826"/>
    <a:srgbClr val="A99C00"/>
    <a:srgbClr val="AD58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127797-89B8-F641-BF7B-588FF41355E7}" v="1" dt="2026-05-21T17:41:10.3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23" autoAdjust="0"/>
    <p:restoredTop sz="83019" autoAdjust="0"/>
  </p:normalViewPr>
  <p:slideViewPr>
    <p:cSldViewPr snapToGrid="0">
      <p:cViewPr>
        <p:scale>
          <a:sx n="97" d="100"/>
          <a:sy n="97" d="100"/>
        </p:scale>
        <p:origin x="328" y="216"/>
      </p:cViewPr>
      <p:guideLst/>
    </p:cSldViewPr>
  </p:slideViewPr>
  <p:outlineViewPr>
    <p:cViewPr>
      <p:scale>
        <a:sx n="33" d="100"/>
        <a:sy n="33" d="100"/>
      </p:scale>
      <p:origin x="0" y="-64"/>
    </p:cViewPr>
  </p:outlineViewPr>
  <p:notesTextViewPr>
    <p:cViewPr>
      <p:scale>
        <a:sx n="1" d="1"/>
        <a:sy n="1" d="1"/>
      </p:scale>
      <p:origin x="0" y="0"/>
    </p:cViewPr>
  </p:notesTextViewPr>
  <p:sorterViewPr>
    <p:cViewPr>
      <p:scale>
        <a:sx n="1" d="1"/>
        <a:sy n="1" d="1"/>
      </p:scale>
      <p:origin x="0" y="0"/>
    </p:cViewPr>
  </p:sorterViewPr>
  <p:notesViewPr>
    <p:cSldViewPr snapToGrid="0">
      <p:cViewPr varScale="1">
        <p:scale>
          <a:sx n="114" d="100"/>
          <a:sy n="114" d="100"/>
        </p:scale>
        <p:origin x="4200"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handoutMaster" Target="handoutMasters/handout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4.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 Bingfang (NIH/NLM) [E]" userId="ce1900a6-3365-42de-a169-a870b60e0921" providerId="ADAL" clId="{9D948869-DCA7-50CB-AB37-14AEC053A445}"/>
    <pc:docChg chg="modSld">
      <pc:chgData name="Xu, Bingfang (NIH/NLM) [E]" userId="ce1900a6-3365-42de-a169-a870b60e0921" providerId="ADAL" clId="{9D948869-DCA7-50CB-AB37-14AEC053A445}" dt="2026-05-21T17:41:10.344" v="0" actId="767"/>
      <pc:docMkLst>
        <pc:docMk/>
      </pc:docMkLst>
      <pc:sldChg chg="addSp modSp">
        <pc:chgData name="Xu, Bingfang (NIH/NLM) [E]" userId="ce1900a6-3365-42de-a169-a870b60e0921" providerId="ADAL" clId="{9D948869-DCA7-50CB-AB37-14AEC053A445}" dt="2026-05-21T17:41:10.344" v="0" actId="767"/>
        <pc:sldMkLst>
          <pc:docMk/>
          <pc:sldMk cId="3056230570" sldId="405"/>
        </pc:sldMkLst>
        <pc:spChg chg="add mod">
          <ac:chgData name="Xu, Bingfang (NIH/NLM) [E]" userId="ce1900a6-3365-42de-a169-a870b60e0921" providerId="ADAL" clId="{9D948869-DCA7-50CB-AB37-14AEC053A445}" dt="2026-05-21T17:41:10.344" v="0" actId="767"/>
          <ac:spMkLst>
            <pc:docMk/>
            <pc:sldMk cId="3056230570" sldId="405"/>
            <ac:spMk id="19" creationId="{E43DE35A-6FB3-CB38-16F6-3CF5D570D0E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D8B876-C59D-4E87-8065-05E60B40C7AE}"/>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FD186FF-3B33-44DF-BC06-A6BEDEA5BC4A}"/>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50652C7D-D774-47DB-8A60-CED9713D1233}" type="datetimeFigureOut">
              <a:rPr lang="en-US" smtClean="0"/>
              <a:t>6/30/26</a:t>
            </a:fld>
            <a:endParaRPr lang="en-US"/>
          </a:p>
        </p:txBody>
      </p:sp>
      <p:sp>
        <p:nvSpPr>
          <p:cNvPr id="4" name="Footer Placeholder 3">
            <a:extLst>
              <a:ext uri="{FF2B5EF4-FFF2-40B4-BE49-F238E27FC236}">
                <a16:creationId xmlns:a16="http://schemas.microsoft.com/office/drawing/2014/main" id="{3EA4AF60-A001-46D4-8D3F-49E3CDA623F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7426134-311D-476E-A38C-949E8092E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B2D407-E3A5-4537-889B-49E0FF2CA630}" type="slidenum">
              <a:rPr lang="en-US" smtClean="0"/>
              <a:t>‹#›</a:t>
            </a:fld>
            <a:endParaRPr lang="en-US"/>
          </a:p>
        </p:txBody>
      </p:sp>
    </p:spTree>
    <p:extLst>
      <p:ext uri="{BB962C8B-B14F-4D97-AF65-F5344CB8AC3E}">
        <p14:creationId xmlns:p14="http://schemas.microsoft.com/office/powerpoint/2010/main" val="963670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EFACEE6-9C36-5843-8332-3A0FA88FCC83}" type="datetimeFigureOut">
              <a:rPr lang="en-US" smtClean="0"/>
              <a:t>6/30/26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5EF54A-9134-8641-A991-457FAC8A6344}" type="slidenum">
              <a:rPr lang="en-US" smtClean="0"/>
              <a:t>‹#›</a:t>
            </a:fld>
            <a:endParaRPr lang="en-US"/>
          </a:p>
        </p:txBody>
      </p:sp>
    </p:spTree>
    <p:extLst>
      <p:ext uri="{BB962C8B-B14F-4D97-AF65-F5344CB8AC3E}">
        <p14:creationId xmlns:p14="http://schemas.microsoft.com/office/powerpoint/2010/main" val="358604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B9649504-AEB8-4325-8A2D-55FA0AD00220}" type="slidenum">
              <a:rPr lang="en-US" smtClean="0"/>
              <a:t>0</a:t>
            </a:fld>
            <a:endParaRPr lang="en-US" dirty="0"/>
          </a:p>
        </p:txBody>
      </p:sp>
    </p:spTree>
    <p:extLst>
      <p:ext uri="{BB962C8B-B14F-4D97-AF65-F5344CB8AC3E}">
        <p14:creationId xmlns:p14="http://schemas.microsoft.com/office/powerpoint/2010/main" val="2232174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71F2E-924B-825B-42F4-010D54388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A8604-D99A-E77A-D051-6608C80364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22089E-446A-179C-DB8D-8B9902BE0D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D1C91A-AC16-E541-6142-6E6195DD9C1C}"/>
              </a:ext>
            </a:extLst>
          </p:cNvPr>
          <p:cNvSpPr>
            <a:spLocks noGrp="1"/>
          </p:cNvSpPr>
          <p:nvPr>
            <p:ph type="sldNum" sz="quarter" idx="5"/>
          </p:nvPr>
        </p:nvSpPr>
        <p:spPr/>
        <p:txBody>
          <a:bodyPr/>
          <a:lstStyle/>
          <a:p>
            <a:fld id="{225EF54A-9134-8641-A991-457FAC8A6344}" type="slidenum">
              <a:rPr lang="en-US" smtClean="0"/>
              <a:t>1</a:t>
            </a:fld>
            <a:endParaRPr lang="en-US" dirty="0"/>
          </a:p>
        </p:txBody>
      </p:sp>
    </p:spTree>
    <p:extLst>
      <p:ext uri="{BB962C8B-B14F-4D97-AF65-F5344CB8AC3E}">
        <p14:creationId xmlns:p14="http://schemas.microsoft.com/office/powerpoint/2010/main" val="2426006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CA040-93FF-03FD-6119-05FFDC007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4434A-5EED-D0D9-13C2-50560F8B5E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8A5E187-EC8D-528B-9632-CDF820523D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01BB80-32FF-FF08-D0EF-A263CDBC7882}"/>
              </a:ext>
            </a:extLst>
          </p:cNvPr>
          <p:cNvSpPr>
            <a:spLocks noGrp="1"/>
          </p:cNvSpPr>
          <p:nvPr>
            <p:ph type="sldNum" sz="quarter" idx="5"/>
          </p:nvPr>
        </p:nvSpPr>
        <p:spPr/>
        <p:txBody>
          <a:bodyPr/>
          <a:lstStyle/>
          <a:p>
            <a:fld id="{225EF54A-9134-8641-A991-457FAC8A6344}" type="slidenum">
              <a:rPr lang="en-US" smtClean="0"/>
              <a:t>2</a:t>
            </a:fld>
            <a:endParaRPr lang="en-US" dirty="0"/>
          </a:p>
        </p:txBody>
      </p:sp>
    </p:spTree>
    <p:extLst>
      <p:ext uri="{BB962C8B-B14F-4D97-AF65-F5344CB8AC3E}">
        <p14:creationId xmlns:p14="http://schemas.microsoft.com/office/powerpoint/2010/main" val="3410047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35F28-A84A-20C4-5C3F-F1ABC9246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583B6-36EA-34F3-35EA-8D8720E88B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9AFD323-DFF1-8791-B8B3-6974154E6868}"/>
              </a:ext>
            </a:extLst>
          </p:cNvPr>
          <p:cNvSpPr>
            <a:spLocks noGrp="1"/>
          </p:cNvSpPr>
          <p:nvPr>
            <p:ph type="body" idx="1"/>
          </p:nvPr>
        </p:nvSpPr>
        <p:spPr/>
        <p:txBody>
          <a:bodyPr/>
          <a:lstStyle/>
          <a:p>
            <a:pPr marL="171450" indent="-171450">
              <a:buFont typeface="Arial" panose="020B0604020202020204" pitchFamily="34" charset="0"/>
              <a:buChar char="•"/>
            </a:pPr>
            <a:r>
              <a:rPr lang="en-US" dirty="0"/>
              <a:t>Figure or prettier representation of the classic </a:t>
            </a:r>
            <a:r>
              <a:rPr lang="en-US" dirty="0" err="1"/>
              <a:t>scRNA</a:t>
            </a:r>
            <a:r>
              <a:rPr lang="en-US" dirty="0"/>
              <a:t> workflow</a:t>
            </a:r>
          </a:p>
          <a:p>
            <a:pPr marL="171450" indent="-171450">
              <a:buFont typeface="Arial" panose="020B0604020202020204" pitchFamily="34" charset="0"/>
              <a:buChar char="•"/>
            </a:pPr>
            <a:r>
              <a:rPr lang="en-US" dirty="0"/>
              <a:t>How much unannotated RNA is thrown away in </a:t>
            </a:r>
            <a:r>
              <a:rPr lang="en-US" dirty="0" err="1"/>
              <a:t>scRNA</a:t>
            </a:r>
            <a:r>
              <a:rPr lang="en-US" dirty="0"/>
              <a:t>-seq runs?</a:t>
            </a:r>
          </a:p>
          <a:p>
            <a:pPr marL="171450" indent="-171450">
              <a:buFont typeface="Arial" panose="020B0604020202020204" pitchFamily="34" charset="0"/>
              <a:buChar char="•"/>
            </a:pPr>
            <a:r>
              <a:rPr lang="en-US" dirty="0"/>
              <a:t>Are bulk- and/or </a:t>
            </a:r>
            <a:r>
              <a:rPr lang="en-US" dirty="0" err="1"/>
              <a:t>scRNA</a:t>
            </a:r>
            <a:r>
              <a:rPr lang="en-US" dirty="0"/>
              <a:t>-seq technologies biased towards protein coding genes? Why? How much?</a:t>
            </a:r>
          </a:p>
          <a:p>
            <a:pPr marL="171450" indent="-171450">
              <a:buFont typeface="Arial" panose="020B0604020202020204" pitchFamily="34" charset="0"/>
              <a:buChar char="•"/>
            </a:pPr>
            <a:r>
              <a:rPr lang="en-US" dirty="0"/>
              <a:t>Are annotation technologies biased towards protein coding genes? Why? How much?</a:t>
            </a:r>
          </a:p>
        </p:txBody>
      </p:sp>
      <p:sp>
        <p:nvSpPr>
          <p:cNvPr id="4" name="Slide Number Placeholder 3">
            <a:extLst>
              <a:ext uri="{FF2B5EF4-FFF2-40B4-BE49-F238E27FC236}">
                <a16:creationId xmlns:a16="http://schemas.microsoft.com/office/drawing/2014/main" id="{0CF9B577-77BF-6EA0-F52A-9CFCA6A0F0FE}"/>
              </a:ext>
            </a:extLst>
          </p:cNvPr>
          <p:cNvSpPr>
            <a:spLocks noGrp="1"/>
          </p:cNvSpPr>
          <p:nvPr>
            <p:ph type="sldNum" sz="quarter" idx="5"/>
          </p:nvPr>
        </p:nvSpPr>
        <p:spPr/>
        <p:txBody>
          <a:bodyPr/>
          <a:lstStyle/>
          <a:p>
            <a:fld id="{225EF54A-9134-8641-A991-457FAC8A6344}" type="slidenum">
              <a:rPr lang="en-US" smtClean="0"/>
              <a:t>3</a:t>
            </a:fld>
            <a:endParaRPr lang="en-US" dirty="0"/>
          </a:p>
        </p:txBody>
      </p:sp>
    </p:spTree>
    <p:extLst>
      <p:ext uri="{BB962C8B-B14F-4D97-AF65-F5344CB8AC3E}">
        <p14:creationId xmlns:p14="http://schemas.microsoft.com/office/powerpoint/2010/main" val="721351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C8259-0510-3D10-FF30-119F25199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58B2F-5DDA-5260-03F5-BFE70A1F44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8A7151-474F-B6CD-6B59-5ACC82518D80}"/>
              </a:ext>
            </a:extLst>
          </p:cNvPr>
          <p:cNvSpPr>
            <a:spLocks noGrp="1"/>
          </p:cNvSpPr>
          <p:nvPr>
            <p:ph type="body" idx="1"/>
          </p:nvPr>
        </p:nvSpPr>
        <p:spPr/>
        <p:txBody>
          <a:bodyPr/>
          <a:lstStyle/>
          <a:p>
            <a:r>
              <a:rPr lang="en-US" dirty="0"/>
              <a:t>* Noncoding RNA</a:t>
            </a:r>
          </a:p>
          <a:p>
            <a:r>
              <a:rPr lang="en-US" dirty="0"/>
              <a:t>* lncRNA</a:t>
            </a:r>
          </a:p>
          <a:p>
            <a:r>
              <a:rPr lang="en-US" dirty="0"/>
              <a:t>* breast cancer cell types</a:t>
            </a:r>
          </a:p>
        </p:txBody>
      </p:sp>
      <p:sp>
        <p:nvSpPr>
          <p:cNvPr id="4" name="Slide Number Placeholder 3">
            <a:extLst>
              <a:ext uri="{FF2B5EF4-FFF2-40B4-BE49-F238E27FC236}">
                <a16:creationId xmlns:a16="http://schemas.microsoft.com/office/drawing/2014/main" id="{3AEA8542-E29C-C96D-0C45-B7F1E40B44AB}"/>
              </a:ext>
            </a:extLst>
          </p:cNvPr>
          <p:cNvSpPr>
            <a:spLocks noGrp="1"/>
          </p:cNvSpPr>
          <p:nvPr>
            <p:ph type="sldNum" sz="quarter" idx="5"/>
          </p:nvPr>
        </p:nvSpPr>
        <p:spPr/>
        <p:txBody>
          <a:bodyPr/>
          <a:lstStyle/>
          <a:p>
            <a:fld id="{225EF54A-9134-8641-A991-457FAC8A6344}" type="slidenum">
              <a:rPr lang="en-US" smtClean="0"/>
              <a:t>4</a:t>
            </a:fld>
            <a:endParaRPr lang="en-US" dirty="0"/>
          </a:p>
        </p:txBody>
      </p:sp>
    </p:spTree>
    <p:extLst>
      <p:ext uri="{BB962C8B-B14F-4D97-AF65-F5344CB8AC3E}">
        <p14:creationId xmlns:p14="http://schemas.microsoft.com/office/powerpoint/2010/main" val="3570292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FAA79-13CA-F70A-058E-FDAC14C37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46E3D-FBE3-FF61-F3AC-C963743E90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6C9E74-67B5-73D7-ACF9-5F7207F1D6CE}"/>
              </a:ext>
            </a:extLst>
          </p:cNvPr>
          <p:cNvSpPr>
            <a:spLocks noGrp="1"/>
          </p:cNvSpPr>
          <p:nvPr>
            <p:ph type="body" idx="1"/>
          </p:nvPr>
        </p:nvSpPr>
        <p:spPr/>
        <p:txBody>
          <a:bodyPr/>
          <a:lstStyle/>
          <a:p>
            <a:pPr marL="171450" indent="-171450">
              <a:buFont typeface="Arial" panose="020B0604020202020204" pitchFamily="34" charset="0"/>
              <a:buChar char="•"/>
            </a:pPr>
            <a:r>
              <a:rPr lang="en-US" dirty="0"/>
              <a:t>To date, the human </a:t>
            </a:r>
            <a:r>
              <a:rPr lang="en-US" dirty="0" err="1"/>
              <a:t>ENCyclopedia</a:t>
            </a:r>
            <a:r>
              <a:rPr lang="en-US" dirty="0"/>
              <a:t> Of DNA Elements (GENCODE) database has cataloged over 20,000 lncRNA genes while other databases have estimated the existence of more than 100,000 human lncRNAs.</a:t>
            </a:r>
          </a:p>
          <a:p>
            <a:pPr marL="628650" lvl="1" indent="-171450">
              <a:buFont typeface="Arial" panose="020B0604020202020204" pitchFamily="34" charset="0"/>
              <a:buChar char="•"/>
            </a:pPr>
            <a:r>
              <a:rPr lang="en-US" dirty="0"/>
              <a:t>Chen et al</a:t>
            </a:r>
          </a:p>
          <a:p>
            <a:pPr marL="171450" lvl="0" indent="-171450">
              <a:buFont typeface="Arial" panose="020B0604020202020204" pitchFamily="34" charset="0"/>
              <a:buChar char="•"/>
            </a:pPr>
            <a:r>
              <a:rPr lang="en-US" dirty="0"/>
              <a:t>Only about 500-1500 lncRNAs have been functionally characterized (Poloni et al)</a:t>
            </a:r>
          </a:p>
          <a:p>
            <a:pPr marL="171450" lvl="0" indent="-171450">
              <a:buFont typeface="Arial" panose="020B0604020202020204" pitchFamily="34" charset="0"/>
              <a:buChar char="•"/>
            </a:pPr>
            <a:r>
              <a:rPr lang="en-US" dirty="0"/>
              <a:t>The introduction of additional copies of the </a:t>
            </a:r>
            <a:r>
              <a:rPr lang="en-US" i="1" dirty="0"/>
              <a:t>H19</a:t>
            </a:r>
            <a:r>
              <a:rPr lang="en-US" dirty="0"/>
              <a:t> gene into transgenic mice led to prenatal lethality, indicating its critical role in development</a:t>
            </a:r>
          </a:p>
          <a:p>
            <a:pPr marL="171450" lvl="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A752719-90E4-143F-1C4B-A2332BBE9661}"/>
              </a:ext>
            </a:extLst>
          </p:cNvPr>
          <p:cNvSpPr>
            <a:spLocks noGrp="1"/>
          </p:cNvSpPr>
          <p:nvPr>
            <p:ph type="sldNum" sz="quarter" idx="5"/>
          </p:nvPr>
        </p:nvSpPr>
        <p:spPr/>
        <p:txBody>
          <a:bodyPr/>
          <a:lstStyle/>
          <a:p>
            <a:fld id="{225EF54A-9134-8641-A991-457FAC8A6344}" type="slidenum">
              <a:rPr lang="en-US" smtClean="0"/>
              <a:t>5</a:t>
            </a:fld>
            <a:endParaRPr lang="en-US" dirty="0"/>
          </a:p>
        </p:txBody>
      </p:sp>
    </p:spTree>
    <p:extLst>
      <p:ext uri="{BB962C8B-B14F-4D97-AF65-F5344CB8AC3E}">
        <p14:creationId xmlns:p14="http://schemas.microsoft.com/office/powerpoint/2010/main" val="2581705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p:cNvSpPr>
            <a:spLocks noGrp="1"/>
          </p:cNvSpPr>
          <p:nvPr>
            <p:ph type="sldNum" sz="quarter" idx="5"/>
          </p:nvPr>
        </p:nvSpPr>
        <p:spPr/>
        <p:txBody>
          <a:bodyPr/>
          <a:lstStyle/>
          <a:p>
            <a:fld id="{225EF54A-9134-8641-A991-457FAC8A6344}" type="slidenum">
              <a:rPr lang="en-US" smtClean="0"/>
              <a:t>6</a:t>
            </a:fld>
            <a:endParaRPr lang="en-US"/>
          </a:p>
        </p:txBody>
      </p:sp>
    </p:spTree>
    <p:extLst>
      <p:ext uri="{BB962C8B-B14F-4D97-AF65-F5344CB8AC3E}">
        <p14:creationId xmlns:p14="http://schemas.microsoft.com/office/powerpoint/2010/main" val="1192874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34334-0F1B-7323-5F9E-F8798423B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4B63D-A499-AB39-B18E-67A8B8706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4BDCD-9137-E2D2-EF37-5AD7624B2179}"/>
              </a:ext>
            </a:extLst>
          </p:cNvPr>
          <p:cNvSpPr>
            <a:spLocks noGrp="1"/>
          </p:cNvSpPr>
          <p:nvPr>
            <p:ph type="body" idx="1"/>
          </p:nvPr>
        </p:nvSpPr>
        <p:spPr/>
        <p:txBody>
          <a:bodyPr/>
          <a:lstStyle/>
          <a:p>
            <a:pPr marL="171450" indent="-171450">
              <a:buFont typeface="Arial" panose="020B0604020202020204" pitchFamily="34" charset="0"/>
              <a:buChar char="•"/>
            </a:pPr>
            <a:r>
              <a:rPr lang="en-US" dirty="0"/>
              <a:t>Based on EpCAM and CD49f.</a:t>
            </a:r>
          </a:p>
          <a:p>
            <a:pPr marL="628650" lvl="1" indent="-171450">
              <a:buFont typeface="Arial" panose="020B0604020202020204" pitchFamily="34" charset="0"/>
              <a:buChar char="•"/>
            </a:pPr>
            <a:r>
              <a:rPr lang="en-US" dirty="0"/>
              <a:t>Humans have three distinct cell populations; mice have only two (basal and total luminal)</a:t>
            </a:r>
          </a:p>
          <a:p>
            <a:pPr marL="628650" lvl="1" indent="-171450">
              <a:buFont typeface="Arial" panose="020B0604020202020204" pitchFamily="34" charset="0"/>
              <a:buChar char="•"/>
            </a:pPr>
            <a:r>
              <a:rPr lang="en-US" dirty="0"/>
              <a:t>Basal are EpCAM-low, CD49f-hi</a:t>
            </a:r>
          </a:p>
          <a:p>
            <a:pPr marL="628650" lvl="1" indent="-171450">
              <a:buFont typeface="Arial" panose="020B0604020202020204" pitchFamily="34" charset="0"/>
              <a:buChar char="•"/>
            </a:pPr>
            <a:r>
              <a:rPr lang="en-US" dirty="0"/>
              <a:t>L. progenitor are EpCAM-hi, CD49f-hi</a:t>
            </a:r>
          </a:p>
          <a:p>
            <a:pPr marL="628650" lvl="1" indent="-171450">
              <a:buFont typeface="Arial" panose="020B0604020202020204" pitchFamily="34" charset="0"/>
              <a:buChar char="•"/>
            </a:pPr>
            <a:r>
              <a:rPr lang="en-US" dirty="0"/>
              <a:t>L. mature are EpCAM-hi, CD49f-low</a:t>
            </a:r>
          </a:p>
        </p:txBody>
      </p:sp>
      <p:sp>
        <p:nvSpPr>
          <p:cNvPr id="4" name="Slide Number Placeholder 3">
            <a:extLst>
              <a:ext uri="{FF2B5EF4-FFF2-40B4-BE49-F238E27FC236}">
                <a16:creationId xmlns:a16="http://schemas.microsoft.com/office/drawing/2014/main" id="{22A8B3F5-A4A3-9A48-D33C-D590972BA000}"/>
              </a:ext>
            </a:extLst>
          </p:cNvPr>
          <p:cNvSpPr>
            <a:spLocks noGrp="1"/>
          </p:cNvSpPr>
          <p:nvPr>
            <p:ph type="sldNum" sz="quarter" idx="5"/>
          </p:nvPr>
        </p:nvSpPr>
        <p:spPr/>
        <p:txBody>
          <a:bodyPr/>
          <a:lstStyle/>
          <a:p>
            <a:fld id="{225EF54A-9134-8641-A991-457FAC8A6344}" type="slidenum">
              <a:rPr lang="en-US" smtClean="0"/>
              <a:t>7</a:t>
            </a:fld>
            <a:endParaRPr lang="en-US"/>
          </a:p>
        </p:txBody>
      </p:sp>
    </p:spTree>
    <p:extLst>
      <p:ext uri="{BB962C8B-B14F-4D97-AF65-F5344CB8AC3E}">
        <p14:creationId xmlns:p14="http://schemas.microsoft.com/office/powerpoint/2010/main" val="3439931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F7ECD-8DFE-7D30-08E4-7E5A5DA3D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1CA17-2E41-826D-6B39-F62976AB088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70B4A8-6890-2188-BE97-DE1F7CAA35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B2CB1B-75A8-93AB-2971-913596B92A56}"/>
              </a:ext>
            </a:extLst>
          </p:cNvPr>
          <p:cNvSpPr>
            <a:spLocks noGrp="1"/>
          </p:cNvSpPr>
          <p:nvPr>
            <p:ph type="sldNum" sz="quarter" idx="5"/>
          </p:nvPr>
        </p:nvSpPr>
        <p:spPr/>
        <p:txBody>
          <a:bodyPr/>
          <a:lstStyle/>
          <a:p>
            <a:fld id="{225EF54A-9134-8641-A991-457FAC8A6344}" type="slidenum">
              <a:rPr lang="en-US" smtClean="0"/>
              <a:t>8</a:t>
            </a:fld>
            <a:endParaRPr lang="en-US" dirty="0"/>
          </a:p>
        </p:txBody>
      </p:sp>
    </p:spTree>
    <p:extLst>
      <p:ext uri="{BB962C8B-B14F-4D97-AF65-F5344CB8AC3E}">
        <p14:creationId xmlns:p14="http://schemas.microsoft.com/office/powerpoint/2010/main" val="2607227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C748-0C99-8EDD-FEA4-7CD8FCE706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A942DC-CF5E-304E-C480-0B3985A5E6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45C38D-E518-B46F-6629-B35FA8483FFE}"/>
              </a:ext>
            </a:extLst>
          </p:cNvPr>
          <p:cNvSpPr>
            <a:spLocks noGrp="1"/>
          </p:cNvSpPr>
          <p:nvPr>
            <p:ph type="body" idx="1"/>
          </p:nvPr>
        </p:nvSpPr>
        <p:spPr/>
        <p:txBody>
          <a:bodyPr/>
          <a:lstStyle/>
          <a:p>
            <a:pPr marL="228600" indent="-228600">
              <a:buFont typeface="+mj-lt"/>
              <a:buAutoNum type="arabicPeriod"/>
            </a:pPr>
            <a:r>
              <a:rPr lang="en-US" dirty="0"/>
              <a:t>Samples collected and enriched for epithelial cell populations (exclude endothelial, hematopoietic, and leukocyte cells)</a:t>
            </a:r>
          </a:p>
          <a:p>
            <a:pPr marL="228600" indent="-228600">
              <a:buFont typeface="+mj-lt"/>
              <a:buAutoNum type="arabicPeriod"/>
            </a:pPr>
            <a:r>
              <a:rPr lang="en-US" dirty="0"/>
              <a:t>Sorted into the basal, luminal progenitor, and luminal mature cell types based on aforementioned EpCAM-CD49f markers</a:t>
            </a:r>
          </a:p>
          <a:p>
            <a:pPr marL="228600" indent="-228600">
              <a:buFont typeface="+mj-lt"/>
              <a:buAutoNum type="arabicPeriod"/>
            </a:pPr>
            <a:r>
              <a:rPr lang="en-US" dirty="0"/>
              <a:t>High depth sample sequencing on Illumina </a:t>
            </a:r>
            <a:r>
              <a:rPr lang="en-US" dirty="0" err="1"/>
              <a:t>Novoseq</a:t>
            </a:r>
            <a:r>
              <a:rPr lang="en-US" dirty="0"/>
              <a:t> 6000</a:t>
            </a:r>
          </a:p>
          <a:p>
            <a:pPr marL="685800" lvl="1" indent="-228600">
              <a:buFont typeface="+mj-lt"/>
              <a:buAutoNum type="arabicPeriod"/>
            </a:pPr>
            <a:r>
              <a:rPr lang="en-US" dirty="0"/>
              <a:t>Each sample yielded 30.6-67.3M read pairs (avg 49.9M)</a:t>
            </a:r>
          </a:p>
          <a:p>
            <a:pPr marL="685800" lvl="1" indent="-228600">
              <a:buFont typeface="+mj-lt"/>
              <a:buAutoNum type="arabicPeriod"/>
            </a:pPr>
            <a:r>
              <a:rPr lang="en-US" dirty="0"/>
              <a:t>Base call accuracy between 99.95% and 99.99%</a:t>
            </a:r>
          </a:p>
          <a:p>
            <a:pPr marL="228600" lvl="0" indent="-228600">
              <a:buFont typeface="+mj-lt"/>
              <a:buAutoNum type="arabicPeriod"/>
            </a:pPr>
            <a:r>
              <a:rPr lang="en-US" dirty="0"/>
              <a:t>Computational pipeline for lncRNA discovery from bulk RNA-seq based on de novo assembly (QC at each step)</a:t>
            </a:r>
          </a:p>
          <a:p>
            <a:pPr marL="685800" lvl="1" indent="-228600">
              <a:buFont typeface="+mj-lt"/>
              <a:buAutoNum type="arabicPeriod"/>
            </a:pPr>
            <a:r>
              <a:rPr lang="en-US" dirty="0"/>
              <a:t>Preprocess reads to remove </a:t>
            </a:r>
            <a:r>
              <a:rPr lang="en-US" dirty="0" err="1"/>
              <a:t>containants</a:t>
            </a:r>
            <a:r>
              <a:rPr lang="en-US" dirty="0"/>
              <a:t> (ex adapters/reads from ribosomal RNA) and asses low-</a:t>
            </a:r>
            <a:r>
              <a:rPr lang="en-US" dirty="0" err="1"/>
              <a:t>freq</a:t>
            </a:r>
            <a:r>
              <a:rPr lang="en-US" dirty="0"/>
              <a:t> k-</a:t>
            </a:r>
            <a:r>
              <a:rPr lang="en-US" dirty="0" err="1"/>
              <a:t>mers</a:t>
            </a:r>
            <a:r>
              <a:rPr lang="en-US" dirty="0"/>
              <a:t> correcting sequencing errors</a:t>
            </a:r>
          </a:p>
          <a:p>
            <a:pPr marL="685800" lvl="1" indent="-228600">
              <a:buFont typeface="+mj-lt"/>
              <a:buAutoNum type="arabicPeriod"/>
            </a:pPr>
            <a:r>
              <a:rPr lang="en-US" dirty="0"/>
              <a:t>De novo assembly of transcripts</a:t>
            </a:r>
          </a:p>
          <a:p>
            <a:pPr marL="1143000" lvl="2" indent="-228600">
              <a:buFont typeface="+mj-lt"/>
              <a:buAutoNum type="arabicPeriod"/>
            </a:pPr>
            <a:r>
              <a:rPr lang="en-US" dirty="0"/>
              <a:t>High quality transcripts selected based on features like read support and base calling quality</a:t>
            </a:r>
          </a:p>
          <a:p>
            <a:pPr marL="685800" lvl="1" indent="-228600">
              <a:buFont typeface="+mj-lt"/>
              <a:buAutoNum type="arabicPeriod"/>
            </a:pPr>
            <a:r>
              <a:rPr lang="en-US" dirty="0"/>
              <a:t>Identification of non-coding transcripts and lncRNAs</a:t>
            </a:r>
          </a:p>
          <a:p>
            <a:pPr marL="1143000" lvl="2" indent="-228600">
              <a:buFont typeface="+mj-lt"/>
              <a:buAutoNum type="arabicPeriod"/>
            </a:pPr>
            <a:r>
              <a:rPr lang="en-US" dirty="0"/>
              <a:t>4 programs run through </a:t>
            </a:r>
            <a:r>
              <a:rPr lang="en-US" dirty="0" err="1"/>
              <a:t>ezLncPred</a:t>
            </a:r>
            <a:r>
              <a:rPr lang="en-US" dirty="0"/>
              <a:t> v1.0 to predict coding potential of transcripts and </a:t>
            </a:r>
            <a:r>
              <a:rPr lang="en-US" dirty="0" err="1"/>
              <a:t>FEELnc</a:t>
            </a:r>
            <a:endParaRPr lang="en-US" dirty="0"/>
          </a:p>
          <a:p>
            <a:pPr marL="1143000" lvl="2" indent="-228600">
              <a:buFont typeface="+mj-lt"/>
              <a:buAutoNum type="arabicPeriod"/>
            </a:pPr>
            <a:r>
              <a:rPr lang="en-US" dirty="0"/>
              <a:t>Considered </a:t>
            </a:r>
            <a:r>
              <a:rPr lang="en-US" dirty="0" err="1"/>
              <a:t>trasncripts</a:t>
            </a:r>
            <a:r>
              <a:rPr lang="en-US" dirty="0"/>
              <a:t> with no doing potential detected by at least 2 different tools as positives</a:t>
            </a:r>
          </a:p>
          <a:p>
            <a:pPr marL="228600" lvl="0" indent="-228600">
              <a:buFont typeface="+mj-lt"/>
              <a:buAutoNum type="arabicPeriod"/>
            </a:pPr>
            <a:r>
              <a:rPr lang="en-US" dirty="0"/>
              <a:t>Transcripts aligned to GENCODE h38 reference genome with Minimap2 v2.16</a:t>
            </a:r>
          </a:p>
          <a:p>
            <a:pPr marL="685800" lvl="1" indent="-228600">
              <a:buFont typeface="+mj-lt"/>
              <a:buAutoNum type="arabicPeriod"/>
            </a:pPr>
            <a:r>
              <a:rPr lang="en-US" dirty="0"/>
              <a:t>Matches with </a:t>
            </a:r>
            <a:r>
              <a:rPr lang="en-US" dirty="0" err="1"/>
              <a:t>minimumn</a:t>
            </a:r>
            <a:r>
              <a:rPr lang="en-US" dirty="0"/>
              <a:t> overlap of 75% and on the same strand removed from final set of NB-</a:t>
            </a:r>
            <a:r>
              <a:rPr lang="en-US" dirty="0" err="1"/>
              <a:t>lncRNAS</a:t>
            </a:r>
            <a:r>
              <a:rPr lang="en-US" dirty="0"/>
              <a:t>, unless GENCODE transcript was annotated as a lncRNA. Same method used to intersect NB-</a:t>
            </a:r>
            <a:r>
              <a:rPr lang="en-US" dirty="0" err="1"/>
              <a:t>lncRNAS</a:t>
            </a:r>
            <a:r>
              <a:rPr lang="en-US" dirty="0"/>
              <a:t> with the in-house known lncRNA database.</a:t>
            </a:r>
          </a:p>
          <a:p>
            <a:pPr marL="228600" lvl="0" indent="-228600">
              <a:buFont typeface="+mj-lt"/>
              <a:buAutoNum type="arabicPeriod"/>
            </a:pPr>
            <a:r>
              <a:rPr lang="en-US" dirty="0"/>
              <a:t>Colocalized NB-lncRNAs with known enhancer elements, promoter regions, and terminal untranslated ends of annotated genes to provide first layer of functional annotation</a:t>
            </a:r>
          </a:p>
          <a:p>
            <a:pPr marL="228600" lvl="0" indent="-228600">
              <a:buFont typeface="+mj-lt"/>
              <a:buAutoNum type="arabicPeriod"/>
            </a:pPr>
            <a:r>
              <a:rPr lang="en-US" dirty="0"/>
              <a:t>According to metric defined in a 2019 benchmarking study, the pipeline performed &gt;10% better than best-ranked assembly tool at the time. Didn’t have the time to look further into that.</a:t>
            </a:r>
          </a:p>
        </p:txBody>
      </p:sp>
      <p:sp>
        <p:nvSpPr>
          <p:cNvPr id="4" name="Slide Number Placeholder 3">
            <a:extLst>
              <a:ext uri="{FF2B5EF4-FFF2-40B4-BE49-F238E27FC236}">
                <a16:creationId xmlns:a16="http://schemas.microsoft.com/office/drawing/2014/main" id="{4EB567E2-6657-A286-A1F2-0E1B41B3B28A}"/>
              </a:ext>
            </a:extLst>
          </p:cNvPr>
          <p:cNvSpPr>
            <a:spLocks noGrp="1"/>
          </p:cNvSpPr>
          <p:nvPr>
            <p:ph type="sldNum" sz="quarter" idx="5"/>
          </p:nvPr>
        </p:nvSpPr>
        <p:spPr/>
        <p:txBody>
          <a:bodyPr/>
          <a:lstStyle/>
          <a:p>
            <a:fld id="{225EF54A-9134-8641-A991-457FAC8A6344}" type="slidenum">
              <a:rPr lang="en-US" smtClean="0"/>
              <a:t>9</a:t>
            </a:fld>
            <a:endParaRPr lang="en-US" dirty="0"/>
          </a:p>
        </p:txBody>
      </p:sp>
    </p:spTree>
    <p:extLst>
      <p:ext uri="{BB962C8B-B14F-4D97-AF65-F5344CB8AC3E}">
        <p14:creationId xmlns:p14="http://schemas.microsoft.com/office/powerpoint/2010/main" val="3237339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AA224-A53C-FE13-21ED-7A12150C21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F92A2-3F49-691C-E160-6DAF8BC78A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EF47B32-C0C0-D607-7846-CEDB122A8CCF}"/>
              </a:ext>
            </a:extLst>
          </p:cNvPr>
          <p:cNvSpPr>
            <a:spLocks noGrp="1"/>
          </p:cNvSpPr>
          <p:nvPr>
            <p:ph type="body" idx="1"/>
          </p:nvPr>
        </p:nvSpPr>
        <p:spPr/>
        <p:txBody>
          <a:bodyPr/>
          <a:lstStyle/>
          <a:p>
            <a:pPr marL="171450" indent="-171450">
              <a:buFont typeface="Arial" panose="020B0604020202020204" pitchFamily="34" charset="0"/>
              <a:buChar char="•"/>
            </a:pPr>
            <a:r>
              <a:rPr lang="en-US" dirty="0"/>
              <a:t>Steps confirmed structural features for about 15% of total discovered lncRNAs, which the authors describe as consistent with other studies focusing on lncRNA systematic identification.</a:t>
            </a:r>
          </a:p>
          <a:p>
            <a:pPr marL="171450" indent="-171450">
              <a:buFont typeface="Arial" panose="020B0604020202020204" pitchFamily="34" charset="0"/>
              <a:buChar char="•"/>
            </a:pPr>
            <a:r>
              <a:rPr lang="en-US" dirty="0"/>
              <a:t>Validation for de novo assembly</a:t>
            </a:r>
          </a:p>
          <a:p>
            <a:pPr marL="628650" lvl="1" indent="-171450">
              <a:buFont typeface="Arial" panose="020B0604020202020204" pitchFamily="34" charset="0"/>
              <a:buChar char="•"/>
            </a:pPr>
            <a:r>
              <a:rPr lang="en-US" b="0" dirty="0"/>
              <a:t>RAMPAGE (RNA Annotation and Mapping of Promoters for the Analysis of Gene Expression) identifies TSSs. Study compared the 5’ ends of their assembled NB-lncRNAs against public RAMPAGE data from normal breast cells and in-house data from breast cancer cell lines.</a:t>
            </a:r>
          </a:p>
          <a:p>
            <a:pPr marL="1085850" lvl="2" indent="-171450">
              <a:buFont typeface="Arial" panose="020B0604020202020204" pitchFamily="34" charset="0"/>
              <a:buChar char="•"/>
            </a:pPr>
            <a:r>
              <a:rPr lang="en-US" b="0" dirty="0"/>
              <a:t>RAMPAGE libraries aligned to reference genome supplemented with novel NB-lncRNA sequences</a:t>
            </a:r>
          </a:p>
          <a:p>
            <a:pPr marL="1085850" lvl="2" indent="-171450">
              <a:buFont typeface="Arial" panose="020B0604020202020204" pitchFamily="34" charset="0"/>
              <a:buChar char="•"/>
            </a:pPr>
            <a:r>
              <a:rPr lang="en-US" b="0" dirty="0"/>
              <a:t>Confirmed TSS for 10% of discovered NB-lncRNAs</a:t>
            </a:r>
          </a:p>
          <a:p>
            <a:pPr marL="628650" lvl="1" indent="-171450">
              <a:buFont typeface="Arial" panose="020B0604020202020204" pitchFamily="34" charset="0"/>
              <a:buChar char="•"/>
            </a:pPr>
            <a:r>
              <a:rPr lang="en-US" b="1" dirty="0"/>
              <a:t>How it works:</a:t>
            </a:r>
            <a:r>
              <a:rPr lang="en-US" dirty="0"/>
              <a:t> Long-reads allow researchers to see the </a:t>
            </a:r>
            <a:r>
              <a:rPr lang="en-US" b="1" dirty="0"/>
              <a:t>entire exon-intron structure</a:t>
            </a:r>
            <a:r>
              <a:rPr lang="en-US" dirty="0"/>
              <a:t> of a transcript in a single read, rather than relying on computational assembly to guess how short fragments </a:t>
            </a:r>
            <a:r>
              <a:rPr lang="en-US" dirty="0" err="1"/>
              <a:t>connect.</a:t>
            </a:r>
            <a:r>
              <a:rPr lang="en-US" b="1" dirty="0" err="1"/>
              <a:t>Bioinformatic</a:t>
            </a:r>
            <a:r>
              <a:rPr lang="en-US" b="1" dirty="0"/>
              <a:t> process:</a:t>
            </a:r>
            <a:r>
              <a:rPr lang="en-US" dirty="0"/>
              <a:t> Public long-read data from MCF7 and MCF10A cells, along with new data from SUM149 cells, were aligned to the NB-lncRNAs using </a:t>
            </a:r>
            <a:r>
              <a:rPr lang="en-US" b="1" dirty="0"/>
              <a:t>BLAT</a:t>
            </a:r>
            <a:r>
              <a:rPr lang="en-US" dirty="0"/>
              <a:t>. To account for the lower accuracy typical of long-reads, the authors required a minimum of </a:t>
            </a:r>
            <a:r>
              <a:rPr lang="en-US" b="1" dirty="0"/>
              <a:t>80% sequence identity</a:t>
            </a:r>
            <a:r>
              <a:rPr lang="en-US" dirty="0"/>
              <a:t> and filtered for </a:t>
            </a:r>
            <a:r>
              <a:rPr lang="en-US" b="1" dirty="0"/>
              <a:t>70% reciprocal </a:t>
            </a:r>
            <a:r>
              <a:rPr lang="en-US" b="1" dirty="0" err="1"/>
              <a:t>coverage</a:t>
            </a:r>
            <a:r>
              <a:rPr lang="en-US" dirty="0" err="1"/>
              <a:t>.</a:t>
            </a:r>
            <a:r>
              <a:rPr lang="en-US" b="1" dirty="0" err="1"/>
              <a:t>Validation</a:t>
            </a:r>
            <a:r>
              <a:rPr lang="en-US" b="1" dirty="0"/>
              <a:t> Stat:</a:t>
            </a:r>
            <a:r>
              <a:rPr lang="en-US" dirty="0"/>
              <a:t> This step confirmed the structural authenticity of </a:t>
            </a:r>
            <a:r>
              <a:rPr lang="en-US" b="1" dirty="0"/>
              <a:t>7% (1,310)</a:t>
            </a:r>
            <a:r>
              <a:rPr lang="en-US" dirty="0"/>
              <a:t> of the NB-lncRNAs.</a:t>
            </a:r>
          </a:p>
          <a:p>
            <a:r>
              <a:rPr lang="en-US" dirty="0"/>
              <a:t>Reverse Transcription Polymerase Chain Reaction (</a:t>
            </a:r>
            <a:r>
              <a:rPr lang="en-US" b="1" dirty="0"/>
              <a:t>RT-PCR</a:t>
            </a:r>
            <a:r>
              <a:rPr lang="en-US" dirty="0"/>
              <a:t>) served as the final experimental "wet lab" confirmation to prove these transcripts existed in the actual tissue samples used in the study.</a:t>
            </a:r>
          </a:p>
          <a:p>
            <a:r>
              <a:rPr lang="en-US" b="1" dirty="0"/>
              <a:t>How it works:</a:t>
            </a:r>
            <a:r>
              <a:rPr lang="en-US" dirty="0"/>
              <a:t> Total RNA was extracted from the same </a:t>
            </a:r>
            <a:r>
              <a:rPr lang="en-US" b="1" dirty="0"/>
              <a:t>FACS-sorted populations</a:t>
            </a:r>
            <a:r>
              <a:rPr lang="en-US" dirty="0"/>
              <a:t> (Basal, Luminal Progenitor, and Luminal Mature). This RNA was reverse-transcribed into cDNA, and primers specific to the novel NB-lncRNAs were used to amplify them.</a:t>
            </a:r>
          </a:p>
          <a:p>
            <a:r>
              <a:rPr lang="en-US" b="1" dirty="0"/>
              <a:t>Detection of low-abundance transcripts:</a:t>
            </a:r>
            <a:r>
              <a:rPr lang="en-US" dirty="0"/>
              <a:t> Because lncRNAs are often expressed at very low levels, the authors performed </a:t>
            </a:r>
            <a:r>
              <a:rPr lang="en-US" b="1" dirty="0"/>
              <a:t>50 cycles of PCR</a:t>
            </a:r>
            <a:r>
              <a:rPr lang="en-US" dirty="0"/>
              <a:t> to ensure even the rarest transcripts could be detected and visualized.</a:t>
            </a:r>
          </a:p>
          <a:p>
            <a:r>
              <a:rPr lang="en-US" b="1" dirty="0"/>
              <a:t>Validation Stat:</a:t>
            </a:r>
            <a:r>
              <a:rPr lang="en-US" dirty="0"/>
              <a:t> The authors tested 30 candidate NB-lncRNAs, and </a:t>
            </a:r>
            <a:r>
              <a:rPr lang="en-US" b="1" dirty="0"/>
              <a:t>25 (83%)</a:t>
            </a:r>
            <a:r>
              <a:rPr lang="en-US" dirty="0"/>
              <a:t> were successfully validated at their expected molecular sizes across the sorted cell populations.</a:t>
            </a:r>
          </a:p>
        </p:txBody>
      </p:sp>
      <p:sp>
        <p:nvSpPr>
          <p:cNvPr id="4" name="Slide Number Placeholder 3">
            <a:extLst>
              <a:ext uri="{FF2B5EF4-FFF2-40B4-BE49-F238E27FC236}">
                <a16:creationId xmlns:a16="http://schemas.microsoft.com/office/drawing/2014/main" id="{AB26F086-B3F1-7310-7C85-F516341F59C3}"/>
              </a:ext>
            </a:extLst>
          </p:cNvPr>
          <p:cNvSpPr>
            <a:spLocks noGrp="1"/>
          </p:cNvSpPr>
          <p:nvPr>
            <p:ph type="sldNum" sz="quarter" idx="5"/>
          </p:nvPr>
        </p:nvSpPr>
        <p:spPr/>
        <p:txBody>
          <a:bodyPr/>
          <a:lstStyle/>
          <a:p>
            <a:fld id="{225EF54A-9134-8641-A991-457FAC8A6344}" type="slidenum">
              <a:rPr lang="en-US" smtClean="0"/>
              <a:t>10</a:t>
            </a:fld>
            <a:endParaRPr lang="en-US" dirty="0"/>
          </a:p>
        </p:txBody>
      </p:sp>
    </p:spTree>
    <p:extLst>
      <p:ext uri="{BB962C8B-B14F-4D97-AF65-F5344CB8AC3E}">
        <p14:creationId xmlns:p14="http://schemas.microsoft.com/office/powerpoint/2010/main" val="1004795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F6032-A03D-EF00-8968-A863B0AB3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91B4E-62AA-86B1-E209-4200A627F2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C7A74E6-76A3-68D2-4A2F-CFCFA7E2C9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D9E78A-9620-01E8-C91F-CAC767D119D6}"/>
              </a:ext>
            </a:extLst>
          </p:cNvPr>
          <p:cNvSpPr>
            <a:spLocks noGrp="1"/>
          </p:cNvSpPr>
          <p:nvPr>
            <p:ph type="sldNum" sz="quarter" idx="5"/>
          </p:nvPr>
        </p:nvSpPr>
        <p:spPr/>
        <p:txBody>
          <a:bodyPr/>
          <a:lstStyle/>
          <a:p>
            <a:fld id="{225EF54A-9134-8641-A991-457FAC8A6344}" type="slidenum">
              <a:rPr lang="en-US" smtClean="0"/>
              <a:t>11</a:t>
            </a:fld>
            <a:endParaRPr lang="en-US" dirty="0"/>
          </a:p>
        </p:txBody>
      </p:sp>
    </p:spTree>
    <p:extLst>
      <p:ext uri="{BB962C8B-B14F-4D97-AF65-F5344CB8AC3E}">
        <p14:creationId xmlns:p14="http://schemas.microsoft.com/office/powerpoint/2010/main" val="484078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1D7F-A31F-40FF-0FE4-6BD7FB0A8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89A7E-8EBE-AA66-818D-E76FD2E1893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A24532-E147-1D2B-A168-64C16E206F48}"/>
              </a:ext>
            </a:extLst>
          </p:cNvPr>
          <p:cNvSpPr>
            <a:spLocks noGrp="1"/>
          </p:cNvSpPr>
          <p:nvPr>
            <p:ph type="body" idx="1"/>
          </p:nvPr>
        </p:nvSpPr>
        <p:spPr/>
        <p:txBody>
          <a:bodyPr/>
          <a:lstStyle/>
          <a:p>
            <a:r>
              <a:rPr lang="en-US" b="0" dirty="0"/>
              <a:t>To explore the ability of NB-lncRNAs to distinguish normal breast cell subpopulations, we quantified the expression of NB-lncRNAs using published </a:t>
            </a:r>
            <a:r>
              <a:rPr lang="en-US" b="0" dirty="0" err="1"/>
              <a:t>scRNAseq</a:t>
            </a:r>
            <a:r>
              <a:rPr lang="en-US" b="0" dirty="0"/>
              <a:t> data of 867 cells from three donors, with &gt;1.5M reads per cell (6). Using flow cytometry, Nguyen et al. sorted cells from the luminal and basal populations before performing </a:t>
            </a:r>
            <a:r>
              <a:rPr lang="en-US" b="0" dirty="0" err="1"/>
              <a:t>scRNAseq</a:t>
            </a:r>
            <a:r>
              <a:rPr lang="en-US" b="0" dirty="0"/>
              <a:t> (File S4). On average, each cell expressed close to 900 NB-lncRNAs, with over one-third expressing at least 1000 NB-lncRNAs.</a:t>
            </a:r>
          </a:p>
          <a:p>
            <a:endParaRPr lang="en-US" b="1" dirty="0"/>
          </a:p>
          <a:p>
            <a:r>
              <a:rPr lang="en-US" b="1" dirty="0"/>
              <a:t>Figure Description:</a:t>
            </a:r>
          </a:p>
          <a:p>
            <a:r>
              <a:rPr lang="en-US" b="0" dirty="0"/>
              <a:t>NB-lncRNAs and GENCODE-annotated genes can distinguish breast epithelial cell types. </a:t>
            </a:r>
            <a:r>
              <a:rPr lang="en-US" b="1" dirty="0"/>
              <a:t>(A) </a:t>
            </a:r>
            <a:r>
              <a:rPr lang="en-US" b="0" dirty="0"/>
              <a:t>Uniform manifold approximation projection (UMAP) of normal breast cells, clustered based on NB-lncRNAs expression, quantified on Fluidigm </a:t>
            </a:r>
            <a:r>
              <a:rPr lang="en-US" b="0" dirty="0" err="1"/>
              <a:t>scRNAseq</a:t>
            </a:r>
            <a:r>
              <a:rPr lang="en-US" b="0" dirty="0"/>
              <a:t> data (L-clusters). Cells are color-coded for clusters, which are numbered according to cell counts. </a:t>
            </a:r>
            <a:r>
              <a:rPr lang="en-US" b="1" dirty="0"/>
              <a:t>(B) </a:t>
            </a:r>
            <a:r>
              <a:rPr lang="en-US" b="0" dirty="0"/>
              <a:t>UMAP of normal breast cells, clustered based on GENCODE-annotated gene expression, quantified on Fluidigm </a:t>
            </a:r>
            <a:r>
              <a:rPr lang="en-US" b="0" dirty="0" err="1"/>
              <a:t>scRNAseq</a:t>
            </a:r>
            <a:r>
              <a:rPr lang="en-US" b="0" dirty="0"/>
              <a:t> data (A-clusters). </a:t>
            </a:r>
            <a:r>
              <a:rPr lang="en-US" b="1" dirty="0"/>
              <a:t>(C)</a:t>
            </a:r>
            <a:r>
              <a:rPr lang="en-US" b="0" dirty="0"/>
              <a:t> Heatmap showing the top ten Seurat-assigned markers for each L-cluster. </a:t>
            </a:r>
            <a:r>
              <a:rPr lang="en-US" b="1" dirty="0"/>
              <a:t>(D)</a:t>
            </a:r>
            <a:r>
              <a:rPr lang="en-US" b="0" dirty="0"/>
              <a:t> Heatmap showing the top ten Seurat-assigned markers for each A-cluster. </a:t>
            </a:r>
            <a:r>
              <a:rPr lang="en-US" b="1" dirty="0"/>
              <a:t>(E) </a:t>
            </a:r>
            <a:r>
              <a:rPr lang="en-US" b="0" dirty="0"/>
              <a:t>Heatmap showing Seurat-assigned markers for A-clusters previously reported in the literature.</a:t>
            </a:r>
          </a:p>
          <a:p>
            <a:endParaRPr lang="en-US" b="0" dirty="0"/>
          </a:p>
          <a:p>
            <a:pPr marL="171450" indent="-171450">
              <a:buFont typeface="Arial" panose="020B0604020202020204" pitchFamily="34" charset="0"/>
              <a:buChar char="•"/>
            </a:pPr>
            <a:r>
              <a:rPr lang="en-US" dirty="0"/>
              <a:t>Cell set from published </a:t>
            </a:r>
            <a:r>
              <a:rPr lang="en-US" dirty="0" err="1"/>
              <a:t>scRNAseq</a:t>
            </a:r>
            <a:r>
              <a:rPr lang="en-US" dirty="0"/>
              <a:t> data of 867 cells from three donors, with &gt;1.5M reads per cell (6). Using flow cytometry, Nguyen et al. sorted cells from the luminal and basal populations before performing </a:t>
            </a:r>
            <a:r>
              <a:rPr lang="en-US" dirty="0" err="1"/>
              <a:t>scRNAseq</a:t>
            </a:r>
            <a:r>
              <a:rPr lang="en-US" dirty="0"/>
              <a:t> (File S4). On average, each cell expressed close to 900 NB-lncRNAs, with over one-third expressing at least 1000 NB-lncRNAs</a:t>
            </a:r>
          </a:p>
          <a:p>
            <a:pPr marL="171450" indent="-171450">
              <a:buFont typeface="Arial" panose="020B0604020202020204" pitchFamily="34" charset="0"/>
              <a:buChar char="•"/>
            </a:pPr>
            <a:r>
              <a:rPr lang="en-US" dirty="0"/>
              <a:t>Eight clusters were obtained after filtering, normalizing and clustering cells with Seurat</a:t>
            </a:r>
          </a:p>
          <a:p>
            <a:pPr marL="171450" indent="-171450">
              <a:buFont typeface="Arial" panose="020B0604020202020204" pitchFamily="34" charset="0"/>
              <a:buChar char="•"/>
            </a:pPr>
            <a:r>
              <a:rPr lang="en-US" dirty="0"/>
              <a:t>Annotations from prior described biomarkers</a:t>
            </a:r>
          </a:p>
          <a:p>
            <a:pPr marL="171450" indent="-171450">
              <a:buFont typeface="Arial" panose="020B0604020202020204" pitchFamily="34" charset="0"/>
              <a:buChar char="•"/>
            </a:pPr>
            <a:r>
              <a:rPr lang="en-US" dirty="0"/>
              <a:t>Basal vs luminal cluster label given if &gt;70% of cells in cluster having that label</a:t>
            </a:r>
          </a:p>
          <a:p>
            <a:pPr marL="171450" indent="-171450">
              <a:buFont typeface="Arial" panose="020B0604020202020204" pitchFamily="34" charset="0"/>
              <a:buChar char="•"/>
            </a:pPr>
            <a:r>
              <a:rPr lang="en-US" dirty="0"/>
              <a:t>L stands for lncRNA, A stands for Annotated</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Clustering cells using </a:t>
            </a:r>
            <a:r>
              <a:rPr lang="en-US" b="1" dirty="0"/>
              <a:t>only</a:t>
            </a:r>
            <a:r>
              <a:rPr lang="en-US" dirty="0"/>
              <a:t> NB-lncRNA expression (L-clusters) successfully replicated the primary Basal and Luminal divisions.</a:t>
            </a:r>
          </a:p>
          <a:p>
            <a:pPr marL="171450" indent="-171450">
              <a:buFont typeface="Arial" panose="020B0604020202020204" pitchFamily="34" charset="0"/>
              <a:buChar char="•"/>
            </a:pPr>
            <a:r>
              <a:rPr lang="en-US" dirty="0"/>
              <a:t>L-clusters showed high correspondence with standard FACS labels and A-cluster identities.</a:t>
            </a:r>
          </a:p>
          <a:p>
            <a:pPr marL="171450" indent="-171450">
              <a:buFont typeface="Arial" panose="020B0604020202020204" pitchFamily="34" charset="0"/>
              <a:buChar char="•"/>
            </a:pPr>
            <a:r>
              <a:rPr lang="en-US" dirty="0"/>
              <a:t>Non-coding transcriptome alone contains sufficient signal to define tissue-level cell types.</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EEE4390-D849-32B6-431B-70B29DB12769}"/>
              </a:ext>
            </a:extLst>
          </p:cNvPr>
          <p:cNvSpPr>
            <a:spLocks noGrp="1"/>
          </p:cNvSpPr>
          <p:nvPr>
            <p:ph type="sldNum" sz="quarter" idx="5"/>
          </p:nvPr>
        </p:nvSpPr>
        <p:spPr/>
        <p:txBody>
          <a:bodyPr/>
          <a:lstStyle/>
          <a:p>
            <a:fld id="{225EF54A-9134-8641-A991-457FAC8A6344}" type="slidenum">
              <a:rPr lang="en-US" smtClean="0"/>
              <a:t>12</a:t>
            </a:fld>
            <a:endParaRPr lang="en-US"/>
          </a:p>
        </p:txBody>
      </p:sp>
    </p:spTree>
    <p:extLst>
      <p:ext uri="{BB962C8B-B14F-4D97-AF65-F5344CB8AC3E}">
        <p14:creationId xmlns:p14="http://schemas.microsoft.com/office/powerpoint/2010/main" val="3662326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AD85F-0347-8FBE-A913-A04A2C392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6719B-9103-49E5-5D41-8195B3651A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1AB7EF-3063-026F-3D74-146845A34094}"/>
              </a:ext>
            </a:extLst>
          </p:cNvPr>
          <p:cNvSpPr>
            <a:spLocks noGrp="1"/>
          </p:cNvSpPr>
          <p:nvPr>
            <p:ph type="body" idx="1"/>
          </p:nvPr>
        </p:nvSpPr>
        <p:spPr/>
        <p:txBody>
          <a:bodyPr/>
          <a:lstStyle/>
          <a:p>
            <a:r>
              <a:rPr lang="en-US" b="1" dirty="0"/>
              <a:t>The Metrics:</a:t>
            </a:r>
            <a:r>
              <a:rPr lang="en-US" dirty="0"/>
              <a:t> NB-lncRNAs achieved </a:t>
            </a:r>
            <a:r>
              <a:rPr lang="en-US" b="1" dirty="0"/>
              <a:t>0.95 sensitivity</a:t>
            </a:r>
            <a:r>
              <a:rPr lang="en-US" dirty="0"/>
              <a:t> and </a:t>
            </a:r>
            <a:r>
              <a:rPr lang="en-US" b="1" dirty="0"/>
              <a:t>0.91 specificity</a:t>
            </a:r>
            <a:r>
              <a:rPr lang="en-US" dirty="0"/>
              <a:t> relative to FACS labels.</a:t>
            </a:r>
          </a:p>
          <a:p>
            <a:r>
              <a:rPr lang="en-US" b="1" dirty="0"/>
              <a:t>Comparison:</a:t>
            </a:r>
            <a:r>
              <a:rPr lang="en-US" dirty="0"/>
              <a:t> NB-lncRNAs performed better at resolving cell types than previously annotated GENCODE lncRNAs (0.91 vs 0.85 specificity).</a:t>
            </a:r>
          </a:p>
          <a:p>
            <a:r>
              <a:rPr lang="en-US" b="1" dirty="0"/>
              <a:t>Why it matters:</a:t>
            </a:r>
            <a:r>
              <a:rPr lang="en-US" dirty="0"/>
              <a:t> It validates the technical necessity of </a:t>
            </a:r>
            <a:r>
              <a:rPr lang="en-US" b="1" dirty="0"/>
              <a:t>de novo annotation</a:t>
            </a:r>
            <a:r>
              <a:rPr lang="en-US" dirty="0"/>
              <a:t>; standard "off-the-shelf" lncRNA databases are insufficient for high-resolution phenotyping.</a:t>
            </a:r>
          </a:p>
          <a:p>
            <a:endParaRPr lang="en-US" dirty="0"/>
          </a:p>
          <a:p>
            <a:pPr marL="171450" indent="-171450">
              <a:buFont typeface="Arial" panose="020B0604020202020204" pitchFamily="34" charset="0"/>
              <a:buChar char="•"/>
            </a:pPr>
            <a:r>
              <a:rPr lang="en-US" dirty="0"/>
              <a:t>NB-lncRNAs achieved a </a:t>
            </a:r>
            <a:r>
              <a:rPr lang="en-US" b="1" dirty="0"/>
              <a:t>sensitivity of 0.9558</a:t>
            </a:r>
            <a:r>
              <a:rPr lang="en-US" dirty="0"/>
              <a:t> and a </a:t>
            </a:r>
            <a:r>
              <a:rPr lang="en-US" b="1" dirty="0"/>
              <a:t>specificity of 0.9113</a:t>
            </a:r>
            <a:r>
              <a:rPr lang="en-US" dirty="0"/>
              <a:t> relative to standard FACS labels, effectively resolving the major breast epithelial cell types.</a:t>
            </a:r>
          </a:p>
          <a:p>
            <a:pPr marL="171450" indent="-171450">
              <a:buFont typeface="Arial" panose="020B0604020202020204" pitchFamily="34" charset="0"/>
              <a:buChar char="•"/>
            </a:pPr>
            <a:r>
              <a:rPr lang="en-US" dirty="0"/>
              <a:t>The novel NB-lncRNA set outperformed "off-the-shelf" </a:t>
            </a:r>
            <a:r>
              <a:rPr lang="en-US" b="1" dirty="0"/>
              <a:t>GENCODE-annotated lncRNAs</a:t>
            </a:r>
            <a:r>
              <a:rPr lang="en-US" dirty="0"/>
              <a:t> in nearly all metrics, including a higher Matthews Correlation Coefficient (0.87 vs 0.83), proving that tissue-specific discovery is required for high-resolution phenotyping.</a:t>
            </a:r>
          </a:p>
          <a:p>
            <a:pPr marL="171450" indent="-171450">
              <a:buFont typeface="Arial" panose="020B0604020202020204" pitchFamily="34" charset="0"/>
              <a:buChar char="•"/>
            </a:pPr>
            <a:r>
              <a:rPr lang="en-US" dirty="0"/>
              <a:t>Combining NB-lncRNAs with standard protein-coding genes reached the highest overall accuracy (0.9460) and precision (0.9694), suggesting that the non-coding transcriptome provides a complementary layer of biological information.</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B5D66E5-EFF3-8B20-A2F3-09BE4601DEA0}"/>
              </a:ext>
            </a:extLst>
          </p:cNvPr>
          <p:cNvSpPr>
            <a:spLocks noGrp="1"/>
          </p:cNvSpPr>
          <p:nvPr>
            <p:ph type="sldNum" sz="quarter" idx="5"/>
          </p:nvPr>
        </p:nvSpPr>
        <p:spPr/>
        <p:txBody>
          <a:bodyPr/>
          <a:lstStyle/>
          <a:p>
            <a:fld id="{225EF54A-9134-8641-A991-457FAC8A6344}" type="slidenum">
              <a:rPr lang="en-US" smtClean="0"/>
              <a:t>13</a:t>
            </a:fld>
            <a:endParaRPr lang="en-US"/>
          </a:p>
        </p:txBody>
      </p:sp>
    </p:spTree>
    <p:extLst>
      <p:ext uri="{BB962C8B-B14F-4D97-AF65-F5344CB8AC3E}">
        <p14:creationId xmlns:p14="http://schemas.microsoft.com/office/powerpoint/2010/main" val="14735987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257E9-5801-DBCC-CA3F-270FE76D4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7DC75F-6BAE-3DDE-D8C7-ECFF1F4EF7B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2FA0DB-6A2C-9B6F-38BD-A856A51BCD9D}"/>
              </a:ext>
            </a:extLst>
          </p:cNvPr>
          <p:cNvSpPr>
            <a:spLocks noGrp="1"/>
          </p:cNvSpPr>
          <p:nvPr>
            <p:ph type="body" idx="1"/>
          </p:nvPr>
        </p:nvSpPr>
        <p:spPr/>
        <p:txBody>
          <a:bodyPr/>
          <a:lstStyle/>
          <a:p>
            <a:r>
              <a:rPr lang="en-US" b="1" dirty="0"/>
              <a:t>The Finding:</a:t>
            </a:r>
            <a:r>
              <a:rPr lang="en-US" dirty="0"/>
              <a:t> NB-lncRNAs are "restricted but robust." Only </a:t>
            </a:r>
            <a:r>
              <a:rPr lang="en-US" b="1" dirty="0"/>
              <a:t>&lt;1%</a:t>
            </a:r>
            <a:r>
              <a:rPr lang="en-US" dirty="0"/>
              <a:t> of NB-lncRNAs are widespread (in &gt;1/3 of cells), compared to 26% of protein-coding genes.</a:t>
            </a:r>
          </a:p>
          <a:p>
            <a:r>
              <a:rPr lang="en-US" b="1" dirty="0"/>
              <a:t>Cellular Abundance:</a:t>
            </a:r>
            <a:r>
              <a:rPr lang="en-US" dirty="0"/>
              <a:t> However, in the cells where they </a:t>
            </a:r>
            <a:r>
              <a:rPr lang="en-US" i="1" dirty="0"/>
              <a:t>are</a:t>
            </a:r>
            <a:r>
              <a:rPr lang="en-US" dirty="0"/>
              <a:t> detected, NB-lncRNAs have a </a:t>
            </a:r>
            <a:r>
              <a:rPr lang="en-US" b="1" dirty="0"/>
              <a:t>median expression level nearly twice</a:t>
            </a:r>
            <a:r>
              <a:rPr lang="en-US" dirty="0"/>
              <a:t> that of protein-coding genes (</a:t>
            </a:r>
            <a:r>
              <a:rPr lang="en-US" b="1" dirty="0"/>
              <a:t>p &lt; 1.9e−06</a:t>
            </a:r>
            <a:r>
              <a:rPr lang="en-US" dirty="0"/>
              <a:t>).</a:t>
            </a:r>
          </a:p>
          <a:p>
            <a:r>
              <a:rPr lang="en-US" b="1" dirty="0"/>
              <a:t>Why it matters:</a:t>
            </a:r>
            <a:r>
              <a:rPr lang="en-US" dirty="0"/>
              <a:t> This restricted/robust pattern makes them ideal "binary" markers for identifying rare or specific cell states.</a:t>
            </a:r>
          </a:p>
          <a:p>
            <a:endParaRPr lang="en-US" dirty="0"/>
          </a:p>
          <a:p>
            <a:pPr marL="171450" indent="-171450">
              <a:buFont typeface="Arial" panose="020B0604020202020204" pitchFamily="34" charset="0"/>
              <a:buChar char="•"/>
            </a:pPr>
            <a:r>
              <a:rPr lang="en-US" dirty="0"/>
              <a:t>NB-lncRNAs exhibit an "exquisite" restricted expression pattern; only </a:t>
            </a:r>
            <a:r>
              <a:rPr lang="en-US" b="1" dirty="0"/>
              <a:t>&lt;1% are widespread</a:t>
            </a:r>
            <a:r>
              <a:rPr lang="en-US" dirty="0"/>
              <a:t> (detected in &gt;1/3 of cells), compared to 26% of standard protein-coding genes.</a:t>
            </a:r>
          </a:p>
          <a:p>
            <a:pPr marL="171450" indent="-171450">
              <a:buFont typeface="Arial" panose="020B0604020202020204" pitchFamily="34" charset="0"/>
              <a:buChar char="•"/>
            </a:pPr>
            <a:r>
              <a:rPr lang="en-US" dirty="0"/>
              <a:t>On average, a specific NB-lncRNA is detected in only </a:t>
            </a:r>
            <a:r>
              <a:rPr lang="en-US" b="1" dirty="0"/>
              <a:t>~15 cells</a:t>
            </a:r>
            <a:r>
              <a:rPr lang="en-US" dirty="0"/>
              <a:t> out of a 741-cell dataset, whereas protein-coding genes are detected in ~140 cells.</a:t>
            </a:r>
          </a:p>
          <a:p>
            <a:pPr marL="171450" indent="-171450">
              <a:buFont typeface="Arial" panose="020B0604020202020204" pitchFamily="34" charset="0"/>
              <a:buChar char="•"/>
            </a:pPr>
            <a:r>
              <a:rPr lang="en-US" dirty="0"/>
              <a:t>Despite being expressed in far fewer cells, NB-lncRNAs have a </a:t>
            </a:r>
            <a:r>
              <a:rPr lang="en-US" b="1" dirty="0"/>
              <a:t>median expression level nearly twice</a:t>
            </a:r>
            <a:r>
              <a:rPr lang="en-US" dirty="0"/>
              <a:t> that of protein-coding genes within those specific cells (p &lt; 1.9e−06).</a:t>
            </a:r>
          </a:p>
          <a:p>
            <a:pPr marL="171450" indent="-171450">
              <a:buFont typeface="Arial" panose="020B0604020202020204" pitchFamily="34" charset="0"/>
              <a:buChar char="•"/>
            </a:pPr>
            <a:r>
              <a:rPr lang="en-US" dirty="0"/>
              <a:t>This "restricted but robust" profile makes tissue-specific lncRNAs ideal </a:t>
            </a:r>
            <a:r>
              <a:rPr lang="en-US" b="1" dirty="0"/>
              <a:t>high-resolution, binary markers</a:t>
            </a:r>
            <a:r>
              <a:rPr lang="en-US" dirty="0"/>
              <a:t> for identifying rare cell populations or specific states.</a:t>
            </a:r>
          </a:p>
        </p:txBody>
      </p:sp>
      <p:sp>
        <p:nvSpPr>
          <p:cNvPr id="4" name="Slide Number Placeholder 3">
            <a:extLst>
              <a:ext uri="{FF2B5EF4-FFF2-40B4-BE49-F238E27FC236}">
                <a16:creationId xmlns:a16="http://schemas.microsoft.com/office/drawing/2014/main" id="{FA1CAB31-576A-3E36-BA91-5FB9833EA739}"/>
              </a:ext>
            </a:extLst>
          </p:cNvPr>
          <p:cNvSpPr>
            <a:spLocks noGrp="1"/>
          </p:cNvSpPr>
          <p:nvPr>
            <p:ph type="sldNum" sz="quarter" idx="5"/>
          </p:nvPr>
        </p:nvSpPr>
        <p:spPr/>
        <p:txBody>
          <a:bodyPr/>
          <a:lstStyle/>
          <a:p>
            <a:fld id="{225EF54A-9134-8641-A991-457FAC8A6344}" type="slidenum">
              <a:rPr lang="en-US" smtClean="0"/>
              <a:t>14</a:t>
            </a:fld>
            <a:endParaRPr lang="en-US"/>
          </a:p>
        </p:txBody>
      </p:sp>
    </p:spTree>
    <p:extLst>
      <p:ext uri="{BB962C8B-B14F-4D97-AF65-F5344CB8AC3E}">
        <p14:creationId xmlns:p14="http://schemas.microsoft.com/office/powerpoint/2010/main" val="20425817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B93D1-4413-2F6A-CB89-B86732F7F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F1944-AF3C-C2C0-4C13-840365D9A4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CEA2BD-D393-7D27-8BD5-3D6916403E60}"/>
              </a:ext>
            </a:extLst>
          </p:cNvPr>
          <p:cNvSpPr>
            <a:spLocks noGrp="1"/>
          </p:cNvSpPr>
          <p:nvPr>
            <p:ph type="body" idx="1"/>
          </p:nvPr>
        </p:nvSpPr>
        <p:spPr/>
        <p:txBody>
          <a:bodyPr/>
          <a:lstStyle/>
          <a:p>
            <a:pPr marL="171450" indent="-171450">
              <a:buFont typeface="Arial" panose="020B0604020202020204" pitchFamily="34" charset="0"/>
              <a:buChar char="•"/>
            </a:pPr>
            <a:r>
              <a:rPr lang="en-US" dirty="0"/>
              <a:t>The </a:t>
            </a:r>
            <a:r>
              <a:rPr lang="en-US" b="1" dirty="0"/>
              <a:t>Cluster Specificity Index (CSI)</a:t>
            </a:r>
            <a:r>
              <a:rPr lang="en-US" dirty="0"/>
              <a:t> for lncRNA-based clusters (L-clusters) was significantly higher than for protein-coding clusters (A-clusters) (p = 0.016).</a:t>
            </a:r>
          </a:p>
          <a:p>
            <a:pPr marL="171450" indent="-171450">
              <a:buFont typeface="Arial" panose="020B0604020202020204" pitchFamily="34" charset="0"/>
              <a:buChar char="•"/>
            </a:pPr>
            <a:r>
              <a:rPr lang="en-US" dirty="0"/>
              <a:t>As clustering resolution increases, the global specificity of NB-lncRNAs grows by </a:t>
            </a:r>
            <a:r>
              <a:rPr lang="en-US" b="1" dirty="0"/>
              <a:t>59%</a:t>
            </a:r>
            <a:r>
              <a:rPr lang="en-US" dirty="0"/>
              <a:t>, while the specificity of protein-coding genes only improves by </a:t>
            </a:r>
            <a:r>
              <a:rPr lang="en-US" b="1" dirty="0"/>
              <a:t>11%</a:t>
            </a:r>
            <a:r>
              <a:rPr lang="en-US" dirty="0"/>
              <a:t>.</a:t>
            </a:r>
          </a:p>
          <a:p>
            <a:pPr marL="171450" indent="-171450">
              <a:buFont typeface="Arial" panose="020B0604020202020204" pitchFamily="34" charset="0"/>
              <a:buChar char="•"/>
            </a:pPr>
            <a:r>
              <a:rPr lang="en-US" dirty="0"/>
              <a:t>Protein-coding markers tend to "wash out" at high resolutions, whereas lncRNAs allow researchers to subdivide the heterogeneous basal population into </a:t>
            </a:r>
            <a:r>
              <a:rPr lang="en-US" b="1" dirty="0"/>
              <a:t>three distinct states (L1, L6, L7)</a:t>
            </a:r>
            <a:r>
              <a:rPr lang="en-US" dirty="0"/>
              <a:t> that standard markers cannot resolve.</a:t>
            </a:r>
          </a:p>
          <a:p>
            <a:pPr marL="171450" indent="-171450">
              <a:buFont typeface="Arial" panose="020B0604020202020204" pitchFamily="34" charset="0"/>
              <a:buChar char="•"/>
            </a:pPr>
            <a:r>
              <a:rPr lang="en-US" dirty="0"/>
              <a:t>For resolution, higher values correspond to larger number of communities and vice </a:t>
            </a:r>
            <a:r>
              <a:rPr lang="en-US" dirty="0" err="1"/>
              <a:t>cersa</a:t>
            </a:r>
            <a:r>
              <a:rPr lang="en-US" dirty="0"/>
              <a: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Figure 5. NB-lncRNAs have compartmentalized expression levels, which are higher at cell-level. (A) Proportion of NB-lncRNAs (purple) or </a:t>
            </a:r>
            <a:r>
              <a:rPr lang="en-US" dirty="0" err="1"/>
              <a:t>GENCODEannotated</a:t>
            </a:r>
            <a:r>
              <a:rPr lang="en-US" dirty="0"/>
              <a:t> noncoding (green) or protein-coding (blue) genes with restricted (darker) versus widespread (lighter) expression patterns. (B) Boxplot of the number of cells in which NB-lncRNAs (purple) or GENCODE-annotated noncoding (green) or protein-coding (blue) genes are expressed, from the total 741 cells. On average, NB-lncRNAs are expressed in ∼15 cells, GENCODE-annotated noncoding genes in ∼30 cells and GENCODE-annotated protein coding genes in ∼140 cells. (C) Boxplots of the median expression of NB-lncRNAs (purple) or GENCODE-annotated noncoding (green) or protein-coding (blue) genes per cell (in TPMs), showing NB-lncRNAs have higher cell-level expression. (D) UMAP showing normal breast cell clusters obtained based on NB-lncRNA gene expression (L-clusters), with their corresponding cluster specificity index (CSI). (E) UMAP showing normal breast cell clusters obtained based on GENCODE-annotated gene expression (A-clusters), with their corresponding CSI.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(F) </a:t>
            </a:r>
            <a:r>
              <a:rPr lang="en-US" dirty="0" err="1"/>
              <a:t>Dotplots</a:t>
            </a:r>
            <a:r>
              <a:rPr lang="en-US" dirty="0"/>
              <a:t> showing the difference in CSI for corresponding clusters in ‘D’ and ‘E’. Dots were colored according to the represented L-cluster or A-cluster, bold horizontal lines mark the average CSI for each gene set and the p-value (0.016; Fisher’s exact test) shows the difference was significant.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 (G) Increase in normalized global SI levels, obtained as the normalized average of the CSIs of all clusters, as resolution is increased.</a:t>
            </a:r>
          </a:p>
        </p:txBody>
      </p:sp>
      <p:sp>
        <p:nvSpPr>
          <p:cNvPr id="4" name="Slide Number Placeholder 3">
            <a:extLst>
              <a:ext uri="{FF2B5EF4-FFF2-40B4-BE49-F238E27FC236}">
                <a16:creationId xmlns:a16="http://schemas.microsoft.com/office/drawing/2014/main" id="{85341263-4916-1799-C9CA-49474F6A7D94}"/>
              </a:ext>
            </a:extLst>
          </p:cNvPr>
          <p:cNvSpPr>
            <a:spLocks noGrp="1"/>
          </p:cNvSpPr>
          <p:nvPr>
            <p:ph type="sldNum" sz="quarter" idx="5"/>
          </p:nvPr>
        </p:nvSpPr>
        <p:spPr/>
        <p:txBody>
          <a:bodyPr/>
          <a:lstStyle/>
          <a:p>
            <a:fld id="{225EF54A-9134-8641-A991-457FAC8A6344}" type="slidenum">
              <a:rPr lang="en-US" smtClean="0"/>
              <a:t>15</a:t>
            </a:fld>
            <a:endParaRPr lang="en-US"/>
          </a:p>
        </p:txBody>
      </p:sp>
    </p:spTree>
    <p:extLst>
      <p:ext uri="{BB962C8B-B14F-4D97-AF65-F5344CB8AC3E}">
        <p14:creationId xmlns:p14="http://schemas.microsoft.com/office/powerpoint/2010/main" val="2391943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3D8A7-622D-4347-4FB8-FFA101EF6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F7A07-5514-1F13-19D8-A2C8962FB2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12F442-6676-9393-5F7B-BF967C6C5B1E}"/>
              </a:ext>
            </a:extLst>
          </p:cNvPr>
          <p:cNvSpPr>
            <a:spLocks noGrp="1"/>
          </p:cNvSpPr>
          <p:nvPr>
            <p:ph type="body" idx="1"/>
          </p:nvPr>
        </p:nvSpPr>
        <p:spPr/>
        <p:txBody>
          <a:bodyPr/>
          <a:lstStyle/>
          <a:p>
            <a:r>
              <a:rPr lang="en-US" b="1" dirty="0"/>
              <a:t>The Findings:</a:t>
            </a:r>
            <a:r>
              <a:rPr lang="en-US" dirty="0"/>
              <a:t> When breast-specific NB-lncRNAs were used to cluster healthy human brain cells, they failed to unambiguously discern microglia or OPCs.</a:t>
            </a:r>
          </a:p>
          <a:p>
            <a:r>
              <a:rPr lang="en-US" b="1" dirty="0"/>
              <a:t>Conclusion:</a:t>
            </a:r>
            <a:r>
              <a:rPr lang="en-US" dirty="0"/>
              <a:t> lncRNA identity is </a:t>
            </a:r>
            <a:r>
              <a:rPr lang="en-US" b="1" dirty="0"/>
              <a:t>exquisitely tissue-specific</a:t>
            </a:r>
            <a:r>
              <a:rPr lang="en-US" dirty="0"/>
              <a:t> (Figure 6A).</a:t>
            </a:r>
          </a:p>
          <a:p>
            <a:r>
              <a:rPr lang="en-US" b="1" dirty="0"/>
              <a:t>Why it matters:</a:t>
            </a:r>
            <a:r>
              <a:rPr lang="en-US" dirty="0"/>
              <a:t> This provides a warning for bioinformatics pipelines: you cannot use a universal lncRNA list for all </a:t>
            </a:r>
            <a:r>
              <a:rPr lang="en-US" dirty="0" err="1"/>
              <a:t>scRNA</a:t>
            </a:r>
            <a:r>
              <a:rPr lang="en-US" dirty="0"/>
              <a:t>-seq. Discovery must be performed </a:t>
            </a:r>
            <a:r>
              <a:rPr lang="en-US" b="1" dirty="0"/>
              <a:t>a priori</a:t>
            </a:r>
            <a:r>
              <a:rPr lang="en-US" dirty="0"/>
              <a:t> for each new tissue.</a:t>
            </a:r>
          </a:p>
          <a:p>
            <a:endParaRPr lang="en-US" dirty="0"/>
          </a:p>
          <a:p>
            <a:pPr marL="171450" indent="-171450">
              <a:buFont typeface="Arial" panose="020B0604020202020204" pitchFamily="34" charset="0"/>
              <a:buChar char="•"/>
            </a:pPr>
            <a:r>
              <a:rPr lang="en-US" dirty="0"/>
              <a:t>lncRNA identity is </a:t>
            </a:r>
            <a:r>
              <a:rPr lang="en-US" b="1" dirty="0"/>
              <a:t>exquisitely tissue-specific</a:t>
            </a:r>
            <a:r>
              <a:rPr lang="en-US" dirty="0"/>
              <a:t>; calculated tau indices show NB-lncRNAs have significantly higher global tissue specificity than protein-coding genes across 27 human tissues.</a:t>
            </a:r>
          </a:p>
          <a:p>
            <a:pPr marL="171450" indent="-171450">
              <a:buFont typeface="Arial" panose="020B0604020202020204" pitchFamily="34" charset="0"/>
              <a:buChar char="•"/>
            </a:pPr>
            <a:r>
              <a:rPr lang="en-US" dirty="0"/>
              <a:t>When breast-specific NB-lncRNAs were used to cluster cells from a healthy human brain, they </a:t>
            </a:r>
            <a:r>
              <a:rPr lang="en-US" b="1" dirty="0"/>
              <a:t>failed to unambiguously discern</a:t>
            </a:r>
            <a:r>
              <a:rPr lang="en-US" dirty="0"/>
              <a:t> standard brain cell types like microglia or oligodendrocyte precursors (OPCs).</a:t>
            </a:r>
          </a:p>
          <a:p>
            <a:pPr marL="171450" indent="-171450">
              <a:buFont typeface="Arial" panose="020B0604020202020204" pitchFamily="34" charset="0"/>
              <a:buChar char="•"/>
            </a:pPr>
            <a:r>
              <a:rPr lang="en-US" dirty="0"/>
              <a:t>The resulting brain UMAP shows mixed clusters that lack clear protein-marker correspondence, providing a critical warning that </a:t>
            </a:r>
            <a:r>
              <a:rPr lang="en-US" b="1" dirty="0"/>
              <a:t>lncRNA discovery must be performed a priori</a:t>
            </a:r>
            <a:r>
              <a:rPr lang="en-US" dirty="0"/>
              <a:t> for every new tissue type being studied.</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Figure 6. NB-lncRNAs cannot identify human brain cell types. (A) Global tissue-specificity of annotated protein-coding genes (top), annotated lncRNAs (middle) and NB-lncRNAs (bottom) across 27 human tissues. The tissue-specificity was summarized by calculating the tau index of every transcript in each set and counting the number of occurrences where each tissue had the highest tau overall.</a:t>
            </a:r>
          </a:p>
          <a:p>
            <a:pPr marL="171450" indent="-171450">
              <a:buFont typeface="Arial" panose="020B0604020202020204" pitchFamily="34" charset="0"/>
              <a:buChar char="•"/>
            </a:pPr>
            <a:r>
              <a:rPr lang="en-US" dirty="0"/>
              <a:t> (B) UMAP of normal breast cells, clustered based on GENCODE-annotated gene expression, quantified on Fluidigm </a:t>
            </a:r>
            <a:r>
              <a:rPr lang="en-US" dirty="0" err="1"/>
              <a:t>scRNAseq</a:t>
            </a:r>
            <a:r>
              <a:rPr lang="en-US" dirty="0"/>
              <a:t> data. Cells are color-coded for clusters, which are numbered according to cell counts. </a:t>
            </a:r>
          </a:p>
          <a:p>
            <a:pPr marL="171450" indent="-171450">
              <a:buFont typeface="Arial" panose="020B0604020202020204" pitchFamily="34" charset="0"/>
              <a:buChar char="•"/>
            </a:pPr>
            <a:r>
              <a:rPr lang="en-US" dirty="0"/>
              <a:t>(C) UMAP of normal breast cells, clustered based on NB-lncRNAs expression, quantified on Fluidigm </a:t>
            </a:r>
            <a:r>
              <a:rPr lang="en-US" dirty="0" err="1"/>
              <a:t>scRNAseq</a:t>
            </a:r>
            <a:r>
              <a:rPr lang="en-US" dirty="0"/>
              <a:t> data. Clusters were labeled based on the information provided in (35) and known protein-coding markers of the represented brain cell types.</a:t>
            </a:r>
          </a:p>
        </p:txBody>
      </p:sp>
      <p:sp>
        <p:nvSpPr>
          <p:cNvPr id="4" name="Slide Number Placeholder 3">
            <a:extLst>
              <a:ext uri="{FF2B5EF4-FFF2-40B4-BE49-F238E27FC236}">
                <a16:creationId xmlns:a16="http://schemas.microsoft.com/office/drawing/2014/main" id="{63CEF73A-30D4-3D55-538B-08AC853DBA8E}"/>
              </a:ext>
            </a:extLst>
          </p:cNvPr>
          <p:cNvSpPr>
            <a:spLocks noGrp="1"/>
          </p:cNvSpPr>
          <p:nvPr>
            <p:ph type="sldNum" sz="quarter" idx="5"/>
          </p:nvPr>
        </p:nvSpPr>
        <p:spPr/>
        <p:txBody>
          <a:bodyPr/>
          <a:lstStyle/>
          <a:p>
            <a:fld id="{225EF54A-9134-8641-A991-457FAC8A6344}" type="slidenum">
              <a:rPr lang="en-US" smtClean="0"/>
              <a:t>16</a:t>
            </a:fld>
            <a:endParaRPr lang="en-US"/>
          </a:p>
        </p:txBody>
      </p:sp>
    </p:spTree>
    <p:extLst>
      <p:ext uri="{BB962C8B-B14F-4D97-AF65-F5344CB8AC3E}">
        <p14:creationId xmlns:p14="http://schemas.microsoft.com/office/powerpoint/2010/main" val="39301923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D56DC-FCB8-E44A-7EB4-E806108A6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4F325-67BE-C54A-B194-FC7C22EC97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F0AE6E-ACDC-7200-B094-0F974552D8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215D21-F88D-EB46-3DEC-B9548E6C7669}"/>
              </a:ext>
            </a:extLst>
          </p:cNvPr>
          <p:cNvSpPr>
            <a:spLocks noGrp="1"/>
          </p:cNvSpPr>
          <p:nvPr>
            <p:ph type="sldNum" sz="quarter" idx="5"/>
          </p:nvPr>
        </p:nvSpPr>
        <p:spPr/>
        <p:txBody>
          <a:bodyPr/>
          <a:lstStyle/>
          <a:p>
            <a:fld id="{225EF54A-9134-8641-A991-457FAC8A6344}" type="slidenum">
              <a:rPr lang="en-US" smtClean="0"/>
              <a:t>17</a:t>
            </a:fld>
            <a:endParaRPr lang="en-US" dirty="0"/>
          </a:p>
        </p:txBody>
      </p:sp>
    </p:spTree>
    <p:extLst>
      <p:ext uri="{BB962C8B-B14F-4D97-AF65-F5344CB8AC3E}">
        <p14:creationId xmlns:p14="http://schemas.microsoft.com/office/powerpoint/2010/main" val="1433081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D6800-D78D-C8E5-D120-63F1892AE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F0378-097A-50AF-B91E-A810ED24DC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549547-88EC-6858-3440-3F086584242E}"/>
              </a:ext>
            </a:extLst>
          </p:cNvPr>
          <p:cNvSpPr>
            <a:spLocks noGrp="1"/>
          </p:cNvSpPr>
          <p:nvPr>
            <p:ph type="body" idx="1"/>
          </p:nvPr>
        </p:nvSpPr>
        <p:spPr/>
        <p:txBody>
          <a:bodyPr/>
          <a:lstStyle/>
          <a:p>
            <a:pPr marL="171450" indent="-171450">
              <a:buFont typeface="Arial" panose="020B0604020202020204" pitchFamily="34" charset="0"/>
              <a:buChar char="•"/>
            </a:pPr>
            <a:r>
              <a:rPr lang="en-US" dirty="0"/>
              <a:t>Should have both general and specific to group’s interests (cell phenotyping, cell type representation, cell type biomarker discovery)</a:t>
            </a:r>
          </a:p>
        </p:txBody>
      </p:sp>
      <p:sp>
        <p:nvSpPr>
          <p:cNvPr id="4" name="Slide Number Placeholder 3">
            <a:extLst>
              <a:ext uri="{FF2B5EF4-FFF2-40B4-BE49-F238E27FC236}">
                <a16:creationId xmlns:a16="http://schemas.microsoft.com/office/drawing/2014/main" id="{C33631D9-D3C4-C4C8-4141-36AF27034929}"/>
              </a:ext>
            </a:extLst>
          </p:cNvPr>
          <p:cNvSpPr>
            <a:spLocks noGrp="1"/>
          </p:cNvSpPr>
          <p:nvPr>
            <p:ph type="sldNum" sz="quarter" idx="5"/>
          </p:nvPr>
        </p:nvSpPr>
        <p:spPr/>
        <p:txBody>
          <a:bodyPr/>
          <a:lstStyle/>
          <a:p>
            <a:fld id="{225EF54A-9134-8641-A991-457FAC8A6344}" type="slidenum">
              <a:rPr lang="en-US" smtClean="0"/>
              <a:t>18</a:t>
            </a:fld>
            <a:endParaRPr lang="en-US" dirty="0"/>
          </a:p>
        </p:txBody>
      </p:sp>
    </p:spTree>
    <p:extLst>
      <p:ext uri="{BB962C8B-B14F-4D97-AF65-F5344CB8AC3E}">
        <p14:creationId xmlns:p14="http://schemas.microsoft.com/office/powerpoint/2010/main" val="4142231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7EF3E-0A02-153B-C761-1EEB313C0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1A1EA-36F2-1239-625A-2CCEEAD8771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E992EB7-09BD-F075-0036-0B11BF414D92}"/>
              </a:ext>
            </a:extLst>
          </p:cNvPr>
          <p:cNvSpPr>
            <a:spLocks noGrp="1"/>
          </p:cNvSpPr>
          <p:nvPr>
            <p:ph type="body" idx="1"/>
          </p:nvPr>
        </p:nvSpPr>
        <p:spPr/>
        <p:txBody>
          <a:bodyPr/>
          <a:lstStyle/>
          <a:p>
            <a:pPr marL="171450" indent="-171450">
              <a:buFont typeface="Arial" panose="020B0604020202020204" pitchFamily="34" charset="0"/>
              <a:buChar char="•"/>
            </a:pPr>
            <a:r>
              <a:rPr lang="en-US" b="1" dirty="0"/>
              <a:t>Standardizing the Pipeline:</a:t>
            </a:r>
            <a:r>
              <a:rPr lang="en-US" dirty="0"/>
              <a:t> We need to incorporate tissue-specific lncRNA discovery as a </a:t>
            </a:r>
            <a:r>
              <a:rPr lang="en-US" b="1" dirty="0"/>
              <a:t>pre-processing step</a:t>
            </a:r>
            <a:r>
              <a:rPr lang="en-US" dirty="0"/>
              <a:t> for all </a:t>
            </a:r>
            <a:r>
              <a:rPr lang="en-US" dirty="0" err="1"/>
              <a:t>scRNA</a:t>
            </a:r>
            <a:r>
              <a:rPr lang="en-US" dirty="0"/>
              <a:t>-seq, rather than relying on static gene sets.</a:t>
            </a:r>
          </a:p>
          <a:p>
            <a:pPr marL="171450" indent="-171450">
              <a:buFont typeface="Arial" panose="020B0604020202020204" pitchFamily="34" charset="0"/>
              <a:buChar char="•"/>
            </a:pPr>
            <a:r>
              <a:rPr lang="en-US" b="1" dirty="0"/>
              <a:t>Healthy Cell Type Biomarkers:</a:t>
            </a:r>
            <a:r>
              <a:rPr lang="en-US" dirty="0"/>
              <a:t> Most literature focuses on disease; there is a critical need for lncRNA biomarkers that define </a:t>
            </a:r>
            <a:r>
              <a:rPr lang="en-US" b="1" dirty="0"/>
              <a:t>healthy cell states</a:t>
            </a:r>
            <a:r>
              <a:rPr lang="en-US" dirty="0"/>
              <a:t> and differentiation roots.</a:t>
            </a:r>
          </a:p>
          <a:p>
            <a:pPr marL="171450" indent="-171450">
              <a:buFont typeface="Arial" panose="020B0604020202020204" pitchFamily="34" charset="0"/>
              <a:buChar char="•"/>
            </a:pPr>
            <a:r>
              <a:rPr lang="en-US" b="1" dirty="0"/>
              <a:t>Multi-</a:t>
            </a:r>
            <a:r>
              <a:rPr lang="en-US" b="1" dirty="0" err="1"/>
              <a:t>omic</a:t>
            </a:r>
            <a:r>
              <a:rPr lang="en-US" b="1" dirty="0"/>
              <a:t> Integration:</a:t>
            </a:r>
            <a:r>
              <a:rPr lang="en-US" dirty="0"/>
              <a:t> The next step is integrating these lncRNA maps with </a:t>
            </a:r>
            <a:r>
              <a:rPr lang="en-US" b="1" dirty="0"/>
              <a:t>spatial transcriptomics</a:t>
            </a:r>
            <a:r>
              <a:rPr lang="en-US" dirty="0"/>
              <a:t> to see how non-coding localization drives tissue architecture (Poloni et al., 2024).</a:t>
            </a:r>
          </a:p>
        </p:txBody>
      </p:sp>
      <p:sp>
        <p:nvSpPr>
          <p:cNvPr id="4" name="Slide Number Placeholder 3">
            <a:extLst>
              <a:ext uri="{FF2B5EF4-FFF2-40B4-BE49-F238E27FC236}">
                <a16:creationId xmlns:a16="http://schemas.microsoft.com/office/drawing/2014/main" id="{4247FED4-389F-05B1-D1C8-3D16F02BE526}"/>
              </a:ext>
            </a:extLst>
          </p:cNvPr>
          <p:cNvSpPr>
            <a:spLocks noGrp="1"/>
          </p:cNvSpPr>
          <p:nvPr>
            <p:ph type="sldNum" sz="quarter" idx="5"/>
          </p:nvPr>
        </p:nvSpPr>
        <p:spPr/>
        <p:txBody>
          <a:bodyPr/>
          <a:lstStyle/>
          <a:p>
            <a:fld id="{225EF54A-9134-8641-A991-457FAC8A6344}" type="slidenum">
              <a:rPr lang="en-US" smtClean="0"/>
              <a:t>19</a:t>
            </a:fld>
            <a:endParaRPr lang="en-US" dirty="0"/>
          </a:p>
        </p:txBody>
      </p:sp>
    </p:spTree>
    <p:extLst>
      <p:ext uri="{BB962C8B-B14F-4D97-AF65-F5344CB8AC3E}">
        <p14:creationId xmlns:p14="http://schemas.microsoft.com/office/powerpoint/2010/main" val="1011603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CE660-647F-31FD-691F-658C49990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1ACE3-4B13-C162-B7FE-30666E3474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F7FCB9-5EDC-2FE7-A858-B537306960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FFEEA9-C437-8A75-B031-F22C029EE578}"/>
              </a:ext>
            </a:extLst>
          </p:cNvPr>
          <p:cNvSpPr>
            <a:spLocks noGrp="1"/>
          </p:cNvSpPr>
          <p:nvPr>
            <p:ph type="sldNum" sz="quarter" idx="5"/>
          </p:nvPr>
        </p:nvSpPr>
        <p:spPr/>
        <p:txBody>
          <a:bodyPr/>
          <a:lstStyle/>
          <a:p>
            <a:fld id="{225EF54A-9134-8641-A991-457FAC8A6344}" type="slidenum">
              <a:rPr lang="en-US" smtClean="0"/>
              <a:t>20</a:t>
            </a:fld>
            <a:endParaRPr lang="en-US" dirty="0"/>
          </a:p>
        </p:txBody>
      </p:sp>
    </p:spTree>
    <p:extLst>
      <p:ext uri="{BB962C8B-B14F-4D97-AF65-F5344CB8AC3E}">
        <p14:creationId xmlns:p14="http://schemas.microsoft.com/office/powerpoint/2010/main" val="939526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02461-50BE-73BE-95A4-A4FE9E0F4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94540-6B63-1B2A-6567-42C5F0210F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0A53553-6A2A-396D-4273-62C7A428958D}"/>
              </a:ext>
            </a:extLst>
          </p:cNvPr>
          <p:cNvSpPr>
            <a:spLocks noGrp="1"/>
          </p:cNvSpPr>
          <p:nvPr>
            <p:ph type="body" idx="1"/>
          </p:nvPr>
        </p:nvSpPr>
        <p:spPr/>
        <p:txBody>
          <a:bodyPr/>
          <a:lstStyle/>
          <a:p>
            <a:pPr marL="228600" lvl="0" indent="-228600">
              <a:buFont typeface="+mj-lt"/>
              <a:buAutoNum type="arabicPeriod"/>
            </a:pPr>
            <a:r>
              <a:rPr lang="en-US" dirty="0"/>
              <a:t>Approximate number of transcripts left after each filtering routine shown as boxes in greyscale</a:t>
            </a:r>
          </a:p>
        </p:txBody>
      </p:sp>
      <p:sp>
        <p:nvSpPr>
          <p:cNvPr id="4" name="Slide Number Placeholder 3">
            <a:extLst>
              <a:ext uri="{FF2B5EF4-FFF2-40B4-BE49-F238E27FC236}">
                <a16:creationId xmlns:a16="http://schemas.microsoft.com/office/drawing/2014/main" id="{4B01A1B0-13CA-5172-530F-E1DEA395070D}"/>
              </a:ext>
            </a:extLst>
          </p:cNvPr>
          <p:cNvSpPr>
            <a:spLocks noGrp="1"/>
          </p:cNvSpPr>
          <p:nvPr>
            <p:ph type="sldNum" sz="quarter" idx="5"/>
          </p:nvPr>
        </p:nvSpPr>
        <p:spPr/>
        <p:txBody>
          <a:bodyPr/>
          <a:lstStyle/>
          <a:p>
            <a:fld id="{225EF54A-9134-8641-A991-457FAC8A6344}" type="slidenum">
              <a:rPr lang="en-US" smtClean="0"/>
              <a:t>22</a:t>
            </a:fld>
            <a:endParaRPr lang="en-US" dirty="0"/>
          </a:p>
        </p:txBody>
      </p:sp>
    </p:spTree>
    <p:extLst>
      <p:ext uri="{BB962C8B-B14F-4D97-AF65-F5344CB8AC3E}">
        <p14:creationId xmlns:p14="http://schemas.microsoft.com/office/powerpoint/2010/main" val="26705798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488FD-1419-8110-1AEE-A55DCE95B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23EE8-2FA5-155E-EDF8-CC0A41DE4B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B70BA6-BA90-137A-77FA-2B43A74B491F}"/>
              </a:ext>
            </a:extLst>
          </p:cNvPr>
          <p:cNvSpPr>
            <a:spLocks noGrp="1"/>
          </p:cNvSpPr>
          <p:nvPr>
            <p:ph type="body" idx="1"/>
          </p:nvPr>
        </p:nvSpPr>
        <p:spPr/>
        <p:txBody>
          <a:bodyPr/>
          <a:lstStyle/>
          <a:p>
            <a:pPr marL="228600" lvl="0" indent="-228600">
              <a:buFont typeface="+mj-lt"/>
              <a:buAutoNum type="arabicPeriod"/>
            </a:pPr>
            <a:r>
              <a:rPr lang="en-US" dirty="0"/>
              <a:t>Red dots are expected NB-lncRNA PCR fragment size</a:t>
            </a:r>
          </a:p>
        </p:txBody>
      </p:sp>
      <p:sp>
        <p:nvSpPr>
          <p:cNvPr id="4" name="Slide Number Placeholder 3">
            <a:extLst>
              <a:ext uri="{FF2B5EF4-FFF2-40B4-BE49-F238E27FC236}">
                <a16:creationId xmlns:a16="http://schemas.microsoft.com/office/drawing/2014/main" id="{22371420-A92E-7191-F383-0A3B4CEAABE5}"/>
              </a:ext>
            </a:extLst>
          </p:cNvPr>
          <p:cNvSpPr>
            <a:spLocks noGrp="1"/>
          </p:cNvSpPr>
          <p:nvPr>
            <p:ph type="sldNum" sz="quarter" idx="5"/>
          </p:nvPr>
        </p:nvSpPr>
        <p:spPr/>
        <p:txBody>
          <a:bodyPr/>
          <a:lstStyle/>
          <a:p>
            <a:fld id="{225EF54A-9134-8641-A991-457FAC8A6344}" type="slidenum">
              <a:rPr lang="en-US" smtClean="0"/>
              <a:t>23</a:t>
            </a:fld>
            <a:endParaRPr lang="en-US" dirty="0"/>
          </a:p>
        </p:txBody>
      </p:sp>
    </p:spTree>
    <p:extLst>
      <p:ext uri="{BB962C8B-B14F-4D97-AF65-F5344CB8AC3E}">
        <p14:creationId xmlns:p14="http://schemas.microsoft.com/office/powerpoint/2010/main" val="33401366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76E81-3237-DD27-0471-AA3EFDD89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126B0-6B33-9F14-24DF-FC71316952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52B9BE-E7F7-AF07-84E0-69B0AF9B235D}"/>
              </a:ext>
            </a:extLst>
          </p:cNvPr>
          <p:cNvSpPr>
            <a:spLocks noGrp="1"/>
          </p:cNvSpPr>
          <p:nvPr>
            <p:ph type="body" idx="1"/>
          </p:nvPr>
        </p:nvSpPr>
        <p:spPr/>
        <p:txBody>
          <a:bodyPr/>
          <a:lstStyle/>
          <a:p>
            <a:r>
              <a:rPr lang="en-US" sz="1200" dirty="0">
                <a:latin typeface="Crimson Pro Medium" pitchFamily="2" charset="77"/>
              </a:rPr>
              <a:t>UCSC genome browser (hg38) diagram</a:t>
            </a:r>
            <a:endParaRPr lang="en-US" b="1" dirty="0"/>
          </a:p>
          <a:p>
            <a:r>
              <a:rPr lang="en-US" b="0" dirty="0"/>
              <a:t>Validation Modes: Confirmed Transcription Start Sites (TSS) for 10% (1,810) of NB-lncRNAs.</a:t>
            </a:r>
          </a:p>
          <a:p>
            <a:r>
              <a:rPr lang="en-US" b="0" dirty="0"/>
              <a:t>Nanopore Long-Read: Confirmed full-length exon structures for 7% (1,310).</a:t>
            </a:r>
          </a:p>
          <a:p>
            <a:r>
              <a:rPr lang="en-US" b="0" dirty="0"/>
              <a:t>RT-PCR: Experimentally validated 25 out of 30 tested transcripts at expected sizes in breast cell populations.</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293BDD0-D71C-8B5D-AE83-75F7BD70EF4B}"/>
              </a:ext>
            </a:extLst>
          </p:cNvPr>
          <p:cNvSpPr>
            <a:spLocks noGrp="1"/>
          </p:cNvSpPr>
          <p:nvPr>
            <p:ph type="sldNum" sz="quarter" idx="5"/>
          </p:nvPr>
        </p:nvSpPr>
        <p:spPr/>
        <p:txBody>
          <a:bodyPr/>
          <a:lstStyle/>
          <a:p>
            <a:fld id="{225EF54A-9134-8641-A991-457FAC8A6344}" type="slidenum">
              <a:rPr lang="en-US" smtClean="0"/>
              <a:t>24</a:t>
            </a:fld>
            <a:endParaRPr lang="en-US" dirty="0"/>
          </a:p>
        </p:txBody>
      </p:sp>
    </p:spTree>
    <p:extLst>
      <p:ext uri="{BB962C8B-B14F-4D97-AF65-F5344CB8AC3E}">
        <p14:creationId xmlns:p14="http://schemas.microsoft.com/office/powerpoint/2010/main" val="40672327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D452C-D91B-7DB3-C5C9-F1591A6D5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10EC6-64AA-59DA-9BB3-0F42BE18DF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9BC4B0-41D6-6A63-48F5-D2BD8A75D3EF}"/>
              </a:ext>
            </a:extLst>
          </p:cNvPr>
          <p:cNvSpPr>
            <a:spLocks noGrp="1"/>
          </p:cNvSpPr>
          <p:nvPr>
            <p:ph type="body" idx="1"/>
          </p:nvPr>
        </p:nvSpPr>
        <p:spPr/>
        <p:txBody>
          <a:bodyPr/>
          <a:lstStyle/>
          <a:p>
            <a:pPr marL="171450" indent="-171450">
              <a:buFont typeface="Arial" panose="020B0604020202020204" pitchFamily="34" charset="0"/>
              <a:buChar char="•"/>
            </a:pPr>
            <a:r>
              <a:rPr lang="en-US" dirty="0"/>
              <a:t>Figure 2. Cell population-specific NB-lncRNAs target protein-coding markers of the same cell type. </a:t>
            </a:r>
          </a:p>
          <a:p>
            <a:pPr marL="171450" indent="-171450">
              <a:buFont typeface="Arial" panose="020B0604020202020204" pitchFamily="34" charset="0"/>
              <a:buChar char="•"/>
            </a:pPr>
            <a:r>
              <a:rPr lang="en-US" dirty="0"/>
              <a:t>(A) </a:t>
            </a:r>
            <a:r>
              <a:rPr lang="en-US" dirty="0" err="1"/>
              <a:t>FEELnc</a:t>
            </a:r>
            <a:r>
              <a:rPr lang="en-US" dirty="0"/>
              <a:t>-assigned partners of NB-lncRNAs specifically expressed in each of the three main epithelial cell populations [i.e. luminal mature (top, blue), luminal progenitor (middle, green) and basal (bottom, orange)] were compared with previously reported markers of cell types, showing significant overrepresentation of the corresponding type. Enrichment was confirmed based on the p-value obtained for Fisher’s exact tests. </a:t>
            </a:r>
          </a:p>
          <a:p>
            <a:pPr marL="171450" indent="-171450">
              <a:buFont typeface="Arial" panose="020B0604020202020204" pitchFamily="34" charset="0"/>
              <a:buChar char="•"/>
            </a:pPr>
            <a:r>
              <a:rPr lang="en-US" dirty="0"/>
              <a:t>(B) Similar analyses were performed using an in-house dataset of known markers of several normal breast cell types, also showing a higher proportion of the population-specific NB-lncRNA partners are characteristic of the corresponding cell type. </a:t>
            </a:r>
          </a:p>
          <a:p>
            <a:pPr marL="171450" indent="-171450">
              <a:buFont typeface="Arial" panose="020B0604020202020204" pitchFamily="34" charset="0"/>
              <a:buChar char="•"/>
            </a:pPr>
            <a:r>
              <a:rPr lang="en-US" dirty="0"/>
              <a:t>(C) Heatmaps of gene expression confirm the NB-lncRNAs as population-specific.</a:t>
            </a:r>
          </a:p>
        </p:txBody>
      </p:sp>
      <p:sp>
        <p:nvSpPr>
          <p:cNvPr id="4" name="Slide Number Placeholder 3">
            <a:extLst>
              <a:ext uri="{FF2B5EF4-FFF2-40B4-BE49-F238E27FC236}">
                <a16:creationId xmlns:a16="http://schemas.microsoft.com/office/drawing/2014/main" id="{84AABFAA-3787-EDA2-35EA-E98E114B5989}"/>
              </a:ext>
            </a:extLst>
          </p:cNvPr>
          <p:cNvSpPr>
            <a:spLocks noGrp="1"/>
          </p:cNvSpPr>
          <p:nvPr>
            <p:ph type="sldNum" sz="quarter" idx="5"/>
          </p:nvPr>
        </p:nvSpPr>
        <p:spPr/>
        <p:txBody>
          <a:bodyPr/>
          <a:lstStyle/>
          <a:p>
            <a:fld id="{225EF54A-9134-8641-A991-457FAC8A6344}" type="slidenum">
              <a:rPr lang="en-US" smtClean="0"/>
              <a:t>25</a:t>
            </a:fld>
            <a:endParaRPr lang="en-US"/>
          </a:p>
        </p:txBody>
      </p:sp>
    </p:spTree>
    <p:extLst>
      <p:ext uri="{BB962C8B-B14F-4D97-AF65-F5344CB8AC3E}">
        <p14:creationId xmlns:p14="http://schemas.microsoft.com/office/powerpoint/2010/main" val="40605093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87257-0617-2BBA-1A7C-3077F1EDE8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8A19D-21D6-B2AE-E27C-CCFF8E6050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D78B60-A913-ABC0-BC54-8B5CA1E170C8}"/>
              </a:ext>
            </a:extLst>
          </p:cNvPr>
          <p:cNvSpPr>
            <a:spLocks noGrp="1"/>
          </p:cNvSpPr>
          <p:nvPr>
            <p:ph type="body" idx="1"/>
          </p:nvPr>
        </p:nvSpPr>
        <p:spPr/>
        <p:txBody>
          <a:bodyPr/>
          <a:lstStyle/>
          <a:p>
            <a:pPr marL="171450" indent="-171450">
              <a:buFont typeface="Arial" panose="020B0604020202020204" pitchFamily="34" charset="0"/>
              <a:buChar char="•"/>
            </a:pPr>
            <a:r>
              <a:rPr lang="en-US" dirty="0"/>
              <a:t>Figure 4. Seurat-assigned markers identified candidate NB-lncRNA biomarkers. </a:t>
            </a:r>
          </a:p>
          <a:p>
            <a:pPr marL="171450" indent="-171450">
              <a:buFont typeface="Arial" panose="020B0604020202020204" pitchFamily="34" charset="0"/>
              <a:buChar char="•"/>
            </a:pPr>
            <a:r>
              <a:rPr lang="en-US" dirty="0"/>
              <a:t>(A) Expression patterns of three identified NB-lncRNA luminal markers in L-clusters. </a:t>
            </a:r>
          </a:p>
          <a:p>
            <a:pPr marL="171450" indent="-171450">
              <a:buFont typeface="Arial" panose="020B0604020202020204" pitchFamily="34" charset="0"/>
              <a:buChar char="•"/>
            </a:pPr>
            <a:r>
              <a:rPr lang="en-US" dirty="0"/>
              <a:t>(B) Expression patterns of three identified NB-lncRNA basal markers in L-clusters. </a:t>
            </a:r>
          </a:p>
          <a:p>
            <a:pPr marL="171450" indent="-171450">
              <a:buFont typeface="Arial" panose="020B0604020202020204" pitchFamily="34" charset="0"/>
              <a:buChar char="•"/>
            </a:pPr>
            <a:r>
              <a:rPr lang="en-US" dirty="0"/>
              <a:t>(C, D) Upper panels: UCSC genome browser (hg38) diagrams showing NB-lncRNAs (purple), GENCODE-annotated protein-coding (blue) or noncoding genes (green). Lower panels: Expression patterns of NB-lncRNAs in L-clusters (left) and correlated protein-coding genes in A-clusters (right), showing examples of co-expression between coding and noncoding genes at single-cell level.</a:t>
            </a:r>
          </a:p>
        </p:txBody>
      </p:sp>
      <p:sp>
        <p:nvSpPr>
          <p:cNvPr id="4" name="Slide Number Placeholder 3">
            <a:extLst>
              <a:ext uri="{FF2B5EF4-FFF2-40B4-BE49-F238E27FC236}">
                <a16:creationId xmlns:a16="http://schemas.microsoft.com/office/drawing/2014/main" id="{5A28A9DE-2938-C4E9-9C1E-896C570A6D07}"/>
              </a:ext>
            </a:extLst>
          </p:cNvPr>
          <p:cNvSpPr>
            <a:spLocks noGrp="1"/>
          </p:cNvSpPr>
          <p:nvPr>
            <p:ph type="sldNum" sz="quarter" idx="5"/>
          </p:nvPr>
        </p:nvSpPr>
        <p:spPr/>
        <p:txBody>
          <a:bodyPr/>
          <a:lstStyle/>
          <a:p>
            <a:fld id="{225EF54A-9134-8641-A991-457FAC8A6344}" type="slidenum">
              <a:rPr lang="en-US" smtClean="0"/>
              <a:t>26</a:t>
            </a:fld>
            <a:endParaRPr lang="en-US"/>
          </a:p>
        </p:txBody>
      </p:sp>
    </p:spTree>
    <p:extLst>
      <p:ext uri="{BB962C8B-B14F-4D97-AF65-F5344CB8AC3E}">
        <p14:creationId xmlns:p14="http://schemas.microsoft.com/office/powerpoint/2010/main" val="2133229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54254-9316-E603-0B2E-E6842CA94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C029F-955F-47A7-79D2-D98C5F83A9C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2D489D-89B9-01FF-E6B0-843A4EA02CF0}"/>
              </a:ext>
            </a:extLst>
          </p:cNvPr>
          <p:cNvSpPr>
            <a:spLocks noGrp="1"/>
          </p:cNvSpPr>
          <p:nvPr>
            <p:ph type="body" idx="1"/>
          </p:nvPr>
        </p:nvSpPr>
        <p:spPr/>
        <p:txBody>
          <a:bodyPr/>
          <a:lstStyle/>
          <a:p>
            <a:r>
              <a:rPr lang="en-US" b="1" dirty="0"/>
              <a:t>The Findings:</a:t>
            </a:r>
            <a:r>
              <a:rPr lang="en-US" dirty="0"/>
              <a:t> Although discovery was in Fluidigm (deep seq), the results replicated in </a:t>
            </a:r>
            <a:r>
              <a:rPr lang="en-US" b="1" dirty="0"/>
              <a:t>10x Genomics</a:t>
            </a:r>
            <a:r>
              <a:rPr lang="en-US" dirty="0"/>
              <a:t> data.</a:t>
            </a:r>
          </a:p>
          <a:p>
            <a:r>
              <a:rPr lang="en-US" b="1" dirty="0"/>
              <a:t>Depth Sensitivity:</a:t>
            </a:r>
            <a:r>
              <a:rPr lang="en-US" dirty="0"/>
              <a:t> Per-cell lncRNA detection dropped from ~900 to </a:t>
            </a:r>
            <a:r>
              <a:rPr lang="en-US" b="1" dirty="0"/>
              <a:t>~200</a:t>
            </a:r>
            <a:r>
              <a:rPr lang="en-US" dirty="0"/>
              <a:t> in 10x, but specific markers remained effective for subpopulation segregation.</a:t>
            </a:r>
          </a:p>
          <a:p>
            <a:r>
              <a:rPr lang="en-US" b="1" dirty="0"/>
              <a:t>Why it matters:</a:t>
            </a:r>
            <a:r>
              <a:rPr lang="en-US" dirty="0"/>
              <a:t> Proves the biological signal is robust enough for standard, high-throughput single-cell platforms.</a:t>
            </a:r>
          </a:p>
          <a:p>
            <a:endParaRPr lang="en-US" dirty="0"/>
          </a:p>
          <a:p>
            <a:pPr marL="171450" indent="-171450">
              <a:buFont typeface="Arial" panose="020B0604020202020204" pitchFamily="34" charset="0"/>
              <a:buChar char="•"/>
            </a:pPr>
            <a:r>
              <a:rPr lang="en-US" dirty="0"/>
              <a:t>Figure 8. NB-lncRNAs discern normal breast cell subpopulations on 10x Genomics </a:t>
            </a:r>
            <a:r>
              <a:rPr lang="en-US" dirty="0" err="1"/>
              <a:t>scRNAseq</a:t>
            </a:r>
            <a:r>
              <a:rPr lang="en-US" dirty="0"/>
              <a:t>. </a:t>
            </a:r>
          </a:p>
          <a:p>
            <a:pPr marL="171450" indent="-171450">
              <a:buFont typeface="Arial" panose="020B0604020202020204" pitchFamily="34" charset="0"/>
              <a:buChar char="•"/>
            </a:pPr>
            <a:r>
              <a:rPr lang="en-US" dirty="0"/>
              <a:t>(A) UMAP of normal breast cells, clustered based on NB-lncRNAs expression, quantified on 10x Genomics </a:t>
            </a:r>
            <a:r>
              <a:rPr lang="en-US" dirty="0" err="1"/>
              <a:t>scRNAseq</a:t>
            </a:r>
            <a:r>
              <a:rPr lang="en-US" dirty="0"/>
              <a:t> data. Cells are color-coded for clusters, which are numbered according to cell counts. </a:t>
            </a:r>
          </a:p>
          <a:p>
            <a:pPr marL="171450" indent="-171450">
              <a:buFont typeface="Arial" panose="020B0604020202020204" pitchFamily="34" charset="0"/>
              <a:buChar char="•"/>
            </a:pPr>
            <a:r>
              <a:rPr lang="en-US" dirty="0"/>
              <a:t>(B) UMAP of normal breast cells, clustered based on GENCODE-annotated gene expression, quantified on 10x Genomics </a:t>
            </a:r>
            <a:r>
              <a:rPr lang="en-US" dirty="0" err="1"/>
              <a:t>scRNAseq</a:t>
            </a:r>
            <a:r>
              <a:rPr lang="en-US" dirty="0"/>
              <a:t> data. Cluster labels are based on the presence of known markers of cell subpopulations in the list of Seurat-assigned markers. </a:t>
            </a:r>
          </a:p>
          <a:p>
            <a:pPr marL="171450" indent="-171450">
              <a:buFont typeface="Arial" panose="020B0604020202020204" pitchFamily="34" charset="0"/>
              <a:buChar char="•"/>
            </a:pPr>
            <a:r>
              <a:rPr lang="en-US" dirty="0"/>
              <a:t>(C) UMAP of normal breast cells, clustered based on the expression of GENCODE-annotated genes and NB-lncRNAs, quantified on 10x Genomics </a:t>
            </a:r>
            <a:r>
              <a:rPr lang="en-US" dirty="0" err="1"/>
              <a:t>scRNAseq</a:t>
            </a:r>
            <a:r>
              <a:rPr lang="en-US" dirty="0"/>
              <a:t> data.</a:t>
            </a:r>
          </a:p>
        </p:txBody>
      </p:sp>
      <p:sp>
        <p:nvSpPr>
          <p:cNvPr id="4" name="Slide Number Placeholder 3">
            <a:extLst>
              <a:ext uri="{FF2B5EF4-FFF2-40B4-BE49-F238E27FC236}">
                <a16:creationId xmlns:a16="http://schemas.microsoft.com/office/drawing/2014/main" id="{3F3BEEDD-0F2F-A8EF-E2D8-7A66ED72357D}"/>
              </a:ext>
            </a:extLst>
          </p:cNvPr>
          <p:cNvSpPr>
            <a:spLocks noGrp="1"/>
          </p:cNvSpPr>
          <p:nvPr>
            <p:ph type="sldNum" sz="quarter" idx="5"/>
          </p:nvPr>
        </p:nvSpPr>
        <p:spPr/>
        <p:txBody>
          <a:bodyPr/>
          <a:lstStyle/>
          <a:p>
            <a:fld id="{225EF54A-9134-8641-A991-457FAC8A6344}" type="slidenum">
              <a:rPr lang="en-US" smtClean="0"/>
              <a:t>27</a:t>
            </a:fld>
            <a:endParaRPr lang="en-US"/>
          </a:p>
        </p:txBody>
      </p:sp>
    </p:spTree>
    <p:extLst>
      <p:ext uri="{BB962C8B-B14F-4D97-AF65-F5344CB8AC3E}">
        <p14:creationId xmlns:p14="http://schemas.microsoft.com/office/powerpoint/2010/main" val="40820711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3236D-083E-D627-93E8-D959CB216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6DCC1-426A-18F3-1253-40B50B72AD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0C136D-C0B3-497C-E4DD-8D26DB2FD44B}"/>
              </a:ext>
            </a:extLst>
          </p:cNvPr>
          <p:cNvSpPr>
            <a:spLocks noGrp="1"/>
          </p:cNvSpPr>
          <p:nvPr>
            <p:ph type="body" idx="1"/>
          </p:nvPr>
        </p:nvSpPr>
        <p:spPr/>
        <p:txBody>
          <a:bodyPr/>
          <a:lstStyle/>
          <a:p>
            <a:r>
              <a:rPr lang="en-US" b="1" dirty="0"/>
              <a:t>The Findings:</a:t>
            </a:r>
            <a:r>
              <a:rPr lang="en-US" dirty="0"/>
              <a:t> Expression of NB-lncRNA markers stratified TCGA cancer samples into molecular subtypes </a:t>
            </a:r>
            <a:r>
              <a:rPr lang="en-US" b="1" dirty="0"/>
              <a:t>better</a:t>
            </a:r>
            <a:r>
              <a:rPr lang="en-US" dirty="0"/>
              <a:t> than standard clinical markers (Figure 9A vs 9B).</a:t>
            </a:r>
          </a:p>
          <a:p>
            <a:r>
              <a:rPr lang="en-US" b="1" dirty="0"/>
              <a:t>Precision:</a:t>
            </a:r>
            <a:r>
              <a:rPr lang="en-US" dirty="0"/>
              <a:t> Her2+ and Luminal A subtypes were identified with significantly higher precision using the non-coding signature.</a:t>
            </a:r>
          </a:p>
          <a:p>
            <a:r>
              <a:rPr lang="en-US" b="1" dirty="0"/>
              <a:t>Why it matters:</a:t>
            </a:r>
            <a:r>
              <a:rPr lang="en-US" dirty="0"/>
              <a:t> Identifies lncRNAs as an "untapped resource" for novel diagnostic biomarkers and therapeutic targets.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Figure 9. NB-lncRNA expression can differentiate between breast cancer subtypes in TCGA.</a:t>
            </a:r>
          </a:p>
          <a:p>
            <a:pPr marL="171450" indent="-171450">
              <a:buFont typeface="Arial" panose="020B0604020202020204" pitchFamily="34" charset="0"/>
              <a:buChar char="•"/>
            </a:pPr>
            <a:r>
              <a:rPr lang="en-US" dirty="0"/>
              <a:t>(A) The expression of Seurat-assigned NB-lncRNA markers of L-clusters separates the main subtypes of TCGA breast cancer tumors in a two-dimension PCA plot. </a:t>
            </a:r>
          </a:p>
          <a:p>
            <a:pPr marL="171450" indent="-171450">
              <a:buFont typeface="Arial" panose="020B0604020202020204" pitchFamily="34" charset="0"/>
              <a:buChar char="•"/>
            </a:pPr>
            <a:r>
              <a:rPr lang="en-US" dirty="0"/>
              <a:t>(B) To a lesser degree, the expression of </a:t>
            </a:r>
            <a:r>
              <a:rPr lang="en-US" dirty="0" err="1"/>
              <a:t>Seuratassigned</a:t>
            </a:r>
            <a:r>
              <a:rPr lang="en-US" dirty="0"/>
              <a:t> GENCODE-annotated markers of A-clusters separates different subtypes of TCGA breast cancer tumors in a two-dimension PCA plot. </a:t>
            </a:r>
          </a:p>
          <a:p>
            <a:pPr marL="171450" indent="-171450">
              <a:buFont typeface="Arial" panose="020B0604020202020204" pitchFamily="34" charset="0"/>
              <a:buChar char="•"/>
            </a:pPr>
            <a:r>
              <a:rPr lang="en-US" dirty="0"/>
              <a:t>(C) NB-lncRNAs are markers of specific breast cancer subtypes. Four selected NB-lncRNAs are shown with their genomic context (upper; UCSC genome browser diagram) and expression levels (lower; boxplots of TPMs in TCGA samples of each subtype).</a:t>
            </a:r>
          </a:p>
          <a:p>
            <a:pPr marL="171450" indent="-171450">
              <a:buFont typeface="Arial" panose="020B0604020202020204" pitchFamily="34" charset="0"/>
              <a:buChar char="•"/>
            </a:pPr>
            <a:r>
              <a:rPr lang="en-US" dirty="0"/>
              <a:t>(D) In-house NB-lncRNA markers of TCGA breast cancer subtypes can separate all subtypes of breast cancer in a two-dimensional PCA plot. </a:t>
            </a:r>
          </a:p>
          <a:p>
            <a:pPr marL="171450" indent="-171450">
              <a:buFont typeface="Arial" panose="020B0604020202020204" pitchFamily="34" charset="0"/>
              <a:buChar char="•"/>
            </a:pPr>
            <a:r>
              <a:rPr lang="en-US" dirty="0"/>
              <a:t>(E) For comparison, known breast cancer protein-coding markers separate subtypes with comparable performance.</a:t>
            </a:r>
          </a:p>
        </p:txBody>
      </p:sp>
      <p:sp>
        <p:nvSpPr>
          <p:cNvPr id="4" name="Slide Number Placeholder 3">
            <a:extLst>
              <a:ext uri="{FF2B5EF4-FFF2-40B4-BE49-F238E27FC236}">
                <a16:creationId xmlns:a16="http://schemas.microsoft.com/office/drawing/2014/main" id="{FC280807-AEF6-8F86-E401-A7D6C7F71827}"/>
              </a:ext>
            </a:extLst>
          </p:cNvPr>
          <p:cNvSpPr>
            <a:spLocks noGrp="1"/>
          </p:cNvSpPr>
          <p:nvPr>
            <p:ph type="sldNum" sz="quarter" idx="5"/>
          </p:nvPr>
        </p:nvSpPr>
        <p:spPr/>
        <p:txBody>
          <a:bodyPr/>
          <a:lstStyle/>
          <a:p>
            <a:fld id="{225EF54A-9134-8641-A991-457FAC8A6344}" type="slidenum">
              <a:rPr lang="en-US" smtClean="0"/>
              <a:t>28</a:t>
            </a:fld>
            <a:endParaRPr lang="en-US"/>
          </a:p>
        </p:txBody>
      </p:sp>
    </p:spTree>
    <p:extLst>
      <p:ext uri="{BB962C8B-B14F-4D97-AF65-F5344CB8AC3E}">
        <p14:creationId xmlns:p14="http://schemas.microsoft.com/office/powerpoint/2010/main" val="41725724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432D1-813E-15CF-B698-E836F2508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47349F-D1ED-6F9F-123A-D31A3CFAEE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F71FA6-7A7A-46F5-1FA6-29475F7B5AC3}"/>
              </a:ext>
            </a:extLst>
          </p:cNvPr>
          <p:cNvSpPr>
            <a:spLocks noGrp="1"/>
          </p:cNvSpPr>
          <p:nvPr>
            <p:ph type="body" idx="1"/>
          </p:nvPr>
        </p:nvSpPr>
        <p:spPr/>
        <p:txBody>
          <a:bodyPr/>
          <a:lstStyle/>
          <a:p>
            <a:r>
              <a:rPr lang="en-US" b="1" dirty="0"/>
              <a:t>The Findings:</a:t>
            </a:r>
            <a:r>
              <a:rPr lang="en-US" dirty="0"/>
              <a:t> Compiled a list of NB-lncRNA markers with experimental evidence linked to cancer, such as </a:t>
            </a:r>
            <a:r>
              <a:rPr lang="en-US" b="1" dirty="0"/>
              <a:t>TTC39A-AS1</a:t>
            </a:r>
            <a:r>
              <a:rPr lang="en-US" dirty="0"/>
              <a:t>.</a:t>
            </a:r>
          </a:p>
          <a:p>
            <a:r>
              <a:rPr lang="en-US" b="1" dirty="0"/>
              <a:t>Validation Example:</a:t>
            </a:r>
            <a:r>
              <a:rPr lang="en-US" dirty="0"/>
              <a:t> ASO-mediated knockdown of </a:t>
            </a:r>
            <a:r>
              <a:rPr lang="en-US" b="1" dirty="0"/>
              <a:t>TTC39A-AS1</a:t>
            </a:r>
            <a:r>
              <a:rPr lang="en-US" dirty="0"/>
              <a:t> was shown to impair branch development in mammary organoids.</a:t>
            </a:r>
          </a:p>
          <a:p>
            <a:r>
              <a:rPr lang="en-US" b="1" dirty="0"/>
              <a:t>Why it matters:</a:t>
            </a:r>
            <a:r>
              <a:rPr lang="en-US" dirty="0"/>
              <a:t> Transitions the paper from "computational discovery" to "biological relevance".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Table 2. Annotated NB-lncRNAs markers of normal breast cell subpopulations (top) or TCGA breast cancer subtypes (bottom). </a:t>
            </a:r>
          </a:p>
          <a:p>
            <a:pPr marL="171450" indent="-171450">
              <a:buFont typeface="Arial" panose="020B0604020202020204" pitchFamily="34" charset="0"/>
              <a:buChar char="•"/>
            </a:pPr>
            <a:r>
              <a:rPr lang="en-US" dirty="0"/>
              <a:t>Top: Seurat-assigned NB-lncRNA markers with previous annotation, experimental evidence and established links with breast cancer are listed with the corresponding normal breast cell subpopulation for which they are markers and short identifiers. </a:t>
            </a:r>
          </a:p>
          <a:p>
            <a:pPr marL="171450" indent="-171450">
              <a:buFont typeface="Arial" panose="020B0604020202020204" pitchFamily="34" charset="0"/>
              <a:buChar char="•"/>
            </a:pPr>
            <a:r>
              <a:rPr lang="en-US" dirty="0"/>
              <a:t>Bottom: MGFR-assigned NB-lncRNA markers with previous annotation, experimental evidence and established links with breast cancer are listed with the corresponding breast cancer subtype for which they are markers and short identifiers. Full identifiers are available in Supplementary Table S18</a:t>
            </a:r>
          </a:p>
        </p:txBody>
      </p:sp>
      <p:sp>
        <p:nvSpPr>
          <p:cNvPr id="4" name="Slide Number Placeholder 3">
            <a:extLst>
              <a:ext uri="{FF2B5EF4-FFF2-40B4-BE49-F238E27FC236}">
                <a16:creationId xmlns:a16="http://schemas.microsoft.com/office/drawing/2014/main" id="{43A696C1-F5A0-2E58-C321-B738B32011B2}"/>
              </a:ext>
            </a:extLst>
          </p:cNvPr>
          <p:cNvSpPr>
            <a:spLocks noGrp="1"/>
          </p:cNvSpPr>
          <p:nvPr>
            <p:ph type="sldNum" sz="quarter" idx="5"/>
          </p:nvPr>
        </p:nvSpPr>
        <p:spPr/>
        <p:txBody>
          <a:bodyPr/>
          <a:lstStyle/>
          <a:p>
            <a:fld id="{225EF54A-9134-8641-A991-457FAC8A6344}" type="slidenum">
              <a:rPr lang="en-US" smtClean="0"/>
              <a:t>29</a:t>
            </a:fld>
            <a:endParaRPr lang="en-US"/>
          </a:p>
        </p:txBody>
      </p:sp>
    </p:spTree>
    <p:extLst>
      <p:ext uri="{BB962C8B-B14F-4D97-AF65-F5344CB8AC3E}">
        <p14:creationId xmlns:p14="http://schemas.microsoft.com/office/powerpoint/2010/main" val="4322248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BB480-0917-FDDF-13DF-994193C45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AB9A2-556B-3182-D8FF-A024C4A107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038922-24F5-0B3E-5D6B-757B24A66C40}"/>
              </a:ext>
            </a:extLst>
          </p:cNvPr>
          <p:cNvSpPr>
            <a:spLocks noGrp="1"/>
          </p:cNvSpPr>
          <p:nvPr>
            <p:ph type="body" idx="1"/>
          </p:nvPr>
        </p:nvSpPr>
        <p:spPr/>
        <p:txBody>
          <a:bodyPr/>
          <a:lstStyle/>
          <a:p>
            <a:r>
              <a:rPr lang="en-US" b="1" dirty="0"/>
              <a:t>The Findings:</a:t>
            </a:r>
            <a:r>
              <a:rPr lang="en-US" dirty="0"/>
              <a:t> Used </a:t>
            </a:r>
            <a:r>
              <a:rPr lang="en-US" b="1" dirty="0"/>
              <a:t>SCENT</a:t>
            </a:r>
            <a:r>
              <a:rPr lang="en-US" dirty="0"/>
              <a:t> (signaling entropy) and </a:t>
            </a:r>
            <a:r>
              <a:rPr lang="en-US" b="1" dirty="0"/>
              <a:t>Slingshot</a:t>
            </a:r>
            <a:r>
              <a:rPr lang="en-US" dirty="0"/>
              <a:t> to identify cluster </a:t>
            </a:r>
            <a:r>
              <a:rPr lang="en-US" b="1" dirty="0"/>
              <a:t>L3</a:t>
            </a:r>
            <a:r>
              <a:rPr lang="en-US" dirty="0"/>
              <a:t> as the "root" state harboring the highest stemness.</a:t>
            </a:r>
          </a:p>
          <a:p>
            <a:r>
              <a:rPr lang="en-US" b="1" dirty="0"/>
              <a:t>Intermediate States:</a:t>
            </a:r>
            <a:r>
              <a:rPr lang="en-US" dirty="0"/>
              <a:t> Differentiation trajectories revealed cluster </a:t>
            </a:r>
            <a:r>
              <a:rPr lang="en-US" b="1" dirty="0"/>
              <a:t>L5</a:t>
            </a:r>
            <a:r>
              <a:rPr lang="en-US" dirty="0"/>
              <a:t> as a mixed intermediate progenitor between basal and luminal branches.</a:t>
            </a:r>
          </a:p>
          <a:p>
            <a:r>
              <a:rPr lang="en-US" b="1" dirty="0"/>
              <a:t>Why it matters:</a:t>
            </a:r>
            <a:r>
              <a:rPr lang="en-US" dirty="0"/>
              <a:t> lncRNAs can reconstruct cell hierarchies and pinpoint "stem-like" states that appear heterogeneous when looking only at protein markers.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Figure 7. NB-lncRNAs define a stem-like cell subpopulation in the normal breast epithelium. </a:t>
            </a:r>
          </a:p>
          <a:p>
            <a:pPr marL="171450" indent="-171450">
              <a:buFont typeface="Arial" panose="020B0604020202020204" pitchFamily="34" charset="0"/>
              <a:buChar char="•"/>
            </a:pPr>
            <a:r>
              <a:rPr lang="en-US" dirty="0"/>
              <a:t>(A) Heatmap of the average expression of genes with experimentally confirmed stem-cell properties across the L-clusters. Genes were selected for their reported capacity of repopulating mammary fat pads, originating both basal and luminal compartments. Expression was measured at cell level and averaged across cells allocated to the same L-cluster. </a:t>
            </a:r>
          </a:p>
          <a:p>
            <a:pPr marL="171450" indent="-171450">
              <a:buFont typeface="Arial" panose="020B0604020202020204" pitchFamily="34" charset="0"/>
              <a:buChar char="•"/>
            </a:pPr>
            <a:r>
              <a:rPr lang="en-US" dirty="0"/>
              <a:t>(B) The SCENT method was used to calculate the signaling entropy level (SR value) of each cell. Cells in the same L-cluster were plotted together, with the average for each cluster represented by dots. The dashed red line was placed at the highest average (cluster L3). </a:t>
            </a:r>
          </a:p>
          <a:p>
            <a:pPr marL="171450" indent="-171450">
              <a:buFont typeface="Arial" panose="020B0604020202020204" pitchFamily="34" charset="0"/>
              <a:buChar char="•"/>
            </a:pPr>
            <a:r>
              <a:rPr lang="en-US" dirty="0"/>
              <a:t>(C) Monocle plots with cells distributed along a differentiation trajectory, with branch points representing cell lineages. Cells were colored either by Seurat-assigned L-clusters (upper) or by SR value (lower). (D) Slingshot trajectories showing the placement of lineages on top of the UMAP of L-clusters obtained with Seurat. Cluster L3 was defined as the root state, based on its higher stemness.</a:t>
            </a:r>
          </a:p>
        </p:txBody>
      </p:sp>
      <p:sp>
        <p:nvSpPr>
          <p:cNvPr id="4" name="Slide Number Placeholder 3">
            <a:extLst>
              <a:ext uri="{FF2B5EF4-FFF2-40B4-BE49-F238E27FC236}">
                <a16:creationId xmlns:a16="http://schemas.microsoft.com/office/drawing/2014/main" id="{E8F15C5B-FCA2-0FAF-DF77-C425B3865970}"/>
              </a:ext>
            </a:extLst>
          </p:cNvPr>
          <p:cNvSpPr>
            <a:spLocks noGrp="1"/>
          </p:cNvSpPr>
          <p:nvPr>
            <p:ph type="sldNum" sz="quarter" idx="5"/>
          </p:nvPr>
        </p:nvSpPr>
        <p:spPr/>
        <p:txBody>
          <a:bodyPr/>
          <a:lstStyle/>
          <a:p>
            <a:fld id="{225EF54A-9134-8641-A991-457FAC8A6344}" type="slidenum">
              <a:rPr lang="en-US" smtClean="0"/>
              <a:t>30</a:t>
            </a:fld>
            <a:endParaRPr lang="en-US"/>
          </a:p>
        </p:txBody>
      </p:sp>
    </p:spTree>
    <p:extLst>
      <p:ext uri="{BB962C8B-B14F-4D97-AF65-F5344CB8AC3E}">
        <p14:creationId xmlns:p14="http://schemas.microsoft.com/office/powerpoint/2010/main" val="2982703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071DA-A33A-46E6-9AB6-F0ADE99ECF25}"/>
              </a:ext>
            </a:extLst>
          </p:cNvPr>
          <p:cNvSpPr>
            <a:spLocks noGrp="1"/>
          </p:cNvSpPr>
          <p:nvPr>
            <p:ph type="ctrTitle"/>
          </p:nvPr>
        </p:nvSpPr>
        <p:spPr>
          <a:xfrm>
            <a:off x="1524000" y="1122363"/>
            <a:ext cx="9144000" cy="2387600"/>
          </a:xfrm>
        </p:spPr>
        <p:txBody>
          <a:bodyPr anchor="b">
            <a:normAutofit/>
          </a:bodyPr>
          <a:lstStyle>
            <a:lvl1pPr algn="ctr">
              <a:defRPr sz="4400"/>
            </a:lvl1pPr>
          </a:lstStyle>
          <a:p>
            <a:r>
              <a:rPr lang="en-US"/>
              <a:t>Click to edit Master title style</a:t>
            </a:r>
          </a:p>
        </p:txBody>
      </p:sp>
      <p:sp>
        <p:nvSpPr>
          <p:cNvPr id="3" name="Subtitle 2">
            <a:extLst>
              <a:ext uri="{FF2B5EF4-FFF2-40B4-BE49-F238E27FC236}">
                <a16:creationId xmlns:a16="http://schemas.microsoft.com/office/drawing/2014/main" id="{35A4695E-AC84-4688-A74E-04DB0D17EB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Box 3">
            <a:extLst>
              <a:ext uri="{FF2B5EF4-FFF2-40B4-BE49-F238E27FC236}">
                <a16:creationId xmlns:a16="http://schemas.microsoft.com/office/drawing/2014/main" id="{F7FAC192-0DE6-71BE-52C6-1ED2907A842C}"/>
              </a:ext>
            </a:extLst>
          </p:cNvPr>
          <p:cNvSpPr txBox="1"/>
          <p:nvPr userDrawn="1"/>
        </p:nvSpPr>
        <p:spPr>
          <a:xfrm>
            <a:off x="11442032" y="6015789"/>
            <a:ext cx="529389" cy="369332"/>
          </a:xfrm>
          <a:prstGeom prst="rect">
            <a:avLst/>
          </a:prstGeom>
          <a:noFill/>
        </p:spPr>
        <p:txBody>
          <a:bodyPr wrap="square" rtlCol="0">
            <a:spAutoFit/>
          </a:bodyPr>
          <a:lstStyle/>
          <a:p>
            <a:fld id="{CD06770D-C131-FA45-B33F-98816BA1FC54}" type="slidenum">
              <a:rPr lang="en-US" smtClean="0"/>
              <a:t>‹#›</a:t>
            </a:fld>
            <a:endParaRPr lang="en-US" dirty="0"/>
          </a:p>
        </p:txBody>
      </p:sp>
    </p:spTree>
    <p:extLst>
      <p:ext uri="{BB962C8B-B14F-4D97-AF65-F5344CB8AC3E}">
        <p14:creationId xmlns:p14="http://schemas.microsoft.com/office/powerpoint/2010/main" val="3280830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3839A95-D286-4305-88D6-D686612B48F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25240A26-FF24-4B62-AD41-DDA9D44EE5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DFD89F-9A31-4DD6-9C95-A8E96700B9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977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026961D-1D7C-4A74-9291-7AFBF7B164A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5E43C8BF-FB3B-47E6-923C-BF77E9613F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E5FAE4-54C3-47E3-8D66-6DC40303BD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24988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57C2115-2A3E-4D75-BF91-C2D668D06D3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4F736430-14A1-4BA2-83C0-8A53ACEB5E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75CB4D-BAC5-4B09-B394-C904EA9E41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4954CC-D6CE-4C10-8CB2-6826A52DAD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8C02E8-077D-4865-A502-DC130FC82A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F93428-F0AA-4902-9195-6434C9A757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7325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E397A9-BAE3-42F3-81E4-58B08040BE0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6D95DA63-6999-4B88-BEEB-3C1D1E472D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72314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66919CE-08D3-4ADA-A705-7CDCB9A2AD3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232197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73E0ADD-61B1-4710-91B4-291242148D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046FC309-F318-4862-BC38-3368C5F9B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22C403-ED21-4045-8396-6B5FD854D9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844497-95B6-4596-9589-0036623F68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227952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E18608-F2C5-42EC-90AD-EE7DDEB616B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B6B162D4-CA25-43A3-A8ED-219C79F87D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39B57C-8104-4916-8FEA-8B79049D03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E662372-0DDA-4B3A-9F7E-DBE11D8C0B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554018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9F49BD0-3689-4119-A0D1-AEEBC81B073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pic>
        <p:nvPicPr>
          <p:cNvPr id="7" name="Picture 6">
            <a:extLst>
              <a:ext uri="{FF2B5EF4-FFF2-40B4-BE49-F238E27FC236}">
                <a16:creationId xmlns:a16="http://schemas.microsoft.com/office/drawing/2014/main" id="{361E3D7E-97AC-4AE3-934E-02464129CBC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7F03851C-AB83-4B86-B1F8-F8F94C2B51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A61B55-30D5-4E10-9F58-15283F08BE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1" name="Picture 10">
            <a:extLst>
              <a:ext uri="{FF2B5EF4-FFF2-40B4-BE49-F238E27FC236}">
                <a16:creationId xmlns:a16="http://schemas.microsoft.com/office/drawing/2014/main" id="{0A1DF679-34AE-4D31-83FE-5974A31D700F}"/>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2" y="6025663"/>
            <a:ext cx="12192000" cy="832337"/>
          </a:xfrm>
          <a:prstGeom prst="rect">
            <a:avLst/>
          </a:prstGeom>
        </p:spPr>
      </p:pic>
    </p:spTree>
    <p:extLst>
      <p:ext uri="{BB962C8B-B14F-4D97-AF65-F5344CB8AC3E}">
        <p14:creationId xmlns:p14="http://schemas.microsoft.com/office/powerpoint/2010/main" val="2874733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A45A2C-D225-45F9-9F81-02A65C0412B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575913D0-3FDF-487F-A88E-2683A3D4E1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7FB6AA-FC45-40A8-BDC6-E1DADC144B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9809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D23B10D-8F28-4069-B04B-D7845887D54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72C3C2AA-3EA1-4419-AF0D-E12E02FF30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7F62F3-F4AC-4546-B96F-0045811BF7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095843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DF44AC8-8B5F-4870-8249-8F9A0E7C67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329D8871-79A8-4429-8222-B51CA9C44F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FB21D2-DED5-4A5F-AA9B-1BB37A43E1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0D2A44-C1D1-42EB-B9BB-5ABD8F203F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99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A4AD278-E165-4912-B926-A7864010DBF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6034087"/>
            <a:ext cx="12192000" cy="823912"/>
          </a:xfrm>
          <a:prstGeom prst="rect">
            <a:avLst/>
          </a:prstGeom>
        </p:spPr>
      </p:pic>
      <p:sp>
        <p:nvSpPr>
          <p:cNvPr id="2" name="Title 1">
            <a:extLst>
              <a:ext uri="{FF2B5EF4-FFF2-40B4-BE49-F238E27FC236}">
                <a16:creationId xmlns:a16="http://schemas.microsoft.com/office/drawing/2014/main" id="{51D70325-5EB5-4468-BC79-656FB3DD20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7E2972-1C48-4505-9701-5514CEB383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9DDE98-B9BC-4F8D-BAAD-50D72777B8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03921D-9B75-41F9-839F-394DB24EFA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E4E502-D27B-42D0-A1AC-1BB5629654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848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271FB14-04C2-484F-BC80-C8E02EF678D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7BC828C8-E368-4A36-887A-7361DC23AE6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00037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089A2E-5B2A-4F91-B064-F52F779CA39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10053747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0B3B48B-5898-473E-A0CD-474F8A65A65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4412B534-7B05-49E0-8F47-77E40537D5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1C84A6-B9B3-496A-9EB1-27D8506806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D6DC76-A15A-45E1-A9B2-4741220E95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9925688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849AFD8-F165-4307-A1B9-CFDE9A1BD3E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1DF9643D-7186-4D6A-8E1C-3BFA003488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5F3987-7318-4536-98EE-2EF7DBEB70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507C0B-9896-42F1-8411-345B7ED69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7642275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E6D44-A92E-43DA-9ABB-43157B9394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29A5608F-BED7-4E9A-A2E4-07F43D5444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149542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1ECBA-10E6-4E28-99EF-99525B8F39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056FC1-8E3B-4769-86EC-78F0C92FAF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985116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A8EBD9F0-FFB9-413F-A29F-5F6478706A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9010839-4D97-4509-904E-97453EA29F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0D3B8D-146D-4D2C-92DC-C2B3CEA959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39228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5FEA4278-0263-41FA-B99F-92D08E44073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F7A9C4C-0911-418B-A68B-F2571CE02D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EE0456-303C-4752-BC72-EFA5E54E99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3353168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0A3805D-BBA6-4CD8-902E-8BB9FE88E1E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56947F1E-2D41-4838-9062-4D58B969C0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61426F-93EF-49D2-AEFD-96BD9A590C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863032-6F48-4EC0-9E04-F64A956A34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50486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Content Placeholder 4">
            <a:extLst>
              <a:ext uri="{FF2B5EF4-FFF2-40B4-BE49-F238E27FC236}">
                <a16:creationId xmlns:a16="http://schemas.microsoft.com/office/drawing/2014/main" id="{A787DE3A-9044-4902-BB3D-7DBD2EF626C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46F352C-E8E9-43FB-8B89-ED32167D05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6CDA2E-E393-4DB8-B7C0-A47F543C8A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338140-1A0C-430C-8FFF-41893D5044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D5411B-917C-4400-86DE-ABFCD61047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0554B9-9C5B-4D8A-9385-EC81F45437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67356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4F34D4-D9B8-4CB8-9C32-38913C3F623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37EB23FA-6E6B-469A-8B10-618C6060DDF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447673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47EDFFC-3E6B-4D60-96D2-EC5C5187752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974719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8A826CF-0ECB-434D-B30E-25F27A8B47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708315FA-0986-4DA3-B550-640BE6B214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A3B989-7F03-4E4C-9588-C4B75DEBE5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8488C5-2042-4F90-851E-77D33959F3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514972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61EE0B8-3C09-45D9-91FE-63841F59322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09CE0676-53A9-4CC6-8EAA-B05F019340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A66C3E-3CDC-4EAC-9E3C-FC8D9643BF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194B7E-26EE-4436-B802-DE6AC8328D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8247184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44C377-3B74-488B-A521-C0AF73D94F0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5CE056E2-9C63-4EF6-A71B-310C5B38A1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91963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image" Target="../media/image2.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theme" Target="../theme/theme2.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image" Target="../media/image8.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heme" Target="../theme/theme3.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30F85F-C49E-4405-BDD4-C3E071F0970B}"/>
              </a:ext>
            </a:extLst>
          </p:cNvPr>
          <p:cNvSpPr>
            <a:spLocks noGrp="1"/>
          </p:cNvSpPr>
          <p:nvPr>
            <p:ph type="title"/>
          </p:nvPr>
        </p:nvSpPr>
        <p:spPr>
          <a:xfrm>
            <a:off x="838200" y="168355"/>
            <a:ext cx="10515600" cy="7274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F3901C-63AA-4FC2-B01F-2ED6FB32D481}"/>
              </a:ext>
            </a:extLst>
          </p:cNvPr>
          <p:cNvSpPr>
            <a:spLocks noGrp="1"/>
          </p:cNvSpPr>
          <p:nvPr>
            <p:ph type="body" idx="1"/>
          </p:nvPr>
        </p:nvSpPr>
        <p:spPr>
          <a:xfrm>
            <a:off x="838200" y="1064871"/>
            <a:ext cx="10515600" cy="48134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7459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Lst>
  <p:hf hdr="0" ftr="0" dt="0"/>
  <p:txStyles>
    <p:titleStyle>
      <a:lvl1pPr algn="l" defTabSz="914400" rtl="0" eaLnBrk="1" latinLnBrk="0" hangingPunct="1">
        <a:lnSpc>
          <a:spcPct val="90000"/>
        </a:lnSpc>
        <a:spcBef>
          <a:spcPct val="0"/>
        </a:spcBef>
        <a:buNone/>
        <a:defRPr sz="36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914400" indent="-4572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D7B6D92-67F2-44AB-B5E0-D84743307F81}"/>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71CC1242-FA9B-4906-89D9-34ECA0F4C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B56C02-09F3-4FEB-A508-8868626869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12318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80"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A1BAFAF-D3D3-48C2-AD74-C26D4F427FA3}"/>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B97C5BA6-5F87-4AEE-9731-B58F5CB718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D89A6C-A538-418B-A219-83B3647FD5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1381638"/>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84" r:id="rId5"/>
    <p:sldLayoutId id="2147483676" r:id="rId6"/>
    <p:sldLayoutId id="2147483677" r:id="rId7"/>
    <p:sldLayoutId id="2147483678" r:id="rId8"/>
    <p:sldLayoutId id="2147483679" r:id="rId9"/>
    <p:sldLayoutId id="2147483681"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doi.org/10.1101/2024.10.29.620654" TargetMode="External"/><Relationship Id="rId3" Type="http://schemas.openxmlformats.org/officeDocument/2006/relationships/hyperlink" Target="https://doi.org/10.1016/j.cell.2024.10.024" TargetMode="External"/><Relationship Id="rId7" Type="http://schemas.openxmlformats.org/officeDocument/2006/relationships/hyperlink" Target="https://doi.org/10.1016/j.xgen.2026.101253" TargetMode="External"/><Relationship Id="rId2" Type="http://schemas.openxmlformats.org/officeDocument/2006/relationships/hyperlink" Target="https://doi.org/10.1093/nar/gkad339" TargetMode="External"/><Relationship Id="rId1" Type="http://schemas.openxmlformats.org/officeDocument/2006/relationships/slideLayout" Target="../slideLayouts/slideLayout2.xml"/><Relationship Id="rId6" Type="http://schemas.openxmlformats.org/officeDocument/2006/relationships/hyperlink" Target="https://doi.org/10.1093/bfgp/elaf005" TargetMode="External"/><Relationship Id="rId11" Type="http://schemas.openxmlformats.org/officeDocument/2006/relationships/hyperlink" Target="http://www.ncbi.nlm.nih.gov/books/NBK569559/" TargetMode="External"/><Relationship Id="rId5" Type="http://schemas.openxmlformats.org/officeDocument/2006/relationships/hyperlink" Target="https://doi.org/10.1152/physrev.00040.2018" TargetMode="External"/><Relationship Id="rId10" Type="http://schemas.openxmlformats.org/officeDocument/2006/relationships/hyperlink" Target="https://doi.org/10.1016/j.yexcr.2023.113493" TargetMode="External"/><Relationship Id="rId4" Type="http://schemas.openxmlformats.org/officeDocument/2006/relationships/hyperlink" Target="https://doi.org/10.1038/nature11233" TargetMode="External"/><Relationship Id="rId9" Type="http://schemas.openxmlformats.org/officeDocument/2006/relationships/hyperlink" Target="https://doi.org/10.3389/fgene.2024.1478352"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ront of the NLM building with crab apple blossoms in bloom.">
            <a:extLst>
              <a:ext uri="{FF2B5EF4-FFF2-40B4-BE49-F238E27FC236}">
                <a16:creationId xmlns:a16="http://schemas.microsoft.com/office/drawing/2014/main" id="{48567582-F46E-FF83-EFE1-64DB69B9071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97" y="0"/>
            <a:ext cx="12197697" cy="6858000"/>
          </a:xfrm>
          <a:prstGeom prst="rect">
            <a:avLst/>
          </a:prstGeom>
        </p:spPr>
      </p:pic>
      <p:sp>
        <p:nvSpPr>
          <p:cNvPr id="5" name="Title 4">
            <a:extLst>
              <a:ext uri="{FF2B5EF4-FFF2-40B4-BE49-F238E27FC236}">
                <a16:creationId xmlns:a16="http://schemas.microsoft.com/office/drawing/2014/main" id="{6C29FA85-98CC-5CDC-AEA3-F4AFADD3BDEC}"/>
              </a:ext>
            </a:extLst>
          </p:cNvPr>
          <p:cNvSpPr>
            <a:spLocks noGrp="1"/>
          </p:cNvSpPr>
          <p:nvPr>
            <p:ph type="ctrTitle"/>
          </p:nvPr>
        </p:nvSpPr>
        <p:spPr>
          <a:xfrm>
            <a:off x="5742084" y="1640678"/>
            <a:ext cx="6128650" cy="2061047"/>
          </a:xfrm>
        </p:spPr>
        <p:txBody>
          <a:bodyPr>
            <a:normAutofit/>
          </a:bodyPr>
          <a:lstStyle/>
          <a:p>
            <a:r>
              <a:rPr lang="en-US" sz="3600" dirty="0">
                <a:latin typeface="Crimson Pro Medium" pitchFamily="2" charset="77"/>
              </a:rPr>
              <a:t>Journal Club: </a:t>
            </a:r>
            <a:br>
              <a:rPr lang="en-US" sz="3600" dirty="0">
                <a:latin typeface="Crimson Pro Medium" pitchFamily="2" charset="77"/>
              </a:rPr>
            </a:br>
            <a:r>
              <a:rPr lang="en-US" sz="3600" dirty="0">
                <a:latin typeface="Crimson Pro Medium" pitchFamily="2" charset="77"/>
              </a:rPr>
              <a:t>"Redefining normal breast cell populations using lncRNAs” (Bitar et al., 2023)</a:t>
            </a:r>
          </a:p>
        </p:txBody>
      </p:sp>
      <p:sp>
        <p:nvSpPr>
          <p:cNvPr id="2" name="Subtitle 1">
            <a:extLst>
              <a:ext uri="{FF2B5EF4-FFF2-40B4-BE49-F238E27FC236}">
                <a16:creationId xmlns:a16="http://schemas.microsoft.com/office/drawing/2014/main" id="{7E5CEC59-E88F-1AA9-2954-884AC4F43214}"/>
              </a:ext>
            </a:extLst>
          </p:cNvPr>
          <p:cNvSpPr>
            <a:spLocks noGrp="1"/>
          </p:cNvSpPr>
          <p:nvPr>
            <p:ph type="subTitle" idx="1"/>
          </p:nvPr>
        </p:nvSpPr>
        <p:spPr>
          <a:xfrm>
            <a:off x="6506221" y="3701725"/>
            <a:ext cx="4600377" cy="769083"/>
          </a:xfrm>
        </p:spPr>
        <p:txBody>
          <a:bodyPr>
            <a:normAutofit/>
          </a:bodyPr>
          <a:lstStyle/>
          <a:p>
            <a:pPr algn="l">
              <a:spcBef>
                <a:spcPts val="400"/>
              </a:spcBef>
            </a:pPr>
            <a:r>
              <a:rPr lang="en-US" sz="2000" i="1" dirty="0">
                <a:latin typeface="Montserrat" pitchFamily="2" charset="77"/>
                <a:cs typeface="Calibri" panose="020F0502020204030204" pitchFamily="34" charset="0"/>
              </a:rPr>
              <a:t>Vik Becker</a:t>
            </a:r>
          </a:p>
          <a:p>
            <a:pPr algn="l">
              <a:spcBef>
                <a:spcPts val="400"/>
              </a:spcBef>
            </a:pPr>
            <a:r>
              <a:rPr lang="en-US" sz="2000" i="1" dirty="0">
                <a:latin typeface="Montserrat" pitchFamily="2" charset="77"/>
                <a:cs typeface="Calibri" panose="020F0502020204030204" pitchFamily="34" charset="0"/>
              </a:rPr>
              <a:t>National Library of Medicine (NIH)</a:t>
            </a:r>
          </a:p>
        </p:txBody>
      </p:sp>
    </p:spTree>
    <p:extLst>
      <p:ext uri="{BB962C8B-B14F-4D97-AF65-F5344CB8AC3E}">
        <p14:creationId xmlns:p14="http://schemas.microsoft.com/office/powerpoint/2010/main" val="2835075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F2778-EA56-DEFC-4FBF-198CE7B57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BDA4E-B18C-BB5E-5B75-033084A42AF3}"/>
              </a:ext>
            </a:extLst>
          </p:cNvPr>
          <p:cNvSpPr>
            <a:spLocks noGrp="1"/>
          </p:cNvSpPr>
          <p:nvPr>
            <p:ph type="title"/>
          </p:nvPr>
        </p:nvSpPr>
        <p:spPr>
          <a:xfrm>
            <a:off x="685446" y="681475"/>
            <a:ext cx="3502240" cy="727405"/>
          </a:xfrm>
        </p:spPr>
        <p:txBody>
          <a:bodyPr>
            <a:noAutofit/>
          </a:bodyPr>
          <a:lstStyle/>
          <a:p>
            <a:r>
              <a:rPr lang="en-US" sz="5400" dirty="0">
                <a:latin typeface="Crimson Pro Medium" pitchFamily="2" charset="77"/>
                <a:cs typeface="Calibri" panose="020F0502020204030204" pitchFamily="34" charset="0"/>
              </a:rPr>
              <a:t>Overview</a:t>
            </a:r>
            <a:endParaRPr lang="en-US" sz="540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4A93BD35-1ED2-FE9D-F919-273C461F0DD2}"/>
              </a:ext>
            </a:extLst>
          </p:cNvPr>
          <p:cNvSpPr>
            <a:spLocks noGrp="1"/>
          </p:cNvSpPr>
          <p:nvPr>
            <p:ph idx="1"/>
          </p:nvPr>
        </p:nvSpPr>
        <p:spPr>
          <a:xfrm>
            <a:off x="1314007" y="1609064"/>
            <a:ext cx="9563986" cy="3970325"/>
          </a:xfrm>
        </p:spPr>
        <p:txBody>
          <a:bodyPr>
            <a:noAutofit/>
          </a:bodyPr>
          <a:lstStyle/>
          <a:p>
            <a:pPr marL="571500" indent="-571500">
              <a:lnSpc>
                <a:spcPct val="150000"/>
              </a:lnSpc>
              <a:spcBef>
                <a:spcPts val="0"/>
              </a:spcBef>
              <a:spcAft>
                <a:spcPts val="1200"/>
              </a:spcAft>
              <a:buFont typeface="+mj-lt"/>
              <a:buAutoNum type="romanUcPeriod"/>
            </a:pPr>
            <a:r>
              <a:rPr lang="en-US" dirty="0">
                <a:latin typeface="Montserrat" pitchFamily="2" charset="77"/>
                <a:cs typeface="Arial" panose="020B0604020202020204" pitchFamily="34" charset="0"/>
              </a:rPr>
              <a:t>Why is “Transcriptional Waste” a Problem?</a:t>
            </a:r>
          </a:p>
          <a:p>
            <a:pPr marL="571500" indent="-571500">
              <a:lnSpc>
                <a:spcPct val="150000"/>
              </a:lnSpc>
              <a:spcBef>
                <a:spcPts val="0"/>
              </a:spcBef>
              <a:spcAft>
                <a:spcPts val="1200"/>
              </a:spcAft>
              <a:buFont typeface="+mj-lt"/>
              <a:buAutoNum type="romanUcPeriod"/>
            </a:pPr>
            <a:r>
              <a:rPr lang="en-US" dirty="0">
                <a:latin typeface="Montserrat" pitchFamily="2" charset="77"/>
                <a:cs typeface="Arial" panose="020B0604020202020204" pitchFamily="34" charset="0"/>
              </a:rPr>
              <a:t>Key Background Information</a:t>
            </a:r>
          </a:p>
          <a:p>
            <a:pPr marL="571500" indent="-571500">
              <a:lnSpc>
                <a:spcPct val="150000"/>
              </a:lnSpc>
              <a:spcBef>
                <a:spcPts val="0"/>
              </a:spcBef>
              <a:spcAft>
                <a:spcPts val="1200"/>
              </a:spcAft>
              <a:buFont typeface="+mj-lt"/>
              <a:buAutoNum type="romanUcPeriod"/>
            </a:pPr>
            <a:r>
              <a:rPr lang="en-US" dirty="0">
                <a:latin typeface="Montserrat" pitchFamily="2" charset="77"/>
                <a:cs typeface="Arial" panose="020B0604020202020204" pitchFamily="34" charset="0"/>
              </a:rPr>
              <a:t>Materials and Methods</a:t>
            </a:r>
          </a:p>
          <a:p>
            <a:pPr marL="571500" indent="-571500">
              <a:lnSpc>
                <a:spcPct val="150000"/>
              </a:lnSpc>
              <a:spcBef>
                <a:spcPts val="0"/>
              </a:spcBef>
              <a:spcAft>
                <a:spcPts val="1200"/>
              </a:spcAft>
              <a:buFont typeface="+mj-lt"/>
              <a:buAutoNum type="romanUcPeriod"/>
            </a:pPr>
            <a:r>
              <a:rPr lang="en-US" dirty="0">
                <a:latin typeface="Montserrat" pitchFamily="2" charset="77"/>
                <a:cs typeface="Arial" panose="020B0604020202020204" pitchFamily="34" charset="0"/>
              </a:rPr>
              <a:t>Relevance of Key Results</a:t>
            </a:r>
          </a:p>
          <a:p>
            <a:pPr marL="571500" indent="-571500">
              <a:lnSpc>
                <a:spcPct val="150000"/>
              </a:lnSpc>
              <a:spcBef>
                <a:spcPts val="0"/>
              </a:spcBef>
              <a:spcAft>
                <a:spcPts val="1200"/>
              </a:spcAft>
              <a:buFont typeface="+mj-lt"/>
              <a:buAutoNum type="romanUcPeriod"/>
            </a:pPr>
            <a:r>
              <a:rPr lang="en-US" dirty="0">
                <a:latin typeface="Montserrat" pitchFamily="2" charset="77"/>
                <a:cs typeface="Arial" panose="020B0604020202020204" pitchFamily="34" charset="0"/>
              </a:rPr>
              <a:t>What the Future Holds</a:t>
            </a:r>
          </a:p>
        </p:txBody>
      </p:sp>
    </p:spTree>
    <p:extLst>
      <p:ext uri="{BB962C8B-B14F-4D97-AF65-F5344CB8AC3E}">
        <p14:creationId xmlns:p14="http://schemas.microsoft.com/office/powerpoint/2010/main" val="3072122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948A3-AECA-082E-A27F-4B95C79E87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1D257E-6C64-8AE4-6639-18F980AF4926}"/>
              </a:ext>
            </a:extLst>
          </p:cNvPr>
          <p:cNvSpPr>
            <a:spLocks noGrp="1"/>
          </p:cNvSpPr>
          <p:nvPr>
            <p:ph idx="1"/>
          </p:nvPr>
        </p:nvSpPr>
        <p:spPr>
          <a:xfrm>
            <a:off x="2485248" y="2047030"/>
            <a:ext cx="7221504" cy="2124919"/>
          </a:xfrm>
        </p:spPr>
        <p:txBody>
          <a:bodyPr>
            <a:noAutofit/>
          </a:bodyPr>
          <a:lstStyle/>
          <a:p>
            <a:pPr marL="571500" indent="-571500">
              <a:lnSpc>
                <a:spcPct val="125000"/>
              </a:lnSpc>
              <a:spcBef>
                <a:spcPts val="0"/>
              </a:spcBef>
              <a:spcAft>
                <a:spcPts val="1200"/>
              </a:spcAft>
              <a:buFont typeface="+mj-lt"/>
              <a:buAutoNum type="romanUcPeriod"/>
            </a:pPr>
            <a:r>
              <a:rPr lang="en-US" sz="5400" dirty="0">
                <a:latin typeface="Crimson Pro Medium" pitchFamily="2" charset="77"/>
                <a:cs typeface="Arial" panose="020B0604020202020204" pitchFamily="34" charset="0"/>
              </a:rPr>
              <a:t>Why is "Transcriptional Waste” a Problem?</a:t>
            </a:r>
          </a:p>
        </p:txBody>
      </p:sp>
    </p:spTree>
    <p:extLst>
      <p:ext uri="{BB962C8B-B14F-4D97-AF65-F5344CB8AC3E}">
        <p14:creationId xmlns:p14="http://schemas.microsoft.com/office/powerpoint/2010/main" val="4162294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34DD2-AD51-6EFD-7965-74A7B3C967B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BCFA1D8C-0E9E-9EA0-8720-460A30442E07}"/>
              </a:ext>
            </a:extLst>
          </p:cNvPr>
          <p:cNvSpPr txBox="1"/>
          <p:nvPr/>
        </p:nvSpPr>
        <p:spPr>
          <a:xfrm>
            <a:off x="296496" y="262167"/>
            <a:ext cx="11685298" cy="1137812"/>
          </a:xfrm>
          <a:prstGeom prst="rect">
            <a:avLst/>
          </a:prstGeom>
          <a:noFill/>
        </p:spPr>
        <p:txBody>
          <a:bodyPr wrap="square">
            <a:spAutoFit/>
          </a:bodyPr>
          <a:lstStyle/>
          <a:p>
            <a:pPr>
              <a:lnSpc>
                <a:spcPct val="150000"/>
              </a:lnSpc>
            </a:pPr>
            <a:r>
              <a:rPr lang="en-US" sz="2400" b="1" dirty="0">
                <a:latin typeface="Montserrat" pitchFamily="2" charset="77"/>
                <a:cs typeface="Calibri" panose="020F0502020204030204" pitchFamily="34" charset="0"/>
              </a:rPr>
              <a:t>The Problem:</a:t>
            </a:r>
            <a:r>
              <a:rPr lang="en-US" sz="2400" dirty="0">
                <a:latin typeface="Montserrat" pitchFamily="2" charset="77"/>
                <a:cs typeface="Calibri" panose="020F0502020204030204" pitchFamily="34" charset="0"/>
              </a:rPr>
              <a:t> </a:t>
            </a:r>
            <a:r>
              <a:rPr lang="en-US" sz="2400" dirty="0" err="1">
                <a:latin typeface="Montserrat" pitchFamily="2" charset="77"/>
                <a:cs typeface="Calibri" panose="020F0502020204030204" pitchFamily="34" charset="0"/>
              </a:rPr>
              <a:t>scRNA</a:t>
            </a:r>
            <a:r>
              <a:rPr lang="en-US" sz="2400" dirty="0">
                <a:latin typeface="Montserrat" pitchFamily="2" charset="77"/>
                <a:cs typeface="Calibri" panose="020F0502020204030204" pitchFamily="34" charset="0"/>
              </a:rPr>
              <a:t>-seq pipelines are built on a </a:t>
            </a:r>
            <a:r>
              <a:rPr lang="en-US" sz="2400" u="sng" dirty="0">
                <a:latin typeface="Montserrat" pitchFamily="2" charset="77"/>
                <a:cs typeface="Calibri" panose="020F0502020204030204" pitchFamily="34" charset="0"/>
              </a:rPr>
              <a:t>“protein-coding bias”</a:t>
            </a:r>
            <a:r>
              <a:rPr lang="en-US" sz="2400" dirty="0">
                <a:latin typeface="Montserrat" pitchFamily="2" charset="77"/>
                <a:cs typeface="Calibri" panose="020F0502020204030204" pitchFamily="34" charset="0"/>
              </a:rPr>
              <a:t> where reads that don’t map to annotated regions are lost in analysis.</a:t>
            </a:r>
          </a:p>
        </p:txBody>
      </p:sp>
      <p:sp>
        <p:nvSpPr>
          <p:cNvPr id="2" name="TextBox 1">
            <a:extLst>
              <a:ext uri="{FF2B5EF4-FFF2-40B4-BE49-F238E27FC236}">
                <a16:creationId xmlns:a16="http://schemas.microsoft.com/office/drawing/2014/main" id="{9D51DFBB-5A34-A6B4-22C1-E26D9352DCF6}"/>
              </a:ext>
            </a:extLst>
          </p:cNvPr>
          <p:cNvSpPr txBox="1"/>
          <p:nvPr/>
        </p:nvSpPr>
        <p:spPr>
          <a:xfrm>
            <a:off x="4246021" y="6257279"/>
            <a:ext cx="7735772" cy="338554"/>
          </a:xfrm>
          <a:prstGeom prst="rect">
            <a:avLst/>
          </a:prstGeom>
          <a:noFill/>
        </p:spPr>
        <p:txBody>
          <a:bodyPr wrap="square" rtlCol="0">
            <a:spAutoFit/>
          </a:bodyPr>
          <a:lstStyle/>
          <a:p>
            <a:pPr algn="r"/>
            <a:r>
              <a:rPr lang="en-US" sz="1600" dirty="0" err="1">
                <a:solidFill>
                  <a:schemeClr val="bg1"/>
                </a:solidFill>
                <a:latin typeface="Calibri" panose="020F0502020204030204" pitchFamily="34" charset="0"/>
                <a:cs typeface="Calibri" panose="020F0502020204030204" pitchFamily="34" charset="0"/>
              </a:rPr>
              <a:t>Wolfien</a:t>
            </a:r>
            <a:r>
              <a:rPr lang="en-US" sz="1600" dirty="0">
                <a:solidFill>
                  <a:schemeClr val="bg1"/>
                </a:solidFill>
                <a:latin typeface="Calibri" panose="020F0502020204030204" pitchFamily="34" charset="0"/>
                <a:cs typeface="Calibri" panose="020F0502020204030204" pitchFamily="34" charset="0"/>
              </a:rPr>
              <a:t> et al. (2021) </a:t>
            </a:r>
            <a:r>
              <a:rPr lang="en-US" sz="1600" b="1" dirty="0">
                <a:solidFill>
                  <a:schemeClr val="bg1"/>
                </a:solidFill>
                <a:latin typeface="Calibri" panose="020F0502020204030204" pitchFamily="34" charset="0"/>
                <a:cs typeface="Calibri" panose="020F0502020204030204" pitchFamily="34" charset="0"/>
              </a:rPr>
              <a:t>Single-Cell RNA Sequencing Procedures and Data Analysis.</a:t>
            </a:r>
            <a:endParaRPr lang="en-US" sz="1600" dirty="0">
              <a:solidFill>
                <a:schemeClr val="bg1"/>
              </a:solidFill>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A2B2FED4-541A-9ABD-DFE6-CAB90EBA9F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993" y="1773421"/>
            <a:ext cx="5659006" cy="3789074"/>
          </a:xfrm>
          <a:prstGeom prst="rect">
            <a:avLst/>
          </a:prstGeom>
        </p:spPr>
      </p:pic>
      <p:sp>
        <p:nvSpPr>
          <p:cNvPr id="10" name="TextBox 9">
            <a:extLst>
              <a:ext uri="{FF2B5EF4-FFF2-40B4-BE49-F238E27FC236}">
                <a16:creationId xmlns:a16="http://schemas.microsoft.com/office/drawing/2014/main" id="{13EBECE9-C2C4-4BE8-85D7-A58EE867FF46}"/>
              </a:ext>
            </a:extLst>
          </p:cNvPr>
          <p:cNvSpPr txBox="1"/>
          <p:nvPr/>
        </p:nvSpPr>
        <p:spPr>
          <a:xfrm>
            <a:off x="5968599" y="1381806"/>
            <a:ext cx="6126007" cy="4554132"/>
          </a:xfrm>
          <a:prstGeom prst="rect">
            <a:avLst/>
          </a:prstGeom>
          <a:noFill/>
        </p:spPr>
        <p:txBody>
          <a:bodyPr wrap="square" rtlCol="0">
            <a:spAutoFit/>
          </a:bodyPr>
          <a:lstStyle/>
          <a:p>
            <a:pPr marL="914400" lvl="1" indent="-457200">
              <a:lnSpc>
                <a:spcPct val="150000"/>
              </a:lnSpc>
              <a:buFont typeface="Arial" panose="020B0604020202020204" pitchFamily="34" charset="0"/>
              <a:buChar char="•"/>
            </a:pPr>
            <a:r>
              <a:rPr lang="en-US" sz="2000" dirty="0">
                <a:latin typeface="Montserrat" pitchFamily="2" charset="77"/>
                <a:cs typeface="Calibri" panose="020F0502020204030204" pitchFamily="34" charset="0"/>
              </a:rPr>
              <a:t>Massive loss of meaningful data!</a:t>
            </a:r>
          </a:p>
          <a:p>
            <a:pPr marL="914400" lvl="1" indent="-457200">
              <a:lnSpc>
                <a:spcPct val="150000"/>
              </a:lnSpc>
              <a:buFont typeface="Arial" panose="020B0604020202020204" pitchFamily="34" charset="0"/>
              <a:buChar char="•"/>
            </a:pPr>
            <a:r>
              <a:rPr lang="en-US" sz="2000" b="1" i="1" dirty="0">
                <a:latin typeface="Montserrat" pitchFamily="2" charset="77"/>
                <a:cs typeface="Calibri" panose="020F0502020204030204" pitchFamily="34" charset="0"/>
              </a:rPr>
              <a:t>EX</a:t>
            </a:r>
            <a:r>
              <a:rPr lang="en-US" sz="2000" dirty="0">
                <a:latin typeface="Montserrat" pitchFamily="2" charset="77"/>
                <a:cs typeface="Calibri" panose="020F0502020204030204" pitchFamily="34" charset="0"/>
              </a:rPr>
              <a:t>: In this study., </a:t>
            </a:r>
            <a:r>
              <a:rPr lang="en-US" sz="2000" b="1" dirty="0">
                <a:latin typeface="Montserrat" pitchFamily="2" charset="77"/>
                <a:cs typeface="Calibri" panose="020F0502020204030204" pitchFamily="34" charset="0"/>
              </a:rPr>
              <a:t>~75% </a:t>
            </a:r>
            <a:r>
              <a:rPr lang="en-US" sz="2000" i="1" dirty="0">
                <a:latin typeface="Montserrat" pitchFamily="2" charset="77"/>
                <a:cs typeface="Calibri" panose="020F0502020204030204" pitchFamily="34" charset="0"/>
              </a:rPr>
              <a:t>(over 13,600!) </a:t>
            </a:r>
            <a:r>
              <a:rPr lang="en-US" sz="2000" dirty="0">
                <a:latin typeface="Montserrat" pitchFamily="2" charset="77"/>
                <a:cs typeface="Calibri" panose="020F0502020204030204" pitchFamily="34" charset="0"/>
              </a:rPr>
              <a:t>of the recovered lncRNAs were previously unannotated and would’ve been discarded in a standard run.</a:t>
            </a:r>
          </a:p>
          <a:p>
            <a:pPr algn="ctr">
              <a:lnSpc>
                <a:spcPct val="150000"/>
              </a:lnSpc>
            </a:pPr>
            <a:r>
              <a:rPr lang="en-US" sz="2400" dirty="0">
                <a:latin typeface="Montserrat" pitchFamily="2" charset="77"/>
                <a:cs typeface="Calibri" panose="020F0502020204030204" pitchFamily="34" charset="0"/>
              </a:rPr>
              <a:t>Annotations </a:t>
            </a:r>
            <a:r>
              <a:rPr lang="en-US" sz="2400" i="1" dirty="0">
                <a:latin typeface="Montserrat" pitchFamily="2" charset="77"/>
                <a:cs typeface="Calibri" panose="020F0502020204030204" pitchFamily="34" charset="0"/>
              </a:rPr>
              <a:t>prioritize</a:t>
            </a:r>
            <a:r>
              <a:rPr lang="en-US" sz="2400" dirty="0">
                <a:latin typeface="Montserrat" pitchFamily="2" charset="77"/>
                <a:cs typeface="Calibri" panose="020F0502020204030204" pitchFamily="34" charset="0"/>
              </a:rPr>
              <a:t> </a:t>
            </a:r>
            <a:r>
              <a:rPr lang="en-US" sz="2400" i="1" dirty="0">
                <a:latin typeface="Montserrat" pitchFamily="2" charset="77"/>
                <a:cs typeface="Calibri" panose="020F0502020204030204" pitchFamily="34" charset="0"/>
              </a:rPr>
              <a:t>coding genes</a:t>
            </a:r>
            <a:r>
              <a:rPr lang="en-US" sz="2400" dirty="0">
                <a:latin typeface="Montserrat" pitchFamily="2" charset="77"/>
                <a:cs typeface="Calibri" panose="020F0502020204030204" pitchFamily="34" charset="0"/>
              </a:rPr>
              <a:t>, which are generally more abundant and have clearer ORFs than the less-conserved lncRNAs.</a:t>
            </a:r>
          </a:p>
        </p:txBody>
      </p:sp>
      <p:sp>
        <p:nvSpPr>
          <p:cNvPr id="24" name="Bent Arrow 23">
            <a:extLst>
              <a:ext uri="{FF2B5EF4-FFF2-40B4-BE49-F238E27FC236}">
                <a16:creationId xmlns:a16="http://schemas.microsoft.com/office/drawing/2014/main" id="{7E575C1A-7CD7-3EEC-1AE5-42F98A7CE6A7}"/>
              </a:ext>
            </a:extLst>
          </p:cNvPr>
          <p:cNvSpPr/>
          <p:nvPr/>
        </p:nvSpPr>
        <p:spPr>
          <a:xfrm flipV="1">
            <a:off x="436993" y="1381805"/>
            <a:ext cx="319752" cy="552098"/>
          </a:xfrm>
          <a:prstGeom prst="bentArrow">
            <a:avLst>
              <a:gd name="adj1" fmla="val 25000"/>
              <a:gd name="adj2" fmla="val 35718"/>
              <a:gd name="adj3" fmla="val 25000"/>
              <a:gd name="adj4" fmla="val 4811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highlight>
                <a:srgbClr val="FFFF00"/>
              </a:highlight>
            </a:endParaRPr>
          </a:p>
        </p:txBody>
      </p:sp>
    </p:spTree>
    <p:extLst>
      <p:ext uri="{BB962C8B-B14F-4D97-AF65-F5344CB8AC3E}">
        <p14:creationId xmlns:p14="http://schemas.microsoft.com/office/powerpoint/2010/main" val="1559655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AF09D-7521-EEE0-0F0B-E4DBB5FE89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1BB1D5-A3AD-DF52-7B1E-61B4E7DA59FD}"/>
              </a:ext>
            </a:extLst>
          </p:cNvPr>
          <p:cNvSpPr>
            <a:spLocks noGrp="1"/>
          </p:cNvSpPr>
          <p:nvPr>
            <p:ph idx="1"/>
          </p:nvPr>
        </p:nvSpPr>
        <p:spPr>
          <a:xfrm>
            <a:off x="3187101" y="2066948"/>
            <a:ext cx="5817798" cy="2153494"/>
          </a:xfrm>
        </p:spPr>
        <p:txBody>
          <a:bodyPr>
            <a:noAutofit/>
          </a:bodyPr>
          <a:lstStyle/>
          <a:p>
            <a:pPr marL="1028700" indent="-1028700">
              <a:lnSpc>
                <a:spcPct val="125000"/>
              </a:lnSpc>
              <a:spcBef>
                <a:spcPts val="0"/>
              </a:spcBef>
              <a:spcAft>
                <a:spcPts val="1200"/>
              </a:spcAft>
              <a:buFont typeface="+mj-lt"/>
              <a:buAutoNum type="romanUcPeriod" startAt="2"/>
            </a:pPr>
            <a:r>
              <a:rPr lang="en-US" sz="5400" dirty="0">
                <a:latin typeface="Crimson Pro Medium" pitchFamily="2" charset="77"/>
                <a:cs typeface="Arial" panose="020B0604020202020204" pitchFamily="34" charset="0"/>
              </a:rPr>
              <a:t>Key Background Information</a:t>
            </a:r>
          </a:p>
        </p:txBody>
      </p:sp>
    </p:spTree>
    <p:extLst>
      <p:ext uri="{BB962C8B-B14F-4D97-AF65-F5344CB8AC3E}">
        <p14:creationId xmlns:p14="http://schemas.microsoft.com/office/powerpoint/2010/main" val="8498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555B5-44D5-9E9F-25DC-2B03A12B2CD4}"/>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FCFF756-3DFD-8E29-B0E7-D3C0623C21D8}"/>
              </a:ext>
            </a:extLst>
          </p:cNvPr>
          <p:cNvSpPr>
            <a:spLocks noGrp="1"/>
          </p:cNvSpPr>
          <p:nvPr>
            <p:ph type="title"/>
          </p:nvPr>
        </p:nvSpPr>
        <p:spPr>
          <a:xfrm>
            <a:off x="319191" y="352552"/>
            <a:ext cx="8428161" cy="727405"/>
          </a:xfrm>
        </p:spPr>
        <p:txBody>
          <a:bodyPr>
            <a:noAutofit/>
          </a:bodyPr>
          <a:lstStyle/>
          <a:p>
            <a:r>
              <a:rPr lang="en-US" sz="5400" dirty="0">
                <a:latin typeface="Crimson Pro Medium" pitchFamily="2" charset="77"/>
                <a:cs typeface="Calibri" panose="020F0502020204030204" pitchFamily="34" charset="0"/>
              </a:rPr>
              <a:t>Non-Coding RNA (ncRNA)</a:t>
            </a:r>
            <a:endParaRPr lang="en-US" sz="5400"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13F65BF8-44CF-D393-F795-392335547EAF}"/>
              </a:ext>
            </a:extLst>
          </p:cNvPr>
          <p:cNvSpPr txBox="1"/>
          <p:nvPr/>
        </p:nvSpPr>
        <p:spPr>
          <a:xfrm>
            <a:off x="319191" y="1079957"/>
            <a:ext cx="11553618" cy="584775"/>
          </a:xfrm>
          <a:prstGeom prst="rect">
            <a:avLst/>
          </a:prstGeom>
          <a:noFill/>
        </p:spPr>
        <p:txBody>
          <a:bodyPr wrap="square">
            <a:spAutoFit/>
          </a:bodyPr>
          <a:lstStyle/>
          <a:p>
            <a:r>
              <a:rPr lang="en-US" sz="3200" i="1" dirty="0">
                <a:latin typeface="Montserrat" pitchFamily="2" charset="77"/>
                <a:cs typeface="Calibri" panose="020F0502020204030204" pitchFamily="34" charset="0"/>
              </a:rPr>
              <a:t>= transcriptional products that do not encode proteins.</a:t>
            </a:r>
            <a:endParaRPr lang="en-US" sz="3200" i="1" dirty="0"/>
          </a:p>
        </p:txBody>
      </p:sp>
      <p:sp>
        <p:nvSpPr>
          <p:cNvPr id="21" name="TextBox 20">
            <a:extLst>
              <a:ext uri="{FF2B5EF4-FFF2-40B4-BE49-F238E27FC236}">
                <a16:creationId xmlns:a16="http://schemas.microsoft.com/office/drawing/2014/main" id="{DBA2CA2A-4139-FAF4-50E0-AC9BF5690BD3}"/>
              </a:ext>
            </a:extLst>
          </p:cNvPr>
          <p:cNvSpPr txBox="1"/>
          <p:nvPr/>
        </p:nvSpPr>
        <p:spPr>
          <a:xfrm>
            <a:off x="319191" y="1604968"/>
            <a:ext cx="11330294" cy="427713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Montserrat" pitchFamily="2" charset="77"/>
                <a:cs typeface="Calibri" panose="020F0502020204030204" pitchFamily="34" charset="0"/>
              </a:rPr>
              <a:t>Though it's estimated that </a:t>
            </a:r>
            <a:r>
              <a:rPr lang="en-US" sz="2800" b="1" dirty="0">
                <a:latin typeface="Montserrat" pitchFamily="2" charset="77"/>
                <a:cs typeface="Calibri" panose="020F0502020204030204" pitchFamily="34" charset="0"/>
              </a:rPr>
              <a:t>~75%</a:t>
            </a:r>
            <a:r>
              <a:rPr lang="en-US" sz="2800" dirty="0">
                <a:latin typeface="Montserrat" pitchFamily="2" charset="77"/>
                <a:cs typeface="Calibri" panose="020F0502020204030204" pitchFamily="34" charset="0"/>
              </a:rPr>
              <a:t> of the human genome is transcribed, only </a:t>
            </a:r>
            <a:r>
              <a:rPr lang="en-US" sz="2800" b="1" dirty="0">
                <a:latin typeface="Montserrat" pitchFamily="2" charset="77"/>
                <a:cs typeface="Calibri" panose="020F0502020204030204" pitchFamily="34" charset="0"/>
              </a:rPr>
              <a:t>~1-2% </a:t>
            </a:r>
            <a:r>
              <a:rPr lang="en-US" sz="2800" dirty="0">
                <a:latin typeface="Montserrat" pitchFamily="2" charset="77"/>
                <a:cs typeface="Calibri" panose="020F0502020204030204" pitchFamily="34" charset="0"/>
              </a:rPr>
              <a:t>is protein coding!</a:t>
            </a:r>
          </a:p>
          <a:p>
            <a:pPr marL="457200" indent="-457200">
              <a:lnSpc>
                <a:spcPct val="150000"/>
              </a:lnSpc>
              <a:buFont typeface="Arial" panose="020B0604020202020204" pitchFamily="34" charset="0"/>
              <a:buChar char="•"/>
            </a:pPr>
            <a:r>
              <a:rPr lang="en-US" sz="2800" dirty="0">
                <a:latin typeface="Montserrat" pitchFamily="2" charset="77"/>
                <a:cs typeface="Calibri" panose="020F0502020204030204" pitchFamily="34" charset="0"/>
              </a:rPr>
              <a:t>ncRNA </a:t>
            </a:r>
            <a:r>
              <a:rPr lang="en-US" sz="2800" i="1" dirty="0">
                <a:latin typeface="Montserrat" pitchFamily="2" charset="77"/>
                <a:cs typeface="Calibri" panose="020F0502020204030204" pitchFamily="34" charset="0"/>
              </a:rPr>
              <a:t>initially</a:t>
            </a:r>
            <a:r>
              <a:rPr lang="en-US" sz="2800" dirty="0">
                <a:latin typeface="Montserrat" pitchFamily="2" charset="77"/>
                <a:cs typeface="Calibri" panose="020F0502020204030204" pitchFamily="34" charset="0"/>
              </a:rPr>
              <a:t> considered an RNA processing byproduct.</a:t>
            </a:r>
          </a:p>
          <a:p>
            <a:pPr marL="457200" indent="-457200">
              <a:lnSpc>
                <a:spcPct val="150000"/>
              </a:lnSpc>
              <a:buFont typeface="Arial" panose="020B0604020202020204" pitchFamily="34" charset="0"/>
              <a:buChar char="•"/>
            </a:pPr>
            <a:r>
              <a:rPr lang="en-US" sz="2800" u="sng" dirty="0">
                <a:latin typeface="Montserrat" pitchFamily="2" charset="77"/>
                <a:cs typeface="Calibri" panose="020F0502020204030204" pitchFamily="34" charset="0"/>
              </a:rPr>
              <a:t>Regulatory ncRNA Discovery Timeline:</a:t>
            </a:r>
          </a:p>
          <a:p>
            <a:pPr marL="914400" lvl="1" indent="-457200">
              <a:lnSpc>
                <a:spcPct val="150000"/>
              </a:lnSpc>
              <a:buFont typeface="Arial" panose="020B0604020202020204" pitchFamily="34" charset="0"/>
              <a:buChar char="•"/>
            </a:pPr>
            <a:r>
              <a:rPr lang="en-US" sz="2400" b="1" dirty="0">
                <a:latin typeface="Montserrat" pitchFamily="2" charset="77"/>
                <a:cs typeface="Calibri" panose="020F0502020204030204" pitchFamily="34" charset="0"/>
              </a:rPr>
              <a:t>1990</a:t>
            </a:r>
            <a:r>
              <a:rPr lang="en-US" sz="2400" dirty="0">
                <a:latin typeface="Montserrat" pitchFamily="2" charset="77"/>
                <a:cs typeface="Calibri" panose="020F0502020204030204" pitchFamily="34" charset="0"/>
              </a:rPr>
              <a:t>: First human regulatory lncRNA, </a:t>
            </a:r>
            <a:r>
              <a:rPr lang="en-US" sz="2400" i="1" dirty="0">
                <a:latin typeface="Montserrat" pitchFamily="2" charset="77"/>
                <a:cs typeface="Calibri" panose="020F0502020204030204" pitchFamily="34" charset="0"/>
              </a:rPr>
              <a:t>H19</a:t>
            </a:r>
            <a:r>
              <a:rPr lang="en-US" sz="2400" dirty="0">
                <a:latin typeface="Montserrat" pitchFamily="2" charset="77"/>
                <a:cs typeface="Calibri" panose="020F0502020204030204" pitchFamily="34" charset="0"/>
              </a:rPr>
              <a:t>, identified.</a:t>
            </a:r>
          </a:p>
          <a:p>
            <a:pPr marL="914400" lvl="1" indent="-457200">
              <a:lnSpc>
                <a:spcPct val="150000"/>
              </a:lnSpc>
              <a:buFont typeface="Arial" panose="020B0604020202020204" pitchFamily="34" charset="0"/>
              <a:buChar char="•"/>
            </a:pPr>
            <a:r>
              <a:rPr lang="en-US" sz="2400" b="1" dirty="0">
                <a:latin typeface="Montserrat" pitchFamily="2" charset="77"/>
                <a:cs typeface="Calibri" panose="020F0502020204030204" pitchFamily="34" charset="0"/>
              </a:rPr>
              <a:t>2007</a:t>
            </a:r>
            <a:r>
              <a:rPr lang="en-US" sz="2400" dirty="0">
                <a:latin typeface="Montserrat" pitchFamily="2" charset="77"/>
                <a:cs typeface="Calibri" panose="020F0502020204030204" pitchFamily="34" charset="0"/>
              </a:rPr>
              <a:t>: Encyclopedia of DNA Elements (ENCODE) project initiation.</a:t>
            </a:r>
          </a:p>
          <a:p>
            <a:pPr marL="914400" lvl="1" indent="-457200">
              <a:lnSpc>
                <a:spcPct val="150000"/>
              </a:lnSpc>
              <a:buFont typeface="Arial" panose="020B0604020202020204" pitchFamily="34" charset="0"/>
              <a:buChar char="•"/>
            </a:pPr>
            <a:r>
              <a:rPr lang="en-US" sz="2400" b="1" dirty="0">
                <a:latin typeface="Montserrat" pitchFamily="2" charset="77"/>
                <a:cs typeface="Calibri" panose="020F0502020204030204" pitchFamily="34" charset="0"/>
              </a:rPr>
              <a:t>2019</a:t>
            </a:r>
            <a:r>
              <a:rPr lang="en-US" sz="2400" dirty="0">
                <a:latin typeface="Montserrat" pitchFamily="2" charset="77"/>
                <a:cs typeface="Calibri" panose="020F0502020204030204" pitchFamily="34" charset="0"/>
              </a:rPr>
              <a:t>: First FDA-approved diagnostic lncRNA biomarker.</a:t>
            </a:r>
          </a:p>
        </p:txBody>
      </p:sp>
      <p:sp>
        <p:nvSpPr>
          <p:cNvPr id="2" name="TextBox 1">
            <a:extLst>
              <a:ext uri="{FF2B5EF4-FFF2-40B4-BE49-F238E27FC236}">
                <a16:creationId xmlns:a16="http://schemas.microsoft.com/office/drawing/2014/main" id="{107731DF-F438-8B6E-F246-159BCC13E48B}"/>
              </a:ext>
            </a:extLst>
          </p:cNvPr>
          <p:cNvSpPr txBox="1"/>
          <p:nvPr/>
        </p:nvSpPr>
        <p:spPr>
          <a:xfrm>
            <a:off x="4337566" y="6114788"/>
            <a:ext cx="7735772" cy="584775"/>
          </a:xfrm>
          <a:prstGeom prst="rect">
            <a:avLst/>
          </a:prstGeom>
          <a:noFill/>
        </p:spPr>
        <p:txBody>
          <a:bodyPr wrap="square" rtlCol="0">
            <a:spAutoFit/>
          </a:bodyPr>
          <a:lstStyle/>
          <a:p>
            <a:pPr algn="r"/>
            <a:r>
              <a:rPr lang="en-US" sz="1600" dirty="0" err="1">
                <a:solidFill>
                  <a:schemeClr val="bg1"/>
                </a:solidFill>
                <a:latin typeface="Calibri" panose="020F0502020204030204" pitchFamily="34" charset="0"/>
                <a:cs typeface="Calibri" panose="020F0502020204030204" pitchFamily="34" charset="0"/>
              </a:rPr>
              <a:t>Djebali</a:t>
            </a:r>
            <a:r>
              <a:rPr lang="en-US" sz="1600" dirty="0">
                <a:solidFill>
                  <a:schemeClr val="bg1"/>
                </a:solidFill>
                <a:latin typeface="Calibri" panose="020F0502020204030204" pitchFamily="34" charset="0"/>
                <a:cs typeface="Calibri" panose="020F0502020204030204" pitchFamily="34" charset="0"/>
              </a:rPr>
              <a:t> et al. (2024) </a:t>
            </a:r>
            <a:r>
              <a:rPr lang="en-US" sz="1600" b="1" dirty="0">
                <a:solidFill>
                  <a:schemeClr val="bg1"/>
                </a:solidFill>
                <a:latin typeface="Calibri" panose="020F0502020204030204" pitchFamily="34" charset="0"/>
                <a:cs typeface="Calibri" panose="020F0502020204030204" pitchFamily="34" charset="0"/>
              </a:rPr>
              <a:t>Landscape of transcription in human cells.</a:t>
            </a:r>
            <a:endParaRPr lang="en-US" sz="1600" dirty="0">
              <a:solidFill>
                <a:schemeClr val="bg1"/>
              </a:solidFill>
              <a:latin typeface="Calibri" panose="020F0502020204030204" pitchFamily="34" charset="0"/>
              <a:cs typeface="Calibri" panose="020F0502020204030204" pitchFamily="34" charset="0"/>
            </a:endParaRPr>
          </a:p>
          <a:p>
            <a:pPr algn="r"/>
            <a:r>
              <a:rPr lang="en-US" sz="1600" dirty="0">
                <a:solidFill>
                  <a:schemeClr val="bg1"/>
                </a:solidFill>
                <a:latin typeface="Calibri" panose="020F0502020204030204" pitchFamily="34" charset="0"/>
                <a:cs typeface="Calibri" panose="020F0502020204030204" pitchFamily="34" charset="0"/>
              </a:rPr>
              <a:t>Chen et al. (2024) </a:t>
            </a:r>
            <a:r>
              <a:rPr lang="en-US" sz="1600" b="1" dirty="0">
                <a:solidFill>
                  <a:schemeClr val="bg1"/>
                </a:solidFill>
                <a:latin typeface="Calibri" panose="020F0502020204030204" pitchFamily="34" charset="0"/>
                <a:cs typeface="Calibri" panose="020F0502020204030204" pitchFamily="34" charset="0"/>
              </a:rPr>
              <a:t>Small and long non-coding RNAs: Past, present, and future.</a:t>
            </a:r>
          </a:p>
        </p:txBody>
      </p:sp>
    </p:spTree>
    <p:extLst>
      <p:ext uri="{BB962C8B-B14F-4D97-AF65-F5344CB8AC3E}">
        <p14:creationId xmlns:p14="http://schemas.microsoft.com/office/powerpoint/2010/main" val="2506031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F52E9-E100-DDD8-64A0-A0B5FA557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DD79C-2741-C4BD-F5BE-3C3290451E5B}"/>
              </a:ext>
            </a:extLst>
          </p:cNvPr>
          <p:cNvSpPr>
            <a:spLocks noGrp="1"/>
          </p:cNvSpPr>
          <p:nvPr>
            <p:ph type="title"/>
          </p:nvPr>
        </p:nvSpPr>
        <p:spPr>
          <a:xfrm>
            <a:off x="302006" y="319820"/>
            <a:ext cx="9603261" cy="727405"/>
          </a:xfrm>
        </p:spPr>
        <p:txBody>
          <a:bodyPr>
            <a:noAutofit/>
          </a:bodyPr>
          <a:lstStyle/>
          <a:p>
            <a:r>
              <a:rPr lang="en-US" sz="5400" dirty="0">
                <a:latin typeface="Crimson Pro Medium" pitchFamily="2" charset="77"/>
              </a:rPr>
              <a:t>Long Non-Coding RNA (lncRNA)</a:t>
            </a:r>
          </a:p>
        </p:txBody>
      </p:sp>
      <p:sp>
        <p:nvSpPr>
          <p:cNvPr id="3" name="Content Placeholder 2">
            <a:extLst>
              <a:ext uri="{FF2B5EF4-FFF2-40B4-BE49-F238E27FC236}">
                <a16:creationId xmlns:a16="http://schemas.microsoft.com/office/drawing/2014/main" id="{5C5F4707-CF64-95A5-3F27-A397C5ABB391}"/>
              </a:ext>
            </a:extLst>
          </p:cNvPr>
          <p:cNvSpPr>
            <a:spLocks noGrp="1"/>
          </p:cNvSpPr>
          <p:nvPr>
            <p:ph idx="1"/>
          </p:nvPr>
        </p:nvSpPr>
        <p:spPr>
          <a:xfrm>
            <a:off x="3535062" y="1537123"/>
            <a:ext cx="8503805" cy="4236145"/>
          </a:xfrm>
        </p:spPr>
        <p:txBody>
          <a:bodyPr>
            <a:noAutofit/>
          </a:bodyPr>
          <a:lstStyle/>
          <a:p>
            <a:pPr>
              <a:lnSpc>
                <a:spcPts val="2880"/>
              </a:lnSpc>
            </a:pPr>
            <a:r>
              <a:rPr lang="en-US" sz="2400" dirty="0">
                <a:latin typeface="Montserrat" pitchFamily="2" charset="77"/>
              </a:rPr>
              <a:t>Expression is often </a:t>
            </a:r>
            <a:r>
              <a:rPr lang="en-US" sz="2400" i="1" dirty="0">
                <a:latin typeface="Montserrat" pitchFamily="2" charset="77"/>
              </a:rPr>
              <a:t>highly specific </a:t>
            </a:r>
            <a:r>
              <a:rPr lang="en-US" sz="2400" dirty="0">
                <a:latin typeface="Montserrat" pitchFamily="2" charset="77"/>
              </a:rPr>
              <a:t>to context.</a:t>
            </a:r>
            <a:endParaRPr lang="en-US" sz="2400" b="1" dirty="0">
              <a:latin typeface="Montserrat" pitchFamily="2" charset="77"/>
            </a:endParaRPr>
          </a:p>
          <a:p>
            <a:pPr>
              <a:lnSpc>
                <a:spcPts val="2880"/>
              </a:lnSpc>
            </a:pPr>
            <a:r>
              <a:rPr lang="en-US" sz="2400" b="1" dirty="0">
                <a:latin typeface="Montserrat" pitchFamily="2" charset="77"/>
              </a:rPr>
              <a:t>Major Functional Classes</a:t>
            </a:r>
            <a:r>
              <a:rPr lang="en-US" sz="2400" dirty="0">
                <a:latin typeface="Montserrat" pitchFamily="2" charset="77"/>
              </a:rPr>
              <a:t>:</a:t>
            </a:r>
          </a:p>
          <a:p>
            <a:pPr lvl="1">
              <a:lnSpc>
                <a:spcPts val="2880"/>
              </a:lnSpc>
            </a:pPr>
            <a:r>
              <a:rPr lang="en-US" sz="2000" u="sng" dirty="0">
                <a:latin typeface="Montserrat" pitchFamily="2" charset="77"/>
              </a:rPr>
              <a:t>Signal</a:t>
            </a:r>
            <a:r>
              <a:rPr lang="en-US" sz="2000" dirty="0">
                <a:latin typeface="Montserrat" pitchFamily="2" charset="77"/>
              </a:rPr>
              <a:t> = facilitate enhancer-promoter interactions through stabilizing chromatin loops.</a:t>
            </a:r>
            <a:endParaRPr lang="en-US" sz="2000" u="sng" dirty="0">
              <a:latin typeface="Montserrat" pitchFamily="2" charset="77"/>
            </a:endParaRPr>
          </a:p>
          <a:p>
            <a:pPr lvl="1">
              <a:lnSpc>
                <a:spcPts val="2880"/>
              </a:lnSpc>
            </a:pPr>
            <a:r>
              <a:rPr lang="en-US" sz="2000" u="sng" dirty="0">
                <a:latin typeface="Montserrat" pitchFamily="2" charset="77"/>
              </a:rPr>
              <a:t>Decoys</a:t>
            </a:r>
            <a:r>
              <a:rPr lang="en-US" sz="2000" dirty="0">
                <a:latin typeface="Montserrat" pitchFamily="2" charset="77"/>
              </a:rPr>
              <a:t> = sequester miRNAs, mRNAs, or proteins.</a:t>
            </a:r>
          </a:p>
          <a:p>
            <a:pPr lvl="1">
              <a:lnSpc>
                <a:spcPts val="2880"/>
              </a:lnSpc>
            </a:pPr>
            <a:r>
              <a:rPr lang="en-US" sz="2000" u="sng" dirty="0">
                <a:latin typeface="Montserrat" pitchFamily="2" charset="77"/>
              </a:rPr>
              <a:t>Guides</a:t>
            </a:r>
            <a:r>
              <a:rPr lang="en-US" sz="2000" dirty="0">
                <a:latin typeface="Montserrat" pitchFamily="2" charset="77"/>
              </a:rPr>
              <a:t> = recruit chromatin-modifying proteins to specific genomic loci in</a:t>
            </a:r>
            <a:r>
              <a:rPr lang="en-US" sz="2000" i="1" dirty="0">
                <a:latin typeface="Montserrat" pitchFamily="2" charset="77"/>
              </a:rPr>
              <a:t> cis </a:t>
            </a:r>
            <a:r>
              <a:rPr lang="en-US" sz="2000" dirty="0">
                <a:latin typeface="Montserrat" pitchFamily="2" charset="77"/>
              </a:rPr>
              <a:t>or in</a:t>
            </a:r>
            <a:r>
              <a:rPr lang="en-US" sz="2000" i="1" dirty="0">
                <a:latin typeface="Montserrat" pitchFamily="2" charset="77"/>
              </a:rPr>
              <a:t> trans.</a:t>
            </a:r>
            <a:endParaRPr lang="en-US" sz="2000" dirty="0">
              <a:latin typeface="Montserrat" pitchFamily="2" charset="77"/>
            </a:endParaRPr>
          </a:p>
          <a:p>
            <a:pPr lvl="1">
              <a:lnSpc>
                <a:spcPts val="2880"/>
              </a:lnSpc>
            </a:pPr>
            <a:r>
              <a:rPr lang="en-US" sz="2000" u="sng" dirty="0">
                <a:latin typeface="Montserrat" pitchFamily="2" charset="77"/>
              </a:rPr>
              <a:t>Scaffolds</a:t>
            </a:r>
            <a:r>
              <a:rPr lang="en-US" sz="2000" dirty="0">
                <a:latin typeface="Montserrat" pitchFamily="2" charset="77"/>
              </a:rPr>
              <a:t> = assemble multiprotein regulatory complexes.</a:t>
            </a:r>
          </a:p>
          <a:p>
            <a:pPr>
              <a:lnSpc>
                <a:spcPts val="2880"/>
              </a:lnSpc>
            </a:pPr>
            <a:r>
              <a:rPr lang="en-US" sz="2400" dirty="0">
                <a:latin typeface="Montserrat" pitchFamily="2" charset="77"/>
              </a:rPr>
              <a:t>Difficult to annotate due to </a:t>
            </a:r>
            <a:r>
              <a:rPr lang="en-US" sz="2400" i="1" dirty="0">
                <a:latin typeface="Montserrat" pitchFamily="2" charset="77"/>
              </a:rPr>
              <a:t>low sequence and evolutionary conservation</a:t>
            </a:r>
            <a:r>
              <a:rPr lang="en-US" sz="2400" dirty="0">
                <a:latin typeface="Montserrat" pitchFamily="2" charset="77"/>
              </a:rPr>
              <a:t> and </a:t>
            </a:r>
            <a:r>
              <a:rPr lang="en-US" sz="2400" i="1" dirty="0">
                <a:latin typeface="Montserrat" pitchFamily="2" charset="77"/>
              </a:rPr>
              <a:t>low expression levels</a:t>
            </a:r>
            <a:r>
              <a:rPr lang="en-US" sz="2400" dirty="0">
                <a:latin typeface="Montserrat" pitchFamily="2" charset="77"/>
              </a:rPr>
              <a:t>.</a:t>
            </a:r>
          </a:p>
        </p:txBody>
      </p:sp>
      <p:sp>
        <p:nvSpPr>
          <p:cNvPr id="14" name="TextBox 13">
            <a:extLst>
              <a:ext uri="{FF2B5EF4-FFF2-40B4-BE49-F238E27FC236}">
                <a16:creationId xmlns:a16="http://schemas.microsoft.com/office/drawing/2014/main" id="{E356525A-8BB4-3951-F704-3EB52180C33E}"/>
              </a:ext>
            </a:extLst>
          </p:cNvPr>
          <p:cNvSpPr txBox="1"/>
          <p:nvPr/>
        </p:nvSpPr>
        <p:spPr>
          <a:xfrm>
            <a:off x="299945" y="1047225"/>
            <a:ext cx="8778007" cy="400110"/>
          </a:xfrm>
          <a:prstGeom prst="rect">
            <a:avLst/>
          </a:prstGeom>
          <a:noFill/>
        </p:spPr>
        <p:txBody>
          <a:bodyPr wrap="square">
            <a:spAutoFit/>
          </a:bodyPr>
          <a:lstStyle/>
          <a:p>
            <a:pPr marL="0" indent="0">
              <a:buNone/>
            </a:pPr>
            <a:r>
              <a:rPr lang="en-US" sz="2000" i="1" dirty="0">
                <a:latin typeface="Montserrat" pitchFamily="2" charset="77"/>
              </a:rPr>
              <a:t>= non-coding RNA transcripts </a:t>
            </a:r>
            <a:r>
              <a:rPr lang="en-US" sz="2000" i="1" u="sng" dirty="0">
                <a:latin typeface="Montserrat" pitchFamily="2" charset="77"/>
              </a:rPr>
              <a:t>greater than 200</a:t>
            </a:r>
            <a:r>
              <a:rPr lang="en-US" sz="2000" i="1" dirty="0">
                <a:latin typeface="Montserrat" pitchFamily="2" charset="77"/>
              </a:rPr>
              <a:t> nucleotides long.</a:t>
            </a:r>
          </a:p>
        </p:txBody>
      </p:sp>
      <p:pic>
        <p:nvPicPr>
          <p:cNvPr id="7" name="Picture 6">
            <a:extLst>
              <a:ext uri="{FF2B5EF4-FFF2-40B4-BE49-F238E27FC236}">
                <a16:creationId xmlns:a16="http://schemas.microsoft.com/office/drawing/2014/main" id="{7656E1A5-DAE6-3074-D629-5949D09088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347" y="1537123"/>
            <a:ext cx="2474323" cy="4236145"/>
          </a:xfrm>
          <a:prstGeom prst="rect">
            <a:avLst/>
          </a:prstGeom>
        </p:spPr>
      </p:pic>
      <p:sp>
        <p:nvSpPr>
          <p:cNvPr id="9" name="TextBox 8">
            <a:extLst>
              <a:ext uri="{FF2B5EF4-FFF2-40B4-BE49-F238E27FC236}">
                <a16:creationId xmlns:a16="http://schemas.microsoft.com/office/drawing/2014/main" id="{23271613-A638-D736-4336-A22BF2A60E55}"/>
              </a:ext>
            </a:extLst>
          </p:cNvPr>
          <p:cNvSpPr txBox="1"/>
          <p:nvPr/>
        </p:nvSpPr>
        <p:spPr>
          <a:xfrm>
            <a:off x="4319081" y="6144192"/>
            <a:ext cx="7655205"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Poloni et al. (2024) </a:t>
            </a:r>
            <a:r>
              <a:rPr lang="en-US" sz="1600" b="1" dirty="0">
                <a:solidFill>
                  <a:schemeClr val="bg1"/>
                </a:solidFill>
                <a:latin typeface="Calibri" panose="020F0502020204030204" pitchFamily="34" charset="0"/>
                <a:cs typeface="Calibri" panose="020F0502020204030204" pitchFamily="34" charset="0"/>
              </a:rPr>
              <a:t>Localization is the key to action: regulatory peculiarities of lncRNAs. </a:t>
            </a:r>
            <a:r>
              <a:rPr lang="en-US" sz="1600" dirty="0">
                <a:solidFill>
                  <a:schemeClr val="bg1"/>
                </a:solidFill>
                <a:latin typeface="Calibri" panose="020F0502020204030204" pitchFamily="34" charset="0"/>
                <a:cs typeface="Calibri" panose="020F0502020204030204" pitchFamily="34" charset="0"/>
              </a:rPr>
              <a:t>Figure 1(b). “Molecular function of lncRNAs.”</a:t>
            </a:r>
          </a:p>
        </p:txBody>
      </p:sp>
    </p:spTree>
    <p:extLst>
      <p:ext uri="{BB962C8B-B14F-4D97-AF65-F5344CB8AC3E}">
        <p14:creationId xmlns:p14="http://schemas.microsoft.com/office/powerpoint/2010/main" val="3971832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8180C-A480-BB23-49DC-991F7964E7D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8F2246F-0D66-B8F3-A155-DCC9BFA76C48}"/>
              </a:ext>
            </a:extLst>
          </p:cNvPr>
          <p:cNvPicPr>
            <a:picLocks noChangeAspect="1"/>
          </p:cNvPicPr>
          <p:nvPr/>
        </p:nvPicPr>
        <p:blipFill>
          <a:blip r:embed="rId3">
            <a:extLst>
              <a:ext uri="{28A0092B-C50C-407E-A947-70E740481C1C}">
                <a14:useLocalDpi xmlns:a14="http://schemas.microsoft.com/office/drawing/2010/main" val="0"/>
              </a:ext>
            </a:extLst>
          </a:blip>
          <a:srcRect l="12170" t="2593" r="12170" b="11052"/>
          <a:stretch>
            <a:fillRect/>
          </a:stretch>
        </p:blipFill>
        <p:spPr>
          <a:xfrm>
            <a:off x="6096000" y="683522"/>
            <a:ext cx="5793995" cy="4959619"/>
          </a:xfrm>
          <a:prstGeom prst="rect">
            <a:avLst/>
          </a:prstGeom>
        </p:spPr>
      </p:pic>
      <p:sp>
        <p:nvSpPr>
          <p:cNvPr id="2" name="Title 1">
            <a:extLst>
              <a:ext uri="{FF2B5EF4-FFF2-40B4-BE49-F238E27FC236}">
                <a16:creationId xmlns:a16="http://schemas.microsoft.com/office/drawing/2014/main" id="{EA999383-1F2B-EA61-A813-0D99402CEBCE}"/>
              </a:ext>
            </a:extLst>
          </p:cNvPr>
          <p:cNvSpPr>
            <a:spLocks noGrp="1"/>
          </p:cNvSpPr>
          <p:nvPr>
            <p:ph type="title"/>
          </p:nvPr>
        </p:nvSpPr>
        <p:spPr>
          <a:xfrm>
            <a:off x="302006" y="319820"/>
            <a:ext cx="5793994" cy="727405"/>
          </a:xfrm>
        </p:spPr>
        <p:txBody>
          <a:bodyPr>
            <a:noAutofit/>
          </a:bodyPr>
          <a:lstStyle/>
          <a:p>
            <a:r>
              <a:rPr lang="en-US" sz="5400" dirty="0">
                <a:latin typeface="Crimson Pro Medium" pitchFamily="2" charset="77"/>
              </a:rPr>
              <a:t>Human Breast Cells</a:t>
            </a:r>
          </a:p>
        </p:txBody>
      </p:sp>
      <p:sp>
        <p:nvSpPr>
          <p:cNvPr id="3" name="Content Placeholder 2">
            <a:extLst>
              <a:ext uri="{FF2B5EF4-FFF2-40B4-BE49-F238E27FC236}">
                <a16:creationId xmlns:a16="http://schemas.microsoft.com/office/drawing/2014/main" id="{FED41CE8-C642-DD17-666E-A6B7B4517F3A}"/>
              </a:ext>
            </a:extLst>
          </p:cNvPr>
          <p:cNvSpPr>
            <a:spLocks noGrp="1"/>
          </p:cNvSpPr>
          <p:nvPr>
            <p:ph idx="1"/>
          </p:nvPr>
        </p:nvSpPr>
        <p:spPr>
          <a:xfrm>
            <a:off x="384224" y="949190"/>
            <a:ext cx="5711777" cy="4959619"/>
          </a:xfrm>
        </p:spPr>
        <p:txBody>
          <a:bodyPr>
            <a:noAutofit/>
          </a:bodyPr>
          <a:lstStyle/>
          <a:p>
            <a:pPr marL="0" indent="0">
              <a:lnSpc>
                <a:spcPts val="2880"/>
              </a:lnSpc>
              <a:buNone/>
            </a:pPr>
            <a:r>
              <a:rPr lang="en-US" sz="2400" dirty="0">
                <a:latin typeface="Montserrat" pitchFamily="2" charset="77"/>
              </a:rPr>
              <a:t>3 </a:t>
            </a:r>
            <a:r>
              <a:rPr lang="en-US" sz="2400" i="1" dirty="0">
                <a:latin typeface="Montserrat" pitchFamily="2" charset="77"/>
              </a:rPr>
              <a:t>main epithelial cell populations </a:t>
            </a:r>
            <a:r>
              <a:rPr lang="en-US" sz="2400" dirty="0">
                <a:latin typeface="Montserrat" pitchFamily="2" charset="77"/>
              </a:rPr>
              <a:t>of the mammary gland:</a:t>
            </a:r>
          </a:p>
          <a:p>
            <a:pPr>
              <a:lnSpc>
                <a:spcPts val="2880"/>
              </a:lnSpc>
            </a:pPr>
            <a:r>
              <a:rPr lang="en-US" sz="2200" u="sng" dirty="0">
                <a:latin typeface="Montserrat" pitchFamily="2" charset="77"/>
              </a:rPr>
              <a:t>Luminal Cells</a:t>
            </a:r>
            <a:r>
              <a:rPr lang="en-US" sz="2200" dirty="0">
                <a:latin typeface="Montserrat" pitchFamily="2" charset="77"/>
              </a:rPr>
              <a:t> = secretory inner layer.</a:t>
            </a:r>
          </a:p>
          <a:p>
            <a:pPr lvl="1">
              <a:lnSpc>
                <a:spcPts val="2880"/>
              </a:lnSpc>
            </a:pPr>
            <a:r>
              <a:rPr lang="en-US" sz="2000" dirty="0">
                <a:latin typeface="Montserrat" pitchFamily="2" charset="77"/>
              </a:rPr>
              <a:t>Generate (</a:t>
            </a:r>
            <a:r>
              <a:rPr lang="en-US" sz="2000" u="sng" dirty="0">
                <a:latin typeface="Montserrat" pitchFamily="2" charset="77"/>
              </a:rPr>
              <a:t>progenitor</a:t>
            </a:r>
            <a:r>
              <a:rPr lang="en-US" sz="2000" dirty="0">
                <a:latin typeface="Montserrat" pitchFamily="2" charset="77"/>
              </a:rPr>
              <a:t>) milk secretory cells (</a:t>
            </a:r>
            <a:r>
              <a:rPr lang="en-US" sz="2000" u="sng" dirty="0">
                <a:latin typeface="Montserrat" pitchFamily="2" charset="77"/>
              </a:rPr>
              <a:t>mature</a:t>
            </a:r>
            <a:r>
              <a:rPr lang="en-US" sz="2000" dirty="0">
                <a:latin typeface="Montserrat" pitchFamily="2" charset="77"/>
              </a:rPr>
              <a:t>).</a:t>
            </a:r>
          </a:p>
          <a:p>
            <a:pPr>
              <a:lnSpc>
                <a:spcPts val="2880"/>
              </a:lnSpc>
            </a:pPr>
            <a:r>
              <a:rPr lang="en-US" sz="2200" u="sng" dirty="0">
                <a:latin typeface="Montserrat" pitchFamily="2" charset="77"/>
              </a:rPr>
              <a:t>Basal Cells</a:t>
            </a:r>
            <a:r>
              <a:rPr lang="en-US" sz="2200" dirty="0">
                <a:latin typeface="Montserrat" pitchFamily="2" charset="77"/>
              </a:rPr>
              <a:t> = myoepithelial outer layer.</a:t>
            </a:r>
          </a:p>
          <a:p>
            <a:pPr lvl="1">
              <a:lnSpc>
                <a:spcPts val="2880"/>
              </a:lnSpc>
            </a:pPr>
            <a:r>
              <a:rPr lang="en-US" sz="2000" dirty="0">
                <a:latin typeface="Montserrat" pitchFamily="2" charset="77"/>
              </a:rPr>
              <a:t>Contractile property enables milk expulsion.</a:t>
            </a:r>
          </a:p>
          <a:p>
            <a:pPr marL="0">
              <a:lnSpc>
                <a:spcPts val="2880"/>
              </a:lnSpc>
              <a:buNone/>
            </a:pPr>
            <a:r>
              <a:rPr lang="en-US" sz="2400" b="1" dirty="0">
                <a:latin typeface="Montserrat" pitchFamily="2" charset="77"/>
              </a:rPr>
              <a:t>Goal: </a:t>
            </a:r>
            <a:r>
              <a:rPr lang="en-US" sz="2400" dirty="0">
                <a:latin typeface="Montserrat" pitchFamily="2" charset="77"/>
              </a:rPr>
              <a:t>Using lncRNAs to help resolve subpopulations that protein markers alone fail to distinguish.</a:t>
            </a:r>
          </a:p>
          <a:p>
            <a:pPr lvl="1">
              <a:lnSpc>
                <a:spcPts val="2880"/>
              </a:lnSpc>
            </a:pPr>
            <a:endParaRPr lang="en-US" sz="2000" dirty="0">
              <a:latin typeface="Montserrat" pitchFamily="2" charset="77"/>
            </a:endParaRPr>
          </a:p>
        </p:txBody>
      </p:sp>
      <p:sp>
        <p:nvSpPr>
          <p:cNvPr id="9" name="TextBox 8">
            <a:extLst>
              <a:ext uri="{FF2B5EF4-FFF2-40B4-BE49-F238E27FC236}">
                <a16:creationId xmlns:a16="http://schemas.microsoft.com/office/drawing/2014/main" id="{C9BC96CA-F1AF-0B38-108A-1806218CBB7A}"/>
              </a:ext>
            </a:extLst>
          </p:cNvPr>
          <p:cNvSpPr txBox="1"/>
          <p:nvPr/>
        </p:nvSpPr>
        <p:spPr>
          <a:xfrm>
            <a:off x="3859078" y="6144192"/>
            <a:ext cx="8115208"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Fu et al. (2024) </a:t>
            </a:r>
            <a:r>
              <a:rPr lang="en-US" sz="1600" b="1" dirty="0">
                <a:solidFill>
                  <a:schemeClr val="bg1"/>
                </a:solidFill>
                <a:latin typeface="Calibri" panose="020F0502020204030204" pitchFamily="34" charset="0"/>
                <a:cs typeface="Calibri" panose="020F0502020204030204" pitchFamily="34" charset="0"/>
              </a:rPr>
              <a:t>Stem Cells and the Differentiation Hierarchy in Mammary Gland Development. </a:t>
            </a:r>
          </a:p>
          <a:p>
            <a:pPr algn="r"/>
            <a:r>
              <a:rPr lang="en-US" sz="1600" dirty="0">
                <a:solidFill>
                  <a:schemeClr val="bg1"/>
                </a:solidFill>
                <a:latin typeface="Calibri" panose="020F0502020204030204" pitchFamily="34" charset="0"/>
                <a:cs typeface="Calibri" panose="020F0502020204030204" pitchFamily="34" charset="0"/>
              </a:rPr>
              <a:t>Graphical Abstract.</a:t>
            </a:r>
          </a:p>
        </p:txBody>
      </p:sp>
      <p:sp>
        <p:nvSpPr>
          <p:cNvPr id="10" name="Rectangular Callout 9">
            <a:extLst>
              <a:ext uri="{FF2B5EF4-FFF2-40B4-BE49-F238E27FC236}">
                <a16:creationId xmlns:a16="http://schemas.microsoft.com/office/drawing/2014/main" id="{8E504BD6-A476-CD1D-9F1A-D1DE5ECD5765}"/>
              </a:ext>
            </a:extLst>
          </p:cNvPr>
          <p:cNvSpPr/>
          <p:nvPr/>
        </p:nvSpPr>
        <p:spPr>
          <a:xfrm>
            <a:off x="8560797" y="4116161"/>
            <a:ext cx="1456103" cy="584775"/>
          </a:xfrm>
          <a:prstGeom prst="wedgeRectCallout">
            <a:avLst>
              <a:gd name="adj1" fmla="val 34115"/>
              <a:gd name="adj2" fmla="val -9905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EpCAM-</a:t>
            </a:r>
            <a:r>
              <a:rPr lang="en-US" sz="1600" dirty="0">
                <a:solidFill>
                  <a:schemeClr val="accent1"/>
                </a:solidFill>
              </a:rPr>
              <a:t>low</a:t>
            </a:r>
            <a:r>
              <a:rPr lang="en-US" sz="1600" dirty="0"/>
              <a:t> CD49f-</a:t>
            </a:r>
            <a:r>
              <a:rPr lang="en-US" sz="1600" dirty="0">
                <a:solidFill>
                  <a:srgbClr val="FF0000"/>
                </a:solidFill>
              </a:rPr>
              <a:t>hi</a:t>
            </a:r>
          </a:p>
        </p:txBody>
      </p:sp>
      <p:sp>
        <p:nvSpPr>
          <p:cNvPr id="11" name="Rectangular Callout 10">
            <a:extLst>
              <a:ext uri="{FF2B5EF4-FFF2-40B4-BE49-F238E27FC236}">
                <a16:creationId xmlns:a16="http://schemas.microsoft.com/office/drawing/2014/main" id="{9CDD47C7-9887-01A9-09E3-CF2BF2773673}"/>
              </a:ext>
            </a:extLst>
          </p:cNvPr>
          <p:cNvSpPr/>
          <p:nvPr/>
        </p:nvSpPr>
        <p:spPr>
          <a:xfrm>
            <a:off x="10351674" y="636564"/>
            <a:ext cx="1456103" cy="584775"/>
          </a:xfrm>
          <a:prstGeom prst="wedgeRectCallout">
            <a:avLst>
              <a:gd name="adj1" fmla="val 6841"/>
              <a:gd name="adj2" fmla="val 8095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EpCAM-</a:t>
            </a:r>
            <a:r>
              <a:rPr lang="en-US" sz="1600" dirty="0">
                <a:solidFill>
                  <a:srgbClr val="FF0000"/>
                </a:solidFill>
              </a:rPr>
              <a:t>hi</a:t>
            </a:r>
            <a:r>
              <a:rPr lang="en-US" sz="1600" dirty="0"/>
              <a:t> CD49f-</a:t>
            </a:r>
            <a:r>
              <a:rPr lang="en-US" sz="1600" dirty="0">
                <a:solidFill>
                  <a:srgbClr val="FF0000"/>
                </a:solidFill>
              </a:rPr>
              <a:t>hi</a:t>
            </a:r>
          </a:p>
        </p:txBody>
      </p:sp>
      <p:sp>
        <p:nvSpPr>
          <p:cNvPr id="12" name="Rectangular Callout 11">
            <a:extLst>
              <a:ext uri="{FF2B5EF4-FFF2-40B4-BE49-F238E27FC236}">
                <a16:creationId xmlns:a16="http://schemas.microsoft.com/office/drawing/2014/main" id="{0E068916-505B-E455-48F2-49A3E43E2EA7}"/>
              </a:ext>
            </a:extLst>
          </p:cNvPr>
          <p:cNvSpPr/>
          <p:nvPr/>
        </p:nvSpPr>
        <p:spPr>
          <a:xfrm>
            <a:off x="8560797" y="949190"/>
            <a:ext cx="1562885" cy="584775"/>
          </a:xfrm>
          <a:prstGeom prst="wedgeRectCallout">
            <a:avLst>
              <a:gd name="adj1" fmla="val 639"/>
              <a:gd name="adj2" fmla="val 9129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EpCAM-</a:t>
            </a:r>
            <a:r>
              <a:rPr lang="en-US" sz="1600" dirty="0">
                <a:solidFill>
                  <a:srgbClr val="FF0000"/>
                </a:solidFill>
              </a:rPr>
              <a:t>hi</a:t>
            </a:r>
            <a:r>
              <a:rPr lang="en-US" sz="1600" dirty="0"/>
              <a:t> CD49f-</a:t>
            </a:r>
            <a:r>
              <a:rPr lang="en-US" sz="1600" dirty="0">
                <a:solidFill>
                  <a:schemeClr val="accent1"/>
                </a:solidFill>
              </a:rPr>
              <a:t>low</a:t>
            </a:r>
          </a:p>
        </p:txBody>
      </p:sp>
    </p:spTree>
    <p:extLst>
      <p:ext uri="{BB962C8B-B14F-4D97-AF65-F5344CB8AC3E}">
        <p14:creationId xmlns:p14="http://schemas.microsoft.com/office/powerpoint/2010/main" val="4153175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6977E-5147-1FB5-B15D-A9170ECEEE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3B17A8-CA90-6E77-4167-7274094B292E}"/>
              </a:ext>
            </a:extLst>
          </p:cNvPr>
          <p:cNvSpPr>
            <a:spLocks noGrp="1"/>
          </p:cNvSpPr>
          <p:nvPr>
            <p:ph idx="1"/>
          </p:nvPr>
        </p:nvSpPr>
        <p:spPr>
          <a:xfrm>
            <a:off x="2238065" y="2645175"/>
            <a:ext cx="7715870" cy="1194537"/>
          </a:xfrm>
        </p:spPr>
        <p:txBody>
          <a:bodyPr>
            <a:noAutofit/>
          </a:bodyPr>
          <a:lstStyle/>
          <a:p>
            <a:pPr marL="1028700" indent="-1028700">
              <a:lnSpc>
                <a:spcPct val="125000"/>
              </a:lnSpc>
              <a:spcBef>
                <a:spcPts val="0"/>
              </a:spcBef>
              <a:spcAft>
                <a:spcPts val="1200"/>
              </a:spcAft>
              <a:buFont typeface="+mj-lt"/>
              <a:buAutoNum type="romanUcPeriod" startAt="3"/>
            </a:pPr>
            <a:r>
              <a:rPr lang="en-US" sz="5400" dirty="0">
                <a:latin typeface="Crimson Pro Medium" pitchFamily="2" charset="77"/>
                <a:cs typeface="Arial" panose="020B0604020202020204" pitchFamily="34" charset="0"/>
              </a:rPr>
              <a:t>Materials and Methods</a:t>
            </a:r>
          </a:p>
        </p:txBody>
      </p:sp>
    </p:spTree>
    <p:extLst>
      <p:ext uri="{BB962C8B-B14F-4D97-AF65-F5344CB8AC3E}">
        <p14:creationId xmlns:p14="http://schemas.microsoft.com/office/powerpoint/2010/main" val="2150001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CA629-8D56-C65E-13F7-E6770BB5F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C8787-E0CF-5837-57B0-14C8918B6A4A}"/>
              </a:ext>
            </a:extLst>
          </p:cNvPr>
          <p:cNvSpPr>
            <a:spLocks noGrp="1"/>
          </p:cNvSpPr>
          <p:nvPr>
            <p:ph type="title"/>
          </p:nvPr>
        </p:nvSpPr>
        <p:spPr>
          <a:xfrm>
            <a:off x="270399" y="244143"/>
            <a:ext cx="11426301" cy="808779"/>
          </a:xfrm>
        </p:spPr>
        <p:txBody>
          <a:bodyPr anchor="b">
            <a:noAutofit/>
          </a:bodyPr>
          <a:lstStyle/>
          <a:p>
            <a:r>
              <a:rPr lang="en-US" sz="4800" dirty="0">
                <a:effectLst/>
                <a:latin typeface="Crimson Pro Medium" pitchFamily="2" charset="77"/>
              </a:rPr>
              <a:t>Identification of </a:t>
            </a:r>
            <a:r>
              <a:rPr lang="en-US" sz="4800" dirty="0">
                <a:latin typeface="Crimson Pro Medium" pitchFamily="2" charset="77"/>
              </a:rPr>
              <a:t>Normal Breast (NB) lncRNAs </a:t>
            </a:r>
            <a:endParaRPr lang="en-US" sz="4800" dirty="0">
              <a:effectLst/>
              <a:latin typeface="Crimson Pro Medium" pitchFamily="2" charset="77"/>
            </a:endParaRPr>
          </a:p>
        </p:txBody>
      </p:sp>
      <p:sp>
        <p:nvSpPr>
          <p:cNvPr id="11" name="TextBox 10">
            <a:extLst>
              <a:ext uri="{FF2B5EF4-FFF2-40B4-BE49-F238E27FC236}">
                <a16:creationId xmlns:a16="http://schemas.microsoft.com/office/drawing/2014/main" id="{D9EFCEB2-4DBB-D66A-CAF1-CAA2988AA827}"/>
              </a:ext>
            </a:extLst>
          </p:cNvPr>
          <p:cNvSpPr txBox="1"/>
          <p:nvPr/>
        </p:nvSpPr>
        <p:spPr>
          <a:xfrm>
            <a:off x="3700833" y="6160678"/>
            <a:ext cx="8353290"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1(A-B). “Identification of NB-lncRNAs from human breast epithelium.”</a:t>
            </a:r>
          </a:p>
        </p:txBody>
      </p:sp>
      <p:pic>
        <p:nvPicPr>
          <p:cNvPr id="4" name="Picture 3">
            <a:extLst>
              <a:ext uri="{FF2B5EF4-FFF2-40B4-BE49-F238E27FC236}">
                <a16:creationId xmlns:a16="http://schemas.microsoft.com/office/drawing/2014/main" id="{327DA16E-E7D7-B4F4-EECB-D68A0CDE7C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6466" y="1052922"/>
            <a:ext cx="9259067" cy="4846008"/>
          </a:xfrm>
          <a:prstGeom prst="rect">
            <a:avLst/>
          </a:prstGeom>
        </p:spPr>
      </p:pic>
    </p:spTree>
    <p:extLst>
      <p:ext uri="{BB962C8B-B14F-4D97-AF65-F5344CB8AC3E}">
        <p14:creationId xmlns:p14="http://schemas.microsoft.com/office/powerpoint/2010/main" val="1105432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2123A-66B2-A124-AD3B-76CC6CDD6DD4}"/>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AF7AF558-5CED-3425-F177-AA254A7E17AC}"/>
              </a:ext>
            </a:extLst>
          </p:cNvPr>
          <p:cNvSpPr txBox="1"/>
          <p:nvPr/>
        </p:nvSpPr>
        <p:spPr>
          <a:xfrm>
            <a:off x="215426" y="288278"/>
            <a:ext cx="11761147" cy="556979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400" dirty="0">
                <a:latin typeface="Montserrat" pitchFamily="2" charset="77"/>
                <a:cs typeface="Calibri" panose="020F0502020204030204" pitchFamily="34" charset="0"/>
              </a:rPr>
              <a:t>Focus of predictive cell type improvement is on </a:t>
            </a:r>
            <a:r>
              <a:rPr lang="en-US" sz="2400" b="1" dirty="0">
                <a:latin typeface="Montserrat" pitchFamily="2" charset="77"/>
                <a:cs typeface="Calibri" panose="020F0502020204030204" pitchFamily="34" charset="0"/>
              </a:rPr>
              <a:t>improving the quality/quantity of feature space</a:t>
            </a:r>
            <a:r>
              <a:rPr lang="en-US" sz="2400" dirty="0">
                <a:latin typeface="Montserrat" pitchFamily="2" charset="77"/>
                <a:cs typeface="Calibri" panose="020F0502020204030204" pitchFamily="34" charset="0"/>
              </a:rPr>
              <a:t>, not algorithm development.</a:t>
            </a:r>
          </a:p>
          <a:p>
            <a:pPr marL="457200" indent="-457200">
              <a:lnSpc>
                <a:spcPct val="150000"/>
              </a:lnSpc>
              <a:buFont typeface="Arial" panose="020B0604020202020204" pitchFamily="34" charset="0"/>
              <a:buChar char="•"/>
            </a:pPr>
            <a:r>
              <a:rPr lang="en-US" sz="2400" dirty="0">
                <a:latin typeface="Montserrat" pitchFamily="2" charset="77"/>
                <a:cs typeface="Calibri" panose="020F0502020204030204" pitchFamily="34" charset="0"/>
              </a:rPr>
              <a:t>Assembly supported by </a:t>
            </a:r>
            <a:r>
              <a:rPr lang="en-US" sz="2400" b="1" dirty="0">
                <a:latin typeface="Montserrat" pitchFamily="2" charset="77"/>
                <a:cs typeface="Calibri" panose="020F0502020204030204" pitchFamily="34" charset="0"/>
              </a:rPr>
              <a:t>validation steps </a:t>
            </a:r>
            <a:r>
              <a:rPr lang="en-US" sz="2400" dirty="0">
                <a:latin typeface="Montserrat" pitchFamily="2" charset="77"/>
                <a:cs typeface="Calibri" panose="020F0502020204030204" pitchFamily="34" charset="0"/>
              </a:rPr>
              <a:t>(</a:t>
            </a:r>
            <a:r>
              <a:rPr lang="en-US" sz="2400" i="1" dirty="0">
                <a:latin typeface="Montserrat" pitchFamily="2" charset="77"/>
                <a:cs typeface="Calibri" panose="020F0502020204030204" pitchFamily="34" charset="0"/>
              </a:rPr>
              <a:t>EX</a:t>
            </a:r>
            <a:r>
              <a:rPr lang="en-US" sz="2400" dirty="0">
                <a:latin typeface="Montserrat" pitchFamily="2" charset="77"/>
                <a:cs typeface="Calibri" panose="020F0502020204030204" pitchFamily="34" charset="0"/>
              </a:rPr>
              <a:t>: Long-Read Sequencing and RAMPAGE data, RT-PCR) to reduce inclusion of invalid transcripts.</a:t>
            </a:r>
          </a:p>
          <a:p>
            <a:pPr marL="457200" indent="-457200">
              <a:lnSpc>
                <a:spcPct val="150000"/>
              </a:lnSpc>
              <a:buFont typeface="Arial" panose="020B0604020202020204" pitchFamily="34" charset="0"/>
              <a:buChar char="•"/>
            </a:pPr>
            <a:r>
              <a:rPr lang="en-US" sz="2400" b="1" dirty="0">
                <a:latin typeface="Montserrat" pitchFamily="2" charset="77"/>
                <a:cs typeface="Calibri" panose="020F0502020204030204" pitchFamily="34" charset="0"/>
              </a:rPr>
              <a:t>Constraints</a:t>
            </a:r>
            <a:r>
              <a:rPr lang="en-US" sz="2400" dirty="0">
                <a:latin typeface="Montserrat" pitchFamily="2" charset="77"/>
                <a:cs typeface="Calibri" panose="020F0502020204030204" pitchFamily="34" charset="0"/>
              </a:rPr>
              <a:t>:</a:t>
            </a:r>
          </a:p>
          <a:p>
            <a:pPr marL="914400" lvl="1" indent="-457200">
              <a:lnSpc>
                <a:spcPct val="150000"/>
              </a:lnSpc>
              <a:buFont typeface="Arial" panose="020B0604020202020204" pitchFamily="34" charset="0"/>
              <a:buChar char="•"/>
            </a:pPr>
            <a:r>
              <a:rPr lang="en-US" sz="2400" dirty="0">
                <a:latin typeface="Montserrat" pitchFamily="2" charset="77"/>
                <a:cs typeface="Calibri" panose="020F0502020204030204" pitchFamily="34" charset="0"/>
              </a:rPr>
              <a:t>Cohort only consists of 5 individuals.</a:t>
            </a:r>
          </a:p>
          <a:p>
            <a:pPr marL="914400" lvl="1" indent="-457200">
              <a:lnSpc>
                <a:spcPct val="150000"/>
              </a:lnSpc>
              <a:buFont typeface="Arial" panose="020B0604020202020204" pitchFamily="34" charset="0"/>
              <a:buChar char="•"/>
            </a:pPr>
            <a:r>
              <a:rPr lang="en-US" sz="2400" dirty="0">
                <a:latin typeface="Montserrat" pitchFamily="2" charset="77"/>
                <a:cs typeface="Calibri" panose="020F0502020204030204" pitchFamily="34" charset="0"/>
              </a:rPr>
              <a:t>Identification of lncRNAs depends on transcript reconstruction, which is challenging given repetitive sequences prevalent in lncRNAs.</a:t>
            </a:r>
          </a:p>
          <a:p>
            <a:pPr marL="914400" lvl="1" indent="-457200">
              <a:lnSpc>
                <a:spcPct val="150000"/>
              </a:lnSpc>
              <a:buFont typeface="Arial" panose="020B0604020202020204" pitchFamily="34" charset="0"/>
              <a:buChar char="•"/>
            </a:pPr>
            <a:r>
              <a:rPr lang="en-US" sz="2400" dirty="0">
                <a:latin typeface="Montserrat" pitchFamily="2" charset="77"/>
                <a:cs typeface="Calibri" panose="020F0502020204030204" pitchFamily="34" charset="0"/>
              </a:rPr>
              <a:t>Used high-depth data from Fluidigm C1 (1.5M reads/cell); detection drops when transferred to 10x Genomics.</a:t>
            </a:r>
          </a:p>
        </p:txBody>
      </p:sp>
    </p:spTree>
    <p:extLst>
      <p:ext uri="{BB962C8B-B14F-4D97-AF65-F5344CB8AC3E}">
        <p14:creationId xmlns:p14="http://schemas.microsoft.com/office/powerpoint/2010/main" val="3092627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239B7-50D7-795C-C778-F7760CDA0C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33E272-2A95-3CF3-DB2F-8266AB882001}"/>
              </a:ext>
            </a:extLst>
          </p:cNvPr>
          <p:cNvSpPr>
            <a:spLocks noGrp="1"/>
          </p:cNvSpPr>
          <p:nvPr>
            <p:ph idx="1"/>
          </p:nvPr>
        </p:nvSpPr>
        <p:spPr>
          <a:xfrm>
            <a:off x="2037164" y="2578567"/>
            <a:ext cx="8117671" cy="1196232"/>
          </a:xfrm>
        </p:spPr>
        <p:txBody>
          <a:bodyPr>
            <a:noAutofit/>
          </a:bodyPr>
          <a:lstStyle/>
          <a:p>
            <a:pPr marL="1028700" indent="-1028700">
              <a:lnSpc>
                <a:spcPct val="125000"/>
              </a:lnSpc>
              <a:spcBef>
                <a:spcPts val="0"/>
              </a:spcBef>
              <a:spcAft>
                <a:spcPts val="1200"/>
              </a:spcAft>
              <a:buFont typeface="+mj-lt"/>
              <a:buAutoNum type="romanUcPeriod" startAt="4"/>
            </a:pPr>
            <a:r>
              <a:rPr lang="en-US" sz="5400" dirty="0">
                <a:latin typeface="Crimson Pro Medium" pitchFamily="2" charset="77"/>
                <a:cs typeface="Arial" panose="020B0604020202020204" pitchFamily="34" charset="0"/>
              </a:rPr>
              <a:t>Relevance of Key Results</a:t>
            </a:r>
          </a:p>
        </p:txBody>
      </p:sp>
    </p:spTree>
    <p:extLst>
      <p:ext uri="{BB962C8B-B14F-4D97-AF65-F5344CB8AC3E}">
        <p14:creationId xmlns:p14="http://schemas.microsoft.com/office/powerpoint/2010/main" val="3609238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4488B-7073-6953-2E19-C72118192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47848-28C9-3D1B-4A24-3CF7C6B02B1C}"/>
              </a:ext>
            </a:extLst>
          </p:cNvPr>
          <p:cNvSpPr>
            <a:spLocks noGrp="1"/>
          </p:cNvSpPr>
          <p:nvPr>
            <p:ph type="title"/>
          </p:nvPr>
        </p:nvSpPr>
        <p:spPr>
          <a:xfrm>
            <a:off x="278728" y="244468"/>
            <a:ext cx="5772385" cy="909508"/>
          </a:xfrm>
        </p:spPr>
        <p:txBody>
          <a:bodyPr>
            <a:noAutofit/>
          </a:bodyPr>
          <a:lstStyle/>
          <a:p>
            <a:r>
              <a:rPr lang="en-US" sz="4800" dirty="0">
                <a:latin typeface="Crimson Pro Medium" pitchFamily="2" charset="77"/>
              </a:rPr>
              <a:t>Population Resolution</a:t>
            </a:r>
          </a:p>
        </p:txBody>
      </p:sp>
      <p:sp>
        <p:nvSpPr>
          <p:cNvPr id="6" name="TextBox 5">
            <a:extLst>
              <a:ext uri="{FF2B5EF4-FFF2-40B4-BE49-F238E27FC236}">
                <a16:creationId xmlns:a16="http://schemas.microsoft.com/office/drawing/2014/main" id="{0649D604-7108-5561-9FB5-D759253981DF}"/>
              </a:ext>
            </a:extLst>
          </p:cNvPr>
          <p:cNvSpPr txBox="1"/>
          <p:nvPr/>
        </p:nvSpPr>
        <p:spPr>
          <a:xfrm>
            <a:off x="3700833" y="6160678"/>
            <a:ext cx="8353290"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3. “NB-lncRNAs and GENCODE-annotated genes can distinguish breast epithelial cell types.”</a:t>
            </a:r>
          </a:p>
        </p:txBody>
      </p:sp>
      <p:pic>
        <p:nvPicPr>
          <p:cNvPr id="7" name="Picture 6">
            <a:extLst>
              <a:ext uri="{FF2B5EF4-FFF2-40B4-BE49-F238E27FC236}">
                <a16:creationId xmlns:a16="http://schemas.microsoft.com/office/drawing/2014/main" id="{C7472EE1-3432-5F8C-0530-790674B009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12547"/>
            <a:ext cx="5967664" cy="5818865"/>
          </a:xfrm>
          <a:prstGeom prst="rect">
            <a:avLst/>
          </a:prstGeom>
        </p:spPr>
      </p:pic>
      <p:sp>
        <p:nvSpPr>
          <p:cNvPr id="10" name="Content Placeholder 2">
            <a:extLst>
              <a:ext uri="{FF2B5EF4-FFF2-40B4-BE49-F238E27FC236}">
                <a16:creationId xmlns:a16="http://schemas.microsoft.com/office/drawing/2014/main" id="{E2FC9B9A-E65C-32BA-E96B-8B8D5BBF72C5}"/>
              </a:ext>
            </a:extLst>
          </p:cNvPr>
          <p:cNvSpPr>
            <a:spLocks noGrp="1"/>
          </p:cNvSpPr>
          <p:nvPr>
            <p:ph idx="1"/>
          </p:nvPr>
        </p:nvSpPr>
        <p:spPr>
          <a:xfrm>
            <a:off x="455137" y="1153976"/>
            <a:ext cx="4918529" cy="4550048"/>
          </a:xfrm>
        </p:spPr>
        <p:txBody>
          <a:bodyPr>
            <a:noAutofit/>
          </a:bodyPr>
          <a:lstStyle/>
          <a:p>
            <a:pPr>
              <a:lnSpc>
                <a:spcPct val="100000"/>
              </a:lnSpc>
            </a:pPr>
            <a:r>
              <a:rPr lang="en-US" sz="2400" dirty="0">
                <a:latin typeface="Montserrat" pitchFamily="2" charset="77"/>
              </a:rPr>
              <a:t>UMAP of normal breast cells clustered by their NB-lncRNA expression </a:t>
            </a:r>
            <a:r>
              <a:rPr lang="en-US" sz="2400" b="1" dirty="0">
                <a:latin typeface="Montserrat" pitchFamily="2" charset="77"/>
              </a:rPr>
              <a:t>(A) </a:t>
            </a:r>
            <a:r>
              <a:rPr lang="en-US" sz="2400" dirty="0">
                <a:latin typeface="Montserrat" pitchFamily="2" charset="77"/>
              </a:rPr>
              <a:t>or GENCODE-annotated gene expression </a:t>
            </a:r>
            <a:r>
              <a:rPr lang="en-US" sz="2400" b="1" dirty="0">
                <a:latin typeface="Montserrat" pitchFamily="2" charset="77"/>
              </a:rPr>
              <a:t>(B)</a:t>
            </a:r>
            <a:r>
              <a:rPr lang="en-US" sz="2400" dirty="0">
                <a:latin typeface="Montserrat" pitchFamily="2" charset="77"/>
              </a:rPr>
              <a:t>.</a:t>
            </a:r>
          </a:p>
          <a:p>
            <a:pPr>
              <a:lnSpc>
                <a:spcPct val="100000"/>
              </a:lnSpc>
            </a:pPr>
            <a:r>
              <a:rPr lang="en-US" sz="2400" dirty="0">
                <a:latin typeface="Montserrat" pitchFamily="2" charset="77"/>
              </a:rPr>
              <a:t>Heatmaps showing the top 10 assigned markers for each L-cluster </a:t>
            </a:r>
            <a:r>
              <a:rPr lang="en-US" sz="2400" b="1" dirty="0">
                <a:latin typeface="Montserrat" pitchFamily="2" charset="77"/>
              </a:rPr>
              <a:t>(C) </a:t>
            </a:r>
            <a:r>
              <a:rPr lang="en-US" sz="2400" dirty="0">
                <a:latin typeface="Montserrat" pitchFamily="2" charset="77"/>
              </a:rPr>
              <a:t>or A-Cluster </a:t>
            </a:r>
            <a:r>
              <a:rPr lang="en-US" sz="2400" b="1" dirty="0">
                <a:latin typeface="Montserrat" pitchFamily="2" charset="77"/>
              </a:rPr>
              <a:t>(D)</a:t>
            </a:r>
            <a:r>
              <a:rPr lang="en-US" sz="2400" dirty="0">
                <a:latin typeface="Montserrat" pitchFamily="2" charset="77"/>
              </a:rPr>
              <a:t>.</a:t>
            </a:r>
          </a:p>
          <a:p>
            <a:pPr>
              <a:lnSpc>
                <a:spcPct val="100000"/>
              </a:lnSpc>
            </a:pPr>
            <a:r>
              <a:rPr lang="en-US" sz="2400" dirty="0">
                <a:latin typeface="Montserrat" pitchFamily="2" charset="77"/>
              </a:rPr>
              <a:t>Heatmap of assigned A-cluster markers previously reported in literature </a:t>
            </a:r>
            <a:r>
              <a:rPr lang="en-US" sz="2400" b="1" dirty="0">
                <a:latin typeface="Montserrat" pitchFamily="2" charset="77"/>
              </a:rPr>
              <a:t>(E)</a:t>
            </a:r>
            <a:r>
              <a:rPr lang="en-US" sz="2400" dirty="0">
                <a:latin typeface="Montserrat" pitchFamily="2" charset="77"/>
              </a:rPr>
              <a:t>.</a:t>
            </a:r>
          </a:p>
          <a:p>
            <a:pPr>
              <a:lnSpc>
                <a:spcPct val="100000"/>
              </a:lnSpc>
            </a:pPr>
            <a:endParaRPr lang="en-US" sz="2400" dirty="0">
              <a:latin typeface="Montserrat" pitchFamily="2" charset="77"/>
            </a:endParaRPr>
          </a:p>
        </p:txBody>
      </p:sp>
    </p:spTree>
    <p:extLst>
      <p:ext uri="{BB962C8B-B14F-4D97-AF65-F5344CB8AC3E}">
        <p14:creationId xmlns:p14="http://schemas.microsoft.com/office/powerpoint/2010/main" val="2472725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4D24D-BF0E-BC85-61B8-17AAC0D2BF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3EAB1E-795E-90FD-9AD9-AF369C6D1A39}"/>
              </a:ext>
            </a:extLst>
          </p:cNvPr>
          <p:cNvSpPr>
            <a:spLocks noGrp="1"/>
          </p:cNvSpPr>
          <p:nvPr>
            <p:ph type="title"/>
          </p:nvPr>
        </p:nvSpPr>
        <p:spPr>
          <a:xfrm>
            <a:off x="323616" y="244468"/>
            <a:ext cx="5125206" cy="1476322"/>
          </a:xfrm>
        </p:spPr>
        <p:txBody>
          <a:bodyPr>
            <a:noAutofit/>
          </a:bodyPr>
          <a:lstStyle/>
          <a:p>
            <a:r>
              <a:rPr lang="en-US" sz="4800" dirty="0">
                <a:latin typeface="Crimson Pro Medium" pitchFamily="2" charset="77"/>
              </a:rPr>
              <a:t>Predictive Cluster Performance</a:t>
            </a:r>
          </a:p>
        </p:txBody>
      </p:sp>
      <p:sp>
        <p:nvSpPr>
          <p:cNvPr id="3" name="Content Placeholder 2">
            <a:extLst>
              <a:ext uri="{FF2B5EF4-FFF2-40B4-BE49-F238E27FC236}">
                <a16:creationId xmlns:a16="http://schemas.microsoft.com/office/drawing/2014/main" id="{C5A44C14-4984-9C3C-A860-7420B15E2448}"/>
              </a:ext>
            </a:extLst>
          </p:cNvPr>
          <p:cNvSpPr>
            <a:spLocks noGrp="1"/>
          </p:cNvSpPr>
          <p:nvPr>
            <p:ph idx="1"/>
          </p:nvPr>
        </p:nvSpPr>
        <p:spPr>
          <a:xfrm>
            <a:off x="389376" y="1815665"/>
            <a:ext cx="4993685" cy="3945860"/>
          </a:xfrm>
        </p:spPr>
        <p:txBody>
          <a:bodyPr>
            <a:noAutofit/>
          </a:bodyPr>
          <a:lstStyle/>
          <a:p>
            <a:pPr>
              <a:lnSpc>
                <a:spcPct val="100000"/>
              </a:lnSpc>
            </a:pPr>
            <a:r>
              <a:rPr lang="en-US" sz="2400" dirty="0">
                <a:latin typeface="Montserrat" pitchFamily="2" charset="77"/>
              </a:rPr>
              <a:t>The </a:t>
            </a:r>
            <a:r>
              <a:rPr lang="en-US" sz="2400" b="1" dirty="0">
                <a:latin typeface="Montserrat" pitchFamily="2" charset="77"/>
              </a:rPr>
              <a:t>NB-lncRNA set alone </a:t>
            </a:r>
            <a:r>
              <a:rPr lang="en-US" sz="2400" dirty="0">
                <a:latin typeface="Montserrat" pitchFamily="2" charset="77"/>
              </a:rPr>
              <a:t>is effectively able to resolve    the major breast epithelial cell types.</a:t>
            </a:r>
          </a:p>
          <a:p>
            <a:pPr>
              <a:lnSpc>
                <a:spcPct val="100000"/>
              </a:lnSpc>
            </a:pPr>
            <a:r>
              <a:rPr lang="en-US" sz="2400" dirty="0">
                <a:latin typeface="Montserrat" pitchFamily="2" charset="77"/>
              </a:rPr>
              <a:t>NB-lncRNA set outperformed GENCODE set in all metrics except sensitivity.</a:t>
            </a:r>
          </a:p>
          <a:p>
            <a:pPr>
              <a:lnSpc>
                <a:spcPct val="100000"/>
              </a:lnSpc>
            </a:pPr>
            <a:r>
              <a:rPr lang="en-US" sz="2400" dirty="0">
                <a:latin typeface="Montserrat" pitchFamily="2" charset="77"/>
              </a:rPr>
              <a:t>Combining NB-lncRNA with GENCODE set reached overall highest metrics.</a:t>
            </a:r>
            <a:endParaRPr lang="en-US" sz="2000" dirty="0">
              <a:latin typeface="Montserrat" pitchFamily="2" charset="77"/>
            </a:endParaRPr>
          </a:p>
          <a:p>
            <a:pPr>
              <a:lnSpc>
                <a:spcPct val="100000"/>
              </a:lnSpc>
            </a:pPr>
            <a:endParaRPr lang="en-US" sz="2400" dirty="0">
              <a:latin typeface="Montserrat" pitchFamily="2" charset="77"/>
            </a:endParaRPr>
          </a:p>
        </p:txBody>
      </p:sp>
      <p:sp>
        <p:nvSpPr>
          <p:cNvPr id="6" name="TextBox 5">
            <a:extLst>
              <a:ext uri="{FF2B5EF4-FFF2-40B4-BE49-F238E27FC236}">
                <a16:creationId xmlns:a16="http://schemas.microsoft.com/office/drawing/2014/main" id="{2F2AD74D-A495-3C0B-A017-498316DAC3BA}"/>
              </a:ext>
            </a:extLst>
          </p:cNvPr>
          <p:cNvSpPr txBox="1"/>
          <p:nvPr/>
        </p:nvSpPr>
        <p:spPr>
          <a:xfrm>
            <a:off x="3700833" y="6160678"/>
            <a:ext cx="8353290"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Table 1. “Measures of cluster performance.”</a:t>
            </a:r>
          </a:p>
        </p:txBody>
      </p:sp>
      <p:pic>
        <p:nvPicPr>
          <p:cNvPr id="7" name="Picture 6">
            <a:extLst>
              <a:ext uri="{FF2B5EF4-FFF2-40B4-BE49-F238E27FC236}">
                <a16:creationId xmlns:a16="http://schemas.microsoft.com/office/drawing/2014/main" id="{8771F401-D96F-A13B-4CA5-785C5FA42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4213" y="244468"/>
            <a:ext cx="6112649" cy="5517057"/>
          </a:xfrm>
          <a:prstGeom prst="rect">
            <a:avLst/>
          </a:prstGeom>
        </p:spPr>
      </p:pic>
    </p:spTree>
    <p:extLst>
      <p:ext uri="{BB962C8B-B14F-4D97-AF65-F5344CB8AC3E}">
        <p14:creationId xmlns:p14="http://schemas.microsoft.com/office/powerpoint/2010/main" val="4237720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2BB75-3B5C-FEAC-0ECB-EB055DDFD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62881-5B6D-F1B9-BFB3-3C50080DE98F}"/>
              </a:ext>
            </a:extLst>
          </p:cNvPr>
          <p:cNvSpPr>
            <a:spLocks noGrp="1"/>
          </p:cNvSpPr>
          <p:nvPr>
            <p:ph type="title"/>
          </p:nvPr>
        </p:nvSpPr>
        <p:spPr>
          <a:xfrm>
            <a:off x="323616" y="244468"/>
            <a:ext cx="5964450" cy="1476322"/>
          </a:xfrm>
        </p:spPr>
        <p:txBody>
          <a:bodyPr>
            <a:noAutofit/>
          </a:bodyPr>
          <a:lstStyle/>
          <a:p>
            <a:r>
              <a:rPr lang="en-US" sz="4800" dirty="0">
                <a:latin typeface="Crimson Pro Medium" pitchFamily="2" charset="77"/>
              </a:rPr>
              <a:t>Compartmentalized Expression</a:t>
            </a:r>
          </a:p>
        </p:txBody>
      </p:sp>
      <p:sp>
        <p:nvSpPr>
          <p:cNvPr id="3" name="Content Placeholder 2">
            <a:extLst>
              <a:ext uri="{FF2B5EF4-FFF2-40B4-BE49-F238E27FC236}">
                <a16:creationId xmlns:a16="http://schemas.microsoft.com/office/drawing/2014/main" id="{6D6B8ED3-D9B7-95A7-4684-676FD1748480}"/>
              </a:ext>
            </a:extLst>
          </p:cNvPr>
          <p:cNvSpPr>
            <a:spLocks noGrp="1"/>
          </p:cNvSpPr>
          <p:nvPr>
            <p:ph idx="1"/>
          </p:nvPr>
        </p:nvSpPr>
        <p:spPr>
          <a:xfrm>
            <a:off x="455137" y="1720790"/>
            <a:ext cx="5381991" cy="4154078"/>
          </a:xfrm>
        </p:spPr>
        <p:txBody>
          <a:bodyPr>
            <a:noAutofit/>
          </a:bodyPr>
          <a:lstStyle/>
          <a:p>
            <a:pPr>
              <a:lnSpc>
                <a:spcPct val="100000"/>
              </a:lnSpc>
            </a:pPr>
            <a:r>
              <a:rPr lang="en-US" sz="2400" b="1" dirty="0">
                <a:latin typeface="Montserrat" pitchFamily="2" charset="77"/>
              </a:rPr>
              <a:t>(A)</a:t>
            </a:r>
            <a:r>
              <a:rPr lang="en-US" sz="2400" dirty="0">
                <a:latin typeface="Montserrat" pitchFamily="2" charset="77"/>
              </a:rPr>
              <a:t>: The proportion of genes with…</a:t>
            </a:r>
          </a:p>
          <a:p>
            <a:pPr lvl="1">
              <a:lnSpc>
                <a:spcPct val="100000"/>
              </a:lnSpc>
            </a:pPr>
            <a:r>
              <a:rPr lang="en-US" sz="2000" dirty="0">
                <a:latin typeface="Montserrat" pitchFamily="2" charset="77"/>
              </a:rPr>
              <a:t>…restricted expression pattern (dark).</a:t>
            </a:r>
          </a:p>
          <a:p>
            <a:pPr lvl="1">
              <a:lnSpc>
                <a:spcPct val="100000"/>
              </a:lnSpc>
            </a:pPr>
            <a:r>
              <a:rPr lang="en-US" sz="2000" dirty="0">
                <a:latin typeface="Montserrat" pitchFamily="2" charset="77"/>
              </a:rPr>
              <a:t>…widespread expression pattern (light).</a:t>
            </a:r>
          </a:p>
          <a:p>
            <a:pPr>
              <a:lnSpc>
                <a:spcPct val="100000"/>
              </a:lnSpc>
            </a:pPr>
            <a:r>
              <a:rPr lang="en-US" sz="2400" dirty="0">
                <a:latin typeface="Montserrat" pitchFamily="2" charset="77"/>
              </a:rPr>
              <a:t>(B): Number of cells where genes are expressed.</a:t>
            </a:r>
          </a:p>
          <a:p>
            <a:pPr>
              <a:lnSpc>
                <a:spcPct val="100000"/>
              </a:lnSpc>
            </a:pPr>
            <a:r>
              <a:rPr lang="en-US" sz="2400" dirty="0">
                <a:latin typeface="Montserrat" pitchFamily="2" charset="77"/>
              </a:rPr>
              <a:t>(C): Median expression of genes per cell when detected.</a:t>
            </a:r>
          </a:p>
        </p:txBody>
      </p:sp>
      <p:sp>
        <p:nvSpPr>
          <p:cNvPr id="6" name="TextBox 5">
            <a:extLst>
              <a:ext uri="{FF2B5EF4-FFF2-40B4-BE49-F238E27FC236}">
                <a16:creationId xmlns:a16="http://schemas.microsoft.com/office/drawing/2014/main" id="{080BE9E0-A5F5-C342-FB3A-B28CFB708C8E}"/>
              </a:ext>
            </a:extLst>
          </p:cNvPr>
          <p:cNvSpPr txBox="1"/>
          <p:nvPr/>
        </p:nvSpPr>
        <p:spPr>
          <a:xfrm>
            <a:off x="3373822" y="6160678"/>
            <a:ext cx="8680302"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5(A-C). “NB-lncRNAs have compartmentalized expression levels, which are higher at cell-level.”</a:t>
            </a:r>
          </a:p>
        </p:txBody>
      </p:sp>
      <p:pic>
        <p:nvPicPr>
          <p:cNvPr id="5" name="Picture 4">
            <a:extLst>
              <a:ext uri="{FF2B5EF4-FFF2-40B4-BE49-F238E27FC236}">
                <a16:creationId xmlns:a16="http://schemas.microsoft.com/office/drawing/2014/main" id="{C259E604-25B3-E498-AED1-7409376327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07873"/>
            <a:ext cx="5851768" cy="5466995"/>
          </a:xfrm>
          <a:prstGeom prst="rect">
            <a:avLst/>
          </a:prstGeom>
        </p:spPr>
      </p:pic>
    </p:spTree>
    <p:extLst>
      <p:ext uri="{BB962C8B-B14F-4D97-AF65-F5344CB8AC3E}">
        <p14:creationId xmlns:p14="http://schemas.microsoft.com/office/powerpoint/2010/main" val="2540091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27E2E-B28D-D6AF-89A3-BC9695C2A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DE260-0E13-D56F-BE27-687D00B8F348}"/>
              </a:ext>
            </a:extLst>
          </p:cNvPr>
          <p:cNvSpPr>
            <a:spLocks noGrp="1"/>
          </p:cNvSpPr>
          <p:nvPr>
            <p:ph type="title"/>
          </p:nvPr>
        </p:nvSpPr>
        <p:spPr>
          <a:xfrm>
            <a:off x="323616" y="261257"/>
            <a:ext cx="3699744" cy="741546"/>
          </a:xfrm>
        </p:spPr>
        <p:txBody>
          <a:bodyPr>
            <a:noAutofit/>
          </a:bodyPr>
          <a:lstStyle/>
          <a:p>
            <a:r>
              <a:rPr lang="en-US" sz="4800" dirty="0">
                <a:latin typeface="Crimson Pro Medium" pitchFamily="2" charset="77"/>
              </a:rPr>
              <a:t>Superior CSI</a:t>
            </a:r>
          </a:p>
        </p:txBody>
      </p:sp>
      <p:sp>
        <p:nvSpPr>
          <p:cNvPr id="3" name="Content Placeholder 2">
            <a:extLst>
              <a:ext uri="{FF2B5EF4-FFF2-40B4-BE49-F238E27FC236}">
                <a16:creationId xmlns:a16="http://schemas.microsoft.com/office/drawing/2014/main" id="{E22BA43D-8E95-B5E3-676D-C1FE625D80E9}"/>
              </a:ext>
            </a:extLst>
          </p:cNvPr>
          <p:cNvSpPr>
            <a:spLocks noGrp="1"/>
          </p:cNvSpPr>
          <p:nvPr>
            <p:ph idx="1"/>
          </p:nvPr>
        </p:nvSpPr>
        <p:spPr>
          <a:xfrm>
            <a:off x="442076" y="1019812"/>
            <a:ext cx="5653924" cy="4818375"/>
          </a:xfrm>
        </p:spPr>
        <p:txBody>
          <a:bodyPr>
            <a:noAutofit/>
          </a:bodyPr>
          <a:lstStyle/>
          <a:p>
            <a:pPr>
              <a:lnSpc>
                <a:spcPct val="100000"/>
              </a:lnSpc>
            </a:pPr>
            <a:r>
              <a:rPr lang="en-US" sz="2400" dirty="0">
                <a:latin typeface="Montserrat" pitchFamily="2" charset="77"/>
              </a:rPr>
              <a:t>UMAP with normal breast cell clusters based on NB-lncRNA </a:t>
            </a:r>
            <a:r>
              <a:rPr lang="en-US" sz="2400" b="1" dirty="0">
                <a:latin typeface="Montserrat" pitchFamily="2" charset="77"/>
              </a:rPr>
              <a:t>(D) </a:t>
            </a:r>
            <a:r>
              <a:rPr lang="en-US" sz="2400" dirty="0">
                <a:latin typeface="Montserrat" pitchFamily="2" charset="77"/>
              </a:rPr>
              <a:t>or GENCODE </a:t>
            </a:r>
            <a:r>
              <a:rPr lang="en-US" sz="2400" b="1" dirty="0">
                <a:latin typeface="Montserrat" pitchFamily="2" charset="77"/>
              </a:rPr>
              <a:t>(E) </a:t>
            </a:r>
            <a:r>
              <a:rPr lang="en-US" sz="2400" dirty="0">
                <a:latin typeface="Montserrat" pitchFamily="2" charset="77"/>
              </a:rPr>
              <a:t>with Cluster Specificity Index (CSI) labelled.</a:t>
            </a:r>
          </a:p>
          <a:p>
            <a:pPr>
              <a:lnSpc>
                <a:spcPct val="100000"/>
              </a:lnSpc>
            </a:pPr>
            <a:r>
              <a:rPr lang="en-US" sz="2400" b="1" dirty="0">
                <a:latin typeface="Montserrat" pitchFamily="2" charset="77"/>
              </a:rPr>
              <a:t>(F): </a:t>
            </a:r>
            <a:r>
              <a:rPr lang="en-US" sz="2400" dirty="0">
                <a:latin typeface="Montserrat" pitchFamily="2" charset="77"/>
              </a:rPr>
              <a:t>CSI difference for the corresponding clusters in </a:t>
            </a:r>
            <a:r>
              <a:rPr lang="en-US" sz="2400" b="1" dirty="0">
                <a:latin typeface="Montserrat" pitchFamily="2" charset="77"/>
              </a:rPr>
              <a:t>(D)   </a:t>
            </a:r>
            <a:r>
              <a:rPr lang="en-US" sz="2400" dirty="0">
                <a:latin typeface="Montserrat" pitchFamily="2" charset="77"/>
              </a:rPr>
              <a:t>and </a:t>
            </a:r>
            <a:r>
              <a:rPr lang="en-US" sz="2400" b="1" dirty="0">
                <a:latin typeface="Montserrat" pitchFamily="2" charset="77"/>
              </a:rPr>
              <a:t>(E)</a:t>
            </a:r>
            <a:r>
              <a:rPr lang="en-US" sz="2400" dirty="0">
                <a:latin typeface="Montserrat" pitchFamily="2" charset="77"/>
              </a:rPr>
              <a:t>.</a:t>
            </a:r>
            <a:endParaRPr lang="en-US" sz="2400" b="1" dirty="0">
              <a:latin typeface="Montserrat" pitchFamily="2" charset="77"/>
            </a:endParaRPr>
          </a:p>
          <a:p>
            <a:pPr lvl="1">
              <a:lnSpc>
                <a:spcPct val="100000"/>
              </a:lnSpc>
            </a:pPr>
            <a:r>
              <a:rPr lang="en-US" sz="2000" dirty="0">
                <a:latin typeface="Montserrat" pitchFamily="2" charset="77"/>
              </a:rPr>
              <a:t>Bold horizontal lines mark the average CSI for each gene set.</a:t>
            </a:r>
          </a:p>
          <a:p>
            <a:pPr>
              <a:lnSpc>
                <a:spcPct val="100000"/>
              </a:lnSpc>
            </a:pPr>
            <a:r>
              <a:rPr lang="en-US" sz="2400" b="1" dirty="0">
                <a:latin typeface="Montserrat" pitchFamily="2" charset="77"/>
              </a:rPr>
              <a:t>(G): </a:t>
            </a:r>
            <a:r>
              <a:rPr lang="en-US" sz="2400" dirty="0">
                <a:latin typeface="Montserrat" pitchFamily="2" charset="77"/>
              </a:rPr>
              <a:t>Increase in normalized global SI levels (averaged CSIs), as resolution parameter is increased.</a:t>
            </a:r>
          </a:p>
        </p:txBody>
      </p:sp>
      <p:sp>
        <p:nvSpPr>
          <p:cNvPr id="6" name="TextBox 5">
            <a:extLst>
              <a:ext uri="{FF2B5EF4-FFF2-40B4-BE49-F238E27FC236}">
                <a16:creationId xmlns:a16="http://schemas.microsoft.com/office/drawing/2014/main" id="{97607ED3-8B3A-3DDE-6C86-2F71A5E1B774}"/>
              </a:ext>
            </a:extLst>
          </p:cNvPr>
          <p:cNvSpPr txBox="1"/>
          <p:nvPr/>
        </p:nvSpPr>
        <p:spPr>
          <a:xfrm>
            <a:off x="3468414" y="6160678"/>
            <a:ext cx="8585709"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5(D-G). “NB-lncRNAs have compartmentalized expression levels, which are higher at cell-level.”</a:t>
            </a:r>
          </a:p>
        </p:txBody>
      </p:sp>
      <p:pic>
        <p:nvPicPr>
          <p:cNvPr id="7" name="Picture 6">
            <a:extLst>
              <a:ext uri="{FF2B5EF4-FFF2-40B4-BE49-F238E27FC236}">
                <a16:creationId xmlns:a16="http://schemas.microsoft.com/office/drawing/2014/main" id="{B6CB87DD-B7CD-DD79-97B4-192A0964A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5961" y="112547"/>
            <a:ext cx="5382423" cy="5708631"/>
          </a:xfrm>
          <a:prstGeom prst="rect">
            <a:avLst/>
          </a:prstGeom>
        </p:spPr>
      </p:pic>
    </p:spTree>
    <p:extLst>
      <p:ext uri="{BB962C8B-B14F-4D97-AF65-F5344CB8AC3E}">
        <p14:creationId xmlns:p14="http://schemas.microsoft.com/office/powerpoint/2010/main" val="2498792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D1F1-9684-32C3-2EB4-48E0D2BC6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DBEEF-3E93-D5FA-4C4A-236A990B326D}"/>
              </a:ext>
            </a:extLst>
          </p:cNvPr>
          <p:cNvSpPr>
            <a:spLocks noGrp="1"/>
          </p:cNvSpPr>
          <p:nvPr>
            <p:ph type="title"/>
          </p:nvPr>
        </p:nvSpPr>
        <p:spPr>
          <a:xfrm>
            <a:off x="249283" y="322845"/>
            <a:ext cx="6345176" cy="865875"/>
          </a:xfrm>
        </p:spPr>
        <p:txBody>
          <a:bodyPr>
            <a:noAutofit/>
          </a:bodyPr>
          <a:lstStyle/>
          <a:p>
            <a:r>
              <a:rPr lang="en-US" sz="4800" dirty="0">
                <a:latin typeface="Crimson Pro Medium" pitchFamily="2" charset="77"/>
              </a:rPr>
              <a:t>lncRNA Tissue Specificity</a:t>
            </a:r>
          </a:p>
        </p:txBody>
      </p:sp>
      <p:sp>
        <p:nvSpPr>
          <p:cNvPr id="3" name="Content Placeholder 2">
            <a:extLst>
              <a:ext uri="{FF2B5EF4-FFF2-40B4-BE49-F238E27FC236}">
                <a16:creationId xmlns:a16="http://schemas.microsoft.com/office/drawing/2014/main" id="{98CAB294-A982-5E8E-5698-702B8F7AE08D}"/>
              </a:ext>
            </a:extLst>
          </p:cNvPr>
          <p:cNvSpPr>
            <a:spLocks noGrp="1"/>
          </p:cNvSpPr>
          <p:nvPr>
            <p:ph idx="1"/>
          </p:nvPr>
        </p:nvSpPr>
        <p:spPr>
          <a:xfrm>
            <a:off x="323616" y="1188720"/>
            <a:ext cx="6037996" cy="4686148"/>
          </a:xfrm>
        </p:spPr>
        <p:txBody>
          <a:bodyPr>
            <a:noAutofit/>
          </a:bodyPr>
          <a:lstStyle/>
          <a:p>
            <a:pPr>
              <a:lnSpc>
                <a:spcPct val="100000"/>
              </a:lnSpc>
            </a:pPr>
            <a:r>
              <a:rPr lang="en-US" sz="2400" b="1" dirty="0">
                <a:latin typeface="Montserrat" pitchFamily="2" charset="77"/>
              </a:rPr>
              <a:t>(A): </a:t>
            </a:r>
            <a:r>
              <a:rPr lang="en-US" sz="2400" dirty="0">
                <a:latin typeface="Montserrat" pitchFamily="2" charset="77"/>
              </a:rPr>
              <a:t>Global tissue specificity of genes across 27 human tissues.</a:t>
            </a:r>
          </a:p>
          <a:p>
            <a:pPr>
              <a:lnSpc>
                <a:spcPct val="100000"/>
              </a:lnSpc>
            </a:pPr>
            <a:r>
              <a:rPr lang="en-US" sz="2400" dirty="0">
                <a:latin typeface="Montserrat" pitchFamily="2" charset="77"/>
              </a:rPr>
              <a:t>UMAP of cells from a healthy human brain based on GENCODE genes expression </a:t>
            </a:r>
            <a:r>
              <a:rPr lang="en-US" sz="2400" b="1" dirty="0">
                <a:latin typeface="Montserrat" pitchFamily="2" charset="77"/>
              </a:rPr>
              <a:t>(B) </a:t>
            </a:r>
            <a:r>
              <a:rPr lang="en-US" sz="2400" dirty="0">
                <a:latin typeface="Montserrat" pitchFamily="2" charset="77"/>
              </a:rPr>
              <a:t>or NB-lncRNAs </a:t>
            </a:r>
            <a:r>
              <a:rPr lang="en-US" sz="2400" b="1" dirty="0">
                <a:latin typeface="Montserrat" pitchFamily="2" charset="77"/>
              </a:rPr>
              <a:t>(C)</a:t>
            </a:r>
            <a:r>
              <a:rPr lang="en-US" sz="2400" dirty="0">
                <a:latin typeface="Montserrat" pitchFamily="2" charset="77"/>
              </a:rPr>
              <a:t>.</a:t>
            </a:r>
          </a:p>
          <a:p>
            <a:pPr lvl="1">
              <a:lnSpc>
                <a:spcPct val="100000"/>
              </a:lnSpc>
            </a:pPr>
            <a:r>
              <a:rPr lang="en-US" sz="2000" dirty="0">
                <a:latin typeface="Montserrat" pitchFamily="2" charset="77"/>
              </a:rPr>
              <a:t>Clusters labelled based on known biomarkers of the represented brain cell types.</a:t>
            </a:r>
          </a:p>
          <a:p>
            <a:pPr>
              <a:lnSpc>
                <a:spcPct val="100000"/>
              </a:lnSpc>
            </a:pPr>
            <a:r>
              <a:rPr lang="en-US" sz="2400" dirty="0">
                <a:latin typeface="Montserrat" pitchFamily="2" charset="77"/>
              </a:rPr>
              <a:t>LncRNAs </a:t>
            </a:r>
            <a:r>
              <a:rPr lang="en-US" sz="2400" i="1" dirty="0">
                <a:latin typeface="Montserrat" pitchFamily="2" charset="77"/>
              </a:rPr>
              <a:t>(both GENCODE and NB-lncRNAs)</a:t>
            </a:r>
            <a:r>
              <a:rPr lang="en-US" sz="2400" dirty="0">
                <a:latin typeface="Montserrat" pitchFamily="2" charset="77"/>
              </a:rPr>
              <a:t> demonstrate increased specificity in tissue type compared to coding genes.</a:t>
            </a:r>
          </a:p>
          <a:p>
            <a:pPr marL="457200" lvl="1" indent="0">
              <a:lnSpc>
                <a:spcPct val="100000"/>
              </a:lnSpc>
              <a:buNone/>
            </a:pPr>
            <a:endParaRPr lang="en-US" sz="2000" dirty="0">
              <a:latin typeface="Montserrat" pitchFamily="2" charset="77"/>
            </a:endParaRPr>
          </a:p>
        </p:txBody>
      </p:sp>
      <p:sp>
        <p:nvSpPr>
          <p:cNvPr id="6" name="TextBox 5">
            <a:extLst>
              <a:ext uri="{FF2B5EF4-FFF2-40B4-BE49-F238E27FC236}">
                <a16:creationId xmlns:a16="http://schemas.microsoft.com/office/drawing/2014/main" id="{753192BD-A235-22C2-8A0D-7A705FE5E8A2}"/>
              </a:ext>
            </a:extLst>
          </p:cNvPr>
          <p:cNvSpPr txBox="1"/>
          <p:nvPr/>
        </p:nvSpPr>
        <p:spPr>
          <a:xfrm>
            <a:off x="3700833" y="6160678"/>
            <a:ext cx="8353290"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6. “NB-lncRNAs cannot identify human brain cell types.”</a:t>
            </a:r>
          </a:p>
        </p:txBody>
      </p:sp>
      <p:pic>
        <p:nvPicPr>
          <p:cNvPr id="5" name="Picture 4">
            <a:extLst>
              <a:ext uri="{FF2B5EF4-FFF2-40B4-BE49-F238E27FC236}">
                <a16:creationId xmlns:a16="http://schemas.microsoft.com/office/drawing/2014/main" id="{8A39CC4A-C09B-4987-616F-B41704A088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8792" y="112547"/>
            <a:ext cx="5199592" cy="5765805"/>
          </a:xfrm>
          <a:prstGeom prst="rect">
            <a:avLst/>
          </a:prstGeom>
        </p:spPr>
      </p:pic>
    </p:spTree>
    <p:extLst>
      <p:ext uri="{BB962C8B-B14F-4D97-AF65-F5344CB8AC3E}">
        <p14:creationId xmlns:p14="http://schemas.microsoft.com/office/powerpoint/2010/main" val="4032235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FC61F-1F27-D92F-A51F-0A3585CDA5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E81A8D-A34E-2F83-6040-91F6349F1737}"/>
              </a:ext>
            </a:extLst>
          </p:cNvPr>
          <p:cNvSpPr>
            <a:spLocks noGrp="1"/>
          </p:cNvSpPr>
          <p:nvPr>
            <p:ph idx="1"/>
          </p:nvPr>
        </p:nvSpPr>
        <p:spPr>
          <a:xfrm>
            <a:off x="2279182" y="2568611"/>
            <a:ext cx="7633636" cy="1181944"/>
          </a:xfrm>
        </p:spPr>
        <p:txBody>
          <a:bodyPr>
            <a:noAutofit/>
          </a:bodyPr>
          <a:lstStyle/>
          <a:p>
            <a:pPr marL="1028700" indent="-1028700">
              <a:lnSpc>
                <a:spcPct val="125000"/>
              </a:lnSpc>
              <a:spcBef>
                <a:spcPts val="0"/>
              </a:spcBef>
              <a:spcAft>
                <a:spcPts val="1200"/>
              </a:spcAft>
              <a:buFont typeface="+mj-lt"/>
              <a:buAutoNum type="romanUcPeriod" startAt="5"/>
            </a:pPr>
            <a:r>
              <a:rPr lang="en-US" sz="5400" dirty="0">
                <a:latin typeface="Crimson Pro Medium" pitchFamily="2" charset="77"/>
                <a:cs typeface="Arial" panose="020B0604020202020204" pitchFamily="34" charset="0"/>
              </a:rPr>
              <a:t>What the Future Holds</a:t>
            </a:r>
          </a:p>
        </p:txBody>
      </p:sp>
    </p:spTree>
    <p:extLst>
      <p:ext uri="{BB962C8B-B14F-4D97-AF65-F5344CB8AC3E}">
        <p14:creationId xmlns:p14="http://schemas.microsoft.com/office/powerpoint/2010/main" val="2533701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78FB4-840A-F797-7B50-34688EDFF311}"/>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562B7E2F-084D-58F5-1D1E-83A4F807A134}"/>
              </a:ext>
            </a:extLst>
          </p:cNvPr>
          <p:cNvSpPr>
            <a:spLocks noGrp="1"/>
          </p:cNvSpPr>
          <p:nvPr>
            <p:ph type="title"/>
          </p:nvPr>
        </p:nvSpPr>
        <p:spPr>
          <a:xfrm>
            <a:off x="479356" y="428752"/>
            <a:ext cx="11330294" cy="727405"/>
          </a:xfrm>
        </p:spPr>
        <p:txBody>
          <a:bodyPr>
            <a:noAutofit/>
          </a:bodyPr>
          <a:lstStyle/>
          <a:p>
            <a:r>
              <a:rPr lang="en-US" sz="5400" dirty="0">
                <a:latin typeface="Crimson Pro Medium" pitchFamily="2" charset="77"/>
                <a:cs typeface="Calibri" panose="020F0502020204030204" pitchFamily="34" charset="0"/>
              </a:rPr>
              <a:t>Progress Since Publication (2023-2026)</a:t>
            </a:r>
            <a:endParaRPr lang="en-US" sz="5400" dirty="0">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336ED620-7E16-9261-2578-5E842D7B633F}"/>
              </a:ext>
            </a:extLst>
          </p:cNvPr>
          <p:cNvSpPr txBox="1"/>
          <p:nvPr/>
        </p:nvSpPr>
        <p:spPr>
          <a:xfrm>
            <a:off x="430853" y="1594145"/>
            <a:ext cx="11330294" cy="335380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400" dirty="0">
                <a:latin typeface="Montserrat" pitchFamily="2" charset="77"/>
                <a:cs typeface="Calibri" panose="020F0502020204030204" pitchFamily="34" charset="0"/>
              </a:rPr>
              <a:t>Recent expansion of lncRNA annotations through the GENCODE CLR sequencing project (</a:t>
            </a:r>
            <a:r>
              <a:rPr lang="en-US" sz="2400" dirty="0" err="1">
                <a:latin typeface="Montserrat" pitchFamily="2" charset="77"/>
                <a:cs typeface="Calibri" panose="020F0502020204030204" pitchFamily="34" charset="0"/>
              </a:rPr>
              <a:t>Perteghella</a:t>
            </a:r>
            <a:r>
              <a:rPr lang="en-US" sz="2400" dirty="0">
                <a:latin typeface="Montserrat" pitchFamily="2" charset="77"/>
                <a:cs typeface="Calibri" panose="020F0502020204030204" pitchFamily="34" charset="0"/>
              </a:rPr>
              <a:t> et al., 2026).</a:t>
            </a:r>
          </a:p>
          <a:p>
            <a:pPr marL="457200" indent="-457200">
              <a:lnSpc>
                <a:spcPct val="150000"/>
              </a:lnSpc>
              <a:buFont typeface="Arial" panose="020B0604020202020204" pitchFamily="34" charset="0"/>
              <a:buChar char="•"/>
            </a:pPr>
            <a:r>
              <a:rPr lang="en-US" sz="2400" dirty="0">
                <a:latin typeface="Montserrat" pitchFamily="2" charset="77"/>
                <a:cs typeface="Calibri" panose="020F0502020204030204" pitchFamily="34" charset="0"/>
              </a:rPr>
              <a:t>Rapid development of features and methods to identify lncRNA and their associated proteins/transcripts (Gao et al., 2025)</a:t>
            </a:r>
          </a:p>
          <a:p>
            <a:pPr marL="457200" indent="-457200">
              <a:lnSpc>
                <a:spcPct val="150000"/>
              </a:lnSpc>
              <a:buFont typeface="Arial" panose="020B0604020202020204" pitchFamily="34" charset="0"/>
              <a:buChar char="•"/>
            </a:pPr>
            <a:r>
              <a:rPr lang="en-US" sz="2400" dirty="0">
                <a:latin typeface="Montserrat" pitchFamily="2" charset="77"/>
                <a:cs typeface="Calibri" panose="020F0502020204030204" pitchFamily="34" charset="0"/>
              </a:rPr>
              <a:t>RNA-targeting CRISPR-Cas13 screens have identified 788 essential lncRNAs across five human cell lines (Liang et al., 2026).</a:t>
            </a:r>
          </a:p>
        </p:txBody>
      </p:sp>
      <p:sp>
        <p:nvSpPr>
          <p:cNvPr id="2" name="TextBox 1">
            <a:extLst>
              <a:ext uri="{FF2B5EF4-FFF2-40B4-BE49-F238E27FC236}">
                <a16:creationId xmlns:a16="http://schemas.microsoft.com/office/drawing/2014/main" id="{4C84083D-D322-0C02-EE64-DF026D034F98}"/>
              </a:ext>
            </a:extLst>
          </p:cNvPr>
          <p:cNvSpPr txBox="1"/>
          <p:nvPr/>
        </p:nvSpPr>
        <p:spPr>
          <a:xfrm>
            <a:off x="4132614" y="6274978"/>
            <a:ext cx="7735772" cy="338554"/>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Author et al. (</a:t>
            </a:r>
            <a:r>
              <a:rPr lang="en-US" sz="1600" dirty="0" err="1">
                <a:solidFill>
                  <a:schemeClr val="bg1"/>
                </a:solidFill>
                <a:latin typeface="Calibri" panose="020F0502020204030204" pitchFamily="34" charset="0"/>
                <a:cs typeface="Calibri" panose="020F0502020204030204" pitchFamily="34" charset="0"/>
              </a:rPr>
              <a:t>xxxx</a:t>
            </a:r>
            <a:r>
              <a:rPr lang="en-US" sz="1600" dirty="0">
                <a:solidFill>
                  <a:schemeClr val="bg1"/>
                </a:solidFill>
                <a:latin typeface="Calibri" panose="020F0502020204030204" pitchFamily="34" charset="0"/>
                <a:cs typeface="Calibri" panose="020F0502020204030204" pitchFamily="34" charset="0"/>
              </a:rPr>
              <a:t>) </a:t>
            </a:r>
            <a:r>
              <a:rPr lang="en-US" sz="1600" b="1" dirty="0">
                <a:solidFill>
                  <a:schemeClr val="bg1"/>
                </a:solidFill>
                <a:latin typeface="Calibri" panose="020F0502020204030204" pitchFamily="34" charset="0"/>
                <a:cs typeface="Calibri" panose="020F0502020204030204" pitchFamily="34" charset="0"/>
              </a:rPr>
              <a:t>Title.</a:t>
            </a:r>
            <a:endParaRPr lang="en-US" sz="1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8374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E739F-3A43-CD67-9BF5-9D9837753550}"/>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0B571049-399A-F0B7-9A8D-D4A7474FF8D2}"/>
              </a:ext>
            </a:extLst>
          </p:cNvPr>
          <p:cNvSpPr>
            <a:spLocks noGrp="1"/>
          </p:cNvSpPr>
          <p:nvPr>
            <p:ph type="title"/>
          </p:nvPr>
        </p:nvSpPr>
        <p:spPr>
          <a:xfrm>
            <a:off x="479356" y="428752"/>
            <a:ext cx="11330294" cy="727405"/>
          </a:xfrm>
        </p:spPr>
        <p:txBody>
          <a:bodyPr>
            <a:noAutofit/>
          </a:bodyPr>
          <a:lstStyle/>
          <a:p>
            <a:r>
              <a:rPr lang="en-US" sz="5400" dirty="0">
                <a:latin typeface="Crimson Pro Medium" pitchFamily="2" charset="77"/>
                <a:cs typeface="Calibri" panose="020F0502020204030204" pitchFamily="34" charset="0"/>
              </a:rPr>
              <a:t>Future Directions (2026-)</a:t>
            </a:r>
            <a:endParaRPr lang="en-US" sz="5400" dirty="0">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718B9D88-E65D-C481-1A84-FD5113889035}"/>
              </a:ext>
            </a:extLst>
          </p:cNvPr>
          <p:cNvSpPr txBox="1"/>
          <p:nvPr/>
        </p:nvSpPr>
        <p:spPr>
          <a:xfrm>
            <a:off x="430853" y="1305387"/>
            <a:ext cx="11330294" cy="5015797"/>
          </a:xfrm>
          <a:prstGeom prst="rect">
            <a:avLst/>
          </a:prstGeom>
          <a:noFill/>
        </p:spPr>
        <p:txBody>
          <a:bodyPr wrap="square">
            <a:spAutoFit/>
          </a:bodyPr>
          <a:lstStyle/>
          <a:p>
            <a:pPr marL="457200" indent="-457200" algn="l" rtl="0" eaLnBrk="1" latinLnBrk="0" hangingPunct="1">
              <a:lnSpc>
                <a:spcPct val="150000"/>
              </a:lnSpc>
              <a:buFont typeface="Arial" panose="020B0604020202020204" pitchFamily="34" charset="0"/>
              <a:buChar char="•"/>
            </a:pPr>
            <a:r>
              <a:rPr lang="en-US" sz="2400" dirty="0">
                <a:solidFill>
                  <a:srgbClr val="000000"/>
                </a:solidFill>
                <a:effectLst/>
                <a:latin typeface="Montserrat" pitchFamily="2" charset="77"/>
              </a:rPr>
              <a:t>Numerous lncRNAs still require annotation and validation.</a:t>
            </a:r>
          </a:p>
          <a:p>
            <a:pPr marL="457200" indent="-457200" algn="l" rtl="0" eaLnBrk="1" latinLnBrk="0" hangingPunct="1">
              <a:lnSpc>
                <a:spcPct val="150000"/>
              </a:lnSpc>
              <a:buFont typeface="Arial" panose="020B0604020202020204" pitchFamily="34" charset="0"/>
              <a:buChar char="•"/>
            </a:pPr>
            <a:r>
              <a:rPr lang="en-US" sz="2400" dirty="0">
                <a:solidFill>
                  <a:srgbClr val="000000"/>
                </a:solidFill>
                <a:latin typeface="Montserrat" pitchFamily="2" charset="77"/>
              </a:rPr>
              <a:t>M</a:t>
            </a:r>
            <a:r>
              <a:rPr lang="en-US" sz="2400" dirty="0">
                <a:solidFill>
                  <a:srgbClr val="000000"/>
                </a:solidFill>
                <a:effectLst/>
                <a:latin typeface="Montserrat" pitchFamily="2" charset="77"/>
              </a:rPr>
              <a:t>ajority of studies emphasize lncRNAs as disease biomarkers, rather than their roles in healthy cell states or differentiation potential.</a:t>
            </a:r>
          </a:p>
          <a:p>
            <a:pPr marL="457200" indent="-457200" algn="l" rtl="0" eaLnBrk="1" latinLnBrk="0" hangingPunct="1">
              <a:lnSpc>
                <a:spcPct val="150000"/>
              </a:lnSpc>
              <a:buFont typeface="Arial" panose="020B0604020202020204" pitchFamily="34" charset="0"/>
              <a:buChar char="•"/>
            </a:pPr>
            <a:r>
              <a:rPr lang="en-US" sz="2400" dirty="0">
                <a:solidFill>
                  <a:srgbClr val="000000"/>
                </a:solidFill>
                <a:effectLst/>
                <a:latin typeface="Montserrat" pitchFamily="2" charset="77"/>
              </a:rPr>
              <a:t>Rather than depending on fixed gene sets for cell-type exploration, scRNA-seq workflows should incorporate tissue-specific lncRNA identification as a preprocessing step.</a:t>
            </a:r>
          </a:p>
          <a:p>
            <a:pPr marL="457200" indent="-457200" algn="l" rtl="0" eaLnBrk="1" latinLnBrk="0" hangingPunct="1">
              <a:lnSpc>
                <a:spcPct val="150000"/>
              </a:lnSpc>
              <a:buFont typeface="Arial" panose="020B0604020202020204" pitchFamily="34" charset="0"/>
              <a:buChar char="•"/>
            </a:pPr>
            <a:r>
              <a:rPr lang="en-US" sz="2400" dirty="0">
                <a:solidFill>
                  <a:srgbClr val="000000"/>
                </a:solidFill>
                <a:latin typeface="Montserrat" pitchFamily="2" charset="77"/>
              </a:rPr>
              <a:t>Integration of tissue-specific lncRNA spatial analysis to see how localization effects tissue structure.</a:t>
            </a:r>
            <a:endParaRPr lang="en-US" sz="2400" dirty="0">
              <a:solidFill>
                <a:srgbClr val="000000"/>
              </a:solidFill>
              <a:effectLst/>
              <a:latin typeface="Montserrat" pitchFamily="2" charset="77"/>
            </a:endParaRPr>
          </a:p>
          <a:p>
            <a:pPr marL="457200" indent="-457200" algn="l" rtl="0" eaLnBrk="1" latinLnBrk="0" hangingPunct="1">
              <a:lnSpc>
                <a:spcPct val="150000"/>
              </a:lnSpc>
              <a:buFont typeface="Arial" panose="020B0604020202020204" pitchFamily="34" charset="0"/>
              <a:buChar char="•"/>
            </a:pPr>
            <a:endParaRPr lang="en-US" sz="2400" dirty="0">
              <a:latin typeface="Montserrat" pitchFamily="2" charset="77"/>
              <a:cs typeface="Calibri" panose="020F0502020204030204" pitchFamily="34" charset="0"/>
            </a:endParaRPr>
          </a:p>
        </p:txBody>
      </p:sp>
      <p:sp>
        <p:nvSpPr>
          <p:cNvPr id="2" name="TextBox 1">
            <a:extLst>
              <a:ext uri="{FF2B5EF4-FFF2-40B4-BE49-F238E27FC236}">
                <a16:creationId xmlns:a16="http://schemas.microsoft.com/office/drawing/2014/main" id="{00D96226-D084-05EB-1878-E67FD95FA5CC}"/>
              </a:ext>
            </a:extLst>
          </p:cNvPr>
          <p:cNvSpPr txBox="1"/>
          <p:nvPr/>
        </p:nvSpPr>
        <p:spPr>
          <a:xfrm>
            <a:off x="4132614" y="6274978"/>
            <a:ext cx="7735772" cy="338554"/>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Author et al. (</a:t>
            </a:r>
            <a:r>
              <a:rPr lang="en-US" sz="1600" dirty="0" err="1">
                <a:solidFill>
                  <a:schemeClr val="bg1"/>
                </a:solidFill>
                <a:latin typeface="Calibri" panose="020F0502020204030204" pitchFamily="34" charset="0"/>
                <a:cs typeface="Calibri" panose="020F0502020204030204" pitchFamily="34" charset="0"/>
              </a:rPr>
              <a:t>xxxx</a:t>
            </a:r>
            <a:r>
              <a:rPr lang="en-US" sz="1600" dirty="0">
                <a:solidFill>
                  <a:schemeClr val="bg1"/>
                </a:solidFill>
                <a:latin typeface="Calibri" panose="020F0502020204030204" pitchFamily="34" charset="0"/>
                <a:cs typeface="Calibri" panose="020F0502020204030204" pitchFamily="34" charset="0"/>
              </a:rPr>
              <a:t>) </a:t>
            </a:r>
            <a:r>
              <a:rPr lang="en-US" sz="1600" b="1" dirty="0">
                <a:solidFill>
                  <a:schemeClr val="bg1"/>
                </a:solidFill>
                <a:latin typeface="Calibri" panose="020F0502020204030204" pitchFamily="34" charset="0"/>
                <a:cs typeface="Calibri" panose="020F0502020204030204" pitchFamily="34" charset="0"/>
              </a:rPr>
              <a:t>Title.</a:t>
            </a:r>
            <a:endParaRPr lang="en-US" sz="1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434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DDBE9-9595-F5B9-D3AD-B3BD4D62E3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AD3C94-60CA-E7C2-6CF6-AB6804967687}"/>
              </a:ext>
            </a:extLst>
          </p:cNvPr>
          <p:cNvSpPr>
            <a:spLocks noGrp="1"/>
          </p:cNvSpPr>
          <p:nvPr>
            <p:ph idx="1"/>
          </p:nvPr>
        </p:nvSpPr>
        <p:spPr>
          <a:xfrm>
            <a:off x="1758558" y="2634682"/>
            <a:ext cx="8674883" cy="1181944"/>
          </a:xfrm>
        </p:spPr>
        <p:txBody>
          <a:bodyPr>
            <a:noAutofit/>
          </a:bodyPr>
          <a:lstStyle/>
          <a:p>
            <a:pPr marL="0" indent="0" algn="ctr">
              <a:lnSpc>
                <a:spcPct val="125000"/>
              </a:lnSpc>
              <a:spcBef>
                <a:spcPts val="0"/>
              </a:spcBef>
              <a:spcAft>
                <a:spcPts val="1200"/>
              </a:spcAft>
              <a:buNone/>
            </a:pPr>
            <a:r>
              <a:rPr lang="en-US" sz="5400" dirty="0">
                <a:latin typeface="Crimson Pro Medium" pitchFamily="2" charset="77"/>
                <a:cs typeface="Arial" panose="020B0604020202020204" pitchFamily="34" charset="0"/>
              </a:rPr>
              <a:t>Thank you!</a:t>
            </a:r>
          </a:p>
        </p:txBody>
      </p:sp>
    </p:spTree>
    <p:extLst>
      <p:ext uri="{BB962C8B-B14F-4D97-AF65-F5344CB8AC3E}">
        <p14:creationId xmlns:p14="http://schemas.microsoft.com/office/powerpoint/2010/main" val="309290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9F7AD-1992-86D3-9668-BC517BCF4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F4DAB-BE1C-81AD-DFF6-23CE61812D35}"/>
              </a:ext>
            </a:extLst>
          </p:cNvPr>
          <p:cNvSpPr>
            <a:spLocks noGrp="1"/>
          </p:cNvSpPr>
          <p:nvPr>
            <p:ph type="title"/>
          </p:nvPr>
        </p:nvSpPr>
        <p:spPr>
          <a:xfrm>
            <a:off x="476250" y="289542"/>
            <a:ext cx="10515600" cy="727405"/>
          </a:xfrm>
        </p:spPr>
        <p:txBody>
          <a:bodyPr>
            <a:normAutofit/>
          </a:bodyPr>
          <a:lstStyle/>
          <a:p>
            <a:r>
              <a:rPr lang="en-US" sz="4400" dirty="0">
                <a:latin typeface="Crimson Pro Medium" pitchFamily="2" charset="77"/>
              </a:rPr>
              <a:t>Bibliography</a:t>
            </a:r>
          </a:p>
        </p:txBody>
      </p:sp>
      <p:sp>
        <p:nvSpPr>
          <p:cNvPr id="3" name="Content Placeholder 2">
            <a:extLst>
              <a:ext uri="{FF2B5EF4-FFF2-40B4-BE49-F238E27FC236}">
                <a16:creationId xmlns:a16="http://schemas.microsoft.com/office/drawing/2014/main" id="{3FA80010-A9F4-5FCE-24BA-07F65017A6AB}"/>
              </a:ext>
            </a:extLst>
          </p:cNvPr>
          <p:cNvSpPr>
            <a:spLocks noGrp="1"/>
          </p:cNvSpPr>
          <p:nvPr>
            <p:ph idx="1"/>
          </p:nvPr>
        </p:nvSpPr>
        <p:spPr>
          <a:xfrm>
            <a:off x="476250" y="1016947"/>
            <a:ext cx="11239500" cy="4913952"/>
          </a:xfrm>
        </p:spPr>
        <p:txBody>
          <a:bodyPr numCol="2" spcCol="457200">
            <a:noAutofit/>
          </a:bodyPr>
          <a:lstStyle/>
          <a:p>
            <a:pPr indent="-457200">
              <a:buNone/>
            </a:pPr>
            <a:r>
              <a:rPr lang="en-US" sz="1600" dirty="0"/>
              <a:t>Bitar M, Rivera IS, Almeida I </a:t>
            </a:r>
            <a:r>
              <a:rPr lang="en-US" sz="1600" i="1" dirty="0"/>
              <a:t>et al.</a:t>
            </a:r>
            <a:r>
              <a:rPr lang="en-US" sz="1600" dirty="0"/>
              <a:t> Redefining normal breast cell populations using long noncoding RNAs. </a:t>
            </a:r>
            <a:r>
              <a:rPr lang="en-US" sz="1600" i="1" dirty="0"/>
              <a:t>Nucleic Acids Res</a:t>
            </a:r>
            <a:r>
              <a:rPr lang="en-US" sz="1600" dirty="0"/>
              <a:t> 2023;</a:t>
            </a:r>
            <a:r>
              <a:rPr lang="en-US" sz="1600" b="1" dirty="0"/>
              <a:t>51</a:t>
            </a:r>
            <a:r>
              <a:rPr lang="en-US" sz="1600" dirty="0"/>
              <a:t>(12):6389–410. </a:t>
            </a:r>
            <a:r>
              <a:rPr lang="en-US" sz="1600" dirty="0">
                <a:hlinkClick r:id="rId2"/>
              </a:rPr>
              <a:t>https://doi.org/10.1093/nar/gkad339</a:t>
            </a:r>
            <a:r>
              <a:rPr lang="en-US" sz="1600" dirty="0"/>
              <a:t>.</a:t>
            </a:r>
          </a:p>
          <a:p>
            <a:pPr indent="-457200">
              <a:buNone/>
            </a:pPr>
            <a:r>
              <a:rPr lang="en-US" sz="1600" dirty="0"/>
              <a:t>Chen LL, Kim VN. Small and long non-coding RNAs: Past, present, and future. </a:t>
            </a:r>
            <a:r>
              <a:rPr lang="en-US" sz="1600" i="1" dirty="0"/>
              <a:t>Cell</a:t>
            </a:r>
            <a:r>
              <a:rPr lang="en-US" sz="1600" dirty="0"/>
              <a:t> 2024;</a:t>
            </a:r>
            <a:r>
              <a:rPr lang="en-US" sz="1600" b="1" dirty="0"/>
              <a:t>187</a:t>
            </a:r>
            <a:r>
              <a:rPr lang="en-US" sz="1600" dirty="0"/>
              <a:t>(23):6451–85. </a:t>
            </a:r>
            <a:r>
              <a:rPr lang="en-US" sz="1600" dirty="0">
                <a:hlinkClick r:id="rId3"/>
              </a:rPr>
              <a:t>https://doi.org/10.1016/j.cell.2024.10.024</a:t>
            </a:r>
            <a:r>
              <a:rPr lang="en-US" sz="1600" dirty="0"/>
              <a:t>.</a:t>
            </a:r>
          </a:p>
          <a:p>
            <a:pPr indent="-457200">
              <a:buNone/>
            </a:pPr>
            <a:r>
              <a:rPr lang="en-US" sz="1600" dirty="0" err="1"/>
              <a:t>Djebali</a:t>
            </a:r>
            <a:r>
              <a:rPr lang="en-US" sz="1600" dirty="0"/>
              <a:t> S, Davis CA, Merkel A </a:t>
            </a:r>
            <a:r>
              <a:rPr lang="en-US" sz="1600" i="1" dirty="0"/>
              <a:t>et al.</a:t>
            </a:r>
            <a:r>
              <a:rPr lang="en-US" sz="1600" dirty="0"/>
              <a:t> Landscape of transcription in human cells. </a:t>
            </a:r>
            <a:r>
              <a:rPr lang="en-US" sz="1600" i="1" dirty="0"/>
              <a:t>Nature</a:t>
            </a:r>
            <a:r>
              <a:rPr lang="en-US" sz="1600" dirty="0"/>
              <a:t> 2012;</a:t>
            </a:r>
            <a:r>
              <a:rPr lang="en-US" sz="1600" b="1" dirty="0"/>
              <a:t>489</a:t>
            </a:r>
            <a:r>
              <a:rPr lang="en-US" sz="1600" dirty="0"/>
              <a:t>(7414):101–8. </a:t>
            </a:r>
            <a:r>
              <a:rPr lang="en-US" sz="1600" dirty="0">
                <a:hlinkClick r:id="rId4"/>
              </a:rPr>
              <a:t>https://doi.org/10.1038/nature11233</a:t>
            </a:r>
            <a:r>
              <a:rPr lang="en-US" sz="1600" dirty="0"/>
              <a:t>.</a:t>
            </a:r>
          </a:p>
          <a:p>
            <a:pPr indent="-457200">
              <a:buNone/>
            </a:pPr>
            <a:r>
              <a:rPr lang="en-US" sz="1600" dirty="0"/>
              <a:t>Fu NY, Nolan E, Lindeman GJ </a:t>
            </a:r>
            <a:r>
              <a:rPr lang="en-US" sz="1600" i="1" dirty="0"/>
              <a:t>et al.</a:t>
            </a:r>
            <a:r>
              <a:rPr lang="en-US" sz="1600" dirty="0"/>
              <a:t> Stem Cells and the Differentiation Hierarchy in Mammary Gland Development. </a:t>
            </a:r>
            <a:r>
              <a:rPr lang="en-US" sz="1600" i="1" dirty="0"/>
              <a:t>Physiological Reviews</a:t>
            </a:r>
            <a:r>
              <a:rPr lang="en-US" sz="1600" dirty="0"/>
              <a:t> 2020;</a:t>
            </a:r>
            <a:r>
              <a:rPr lang="en-US" sz="1600" b="1" dirty="0"/>
              <a:t>100</a:t>
            </a:r>
            <a:r>
              <a:rPr lang="en-US" sz="1600" dirty="0"/>
              <a:t>(2):489–523. </a:t>
            </a:r>
            <a:r>
              <a:rPr lang="en-US" sz="1600" dirty="0">
                <a:hlinkClick r:id="rId5"/>
              </a:rPr>
              <a:t>https://doi.org/10.1152/physrev.00040.2018</a:t>
            </a:r>
            <a:r>
              <a:rPr lang="en-US" sz="1600" dirty="0"/>
              <a:t>.</a:t>
            </a:r>
          </a:p>
          <a:p>
            <a:pPr indent="-457200">
              <a:buNone/>
            </a:pPr>
            <a:r>
              <a:rPr lang="en-US" sz="1600" dirty="0"/>
              <a:t>Gao Y, Takenaka K, Xu SM </a:t>
            </a:r>
            <a:r>
              <a:rPr lang="en-US" sz="1600" i="1" dirty="0"/>
              <a:t>et al.</a:t>
            </a:r>
            <a:r>
              <a:rPr lang="en-US" sz="1600" dirty="0"/>
              <a:t> Recent advances in investigation of circRNA/lncRNA-miRNA-mRNA networks through RNA sequencing data analysis. </a:t>
            </a:r>
            <a:r>
              <a:rPr lang="en-US" sz="1600" i="1" dirty="0"/>
              <a:t>Brief </a:t>
            </a:r>
            <a:r>
              <a:rPr lang="en-US" sz="1600" i="1" dirty="0" err="1"/>
              <a:t>Funct</a:t>
            </a:r>
            <a:r>
              <a:rPr lang="en-US" sz="1600" i="1" dirty="0"/>
              <a:t> Genomics</a:t>
            </a:r>
            <a:r>
              <a:rPr lang="en-US" sz="1600" dirty="0"/>
              <a:t> 2025;</a:t>
            </a:r>
            <a:r>
              <a:rPr lang="en-US" sz="1600" b="1" dirty="0"/>
              <a:t>24</a:t>
            </a:r>
            <a:r>
              <a:rPr lang="en-US" sz="1600" dirty="0"/>
              <a:t>:elaf005. </a:t>
            </a:r>
            <a:r>
              <a:rPr lang="en-US" sz="1600" dirty="0">
                <a:hlinkClick r:id="rId6"/>
              </a:rPr>
              <a:t>https://doi.org/10.1093/bfgp/elaf005</a:t>
            </a:r>
            <a:r>
              <a:rPr lang="en-US" sz="1600" dirty="0"/>
              <a:t>.</a:t>
            </a:r>
          </a:p>
          <a:p>
            <a:pPr indent="-457200">
              <a:buNone/>
            </a:pPr>
            <a:endParaRPr lang="en-US" sz="1600" dirty="0"/>
          </a:p>
          <a:p>
            <a:pPr indent="-457200">
              <a:buNone/>
            </a:pPr>
            <a:r>
              <a:rPr lang="en-US" sz="1600" dirty="0"/>
              <a:t>Liang WW, Mueller SJ, Hart SK </a:t>
            </a:r>
            <a:r>
              <a:rPr lang="en-US" sz="1600" i="1" dirty="0"/>
              <a:t>et al.</a:t>
            </a:r>
            <a:r>
              <a:rPr lang="en-US" sz="1600" dirty="0"/>
              <a:t> Essential lncRNAs in the human transcriptome. </a:t>
            </a:r>
            <a:r>
              <a:rPr lang="en-US" sz="1600" i="1" dirty="0"/>
              <a:t>Cell Genomics</a:t>
            </a:r>
            <a:r>
              <a:rPr lang="en-US" sz="1600" dirty="0"/>
              <a:t> 2026;</a:t>
            </a:r>
            <a:r>
              <a:rPr lang="en-US" sz="1600" b="1" dirty="0"/>
              <a:t>0</a:t>
            </a:r>
            <a:r>
              <a:rPr lang="en-US" sz="1600" dirty="0"/>
              <a:t>(0). </a:t>
            </a:r>
            <a:r>
              <a:rPr lang="en-US" sz="1600" dirty="0">
                <a:hlinkClick r:id="rId7"/>
              </a:rPr>
              <a:t>https://doi.org/10.1016/j.xgen.2026.101253</a:t>
            </a:r>
            <a:r>
              <a:rPr lang="en-US" sz="1600" dirty="0"/>
              <a:t>.</a:t>
            </a:r>
          </a:p>
          <a:p>
            <a:pPr indent="-457200">
              <a:buNone/>
            </a:pPr>
            <a:r>
              <a:rPr lang="en-US" sz="1600" dirty="0" err="1"/>
              <a:t>Perteghella</a:t>
            </a:r>
            <a:r>
              <a:rPr lang="en-US" sz="1600" dirty="0"/>
              <a:t> T, Kaur G, Carbonell-Sala S </a:t>
            </a:r>
            <a:r>
              <a:rPr lang="en-US" sz="1600" i="1" dirty="0"/>
              <a:t>et al.</a:t>
            </a:r>
            <a:r>
              <a:rPr lang="en-US" sz="1600" dirty="0"/>
              <a:t> The GENCODE CLS project: massively expanding the lncRNA catalog through capture long-read RNA sequencing. Preprint, bioRxiv, 21 Jan. 2026, 2024.10.29.620654. </a:t>
            </a:r>
            <a:r>
              <a:rPr lang="en-US" sz="1600" dirty="0">
                <a:hlinkClick r:id="rId8"/>
              </a:rPr>
              <a:t>https://doi.org/10.1101/2024.10.29.620654</a:t>
            </a:r>
            <a:r>
              <a:rPr lang="en-US" sz="1600" dirty="0"/>
              <a:t>.</a:t>
            </a:r>
          </a:p>
          <a:p>
            <a:pPr indent="-457200">
              <a:buNone/>
            </a:pPr>
            <a:r>
              <a:rPr lang="en-US" sz="1600" dirty="0"/>
              <a:t>Poloni J de F, Oliveira FHS de, Feltes BC. Localization is the key to action: regulatory peculiarities of lncRNAs. </a:t>
            </a:r>
            <a:r>
              <a:rPr lang="en-US" sz="1600" i="1" dirty="0"/>
              <a:t>Front Genet</a:t>
            </a:r>
            <a:r>
              <a:rPr lang="en-US" sz="1600" dirty="0"/>
              <a:t> 2024;</a:t>
            </a:r>
            <a:r>
              <a:rPr lang="en-US" sz="1600" b="1" dirty="0"/>
              <a:t>15</a:t>
            </a:r>
            <a:r>
              <a:rPr lang="en-US" sz="1600" dirty="0"/>
              <a:t>. </a:t>
            </a:r>
            <a:r>
              <a:rPr lang="en-US" sz="1600" dirty="0">
                <a:hlinkClick r:id="rId9"/>
              </a:rPr>
              <a:t>https://doi.org/10.3389/fgene.2024.1478352</a:t>
            </a:r>
            <a:r>
              <a:rPr lang="en-US" sz="1600" dirty="0"/>
              <a:t>.</a:t>
            </a:r>
          </a:p>
          <a:p>
            <a:pPr indent="-457200">
              <a:buNone/>
            </a:pPr>
            <a:r>
              <a:rPr lang="en-US" sz="1600" dirty="0"/>
              <a:t>Scherrer K. Is RNA the working genome in eukaryotes? The 60 year evolution of a conceptual challenge. </a:t>
            </a:r>
            <a:r>
              <a:rPr lang="en-US" sz="1600" i="1" dirty="0"/>
              <a:t>Experimental Cell Research</a:t>
            </a:r>
            <a:r>
              <a:rPr lang="en-US" sz="1600" dirty="0"/>
              <a:t> 2023;</a:t>
            </a:r>
            <a:r>
              <a:rPr lang="en-US" sz="1600" b="1" dirty="0"/>
              <a:t>424</a:t>
            </a:r>
            <a:r>
              <a:rPr lang="en-US" sz="1600" dirty="0"/>
              <a:t>(1):113493. </a:t>
            </a:r>
            <a:r>
              <a:rPr lang="en-US" sz="1600" dirty="0">
                <a:hlinkClick r:id="rId10"/>
              </a:rPr>
              <a:t>https://doi.org/10.1016/j.yexcr.2023.113493</a:t>
            </a:r>
            <a:r>
              <a:rPr lang="en-US" sz="1600" dirty="0"/>
              <a:t>.</a:t>
            </a:r>
          </a:p>
          <a:p>
            <a:pPr indent="-457200">
              <a:buNone/>
            </a:pPr>
            <a:r>
              <a:rPr lang="en-US" sz="1600" dirty="0" err="1"/>
              <a:t>Wolfien</a:t>
            </a:r>
            <a:r>
              <a:rPr lang="en-US" sz="1600" dirty="0"/>
              <a:t> M, David R, Galow AM. Single-Cell RNA Sequencing Procedures and Data Analysis. In: Helder I. N (ed.), </a:t>
            </a:r>
            <a:r>
              <a:rPr lang="en-US" sz="1600" i="1" dirty="0"/>
              <a:t>Bioinformatics</a:t>
            </a:r>
            <a:r>
              <a:rPr lang="en-US" sz="1600" dirty="0"/>
              <a:t>. Brisbane (AU): Exon Publications, 2021. </a:t>
            </a:r>
            <a:r>
              <a:rPr lang="en-US" sz="1600" dirty="0">
                <a:hlinkClick r:id="rId11"/>
              </a:rPr>
              <a:t>http://www.ncbi.nlm.nih.gov/books/NBK569559/</a:t>
            </a:r>
            <a:r>
              <a:rPr lang="en-US" sz="1600" dirty="0"/>
              <a:t> (30 June 2026, date last accessed).</a:t>
            </a:r>
          </a:p>
        </p:txBody>
      </p:sp>
    </p:spTree>
    <p:extLst>
      <p:ext uri="{BB962C8B-B14F-4D97-AF65-F5344CB8AC3E}">
        <p14:creationId xmlns:p14="http://schemas.microsoft.com/office/powerpoint/2010/main" val="41150006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254D1-8372-F8FE-6728-CD2C09ED70B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AAA9EC3-3B37-A1D1-11ED-CE35B42C19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8779" y="626217"/>
            <a:ext cx="7075343" cy="5213910"/>
          </a:xfrm>
          <a:prstGeom prst="rect">
            <a:avLst/>
          </a:prstGeom>
        </p:spPr>
      </p:pic>
      <p:sp>
        <p:nvSpPr>
          <p:cNvPr id="2" name="Title 1">
            <a:extLst>
              <a:ext uri="{FF2B5EF4-FFF2-40B4-BE49-F238E27FC236}">
                <a16:creationId xmlns:a16="http://schemas.microsoft.com/office/drawing/2014/main" id="{AD9BBA77-E330-F1D1-A681-E4DFBD3FD43D}"/>
              </a:ext>
            </a:extLst>
          </p:cNvPr>
          <p:cNvSpPr>
            <a:spLocks noGrp="1"/>
          </p:cNvSpPr>
          <p:nvPr>
            <p:ph type="title"/>
          </p:nvPr>
        </p:nvSpPr>
        <p:spPr>
          <a:xfrm>
            <a:off x="137878" y="1520063"/>
            <a:ext cx="5148498" cy="3426218"/>
          </a:xfrm>
        </p:spPr>
        <p:txBody>
          <a:bodyPr anchor="b">
            <a:noAutofit/>
          </a:bodyPr>
          <a:lstStyle/>
          <a:p>
            <a:r>
              <a:rPr lang="en-US" sz="4800" dirty="0">
                <a:effectLst/>
                <a:latin typeface="Crimson Pro Medium" pitchFamily="2" charset="77"/>
              </a:rPr>
              <a:t>Computational pipeline for lncRNA discovery from bulk RNA-seq, based on </a:t>
            </a:r>
            <a:r>
              <a:rPr lang="en-US" sz="4800" i="1" dirty="0">
                <a:effectLst/>
                <a:latin typeface="Crimson Pro Medium" pitchFamily="2" charset="77"/>
              </a:rPr>
              <a:t>de novo </a:t>
            </a:r>
            <a:r>
              <a:rPr lang="en-US" sz="4800" dirty="0">
                <a:effectLst/>
                <a:latin typeface="Crimson Pro Medium" pitchFamily="2" charset="77"/>
              </a:rPr>
              <a:t>assembly</a:t>
            </a:r>
          </a:p>
        </p:txBody>
      </p:sp>
      <p:sp>
        <p:nvSpPr>
          <p:cNvPr id="11" name="TextBox 10">
            <a:extLst>
              <a:ext uri="{FF2B5EF4-FFF2-40B4-BE49-F238E27FC236}">
                <a16:creationId xmlns:a16="http://schemas.microsoft.com/office/drawing/2014/main" id="{25472542-F739-6AB3-22ED-837D999A6AFB}"/>
              </a:ext>
            </a:extLst>
          </p:cNvPr>
          <p:cNvSpPr txBox="1"/>
          <p:nvPr/>
        </p:nvSpPr>
        <p:spPr>
          <a:xfrm>
            <a:off x="3700833" y="6160678"/>
            <a:ext cx="8353290"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S1(A). “Computational pipeline for the identification of NB-lncRNAs.”</a:t>
            </a:r>
          </a:p>
        </p:txBody>
      </p:sp>
    </p:spTree>
    <p:extLst>
      <p:ext uri="{BB962C8B-B14F-4D97-AF65-F5344CB8AC3E}">
        <p14:creationId xmlns:p14="http://schemas.microsoft.com/office/powerpoint/2010/main" val="4203552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EAF86-6E21-7830-D69F-2EB933312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F416F-045B-5F24-0394-E6430438F0B5}"/>
              </a:ext>
            </a:extLst>
          </p:cNvPr>
          <p:cNvSpPr>
            <a:spLocks noGrp="1"/>
          </p:cNvSpPr>
          <p:nvPr>
            <p:ph type="title"/>
          </p:nvPr>
        </p:nvSpPr>
        <p:spPr>
          <a:xfrm>
            <a:off x="137878" y="1715891"/>
            <a:ext cx="5958122" cy="3426218"/>
          </a:xfrm>
        </p:spPr>
        <p:txBody>
          <a:bodyPr anchor="b">
            <a:noAutofit/>
          </a:bodyPr>
          <a:lstStyle/>
          <a:p>
            <a:r>
              <a:rPr lang="en-US" sz="4800" dirty="0">
                <a:effectLst/>
                <a:latin typeface="Crimson Pro Medium" pitchFamily="2" charset="77"/>
              </a:rPr>
              <a:t>RT-PCR validation of representative NB-lncRNAs uniquely expressed in luminal progenitor, luminal mature or basal cells.</a:t>
            </a:r>
          </a:p>
        </p:txBody>
      </p:sp>
      <p:sp>
        <p:nvSpPr>
          <p:cNvPr id="11" name="TextBox 10">
            <a:extLst>
              <a:ext uri="{FF2B5EF4-FFF2-40B4-BE49-F238E27FC236}">
                <a16:creationId xmlns:a16="http://schemas.microsoft.com/office/drawing/2014/main" id="{3795BFAC-ADD4-7849-DD30-837E6A3F053B}"/>
              </a:ext>
            </a:extLst>
          </p:cNvPr>
          <p:cNvSpPr txBox="1"/>
          <p:nvPr/>
        </p:nvSpPr>
        <p:spPr>
          <a:xfrm>
            <a:off x="3700833" y="6160678"/>
            <a:ext cx="8353290"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S1(B). “Computational pipeline for the identification of NB-lncRNAs.”</a:t>
            </a:r>
          </a:p>
        </p:txBody>
      </p:sp>
      <p:pic>
        <p:nvPicPr>
          <p:cNvPr id="4" name="Picture 3">
            <a:extLst>
              <a:ext uri="{FF2B5EF4-FFF2-40B4-BE49-F238E27FC236}">
                <a16:creationId xmlns:a16="http://schemas.microsoft.com/office/drawing/2014/main" id="{1C245F3C-50B0-484E-5AF6-F949BA2C4E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078109"/>
            <a:ext cx="5727700" cy="4064000"/>
          </a:xfrm>
          <a:prstGeom prst="rect">
            <a:avLst/>
          </a:prstGeom>
        </p:spPr>
      </p:pic>
    </p:spTree>
    <p:extLst>
      <p:ext uri="{BB962C8B-B14F-4D97-AF65-F5344CB8AC3E}">
        <p14:creationId xmlns:p14="http://schemas.microsoft.com/office/powerpoint/2010/main" val="4265823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359C1-227A-CFAB-82AB-79843D717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DD33B-29EE-CBBE-5AD7-68890803C471}"/>
              </a:ext>
            </a:extLst>
          </p:cNvPr>
          <p:cNvSpPr>
            <a:spLocks noGrp="1"/>
          </p:cNvSpPr>
          <p:nvPr>
            <p:ph type="title"/>
          </p:nvPr>
        </p:nvSpPr>
        <p:spPr>
          <a:xfrm>
            <a:off x="270399" y="203279"/>
            <a:ext cx="11426301" cy="808779"/>
          </a:xfrm>
        </p:spPr>
        <p:txBody>
          <a:bodyPr anchor="b">
            <a:noAutofit/>
          </a:bodyPr>
          <a:lstStyle/>
          <a:p>
            <a:r>
              <a:rPr lang="en-US" sz="4800" dirty="0">
                <a:latin typeface="Crimson Pro Medium" pitchFamily="2" charset="77"/>
              </a:rPr>
              <a:t>UCSC Genome Browser (hg38) Diagram</a:t>
            </a:r>
            <a:endParaRPr lang="en-US" sz="4800" dirty="0">
              <a:effectLst/>
              <a:latin typeface="Crimson Pro Medium" pitchFamily="2" charset="77"/>
            </a:endParaRPr>
          </a:p>
        </p:txBody>
      </p:sp>
      <p:sp>
        <p:nvSpPr>
          <p:cNvPr id="11" name="TextBox 10">
            <a:extLst>
              <a:ext uri="{FF2B5EF4-FFF2-40B4-BE49-F238E27FC236}">
                <a16:creationId xmlns:a16="http://schemas.microsoft.com/office/drawing/2014/main" id="{F5C3C727-AF43-ABFB-F42D-5E4F1D7F1992}"/>
              </a:ext>
            </a:extLst>
          </p:cNvPr>
          <p:cNvSpPr txBox="1"/>
          <p:nvPr/>
        </p:nvSpPr>
        <p:spPr>
          <a:xfrm>
            <a:off x="3700833" y="6160678"/>
            <a:ext cx="8353290"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1(C-G). “UCSC genome browser (hg38) diagram.”</a:t>
            </a:r>
          </a:p>
        </p:txBody>
      </p:sp>
      <p:pic>
        <p:nvPicPr>
          <p:cNvPr id="3" name="Picture 2">
            <a:extLst>
              <a:ext uri="{FF2B5EF4-FFF2-40B4-BE49-F238E27FC236}">
                <a16:creationId xmlns:a16="http://schemas.microsoft.com/office/drawing/2014/main" id="{32D8D847-0AFD-5011-3F34-C3CA36FB11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5695" y="1571625"/>
            <a:ext cx="7718428" cy="3306793"/>
          </a:xfrm>
          <a:prstGeom prst="rect">
            <a:avLst/>
          </a:prstGeom>
        </p:spPr>
      </p:pic>
      <p:sp>
        <p:nvSpPr>
          <p:cNvPr id="5" name="TextBox 4">
            <a:extLst>
              <a:ext uri="{FF2B5EF4-FFF2-40B4-BE49-F238E27FC236}">
                <a16:creationId xmlns:a16="http://schemas.microsoft.com/office/drawing/2014/main" id="{D77D6ED5-9612-C9CB-9A11-7BEDFD9C9C81}"/>
              </a:ext>
            </a:extLst>
          </p:cNvPr>
          <p:cNvSpPr txBox="1"/>
          <p:nvPr/>
        </p:nvSpPr>
        <p:spPr>
          <a:xfrm>
            <a:off x="270399" y="989526"/>
            <a:ext cx="3904842" cy="501579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400" b="1" dirty="0">
                <a:solidFill>
                  <a:srgbClr val="7030A0"/>
                </a:solidFill>
                <a:latin typeface="Montserrat" pitchFamily="2" charset="77"/>
                <a:cs typeface="Calibri" panose="020F0502020204030204" pitchFamily="34" charset="0"/>
              </a:rPr>
              <a:t>Purple</a:t>
            </a:r>
            <a:r>
              <a:rPr lang="en-US" sz="2400" dirty="0">
                <a:latin typeface="Montserrat" pitchFamily="2" charset="77"/>
                <a:cs typeface="Calibri" panose="020F0502020204030204" pitchFamily="34" charset="0"/>
              </a:rPr>
              <a:t>: NB-lncRNAs</a:t>
            </a:r>
          </a:p>
          <a:p>
            <a:pPr marL="457200" indent="-457200">
              <a:lnSpc>
                <a:spcPct val="150000"/>
              </a:lnSpc>
              <a:buFont typeface="Arial" panose="020B0604020202020204" pitchFamily="34" charset="0"/>
              <a:buChar char="•"/>
            </a:pPr>
            <a:r>
              <a:rPr lang="en-US" sz="2400" b="1" dirty="0">
                <a:solidFill>
                  <a:schemeClr val="accent1"/>
                </a:solidFill>
                <a:latin typeface="Montserrat" pitchFamily="2" charset="77"/>
                <a:cs typeface="Calibri" panose="020F0502020204030204" pitchFamily="34" charset="0"/>
              </a:rPr>
              <a:t>Blue</a:t>
            </a:r>
            <a:r>
              <a:rPr lang="en-US" sz="2400" dirty="0">
                <a:latin typeface="Montserrat" pitchFamily="2" charset="77"/>
                <a:cs typeface="Calibri" panose="020F0502020204030204" pitchFamily="34" charset="0"/>
              </a:rPr>
              <a:t>: GENCODE-annotated protein-coding genes.</a:t>
            </a:r>
          </a:p>
          <a:p>
            <a:pPr marL="457200" indent="-457200">
              <a:lnSpc>
                <a:spcPct val="150000"/>
              </a:lnSpc>
              <a:buFont typeface="Arial" panose="020B0604020202020204" pitchFamily="34" charset="0"/>
              <a:buChar char="•"/>
            </a:pPr>
            <a:r>
              <a:rPr lang="en-US" sz="2400" b="1" dirty="0">
                <a:solidFill>
                  <a:srgbClr val="305F34"/>
                </a:solidFill>
                <a:latin typeface="Montserrat" pitchFamily="2" charset="77"/>
                <a:cs typeface="Calibri" panose="020F0502020204030204" pitchFamily="34" charset="0"/>
              </a:rPr>
              <a:t>Green</a:t>
            </a:r>
            <a:r>
              <a:rPr lang="en-US" sz="2400" dirty="0">
                <a:latin typeface="Montserrat" pitchFamily="2" charset="77"/>
                <a:cs typeface="Calibri" panose="020F0502020204030204" pitchFamily="34" charset="0"/>
              </a:rPr>
              <a:t>: GENCODE-annotated non-coding genes.</a:t>
            </a:r>
          </a:p>
          <a:p>
            <a:pPr marL="457200" indent="-457200">
              <a:lnSpc>
                <a:spcPct val="150000"/>
              </a:lnSpc>
              <a:buFont typeface="Arial" panose="020B0604020202020204" pitchFamily="34" charset="0"/>
              <a:buChar char="•"/>
            </a:pPr>
            <a:r>
              <a:rPr lang="en-US" sz="2400" b="1" dirty="0">
                <a:latin typeface="Montserrat" pitchFamily="2" charset="77"/>
                <a:cs typeface="Calibri" panose="020F0502020204030204" pitchFamily="34" charset="0"/>
              </a:rPr>
              <a:t>Black</a:t>
            </a:r>
            <a:r>
              <a:rPr lang="en-US" sz="2400" dirty="0">
                <a:latin typeface="Montserrat" pitchFamily="2" charset="77"/>
                <a:cs typeface="Calibri" panose="020F0502020204030204" pitchFamily="34" charset="0"/>
              </a:rPr>
              <a:t>: TSSs and enhancer elements.</a:t>
            </a:r>
          </a:p>
        </p:txBody>
      </p:sp>
    </p:spTree>
    <p:extLst>
      <p:ext uri="{BB962C8B-B14F-4D97-AF65-F5344CB8AC3E}">
        <p14:creationId xmlns:p14="http://schemas.microsoft.com/office/powerpoint/2010/main" val="2498931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6E5C4-7603-0CCB-6D78-07EFA7B81F2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DC7CB36-5294-EBDA-C693-90F65285F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6912" y="112547"/>
            <a:ext cx="5398176" cy="5902596"/>
          </a:xfrm>
          <a:prstGeom prst="rect">
            <a:avLst/>
          </a:prstGeom>
        </p:spPr>
      </p:pic>
      <p:sp>
        <p:nvSpPr>
          <p:cNvPr id="6" name="TextBox 5">
            <a:extLst>
              <a:ext uri="{FF2B5EF4-FFF2-40B4-BE49-F238E27FC236}">
                <a16:creationId xmlns:a16="http://schemas.microsoft.com/office/drawing/2014/main" id="{F03E0E3B-0541-010E-0573-85681C29E13F}"/>
              </a:ext>
            </a:extLst>
          </p:cNvPr>
          <p:cNvSpPr txBox="1"/>
          <p:nvPr/>
        </p:nvSpPr>
        <p:spPr>
          <a:xfrm>
            <a:off x="3657600" y="6160678"/>
            <a:ext cx="8396523"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2. “Cell population-specific NB-lncRNAs target protein-coding markers of the same cell type.”</a:t>
            </a:r>
          </a:p>
        </p:txBody>
      </p:sp>
    </p:spTree>
    <p:extLst>
      <p:ext uri="{BB962C8B-B14F-4D97-AF65-F5344CB8AC3E}">
        <p14:creationId xmlns:p14="http://schemas.microsoft.com/office/powerpoint/2010/main" val="4171928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5AB34-606F-1F51-8559-67E979CD9E4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D067575-A228-266A-2B1F-7B390A5FB124}"/>
              </a:ext>
            </a:extLst>
          </p:cNvPr>
          <p:cNvSpPr txBox="1"/>
          <p:nvPr/>
        </p:nvSpPr>
        <p:spPr>
          <a:xfrm>
            <a:off x="3700833" y="6160678"/>
            <a:ext cx="8353290"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4. “Seurat-assigned markers identified candidate NB-lncRNA biomarkers.”</a:t>
            </a:r>
          </a:p>
        </p:txBody>
      </p:sp>
      <p:pic>
        <p:nvPicPr>
          <p:cNvPr id="5" name="Picture 4">
            <a:extLst>
              <a:ext uri="{FF2B5EF4-FFF2-40B4-BE49-F238E27FC236}">
                <a16:creationId xmlns:a16="http://schemas.microsoft.com/office/drawing/2014/main" id="{B1D0BF2E-81FC-7BC6-16D8-CB417016DC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5504" y="229228"/>
            <a:ext cx="5580992" cy="5705360"/>
          </a:xfrm>
          <a:prstGeom prst="rect">
            <a:avLst/>
          </a:prstGeom>
        </p:spPr>
      </p:pic>
    </p:spTree>
    <p:extLst>
      <p:ext uri="{BB962C8B-B14F-4D97-AF65-F5344CB8AC3E}">
        <p14:creationId xmlns:p14="http://schemas.microsoft.com/office/powerpoint/2010/main" val="3799798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97DF1-66D0-BEFF-1C68-B97E6A3E42D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54FEB2-974D-5755-DDBE-C2B953E08034}"/>
              </a:ext>
            </a:extLst>
          </p:cNvPr>
          <p:cNvSpPr txBox="1"/>
          <p:nvPr/>
        </p:nvSpPr>
        <p:spPr>
          <a:xfrm>
            <a:off x="3436883" y="6160678"/>
            <a:ext cx="8617240"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8. “NB-lncRNAs discern normal breast cell subpopulations on 10x Genomics </a:t>
            </a:r>
            <a:r>
              <a:rPr lang="en-US" sz="1600" dirty="0" err="1">
                <a:solidFill>
                  <a:schemeClr val="bg1"/>
                </a:solidFill>
                <a:latin typeface="Calibri" panose="020F0502020204030204" pitchFamily="34" charset="0"/>
                <a:cs typeface="Calibri" panose="020F0502020204030204" pitchFamily="34" charset="0"/>
              </a:rPr>
              <a:t>scRNA</a:t>
            </a:r>
            <a:r>
              <a:rPr lang="en-US" sz="1600" dirty="0">
                <a:solidFill>
                  <a:schemeClr val="bg1"/>
                </a:solidFill>
                <a:latin typeface="Calibri" panose="020F0502020204030204" pitchFamily="34" charset="0"/>
                <a:cs typeface="Calibri" panose="020F0502020204030204" pitchFamily="34" charset="0"/>
              </a:rPr>
              <a:t>-seq.”</a:t>
            </a:r>
          </a:p>
        </p:txBody>
      </p:sp>
      <p:pic>
        <p:nvPicPr>
          <p:cNvPr id="5" name="Picture 4">
            <a:extLst>
              <a:ext uri="{FF2B5EF4-FFF2-40B4-BE49-F238E27FC236}">
                <a16:creationId xmlns:a16="http://schemas.microsoft.com/office/drawing/2014/main" id="{02BC832D-6CF4-48AB-BC51-6E8A95AC30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495" y="1224673"/>
            <a:ext cx="11085010" cy="3977822"/>
          </a:xfrm>
          <a:prstGeom prst="rect">
            <a:avLst/>
          </a:prstGeom>
        </p:spPr>
      </p:pic>
    </p:spTree>
    <p:extLst>
      <p:ext uri="{BB962C8B-B14F-4D97-AF65-F5344CB8AC3E}">
        <p14:creationId xmlns:p14="http://schemas.microsoft.com/office/powerpoint/2010/main" val="1376607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1EFC7-AA12-6A0D-90CA-A9666C06E3D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E5B1C68-D6A2-815A-C369-F59B5E581BC7}"/>
              </a:ext>
            </a:extLst>
          </p:cNvPr>
          <p:cNvSpPr txBox="1"/>
          <p:nvPr/>
        </p:nvSpPr>
        <p:spPr>
          <a:xfrm>
            <a:off x="3700833" y="6160678"/>
            <a:ext cx="8353290"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9. “NB-lncRNA expression can differentiate between breast cancer subtypes in TCGA.”</a:t>
            </a:r>
          </a:p>
        </p:txBody>
      </p:sp>
      <p:pic>
        <p:nvPicPr>
          <p:cNvPr id="5" name="Picture 4">
            <a:extLst>
              <a:ext uri="{FF2B5EF4-FFF2-40B4-BE49-F238E27FC236}">
                <a16:creationId xmlns:a16="http://schemas.microsoft.com/office/drawing/2014/main" id="{1D68C2F6-5145-AE1D-4FB8-F90918298E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77" y="386631"/>
            <a:ext cx="4635500" cy="2717800"/>
          </a:xfrm>
          <a:prstGeom prst="rect">
            <a:avLst/>
          </a:prstGeom>
        </p:spPr>
      </p:pic>
      <p:pic>
        <p:nvPicPr>
          <p:cNvPr id="9" name="Picture 8">
            <a:extLst>
              <a:ext uri="{FF2B5EF4-FFF2-40B4-BE49-F238E27FC236}">
                <a16:creationId xmlns:a16="http://schemas.microsoft.com/office/drawing/2014/main" id="{5DB2E2F3-864A-DBF8-1F7A-E56618DE19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1060" y="386631"/>
            <a:ext cx="5702563" cy="5254047"/>
          </a:xfrm>
          <a:prstGeom prst="rect">
            <a:avLst/>
          </a:prstGeom>
        </p:spPr>
      </p:pic>
      <p:pic>
        <p:nvPicPr>
          <p:cNvPr id="11" name="Picture 10">
            <a:extLst>
              <a:ext uri="{FF2B5EF4-FFF2-40B4-BE49-F238E27FC236}">
                <a16:creationId xmlns:a16="http://schemas.microsoft.com/office/drawing/2014/main" id="{635B6A50-DCC0-0B18-0423-9F772F2A94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9377" y="3104430"/>
            <a:ext cx="4635500" cy="2739749"/>
          </a:xfrm>
          <a:prstGeom prst="rect">
            <a:avLst/>
          </a:prstGeom>
        </p:spPr>
      </p:pic>
    </p:spTree>
    <p:extLst>
      <p:ext uri="{BB962C8B-B14F-4D97-AF65-F5344CB8AC3E}">
        <p14:creationId xmlns:p14="http://schemas.microsoft.com/office/powerpoint/2010/main" val="2824989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309B4-886D-58B0-08C9-95A40D70AF7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DC4324A-403F-DE2D-D2D4-EA03215A2480}"/>
              </a:ext>
            </a:extLst>
          </p:cNvPr>
          <p:cNvSpPr txBox="1"/>
          <p:nvPr/>
        </p:nvSpPr>
        <p:spPr>
          <a:xfrm>
            <a:off x="3799490" y="6160678"/>
            <a:ext cx="8254633"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Table 2. “Annotated NB-lncRNAs markers of breast cell subpopulations or breast cancer subtypes"</a:t>
            </a:r>
          </a:p>
        </p:txBody>
      </p:sp>
      <p:pic>
        <p:nvPicPr>
          <p:cNvPr id="5" name="Picture 4">
            <a:extLst>
              <a:ext uri="{FF2B5EF4-FFF2-40B4-BE49-F238E27FC236}">
                <a16:creationId xmlns:a16="http://schemas.microsoft.com/office/drawing/2014/main" id="{CC56B1E9-BBD2-7364-834D-0C70C24E7D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188" y="822779"/>
            <a:ext cx="5656091" cy="3697651"/>
          </a:xfrm>
          <a:prstGeom prst="rect">
            <a:avLst/>
          </a:prstGeom>
        </p:spPr>
      </p:pic>
      <p:pic>
        <p:nvPicPr>
          <p:cNvPr id="9" name="Picture 8">
            <a:extLst>
              <a:ext uri="{FF2B5EF4-FFF2-40B4-BE49-F238E27FC236}">
                <a16:creationId xmlns:a16="http://schemas.microsoft.com/office/drawing/2014/main" id="{937C4F16-0A98-32B8-C4F3-DADE0CA54B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1122" y="1234259"/>
            <a:ext cx="5042678" cy="4389481"/>
          </a:xfrm>
          <a:prstGeom prst="rect">
            <a:avLst/>
          </a:prstGeom>
        </p:spPr>
      </p:pic>
    </p:spTree>
    <p:extLst>
      <p:ext uri="{BB962C8B-B14F-4D97-AF65-F5344CB8AC3E}">
        <p14:creationId xmlns:p14="http://schemas.microsoft.com/office/powerpoint/2010/main" val="4042714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DB14C-E1CD-3815-9F70-D88CF7D9EF3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B3FF53E-BFF8-3E81-6912-BD7FBFCF37EA}"/>
              </a:ext>
            </a:extLst>
          </p:cNvPr>
          <p:cNvSpPr txBox="1"/>
          <p:nvPr/>
        </p:nvSpPr>
        <p:spPr>
          <a:xfrm>
            <a:off x="3700833" y="6160678"/>
            <a:ext cx="8353290"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Bitar et al. (2023) </a:t>
            </a:r>
            <a:r>
              <a:rPr lang="en-US" sz="1600" b="1" dirty="0">
                <a:solidFill>
                  <a:schemeClr val="bg1"/>
                </a:solidFill>
                <a:latin typeface="Calibri" panose="020F0502020204030204" pitchFamily="34" charset="0"/>
                <a:cs typeface="Calibri" panose="020F0502020204030204" pitchFamily="34" charset="0"/>
              </a:rPr>
              <a:t>Redefining normal breast cell populations using long noncoding RNAs</a:t>
            </a:r>
            <a:r>
              <a:rPr lang="en-US" sz="1600" dirty="0">
                <a:solidFill>
                  <a:schemeClr val="bg1"/>
                </a:solidFill>
                <a:latin typeface="Calibri" panose="020F0502020204030204" pitchFamily="34" charset="0"/>
                <a:cs typeface="Calibri" panose="020F0502020204030204" pitchFamily="34" charset="0"/>
              </a:rPr>
              <a:t>.</a:t>
            </a:r>
          </a:p>
          <a:p>
            <a:pPr algn="r"/>
            <a:r>
              <a:rPr lang="en-US" sz="1600" dirty="0">
                <a:solidFill>
                  <a:schemeClr val="bg1"/>
                </a:solidFill>
                <a:latin typeface="Calibri" panose="020F0502020204030204" pitchFamily="34" charset="0"/>
                <a:cs typeface="Calibri" panose="020F0502020204030204" pitchFamily="34" charset="0"/>
              </a:rPr>
              <a:t>Figure 7. “NB-lncRNAs define a stem-like cell subpopulation.”</a:t>
            </a:r>
          </a:p>
        </p:txBody>
      </p:sp>
      <p:pic>
        <p:nvPicPr>
          <p:cNvPr id="7" name="Picture 6">
            <a:extLst>
              <a:ext uri="{FF2B5EF4-FFF2-40B4-BE49-F238E27FC236}">
                <a16:creationId xmlns:a16="http://schemas.microsoft.com/office/drawing/2014/main" id="{DC6BA763-7590-1EF0-FF19-EAC9FF9EB2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6354" y="112547"/>
            <a:ext cx="6079292" cy="5767112"/>
          </a:xfrm>
          <a:prstGeom prst="rect">
            <a:avLst/>
          </a:prstGeom>
        </p:spPr>
      </p:pic>
    </p:spTree>
    <p:extLst>
      <p:ext uri="{BB962C8B-B14F-4D97-AF65-F5344CB8AC3E}">
        <p14:creationId xmlns:p14="http://schemas.microsoft.com/office/powerpoint/2010/main" val="1609205597"/>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LM-CKN_2025_06_22  -  Read-Only" id="{99CFE9FB-BD86-2B44-BC7A-D8419F87F57D}" vid="{B4A67CAF-A6B9-AC44-B6ED-235348304A0F}"/>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LM-CKN_2025_06_22  -  Read-Only" id="{99CFE9FB-BD86-2B44-BC7A-D8419F87F57D}" vid="{05BCF2A0-0A02-9747-B1AE-CFD2E7CD41F6}"/>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LM-CKN_2025_06_22  -  Read-Only" id="{99CFE9FB-BD86-2B44-BC7A-D8419F87F57D}" vid="{1F563B07-A3B6-9044-8803-CF76EE09BA6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690759288C404409F2252B22162A91E" ma:contentTypeVersion="15" ma:contentTypeDescription="Create a new document." ma:contentTypeScope="" ma:versionID="8640dae9b4a0695d60698293740eff8d">
  <xsd:schema xmlns:xsd="http://www.w3.org/2001/XMLSchema" xmlns:xs="http://www.w3.org/2001/XMLSchema" xmlns:p="http://schemas.microsoft.com/office/2006/metadata/properties" xmlns:ns2="e29302da-b2f9-4288-a31a-52fbcfe93320" xmlns:ns3="a5e8744b-6de0-40df-8e0a-8933fd3368a6" targetNamespace="http://schemas.microsoft.com/office/2006/metadata/properties" ma:root="true" ma:fieldsID="1c10790bc1a111e166d2626e261a6c56" ns2:_="" ns3:_="">
    <xsd:import namespace="e29302da-b2f9-4288-a31a-52fbcfe93320"/>
    <xsd:import namespace="a5e8744b-6de0-40df-8e0a-8933fd3368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9302da-b2f9-4288-a31a-52fbcfe933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ce9f98e-9ad5-43de-b59a-72d7e946aae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5e8744b-6de0-40df-8e0a-8933fd3368a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463e1611-faea-4afc-b38e-a3c52ca141cd}" ma:internalName="TaxCatchAll" ma:showField="CatchAllData" ma:web="a5e8744b-6de0-40df-8e0a-8933fd3368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29302da-b2f9-4288-a31a-52fbcfe93320">
      <Terms xmlns="http://schemas.microsoft.com/office/infopath/2007/PartnerControls"/>
    </lcf76f155ced4ddcb4097134ff3c332f>
    <TaxCatchAll xmlns="a5e8744b-6de0-40df-8e0a-8933fd3368a6" xsi:nil="true"/>
    <SharedWithUsers xmlns="a5e8744b-6de0-40df-8e0a-8933fd3368a6">
      <UserInfo>
        <DisplayName>Winderlin, Christine (NIH/NLM) [E]</DisplayName>
        <AccountId>71</AccountId>
        <AccountType/>
      </UserInfo>
      <UserInfo>
        <DisplayName>Dehoff, Jeffrey (NIH/NLM) [E]</DisplayName>
        <AccountId>135</AccountId>
        <AccountType/>
      </UserInfo>
      <UserInfo>
        <DisplayName>Manco, Dina (NIH/NLM) [E]</DisplayName>
        <AccountId>86</AccountId>
        <AccountType/>
      </UserInfo>
      <UserInfo>
        <DisplayName>Middleton, Grace (NIH/NLM) [C]</DisplayName>
        <AccountId>16</AccountId>
        <AccountType/>
      </UserInfo>
      <UserInfo>
        <DisplayName>Nurik, Jody (NIH/NLM) [E]</DisplayName>
        <AccountId>17</AccountId>
        <AccountType/>
      </UserInfo>
      <UserInfo>
        <DisplayName>Lemon, Alison (NIH/NLM) [E]</DisplayName>
        <AccountId>22</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75208D-6BCD-46B9-9A60-E7C3508C3B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9302da-b2f9-4288-a31a-52fbcfe93320"/>
    <ds:schemaRef ds:uri="a5e8744b-6de0-40df-8e0a-8933fd3368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5033EEA-8F72-47E8-97DC-7CE869DC6F13}">
  <ds:schemaRefs>
    <ds:schemaRef ds:uri="http://purl.org/dc/dcmitype/"/>
    <ds:schemaRef ds:uri="http://schemas.microsoft.com/office/2006/metadata/properties"/>
    <ds:schemaRef ds:uri="e29302da-b2f9-4288-a31a-52fbcfe93320"/>
    <ds:schemaRef ds:uri="http://schemas.microsoft.com/office/2006/documentManagement/types"/>
    <ds:schemaRef ds:uri="http://purl.org/dc/elements/1.1/"/>
    <ds:schemaRef ds:uri="http://www.w3.org/XML/1998/namespace"/>
    <ds:schemaRef ds:uri="http://schemas.microsoft.com/office/infopath/2007/PartnerControls"/>
    <ds:schemaRef ds:uri="http://purl.org/dc/terms/"/>
    <ds:schemaRef ds:uri="http://schemas.openxmlformats.org/package/2006/metadata/core-properties"/>
    <ds:schemaRef ds:uri="a5e8744b-6de0-40df-8e0a-8933fd3368a6"/>
  </ds:schemaRefs>
</ds:datastoreItem>
</file>

<file path=customXml/itemProps3.xml><?xml version="1.0" encoding="utf-8"?>
<ds:datastoreItem xmlns:ds="http://schemas.openxmlformats.org/officeDocument/2006/customXml" ds:itemID="{79E27D62-6581-49A6-B4E8-4DBBDB69AC6A}">
  <ds:schemaRefs>
    <ds:schemaRef ds:uri="http://schemas.microsoft.com/sharepoint/v3/contenttype/forms"/>
  </ds:schemaRefs>
</ds:datastoreItem>
</file>

<file path=docMetadata/LabelInfo.xml><?xml version="1.0" encoding="utf-8"?>
<clbl:labelList xmlns:clbl="http://schemas.microsoft.com/office/2020/mipLabelMetadata">
  <clbl:label id="{14b77578-9773-42d5-8507-251ca2dc2b06}" enabled="0" method="" siteId="{14b77578-9773-42d5-8507-251ca2dc2b06}" removed="1"/>
</clbl:labelList>
</file>

<file path=docProps/app.xml><?xml version="1.0" encoding="utf-8"?>
<Properties xmlns="http://schemas.openxmlformats.org/officeDocument/2006/extended-properties" xmlns:vt="http://schemas.openxmlformats.org/officeDocument/2006/docPropsVTypes">
  <Template>Office Theme</Template>
  <TotalTime>35751</TotalTime>
  <Words>5473</Words>
  <Application>Microsoft Macintosh PowerPoint</Application>
  <PresentationFormat>Widescreen</PresentationFormat>
  <Paragraphs>317</Paragraphs>
  <Slides>31</Slides>
  <Notes>30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31</vt:i4>
      </vt:variant>
    </vt:vector>
  </HeadingPairs>
  <TitlesOfParts>
    <vt:vector size="41" baseType="lpstr">
      <vt:lpstr>Arial</vt:lpstr>
      <vt:lpstr>Calibri</vt:lpstr>
      <vt:lpstr>Calibri Light</vt:lpstr>
      <vt:lpstr>Courier New</vt:lpstr>
      <vt:lpstr>Crimson Pro Medium</vt:lpstr>
      <vt:lpstr>Montserrat</vt:lpstr>
      <vt:lpstr>Times New Roman</vt:lpstr>
      <vt:lpstr>Office Theme</vt:lpstr>
      <vt:lpstr>Custom Design</vt:lpstr>
      <vt:lpstr>1_Custom Design</vt:lpstr>
      <vt:lpstr>Journal Club:  "Redefining normal breast cell populations using lncRNAs” (Bitar et al., 2023)</vt:lpstr>
      <vt:lpstr>Overview</vt:lpstr>
      <vt:lpstr>PowerPoint Presentation</vt:lpstr>
      <vt:lpstr>PowerPoint Presentation</vt:lpstr>
      <vt:lpstr>PowerPoint Presentation</vt:lpstr>
      <vt:lpstr>Non-Coding RNA (ncRNA)</vt:lpstr>
      <vt:lpstr>Long Non-Coding RNA (lncRNA)</vt:lpstr>
      <vt:lpstr>Human Breast Cells</vt:lpstr>
      <vt:lpstr>PowerPoint Presentation</vt:lpstr>
      <vt:lpstr>Identification of Normal Breast (NB) lncRNAs </vt:lpstr>
      <vt:lpstr>PowerPoint Presentation</vt:lpstr>
      <vt:lpstr>PowerPoint Presentation</vt:lpstr>
      <vt:lpstr>Population Resolution</vt:lpstr>
      <vt:lpstr>Predictive Cluster Performance</vt:lpstr>
      <vt:lpstr>Compartmentalized Expression</vt:lpstr>
      <vt:lpstr>Superior CSI</vt:lpstr>
      <vt:lpstr>lncRNA Tissue Specificity</vt:lpstr>
      <vt:lpstr>PowerPoint Presentation</vt:lpstr>
      <vt:lpstr>Progress Since Publication (2023-2026)</vt:lpstr>
      <vt:lpstr>Future Directions (2026-)</vt:lpstr>
      <vt:lpstr>PowerPoint Presentation</vt:lpstr>
      <vt:lpstr>Bibliography</vt:lpstr>
      <vt:lpstr>Computational pipeline for lncRNA discovery from bulk RNA-seq, based on de novo assembly</vt:lpstr>
      <vt:lpstr>RT-PCR validation of representative NB-lncRNAs uniquely expressed in luminal progenitor, luminal mature or basal cells.</vt:lpstr>
      <vt:lpstr>UCSC Genome Browser (hg38) Diagram</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Xu, Bingfang (NIH/NLM/NCBI) [E]</dc:creator>
  <cp:keywords/>
  <dc:description/>
  <cp:lastModifiedBy>Becker, Sasha (NIH/NLM) [F]</cp:lastModifiedBy>
  <cp:revision>59</cp:revision>
  <cp:lastPrinted>2023-08-17T16:46:21Z</cp:lastPrinted>
  <dcterms:created xsi:type="dcterms:W3CDTF">2025-07-04T00:37:52Z</dcterms:created>
  <dcterms:modified xsi:type="dcterms:W3CDTF">2026-07-01T13:53:19Z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0x0101006690759288C404409F2252B22162A91E</vt:lpwstr>
  </property>
  <property fmtid="{D5CDD505-2E9C-101B-9397-08002B2CF9AE}" pid="3" name="MediaServiceImageTags">
    <vt:lpwstr/>
  </property>
</Properties>
</file>