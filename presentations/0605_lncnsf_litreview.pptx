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4"/>
    <p:sldMasterId id="2147483658" r:id="rId5"/>
    <p:sldMasterId id="2147483670" r:id="rId6"/>
  </p:sldMasterIdLst>
  <p:notesMasterIdLst>
    <p:notesMasterId r:id="rId31"/>
  </p:notesMasterIdLst>
  <p:handoutMasterIdLst>
    <p:handoutMasterId r:id="rId32"/>
  </p:handoutMasterIdLst>
  <p:sldIdLst>
    <p:sldId id="256" r:id="rId7"/>
    <p:sldId id="2147474911" r:id="rId8"/>
    <p:sldId id="2147474912" r:id="rId9"/>
    <p:sldId id="2147474913" r:id="rId10"/>
    <p:sldId id="2147474932" r:id="rId11"/>
    <p:sldId id="2147474937" r:id="rId12"/>
    <p:sldId id="2147474944" r:id="rId13"/>
    <p:sldId id="2147474917" r:id="rId14"/>
    <p:sldId id="2147474916" r:id="rId15"/>
    <p:sldId id="2147474938" r:id="rId16"/>
    <p:sldId id="2147474919" r:id="rId17"/>
    <p:sldId id="2147474945" r:id="rId18"/>
    <p:sldId id="2147474924" r:id="rId19"/>
    <p:sldId id="2147474940" r:id="rId20"/>
    <p:sldId id="2147474943" r:id="rId21"/>
    <p:sldId id="2147474946" r:id="rId22"/>
    <p:sldId id="2147474935" r:id="rId23"/>
    <p:sldId id="2147474926" r:id="rId24"/>
    <p:sldId id="2147474936" r:id="rId25"/>
    <p:sldId id="2147474948" r:id="rId26"/>
    <p:sldId id="2147474949" r:id="rId27"/>
    <p:sldId id="2147474939" r:id="rId28"/>
    <p:sldId id="2147474941" r:id="rId29"/>
    <p:sldId id="2147474942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y Slide Deck" id="{CB4E31F3-679C-974D-9146-AFCB780D1742}">
          <p14:sldIdLst>
            <p14:sldId id="256"/>
            <p14:sldId id="2147474911"/>
            <p14:sldId id="2147474912"/>
            <p14:sldId id="2147474913"/>
            <p14:sldId id="2147474932"/>
            <p14:sldId id="2147474937"/>
            <p14:sldId id="2147474944"/>
            <p14:sldId id="2147474917"/>
            <p14:sldId id="2147474916"/>
            <p14:sldId id="2147474938"/>
            <p14:sldId id="2147474919"/>
            <p14:sldId id="2147474945"/>
            <p14:sldId id="2147474924"/>
            <p14:sldId id="2147474940"/>
            <p14:sldId id="2147474943"/>
            <p14:sldId id="2147474946"/>
            <p14:sldId id="2147474935"/>
            <p14:sldId id="2147474926"/>
          </p14:sldIdLst>
        </p14:section>
        <p14:section name="Supplemental" id="{85E9CAE8-AA46-2B4C-AC0C-B797ACDDFA08}">
          <p14:sldIdLst>
            <p14:sldId id="2147474936"/>
            <p14:sldId id="2147474948"/>
            <p14:sldId id="2147474949"/>
            <p14:sldId id="2147474939"/>
            <p14:sldId id="2147474941"/>
            <p14:sldId id="214747494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B4ACD38-47BA-3EDC-7A1D-0C4F83D3BF81}" name="Nurik, Jody (NIH/NLM) [E]" initials="NJ([" userId="S::nurikjl@nih.gov::49b2bdca-6fe7-48dd-ab42-7db317df6e4c" providerId="AD"/>
  <p188:author id="{332541D7-3D88-A461-9CB6-85B213F49D30}" name="Manco, Dina (NIH/NLM) [E]" initials="MD([" userId="S::mancodm@nih.gov::a2db41b2-3247-4a42-8663-e1f3c84e0c6f" providerId="AD"/>
  <p188:author id="{EB3167FA-192F-ADE3-DF06-19FCEA52E3FA}" name="Winderlin, Christine (NIH/NLM) [E]" initials="WC([" userId="S::winderlinca@nih.gov::ba9aa90f-88c9-4a91-bc78-820f3b7ebaf3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lly, Sarah Ashley (NIH/NLM) [C]" initials="JSA([" lastIdx="4" clrIdx="0">
    <p:extLst>
      <p:ext uri="{19B8F6BF-5375-455C-9EA6-DF929625EA0E}">
        <p15:presenceInfo xmlns:p15="http://schemas.microsoft.com/office/powerpoint/2012/main" userId="Jolly, Sarah Ashley (NIH/NLM) [C]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200"/>
    <a:srgbClr val="FFFC00"/>
    <a:srgbClr val="601AB9"/>
    <a:srgbClr val="523279"/>
    <a:srgbClr val="0433FF"/>
    <a:srgbClr val="FFC0CA"/>
    <a:srgbClr val="B85826"/>
    <a:srgbClr val="A99C00"/>
    <a:srgbClr val="AD58AB"/>
    <a:srgbClr val="305F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127797-89B8-F641-BF7B-588FF41355E7}" v="1" dt="2026-05-21T17:41:10.3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03" autoAdjust="0"/>
    <p:restoredTop sz="88058" autoAdjust="0"/>
  </p:normalViewPr>
  <p:slideViewPr>
    <p:cSldViewPr snapToGrid="0">
      <p:cViewPr varScale="1">
        <p:scale>
          <a:sx n="105" d="100"/>
          <a:sy n="105" d="100"/>
        </p:scale>
        <p:origin x="568" y="200"/>
      </p:cViewPr>
      <p:guideLst/>
    </p:cSldViewPr>
  </p:slideViewPr>
  <p:outlineViewPr>
    <p:cViewPr>
      <p:scale>
        <a:sx n="33" d="100"/>
        <a:sy n="33" d="100"/>
      </p:scale>
      <p:origin x="0" y="-6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>
      <p:cViewPr varScale="1">
        <p:scale>
          <a:sx n="114" d="100"/>
          <a:sy n="114" d="100"/>
        </p:scale>
        <p:origin x="4200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microsoft.com/office/2015/10/relationships/revisionInfo" Target="revisionInfo.xml"/><Relationship Id="rId21" Type="http://schemas.openxmlformats.org/officeDocument/2006/relationships/slide" Target="slides/slide15.xml"/><Relationship Id="rId34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commentAuthors" Target="commentAuthors.xml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40" Type="http://schemas.microsoft.com/office/2018/10/relationships/authors" Target="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viewProps" Target="viewProps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u, Bingfang (NIH/NLM) [E]" userId="ce1900a6-3365-42de-a169-a870b60e0921" providerId="ADAL" clId="{9D948869-DCA7-50CB-AB37-14AEC053A445}"/>
    <pc:docChg chg="modSld">
      <pc:chgData name="Xu, Bingfang (NIH/NLM) [E]" userId="ce1900a6-3365-42de-a169-a870b60e0921" providerId="ADAL" clId="{9D948869-DCA7-50CB-AB37-14AEC053A445}" dt="2026-05-21T17:41:10.344" v="0" actId="767"/>
      <pc:docMkLst>
        <pc:docMk/>
      </pc:docMkLst>
      <pc:sldChg chg="addSp modSp">
        <pc:chgData name="Xu, Bingfang (NIH/NLM) [E]" userId="ce1900a6-3365-42de-a169-a870b60e0921" providerId="ADAL" clId="{9D948869-DCA7-50CB-AB37-14AEC053A445}" dt="2026-05-21T17:41:10.344" v="0" actId="767"/>
        <pc:sldMkLst>
          <pc:docMk/>
          <pc:sldMk cId="3056230570" sldId="405"/>
        </pc:sldMkLst>
        <pc:spChg chg="add mod">
          <ac:chgData name="Xu, Bingfang (NIH/NLM) [E]" userId="ce1900a6-3365-42de-a169-a870b60e0921" providerId="ADAL" clId="{9D948869-DCA7-50CB-AB37-14AEC053A445}" dt="2026-05-21T17:41:10.344" v="0" actId="767"/>
          <ac:spMkLst>
            <pc:docMk/>
            <pc:sldMk cId="3056230570" sldId="405"/>
            <ac:spMk id="19" creationId="{E43DE35A-6FB3-CB38-16F6-3CF5D570D0E2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1D8B876-C59D-4E87-8065-05E60B40C7A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D186FF-3B33-44DF-BC06-A6BEDEA5BC4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652C7D-D774-47DB-8A60-CED9713D1233}" type="datetimeFigureOut">
              <a:rPr lang="en-US" smtClean="0"/>
              <a:t>6/15/26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A4AF60-A001-46D4-8D3F-49E3CDA623F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426134-311D-476E-A38C-949E8092E5C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B2D407-E3A5-4537-889B-49E0FF2CA6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670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FACEE6-9C36-5843-8332-3A0FA88FCC83}" type="datetimeFigureOut">
              <a:rPr lang="en-US" smtClean="0"/>
              <a:t>6/15/26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5EF54A-9134-8641-A991-457FAC8A6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044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649504-AEB8-4325-8A2D-55FA0AD00220}" type="slidenum">
              <a:rPr lang="en-US" smtClean="0"/>
              <a:t>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21747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71F2E-924B-825B-42F4-010D54388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DA8604-D99A-E77A-D051-6608C80364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22089E-446A-179C-DB8D-8B9902BE0D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D1C91A-AC16-E541-6142-6E6195DD9C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60065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72953-0B5D-FE02-964E-7A2898657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407076-A95E-7F13-6470-F6904858DE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9E3838-7047-765C-14DD-A597F1098F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80B0DA-35DB-C5A9-324A-5AECB236C8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122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CEB50-9E88-9855-47A4-1B935780D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388E1B-DF3A-C80D-DFD2-7E2595EC4C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9BB88F-43A1-67DC-0849-86563E29CB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C7F1FB-61C1-48F3-5364-3827197DE5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2116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9100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798FC-B3B2-49CA-9E62-EAB4156EA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DD65DB-065B-AB11-54A2-27F5BF6694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46A3FD-9779-16C2-6CB6-25C9FC128F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992B77-6DB5-7A61-1710-427533BBAC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71026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ACAF9-2BB4-AF39-D808-917EED3CE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AE139D-3ECE-EFDD-207A-D94E28C7B9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9DADEE-A62C-B99A-338C-FA4F3A650D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BEB5FE-3FBA-7745-6DBA-95B30B0633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1406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A9EB3-9ADD-CB9F-0A13-03A8F886B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17CD5F-7AA3-7501-2071-D5499B6E07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006301-6E38-CFEF-1415-4BE2C817B1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0477DC-79D4-CB5D-0D8B-7FAD86ED60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46576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E4A8E-F021-F61D-FA48-C5D61FFAF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EA0B54-B25A-3279-6F22-2C049912BD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751670-000A-D6FD-7709-EA64400A14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BA6B33-B96F-444F-9B85-4F737A745B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95014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8BEE6-340D-0CE3-214E-983D08DAD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445660-9976-93AC-EC67-D65CE456CA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45486F-FD65-9CAF-FC29-9AC38EA61B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537FED-6328-48B2-3FBF-BC4206EE43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1514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B96FE-C30A-4C85-3331-A17F06E54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97D6AE-EED2-95F0-E397-D9451D40B4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E23414-DB71-ACD9-70BC-904C85EC5B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368896-F489-2799-DAE2-6D0F22D52D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64397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8ED5F-1A12-255D-723D-D97C0B4BC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1ABA91-9102-06B7-5F53-A56D58AB8B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9CC648-7460-8331-8FF4-F334DEDA9A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D71337-4325-21AB-72E1-4FB312A9FB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96993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4983F-2301-5AA9-C7D6-E8929F99A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9ACA3D-8BA3-B4BA-AFCB-FBFB5D8858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71FD0D-6EB4-2A89-4B7C-40E04529A1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B06FFE-31A9-5E40-26A8-91B3A3DAA5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11985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E1187-FD82-3254-823D-6444FC9CA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98CA0D-0A4F-DB53-29B5-8744478053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D04A7B-64F4-2FEC-6DAB-EEA19DA4D4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2C0059-5076-254C-2A2C-4831D75740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11384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33902-1657-0ADC-A6E2-95FCDEC5A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5EF6A1-B85D-B94B-717D-5B1D876AD8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EF00E2-D196-A675-EC74-61BD028CD2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EBFEF2-B42A-599D-53AD-46AA2F729D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17589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A09D0-2F6E-8738-9542-C13076E2E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31FA71-8F73-4DBD-1FF8-94286BC291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BDA69E-C632-0D28-7435-65233F2EFE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119E86-C62B-3C23-74C2-D9F673DFAE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5EF54A-9134-8641-A991-457FAC8A6344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72780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071DA-A33A-46E6-9AB6-F0ADE99ECF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A4695E-AC84-4688-A74E-04DB0D17EB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FAC192-0DE6-71BE-52C6-1ED2907A842C}"/>
              </a:ext>
            </a:extLst>
          </p:cNvPr>
          <p:cNvSpPr txBox="1"/>
          <p:nvPr userDrawn="1"/>
        </p:nvSpPr>
        <p:spPr>
          <a:xfrm>
            <a:off x="11442032" y="6015789"/>
            <a:ext cx="529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D06770D-C131-FA45-B33F-98816BA1FC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0830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3839A95-D286-4305-88D6-D686612B48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5240A26-FF24-4B62-AD41-DDA9D44EE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FD89F-9A31-4DD6-9C95-A8E96700B9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19777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026961D-1D7C-4A74-9291-7AFBF7B164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43C8BF-FB3B-47E6-923C-BF77E9613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E5FAE4-54C3-47E3-8D66-6DC40303BD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24988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57C2115-2A3E-4D75-BF91-C2D668D06D3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736430-14A1-4BA2-83C0-8A53ACEB5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75CB4D-BAC5-4B09-B394-C904EA9E41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4954CC-D6CE-4C10-8CB2-6826A52DAD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8C02E8-077D-4865-A502-DC130FC82A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F93428-F0AA-4902-9195-6434C9A757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67325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1E397A9-BAE3-42F3-81E4-58B08040BE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D95DA63-6999-4B88-BEEB-3C1D1E472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72314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66919CE-08D3-4ADA-A705-7CDCB9A2AD3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197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73E0ADD-61B1-4710-91B4-291242148DC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6FC309-F318-4862-BC38-3368C5F9B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2C403-ED21-4045-8396-6B5FD854D9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844497-95B6-4596-9589-0036623F68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27952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9E18608-F2C5-42EC-90AD-EE7DDEB616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B162D4-CA25-43A3-A8ED-219C79F87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39B57C-8104-4916-8FEA-8B79049D03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662372-0DDA-4B3A-9F7E-DBE11D8C0B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54018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9F49BD0-3689-4119-A0D1-AEEBC81B07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1E3D7E-97AC-4AE3-934E-02464129CBC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03851C-AB83-4B86-B1F8-F8F94C2B51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A61B55-30D5-4E10-9F58-15283F08BE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A1DF679-34AE-4D31-83FE-5974A31D700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" y="6025663"/>
            <a:ext cx="12192000" cy="83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733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CA45A2C-D225-45F9-9F81-02A65C0412B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75913D0-3FDF-487F-A88E-2683A3D4E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FB6AA-FC45-40A8-BDC6-E1DADC144B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49809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D23B10D-8F28-4069-B04B-D7845887D54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C3C2AA-3EA1-4419-AF0D-E12E02FF3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7F62F3-F4AC-4546-B96F-0045811BF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95843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DF44AC8-8B5F-4870-8249-8F9A0E7C67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9D8871-79A8-4429-8222-B51CA9C44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B21D2-DED5-4A5F-AA9B-1BB37A43E1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0D2A44-C1D1-42EB-B9BB-5ABD8F203F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4995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A4AD278-E165-4912-B926-A7864010DBF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034087"/>
            <a:ext cx="12192000" cy="82391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1D70325-5EB5-4468-BC79-656FB3DD2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7E2972-1C48-4505-9701-5514CEB383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9DDE98-B9BC-4F8D-BAAD-50D72777B8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03921D-9B75-41F9-839F-394DB24EFA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E4E502-D27B-42D0-A1AC-1BB5629654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58487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271FB14-04C2-484F-BC80-C8E02EF678D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BC828C8-E368-4A36-887A-7361DC23A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000377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C089A2E-5B2A-4F91-B064-F52F779CA39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3747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0B3B48B-5898-473E-A0CD-474F8A65A6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12B534-7B05-49E0-8F47-77E40537D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C84A6-B9B3-496A-9EB1-27D8506806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D6DC76-A15A-45E1-A9B2-4741220E95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925688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849AFD8-F165-4307-A1B9-CFDE9A1BD3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DF9643D-7186-4D6A-8E1C-3BFA00348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5F3987-7318-4536-98EE-2EF7DBEB70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507C0B-9896-42F1-8411-345B7ED69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642275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7E6D44-A92E-43DA-9ABB-43157B93945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9A5608F-BED7-4E9A-A2E4-07F43D544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149542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1ECBA-10E6-4E28-99EF-99525B8F39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056FC1-8E3B-4769-86EC-78F0C92FAF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6985116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A8EBD9F0-FFB9-413F-A29F-5F6478706A0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010839-4D97-4509-904E-97453EA29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0D3B8D-146D-4D2C-92DC-C2B3CEA959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439228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5FEA4278-0263-41FA-B99F-92D08E44073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F7A9C4C-0911-418B-A68B-F2571CE02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EE0456-303C-4752-BC72-EFA5E54E99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353168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0A3805D-BBA6-4CD8-902E-8BB9FE88E1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6947F1E-2D41-4838-9062-4D58B969C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1426F-93EF-49D2-AEFD-96BD9A590C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863032-6F48-4EC0-9E04-F64A956A34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50486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4">
            <a:extLst>
              <a:ext uri="{FF2B5EF4-FFF2-40B4-BE49-F238E27FC236}">
                <a16:creationId xmlns:a16="http://schemas.microsoft.com/office/drawing/2014/main" id="{A787DE3A-9044-4902-BB3D-7DBD2EF626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46F352C-E8E9-43FB-8B89-ED32167D0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6CDA2E-E393-4DB8-B7C0-A47F543C8A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338140-1A0C-430C-8FFF-41893D5044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D5411B-917C-4400-86DE-ABFCD61047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0554B9-9C5B-4D8A-9385-EC81F45437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673565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B4F34D4-D9B8-4CB8-9C32-38913C3F623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7EB23FA-6E6B-469A-8B10-618C6060D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4476734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47EDFFC-3E6B-4D60-96D2-EC5C518775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47197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8A826CF-0ECB-434D-B30E-25F27A8B47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08315FA-0986-4DA3-B550-640BE6B21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A3B989-7F03-4E4C-9588-C4B75DEBE5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8488C5-2042-4F90-851E-77D33959F3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149724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61EE0B8-3C09-45D9-91FE-63841F5932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9CE0676-53A9-4CC6-8EAA-B05F01934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A66C3E-3CDC-4EAC-9E3C-FC8D9643BF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194B7E-26EE-4436-B802-DE6AC8328D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2471847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44C377-3B74-488B-A521-C0AF73D94F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CE056E2-9C63-4EF6-A71B-310C5B38A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91963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image" Target="../media/image8.png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30F85F-C49E-4405-BDD4-C3E071F09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8355"/>
            <a:ext cx="10515600" cy="7274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F3901C-63AA-4FC2-B01F-2ED6FB32D4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64871"/>
            <a:ext cx="10515600" cy="48134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97459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914400" indent="-4572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D7B6D92-67F2-44AB-B5E0-D84743307F81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CC1242-FA9B-4906-89D9-34ECA0F4C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56C02-09F3-4FEB-A508-886862686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61231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8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A1BAFAF-D3D3-48C2-AD74-C26D4F427FA3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7C5BA6-5F87-4AEE-9731-B58F5CB71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D89A6C-A538-418B-A219-83B3647FD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01381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84" r:id="rId5"/>
    <p:sldLayoutId id="2147483676" r:id="rId6"/>
    <p:sldLayoutId id="2147483677" r:id="rId7"/>
    <p:sldLayoutId id="2147483678" r:id="rId8"/>
    <p:sldLayoutId id="2147483679" r:id="rId9"/>
    <p:sldLayoutId id="2147483681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academic.oup.com/view-large/513419031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academic.oup.com/bioinformaticsadvances/advance-article/doi/10.1093/bioadv/vbag073/8512506?login=false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academic.oup.com/nar/article/53/D1/D147/7907368?login=false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sciencedirect.com/science/article/pii/S1687850725002134" TargetMode="External"/><Relationship Id="rId4" Type="http://schemas.openxmlformats.org/officeDocument/2006/relationships/hyperlink" Target="https://academic.oup.com/bib/article/26/5/bbaf518/8273834?login=false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186/s44330-024-00015-2" TargetMode="External"/><Relationship Id="rId13" Type="http://schemas.openxmlformats.org/officeDocument/2006/relationships/hyperlink" Target="https://doi.org/10.1016/j.cell.2011.07.014" TargetMode="External"/><Relationship Id="rId3" Type="http://schemas.openxmlformats.org/officeDocument/2006/relationships/hyperlink" Target="https://doi.org/10.1016/j.cell.2024.10.024" TargetMode="External"/><Relationship Id="rId7" Type="http://schemas.openxmlformats.org/officeDocument/2006/relationships/hyperlink" Target="https://doi.org/10.1093/nar/gkt1248" TargetMode="External"/><Relationship Id="rId12" Type="http://schemas.openxmlformats.org/officeDocument/2006/relationships/hyperlink" Target="https://doi.org/10.1007/s12033-024-01343-y" TargetMode="External"/><Relationship Id="rId2" Type="http://schemas.openxmlformats.org/officeDocument/2006/relationships/hyperlink" Target="https://doi.org/10.1093/bib/bbaf518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1093/nar/gkae947" TargetMode="External"/><Relationship Id="rId11" Type="http://schemas.openxmlformats.org/officeDocument/2006/relationships/hyperlink" Target="https://doi.org/10.3389/fgene.2024.1478352" TargetMode="External"/><Relationship Id="rId5" Type="http://schemas.openxmlformats.org/officeDocument/2006/relationships/hyperlink" Target="https://doi.org/10.1093/bfgp/elaf005" TargetMode="External"/><Relationship Id="rId15" Type="http://schemas.openxmlformats.org/officeDocument/2006/relationships/hyperlink" Target="https://doi.org/10.1007/s11033-025-10906-4" TargetMode="External"/><Relationship Id="rId10" Type="http://schemas.openxmlformats.org/officeDocument/2006/relationships/hyperlink" Target="https://doi.org/10.1093/bioadv/vbag073" TargetMode="External"/><Relationship Id="rId4" Type="http://schemas.openxmlformats.org/officeDocument/2006/relationships/hyperlink" Target="https://doi.org/10.1093/nar/gkae1072" TargetMode="External"/><Relationship Id="rId9" Type="http://schemas.openxmlformats.org/officeDocument/2006/relationships/hyperlink" Target="https://doi.org/10.1016/j.jrras.2025.101501" TargetMode="External"/><Relationship Id="rId14" Type="http://schemas.openxmlformats.org/officeDocument/2006/relationships/hyperlink" Target="https://doi.org/10.1109/TCBB.2023.3264254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ront of the NLM building with crab apple blossoms in bloom.">
            <a:extLst>
              <a:ext uri="{FF2B5EF4-FFF2-40B4-BE49-F238E27FC236}">
                <a16:creationId xmlns:a16="http://schemas.microsoft.com/office/drawing/2014/main" id="{48567582-F46E-FF83-EFE1-64DB69B90717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5697" y="0"/>
            <a:ext cx="12197697" cy="68580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6C29FA85-98CC-5CDC-AEA3-F4AFADD3B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0" y="2019339"/>
            <a:ext cx="5779182" cy="1655762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rimson Pro Medium" pitchFamily="2" charset="77"/>
              </a:rPr>
              <a:t>State of the Literature: ncRNA and lncRNA-miRNA Interactions (LMIs)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7E5CEC59-E88F-1AA9-2954-884AC4F432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85403" y="3672288"/>
            <a:ext cx="4600377" cy="769083"/>
          </a:xfrm>
        </p:spPr>
        <p:txBody>
          <a:bodyPr>
            <a:normAutofit/>
          </a:bodyPr>
          <a:lstStyle/>
          <a:p>
            <a:pPr algn="l">
              <a:spcBef>
                <a:spcPts val="400"/>
              </a:spcBef>
            </a:pPr>
            <a:r>
              <a:rPr lang="en-US" sz="2000" i="1" dirty="0">
                <a:latin typeface="Montserrat" pitchFamily="2" charset="77"/>
                <a:cs typeface="Calibri" panose="020F0502020204030204" pitchFamily="34" charset="0"/>
              </a:rPr>
              <a:t>Vik Becker</a:t>
            </a:r>
          </a:p>
          <a:p>
            <a:pPr algn="l">
              <a:spcBef>
                <a:spcPts val="400"/>
              </a:spcBef>
            </a:pPr>
            <a:r>
              <a:rPr lang="en-US" sz="2000" i="1" dirty="0">
                <a:latin typeface="Montserrat" pitchFamily="2" charset="77"/>
                <a:cs typeface="Calibri" panose="020F0502020204030204" pitchFamily="34" charset="0"/>
              </a:rPr>
              <a:t>National Library of Medicine (NIH)</a:t>
            </a:r>
          </a:p>
        </p:txBody>
      </p:sp>
    </p:spTree>
    <p:extLst>
      <p:ext uri="{BB962C8B-B14F-4D97-AF65-F5344CB8AC3E}">
        <p14:creationId xmlns:p14="http://schemas.microsoft.com/office/powerpoint/2010/main" val="2835075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F2778-EA56-DEFC-4FBF-198CE7B57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BDA4E-B18C-BB5E-5B75-033084A42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446" y="789963"/>
            <a:ext cx="3502240" cy="727405"/>
          </a:xfrm>
        </p:spPr>
        <p:txBody>
          <a:bodyPr>
            <a:noAutofit/>
          </a:bodyPr>
          <a:lstStyle/>
          <a:p>
            <a:r>
              <a:rPr lang="en-US" sz="5400" dirty="0">
                <a:latin typeface="Crimson Pro Medium" pitchFamily="2" charset="77"/>
                <a:cs typeface="Calibri" panose="020F0502020204030204" pitchFamily="34" charset="0"/>
              </a:rPr>
              <a:t>Overview</a:t>
            </a:r>
            <a:endParaRPr lang="en-US" sz="5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3BD35-1ED2-FE9D-F919-273C461F0D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4007" y="1779546"/>
            <a:ext cx="9563986" cy="3291218"/>
          </a:xfrm>
        </p:spPr>
        <p:txBody>
          <a:bodyPr>
            <a:noAutofit/>
          </a:bodyPr>
          <a:lstStyle/>
          <a:p>
            <a:pPr marL="571500" indent="-57150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UcPeriod"/>
            </a:pPr>
            <a:r>
              <a:rPr lang="en-US" dirty="0">
                <a:latin typeface="Montserrat" pitchFamily="2" charset="77"/>
                <a:cs typeface="Arial" panose="020B0604020202020204" pitchFamily="34" charset="0"/>
              </a:rPr>
              <a:t> Defining non-coding RNA (ncRNA) in context.</a:t>
            </a:r>
          </a:p>
          <a:p>
            <a:pPr marL="571500" indent="-57150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UcPeriod"/>
            </a:pPr>
            <a:r>
              <a:rPr lang="en-US" dirty="0">
                <a:latin typeface="Montserrat" pitchFamily="2" charset="77"/>
                <a:cs typeface="Arial" panose="020B0604020202020204" pitchFamily="34" charset="0"/>
              </a:rPr>
              <a:t> LncRNA-miRNA interactions (LMIs).</a:t>
            </a:r>
          </a:p>
          <a:p>
            <a:pPr marL="571500" indent="-57150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UcPeriod"/>
            </a:pPr>
            <a:r>
              <a:rPr lang="en-US" dirty="0">
                <a:latin typeface="Montserrat" pitchFamily="2" charset="77"/>
                <a:cs typeface="Arial" panose="020B0604020202020204" pitchFamily="34" charset="0"/>
              </a:rPr>
              <a:t> Existing LMI-associated computational methods.</a:t>
            </a:r>
          </a:p>
          <a:p>
            <a:pPr marL="571500" indent="-57150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UcPeriod"/>
            </a:pPr>
            <a:r>
              <a:rPr lang="en-US" dirty="0">
                <a:latin typeface="Montserrat" pitchFamily="2" charset="77"/>
                <a:cs typeface="Arial" panose="020B0604020202020204" pitchFamily="34" charset="0"/>
              </a:rPr>
              <a:t> Future directions.</a:t>
            </a:r>
          </a:p>
        </p:txBody>
      </p:sp>
    </p:spTree>
    <p:extLst>
      <p:ext uri="{BB962C8B-B14F-4D97-AF65-F5344CB8AC3E}">
        <p14:creationId xmlns:p14="http://schemas.microsoft.com/office/powerpoint/2010/main" val="3072122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807C8-E1C4-16DE-944C-4737902C3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B11F2-E8B6-A235-D1B7-FD64270D76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9342" y="2104181"/>
            <a:ext cx="7653315" cy="2125578"/>
          </a:xfrm>
        </p:spPr>
        <p:txBody>
          <a:bodyPr>
            <a:noAutofit/>
          </a:bodyPr>
          <a:lstStyle/>
          <a:p>
            <a:pPr marL="571500" indent="-5715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UcPeriod"/>
            </a:pPr>
            <a:r>
              <a:rPr lang="en-US" sz="5400" dirty="0">
                <a:latin typeface="Crimson Pro Medium" pitchFamily="2" charset="77"/>
                <a:cs typeface="Arial" panose="020B0604020202020204" pitchFamily="34" charset="0"/>
              </a:rPr>
              <a:t>Defining non-coding RNA (ncRNA) in context.</a:t>
            </a:r>
          </a:p>
        </p:txBody>
      </p:sp>
    </p:spTree>
    <p:extLst>
      <p:ext uri="{BB962C8B-B14F-4D97-AF65-F5344CB8AC3E}">
        <p14:creationId xmlns:p14="http://schemas.microsoft.com/office/powerpoint/2010/main" val="646104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7F5AC-73AD-0823-255C-6D5C0D62C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BE409408-9D07-99A5-CEC6-A944AFC0E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56" y="428752"/>
            <a:ext cx="8428161" cy="727405"/>
          </a:xfrm>
        </p:spPr>
        <p:txBody>
          <a:bodyPr>
            <a:noAutofit/>
          </a:bodyPr>
          <a:lstStyle/>
          <a:p>
            <a:r>
              <a:rPr lang="en-US" sz="5400" dirty="0">
                <a:latin typeface="Crimson Pro Medium" pitchFamily="2" charset="77"/>
                <a:cs typeface="Calibri" panose="020F0502020204030204" pitchFamily="34" charset="0"/>
              </a:rPr>
              <a:t>Non-Coding RNA (ncRNA)</a:t>
            </a:r>
            <a:endParaRPr lang="en-US" sz="5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8B011E-95B3-0C47-8BC2-FDE49ABAC6AA}"/>
              </a:ext>
            </a:extLst>
          </p:cNvPr>
          <p:cNvSpPr txBox="1"/>
          <p:nvPr/>
        </p:nvSpPr>
        <p:spPr>
          <a:xfrm>
            <a:off x="479356" y="1156157"/>
            <a:ext cx="115536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i="1" dirty="0">
                <a:latin typeface="Montserrat" pitchFamily="2" charset="77"/>
                <a:cs typeface="Calibri" panose="020F0502020204030204" pitchFamily="34" charset="0"/>
              </a:rPr>
              <a:t>= transcriptional products that do not encode proteins.</a:t>
            </a:r>
            <a:endParaRPr lang="en-US" sz="3200" i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270728-E5CF-16C6-7889-ACFDE722C22B}"/>
              </a:ext>
            </a:extLst>
          </p:cNvPr>
          <p:cNvSpPr txBox="1"/>
          <p:nvPr/>
        </p:nvSpPr>
        <p:spPr>
          <a:xfrm>
            <a:off x="479356" y="1681168"/>
            <a:ext cx="11330294" cy="418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Montserrat" pitchFamily="2" charset="77"/>
                <a:cs typeface="Calibri" panose="020F0502020204030204" pitchFamily="34" charset="0"/>
              </a:rPr>
              <a:t>Only ~2% of human genome is protein coding!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Montserrat" pitchFamily="2" charset="77"/>
                <a:cs typeface="Calibri" panose="020F0502020204030204" pitchFamily="34" charset="0"/>
              </a:rPr>
              <a:t>ncRNA initially considered an RNA processing byproduct.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u="sng" dirty="0">
                <a:latin typeface="Montserrat" pitchFamily="2" charset="77"/>
                <a:cs typeface="Calibri" panose="020F0502020204030204" pitchFamily="34" charset="0"/>
              </a:rPr>
              <a:t>Regulatory ncRNA Discovery Timeline: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Montserrat" pitchFamily="2" charset="77"/>
                <a:cs typeface="Calibri" panose="020F0502020204030204" pitchFamily="34" charset="0"/>
              </a:rPr>
              <a:t>1984</a:t>
            </a:r>
            <a:r>
              <a:rPr lang="en-US" sz="2400" dirty="0">
                <a:latin typeface="Montserrat" pitchFamily="2" charset="77"/>
                <a:cs typeface="Calibri" panose="020F0502020204030204" pitchFamily="34" charset="0"/>
              </a:rPr>
              <a:t>: </a:t>
            </a:r>
            <a:r>
              <a:rPr lang="en-US" sz="2400" dirty="0" err="1">
                <a:latin typeface="Montserrat" pitchFamily="2" charset="77"/>
                <a:cs typeface="Calibri" panose="020F0502020204030204" pitchFamily="34" charset="0"/>
              </a:rPr>
              <a:t>micF</a:t>
            </a:r>
            <a:r>
              <a:rPr lang="en-US" sz="2400" dirty="0">
                <a:latin typeface="Montserrat" pitchFamily="2" charset="77"/>
                <a:cs typeface="Calibri" panose="020F0502020204030204" pitchFamily="34" charset="0"/>
              </a:rPr>
              <a:t> RNA identified in </a:t>
            </a:r>
            <a:r>
              <a:rPr lang="en-US" sz="2400" i="1" dirty="0">
                <a:latin typeface="Montserrat" pitchFamily="2" charset="77"/>
                <a:cs typeface="Calibri" panose="020F0502020204030204" pitchFamily="34" charset="0"/>
              </a:rPr>
              <a:t>E. coli</a:t>
            </a:r>
            <a:r>
              <a:rPr lang="en-US" sz="2400" dirty="0">
                <a:latin typeface="Montserrat" pitchFamily="2" charset="77"/>
                <a:cs typeface="Calibri" panose="020F0502020204030204" pitchFamily="34" charset="0"/>
              </a:rPr>
              <a:t>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Montserrat" pitchFamily="2" charset="77"/>
                <a:cs typeface="Calibri" panose="020F0502020204030204" pitchFamily="34" charset="0"/>
              </a:rPr>
              <a:t>1993</a:t>
            </a:r>
            <a:r>
              <a:rPr lang="en-US" sz="2400" dirty="0">
                <a:latin typeface="Montserrat" pitchFamily="2" charset="77"/>
                <a:cs typeface="Calibri" panose="020F0502020204030204" pitchFamily="34" charset="0"/>
              </a:rPr>
              <a:t>: First regulatory miRNA  (lin-4) found in </a:t>
            </a:r>
            <a:r>
              <a:rPr lang="en-US" sz="2400" i="1" dirty="0">
                <a:latin typeface="Montserrat" pitchFamily="2" charset="77"/>
                <a:cs typeface="Calibri" panose="020F0502020204030204" pitchFamily="34" charset="0"/>
              </a:rPr>
              <a:t>C. elegans</a:t>
            </a:r>
            <a:r>
              <a:rPr lang="en-US" sz="2400" dirty="0">
                <a:latin typeface="Montserrat" pitchFamily="2" charset="77"/>
                <a:cs typeface="Calibri" panose="020F0502020204030204" pitchFamily="34" charset="0"/>
              </a:rPr>
              <a:t>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Montserrat" pitchFamily="2" charset="77"/>
                <a:cs typeface="Calibri" panose="020F0502020204030204" pitchFamily="34" charset="0"/>
              </a:rPr>
              <a:t>Early 2000s</a:t>
            </a:r>
            <a:r>
              <a:rPr lang="en-US" sz="2400" dirty="0">
                <a:latin typeface="Montserrat" pitchFamily="2" charset="77"/>
                <a:cs typeface="Calibri" panose="020F0502020204030204" pitchFamily="34" charset="0"/>
              </a:rPr>
              <a:t>: Rapid miRNA pathway characterization.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Montserrat" pitchFamily="2" charset="77"/>
                <a:cs typeface="Calibri" panose="020F0502020204030204" pitchFamily="34" charset="0"/>
              </a:rPr>
              <a:t>2007</a:t>
            </a:r>
            <a:r>
              <a:rPr lang="en-US" sz="2400" dirty="0">
                <a:latin typeface="Montserrat" pitchFamily="2" charset="77"/>
                <a:cs typeface="Calibri" panose="020F0502020204030204" pitchFamily="34" charset="0"/>
              </a:rPr>
              <a:t>: Encyclopedia of DNA Elements (ENCODE) project initiation.</a:t>
            </a:r>
          </a:p>
        </p:txBody>
      </p:sp>
    </p:spTree>
    <p:extLst>
      <p:ext uri="{BB962C8B-B14F-4D97-AF65-F5344CB8AC3E}">
        <p14:creationId xmlns:p14="http://schemas.microsoft.com/office/powerpoint/2010/main" val="1851629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DB0F6-07AE-D1EF-6711-0FBE00B44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40" y="421420"/>
            <a:ext cx="5908589" cy="727405"/>
          </a:xfrm>
        </p:spPr>
        <p:txBody>
          <a:bodyPr>
            <a:noAutofit/>
          </a:bodyPr>
          <a:lstStyle/>
          <a:p>
            <a:r>
              <a:rPr lang="en-US" sz="5400" dirty="0">
                <a:latin typeface="Crimson Pro Medium" pitchFamily="2" charset="77"/>
              </a:rPr>
              <a:t>Micro RNA (miRNA)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C898E-15E2-FA62-3C52-2E1690559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138" y="1548935"/>
            <a:ext cx="8627078" cy="432593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latin typeface="Montserrat" pitchFamily="2" charset="77"/>
              </a:rPr>
              <a:t>Primary</a:t>
            </a:r>
            <a:r>
              <a:rPr lang="en-US" sz="2400" dirty="0">
                <a:latin typeface="Montserrat" pitchFamily="2" charset="77"/>
              </a:rPr>
              <a:t> </a:t>
            </a:r>
            <a:r>
              <a:rPr lang="en-US" sz="2400" b="1" dirty="0">
                <a:latin typeface="Montserrat" pitchFamily="2" charset="77"/>
              </a:rPr>
              <a:t>function</a:t>
            </a:r>
            <a:r>
              <a:rPr lang="en-US" sz="2400" dirty="0">
                <a:latin typeface="Montserrat" pitchFamily="2" charset="77"/>
              </a:rPr>
              <a:t> is RNA interference gene silencing.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Montserrat" pitchFamily="2" charset="77"/>
              </a:rPr>
              <a:t>Associate with </a:t>
            </a:r>
            <a:r>
              <a:rPr lang="en-US" sz="2400" u="sng" dirty="0">
                <a:latin typeface="Montserrat" pitchFamily="2" charset="77"/>
              </a:rPr>
              <a:t>Argonaute</a:t>
            </a:r>
            <a:r>
              <a:rPr lang="en-US" sz="2400" dirty="0">
                <a:latin typeface="Montserrat" pitchFamily="2" charset="77"/>
              </a:rPr>
              <a:t> (</a:t>
            </a:r>
            <a:r>
              <a:rPr lang="en-US" sz="2400" i="1" dirty="0">
                <a:latin typeface="Montserrat" pitchFamily="2" charset="77"/>
              </a:rPr>
              <a:t>Ago</a:t>
            </a:r>
            <a:r>
              <a:rPr lang="en-US" sz="2400" dirty="0">
                <a:latin typeface="Montserrat" pitchFamily="2" charset="77"/>
              </a:rPr>
              <a:t>) proteins within RNA-induced silencing complexes (</a:t>
            </a:r>
            <a:r>
              <a:rPr lang="en-US" sz="2400" i="1" dirty="0">
                <a:latin typeface="Montserrat" pitchFamily="2" charset="77"/>
              </a:rPr>
              <a:t>RISC</a:t>
            </a:r>
            <a:r>
              <a:rPr lang="en-US" sz="2400" dirty="0">
                <a:latin typeface="Montserrat" pitchFamily="2" charset="77"/>
              </a:rPr>
              <a:t>).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Montserrat" pitchFamily="2" charset="77"/>
              </a:rPr>
              <a:t>Bind to miRNA Response Elements (</a:t>
            </a:r>
            <a:r>
              <a:rPr lang="en-US" sz="2400" i="1" dirty="0">
                <a:latin typeface="Montserrat" pitchFamily="2" charset="77"/>
              </a:rPr>
              <a:t>MREs</a:t>
            </a:r>
            <a:r>
              <a:rPr lang="en-US" sz="2400" dirty="0">
                <a:latin typeface="Montserrat" pitchFamily="2" charset="77"/>
              </a:rPr>
              <a:t>)</a:t>
            </a:r>
          </a:p>
          <a:p>
            <a:pPr lvl="1">
              <a:lnSpc>
                <a:spcPct val="100000"/>
              </a:lnSpc>
            </a:pPr>
            <a:r>
              <a:rPr lang="en-US" sz="2000" dirty="0">
                <a:latin typeface="Montserrat" pitchFamily="2" charset="77"/>
              </a:rPr>
              <a:t>Located within 3′ untranslated regions of mRNAs.</a:t>
            </a:r>
          </a:p>
          <a:p>
            <a:pPr>
              <a:lnSpc>
                <a:spcPct val="100000"/>
              </a:lnSpc>
            </a:pPr>
            <a:r>
              <a:rPr lang="en-US" sz="2400" b="1" dirty="0">
                <a:latin typeface="Montserrat" pitchFamily="2" charset="77"/>
              </a:rPr>
              <a:t>Outcomes</a:t>
            </a:r>
            <a:r>
              <a:rPr lang="en-US" sz="2400" dirty="0">
                <a:latin typeface="Montserrat" pitchFamily="2" charset="77"/>
              </a:rPr>
              <a:t> depend on </a:t>
            </a:r>
            <a:r>
              <a:rPr lang="en-US" sz="2400" u="sng" dirty="0">
                <a:latin typeface="Montserrat" pitchFamily="2" charset="77"/>
              </a:rPr>
              <a:t>complementarity</a:t>
            </a:r>
            <a:r>
              <a:rPr lang="en-US" sz="2400" dirty="0">
                <a:latin typeface="Montserrat" pitchFamily="2" charset="77"/>
              </a:rPr>
              <a:t>:</a:t>
            </a:r>
          </a:p>
          <a:p>
            <a:pPr lvl="1" fontAlgn="base">
              <a:lnSpc>
                <a:spcPct val="100000"/>
              </a:lnSpc>
            </a:pPr>
            <a:r>
              <a:rPr lang="en-US" sz="2000" dirty="0">
                <a:latin typeface="Montserrat" pitchFamily="2" charset="77"/>
              </a:rPr>
              <a:t>Perfect → endonucleotide cleavage</a:t>
            </a:r>
          </a:p>
          <a:p>
            <a:pPr lvl="1" fontAlgn="base">
              <a:lnSpc>
                <a:spcPct val="100000"/>
              </a:lnSpc>
            </a:pPr>
            <a:r>
              <a:rPr lang="en-US" sz="2000" dirty="0">
                <a:latin typeface="Montserrat" pitchFamily="2" charset="77"/>
              </a:rPr>
              <a:t>Partial → deadenylation or translational repression </a:t>
            </a:r>
          </a:p>
          <a:p>
            <a:pPr fontAlgn="base">
              <a:lnSpc>
                <a:spcPct val="100000"/>
              </a:lnSpc>
            </a:pPr>
            <a:r>
              <a:rPr lang="en-US" sz="2400" dirty="0">
                <a:latin typeface="Montserrat" pitchFamily="2" charset="77"/>
              </a:rPr>
              <a:t>Relatively conserved and well-characterized </a:t>
            </a:r>
            <a:r>
              <a:rPr lang="en-US" sz="2400" b="1" dirty="0">
                <a:latin typeface="Montserrat" pitchFamily="2" charset="77"/>
              </a:rPr>
              <a:t>biogenesis</a:t>
            </a:r>
            <a:r>
              <a:rPr lang="en-US" sz="2400" dirty="0">
                <a:latin typeface="Montserrat" pitchFamily="2" charset="77"/>
              </a:rPr>
              <a:t>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AD93713-8B7F-EB38-CB38-736E16B871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2216" y="168355"/>
            <a:ext cx="2786168" cy="570651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F38C2C9-600E-6DE8-74C3-E36AA60B57B9}"/>
              </a:ext>
            </a:extLst>
          </p:cNvPr>
          <p:cNvSpPr txBox="1"/>
          <p:nvPr/>
        </p:nvSpPr>
        <p:spPr>
          <a:xfrm>
            <a:off x="453079" y="1148825"/>
            <a:ext cx="77220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i="1" dirty="0">
                <a:latin typeface="Montserrat" pitchFamily="2" charset="77"/>
              </a:rPr>
              <a:t>= subset of small ncRNAs that are ~</a:t>
            </a:r>
            <a:r>
              <a:rPr lang="en-US" sz="2000" i="1" u="sng" dirty="0">
                <a:latin typeface="Montserrat" pitchFamily="2" charset="77"/>
              </a:rPr>
              <a:t>20-28</a:t>
            </a:r>
            <a:r>
              <a:rPr lang="en-US" sz="2000" i="1" dirty="0">
                <a:latin typeface="Montserrat" pitchFamily="2" charset="77"/>
              </a:rPr>
              <a:t> nucleotides long.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7D089B-790D-CE45-9DDF-35E8231517DD}"/>
              </a:ext>
            </a:extLst>
          </p:cNvPr>
          <p:cNvSpPr txBox="1"/>
          <p:nvPr/>
        </p:nvSpPr>
        <p:spPr>
          <a:xfrm>
            <a:off x="4132614" y="6274978"/>
            <a:ext cx="77357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Chen et al. (2024) </a:t>
            </a:r>
            <a:r>
              <a:rPr lang="en-US" sz="1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Small and long non-coding RNAs: Past, present, and future</a:t>
            </a: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Figure 4(c)</a:t>
            </a:r>
          </a:p>
        </p:txBody>
      </p:sp>
    </p:spTree>
    <p:extLst>
      <p:ext uri="{BB962C8B-B14F-4D97-AF65-F5344CB8AC3E}">
        <p14:creationId xmlns:p14="http://schemas.microsoft.com/office/powerpoint/2010/main" val="3558864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45D60-0E34-79E6-E810-2283BF42E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3230D-45CF-601A-BF20-5B4D9F43F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139" y="421420"/>
            <a:ext cx="9211375" cy="727405"/>
          </a:xfrm>
        </p:spPr>
        <p:txBody>
          <a:bodyPr>
            <a:noAutofit/>
          </a:bodyPr>
          <a:lstStyle/>
          <a:p>
            <a:r>
              <a:rPr lang="en-US" sz="5400" dirty="0">
                <a:latin typeface="Crimson Pro Medium" pitchFamily="2" charset="77"/>
              </a:rPr>
              <a:t>Long Non-Coding RNA (lncRNA)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B38BBD-100C-AA45-9FAE-B9CB22022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8195" y="1638723"/>
            <a:ext cx="8503805" cy="4236145"/>
          </a:xfrm>
        </p:spPr>
        <p:txBody>
          <a:bodyPr>
            <a:noAutofit/>
          </a:bodyPr>
          <a:lstStyle/>
          <a:p>
            <a:pPr>
              <a:lnSpc>
                <a:spcPts val="2880"/>
              </a:lnSpc>
            </a:pPr>
            <a:r>
              <a:rPr lang="en-US" sz="2400" dirty="0">
                <a:latin typeface="Montserrat" pitchFamily="2" charset="77"/>
              </a:rPr>
              <a:t>Participates in diverse </a:t>
            </a:r>
            <a:r>
              <a:rPr lang="en-US" sz="2400" u="sng" dirty="0">
                <a:latin typeface="Montserrat" pitchFamily="2" charset="77"/>
              </a:rPr>
              <a:t>nuclear</a:t>
            </a:r>
            <a:r>
              <a:rPr lang="en-US" sz="2400" dirty="0">
                <a:latin typeface="Montserrat" pitchFamily="2" charset="77"/>
              </a:rPr>
              <a:t> and </a:t>
            </a:r>
            <a:r>
              <a:rPr lang="en-US" sz="2400" u="sng" dirty="0">
                <a:latin typeface="Montserrat" pitchFamily="2" charset="77"/>
              </a:rPr>
              <a:t>cytoplasmic</a:t>
            </a:r>
            <a:r>
              <a:rPr lang="en-US" sz="2400" dirty="0">
                <a:latin typeface="Montserrat" pitchFamily="2" charset="77"/>
              </a:rPr>
              <a:t> regulatory processes.</a:t>
            </a:r>
          </a:p>
          <a:p>
            <a:pPr>
              <a:lnSpc>
                <a:spcPts val="2880"/>
              </a:lnSpc>
            </a:pPr>
            <a:r>
              <a:rPr lang="en-US" sz="2400" b="1" dirty="0">
                <a:latin typeface="Montserrat" pitchFamily="2" charset="77"/>
              </a:rPr>
              <a:t>Major Functional Classes</a:t>
            </a:r>
            <a:r>
              <a:rPr lang="en-US" sz="2400" dirty="0">
                <a:latin typeface="Montserrat" pitchFamily="2" charset="77"/>
              </a:rPr>
              <a:t>:</a:t>
            </a:r>
          </a:p>
          <a:p>
            <a:pPr lvl="1">
              <a:lnSpc>
                <a:spcPts val="2880"/>
              </a:lnSpc>
            </a:pPr>
            <a:r>
              <a:rPr lang="en-US" sz="2000" u="sng" dirty="0">
                <a:latin typeface="Montserrat" pitchFamily="2" charset="77"/>
              </a:rPr>
              <a:t>Signal</a:t>
            </a:r>
            <a:r>
              <a:rPr lang="en-US" sz="2000" dirty="0">
                <a:latin typeface="Montserrat" pitchFamily="2" charset="77"/>
              </a:rPr>
              <a:t> = facilitate enhancer-promoter interactions through stabilizing chromatin loops.</a:t>
            </a:r>
            <a:endParaRPr lang="en-US" sz="2000" u="sng" dirty="0">
              <a:latin typeface="Montserrat" pitchFamily="2" charset="77"/>
            </a:endParaRPr>
          </a:p>
          <a:p>
            <a:pPr lvl="1">
              <a:lnSpc>
                <a:spcPts val="2880"/>
              </a:lnSpc>
            </a:pPr>
            <a:r>
              <a:rPr lang="en-US" sz="2000" u="sng" dirty="0">
                <a:latin typeface="Montserrat" pitchFamily="2" charset="77"/>
              </a:rPr>
              <a:t>Decoys</a:t>
            </a:r>
            <a:r>
              <a:rPr lang="en-US" sz="2000" dirty="0">
                <a:latin typeface="Montserrat" pitchFamily="2" charset="77"/>
              </a:rPr>
              <a:t> = sequester miRNAs, mRNAs, or proteins.</a:t>
            </a:r>
          </a:p>
          <a:p>
            <a:pPr lvl="1">
              <a:lnSpc>
                <a:spcPts val="2880"/>
              </a:lnSpc>
            </a:pPr>
            <a:r>
              <a:rPr lang="en-US" sz="2000" u="sng" dirty="0">
                <a:latin typeface="Montserrat" pitchFamily="2" charset="77"/>
              </a:rPr>
              <a:t>Guides</a:t>
            </a:r>
            <a:r>
              <a:rPr lang="en-US" sz="2000" dirty="0">
                <a:latin typeface="Montserrat" pitchFamily="2" charset="77"/>
              </a:rPr>
              <a:t> = recruit chromatin-modifying proteins to specific genomic loci in</a:t>
            </a:r>
            <a:r>
              <a:rPr lang="en-US" sz="2000" i="1" dirty="0">
                <a:latin typeface="Montserrat" pitchFamily="2" charset="77"/>
              </a:rPr>
              <a:t> cis </a:t>
            </a:r>
            <a:r>
              <a:rPr lang="en-US" sz="2000" dirty="0">
                <a:latin typeface="Montserrat" pitchFamily="2" charset="77"/>
              </a:rPr>
              <a:t>or in</a:t>
            </a:r>
            <a:r>
              <a:rPr lang="en-US" sz="2000" i="1" dirty="0">
                <a:latin typeface="Montserrat" pitchFamily="2" charset="77"/>
              </a:rPr>
              <a:t> trans.</a:t>
            </a:r>
            <a:endParaRPr lang="en-US" sz="2000" dirty="0">
              <a:latin typeface="Montserrat" pitchFamily="2" charset="77"/>
            </a:endParaRPr>
          </a:p>
          <a:p>
            <a:pPr lvl="1">
              <a:lnSpc>
                <a:spcPts val="2880"/>
              </a:lnSpc>
            </a:pPr>
            <a:r>
              <a:rPr lang="en-US" sz="2000" u="sng" dirty="0">
                <a:latin typeface="Montserrat" pitchFamily="2" charset="77"/>
              </a:rPr>
              <a:t>Scaffolds</a:t>
            </a:r>
            <a:r>
              <a:rPr lang="en-US" sz="2000" dirty="0">
                <a:latin typeface="Montserrat" pitchFamily="2" charset="77"/>
              </a:rPr>
              <a:t> = assemble multiprotein regulatory complexes.</a:t>
            </a:r>
          </a:p>
          <a:p>
            <a:pPr>
              <a:lnSpc>
                <a:spcPts val="2880"/>
              </a:lnSpc>
            </a:pPr>
            <a:r>
              <a:rPr lang="en-US" sz="2400" dirty="0">
                <a:latin typeface="Montserrat" pitchFamily="2" charset="77"/>
              </a:rPr>
              <a:t>Highly diverse and context-specific </a:t>
            </a:r>
            <a:r>
              <a:rPr lang="en-US" sz="2400" b="1" dirty="0">
                <a:latin typeface="Montserrat" pitchFamily="2" charset="77"/>
              </a:rPr>
              <a:t>biogenesis</a:t>
            </a:r>
            <a:r>
              <a:rPr lang="en-US" sz="2400" dirty="0">
                <a:latin typeface="Montserrat" pitchFamily="2" charset="77"/>
              </a:rPr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49F2D5-F64E-8E0B-FB71-718C3B457991}"/>
              </a:ext>
            </a:extLst>
          </p:cNvPr>
          <p:cNvSpPr txBox="1"/>
          <p:nvPr/>
        </p:nvSpPr>
        <p:spPr>
          <a:xfrm>
            <a:off x="453078" y="1148825"/>
            <a:ext cx="87780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i="1" dirty="0">
                <a:latin typeface="Montserrat" pitchFamily="2" charset="77"/>
              </a:rPr>
              <a:t>= non-coding RNA transcripts </a:t>
            </a:r>
            <a:r>
              <a:rPr lang="en-US" sz="2000" i="1" u="sng" dirty="0">
                <a:latin typeface="Montserrat" pitchFamily="2" charset="77"/>
              </a:rPr>
              <a:t>greater than 200</a:t>
            </a:r>
            <a:r>
              <a:rPr lang="en-US" sz="2000" i="1" dirty="0">
                <a:latin typeface="Montserrat" pitchFamily="2" charset="77"/>
              </a:rPr>
              <a:t> nucleotides long.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47077C-92C2-FD03-B67B-EF4BAAC5D5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480" y="1638723"/>
            <a:ext cx="2474323" cy="423614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DE0AC00-A7A4-B72B-4939-FC59A48DFB7E}"/>
              </a:ext>
            </a:extLst>
          </p:cNvPr>
          <p:cNvSpPr txBox="1"/>
          <p:nvPr/>
        </p:nvSpPr>
        <p:spPr>
          <a:xfrm>
            <a:off x="4319081" y="6144192"/>
            <a:ext cx="76552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Poloni et al. (2024) </a:t>
            </a:r>
            <a:r>
              <a:rPr lang="en-US" sz="1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Localization is the key to action: regulatory peculiarities of lncRNAs. </a:t>
            </a: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Figure 1(b)</a:t>
            </a:r>
          </a:p>
        </p:txBody>
      </p:sp>
    </p:spTree>
    <p:extLst>
      <p:ext uri="{BB962C8B-B14F-4D97-AF65-F5344CB8AC3E}">
        <p14:creationId xmlns:p14="http://schemas.microsoft.com/office/powerpoint/2010/main" val="458942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6773D-A518-4C8A-60F0-339D496C7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90991-A025-4844-AAC0-7BDE7DD4E3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71371" y="2053381"/>
            <a:ext cx="6849258" cy="2125578"/>
          </a:xfrm>
        </p:spPr>
        <p:txBody>
          <a:bodyPr>
            <a:noAutofit/>
          </a:bodyPr>
          <a:lstStyle/>
          <a:p>
            <a:pPr marL="1028700" indent="-10287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UcPeriod" startAt="2"/>
            </a:pPr>
            <a:r>
              <a:rPr lang="en-US" sz="5400" dirty="0">
                <a:latin typeface="Crimson Pro Medium" pitchFamily="2" charset="77"/>
                <a:cs typeface="Arial" panose="020B0604020202020204" pitchFamily="34" charset="0"/>
              </a:rPr>
              <a:t>LncRNA-miRNA Interactions (LMIs).</a:t>
            </a:r>
          </a:p>
        </p:txBody>
      </p:sp>
    </p:spTree>
    <p:extLst>
      <p:ext uri="{BB962C8B-B14F-4D97-AF65-F5344CB8AC3E}">
        <p14:creationId xmlns:p14="http://schemas.microsoft.com/office/powerpoint/2010/main" val="2931444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F956D-55A6-6953-C451-FCCCA64B7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28843-02DC-E703-7DBF-13213C302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753" y="441240"/>
            <a:ext cx="10548490" cy="727405"/>
          </a:xfrm>
        </p:spPr>
        <p:txBody>
          <a:bodyPr>
            <a:noAutofit/>
          </a:bodyPr>
          <a:lstStyle/>
          <a:p>
            <a:pPr algn="ctr"/>
            <a:r>
              <a:rPr lang="en-US" sz="4000" dirty="0">
                <a:latin typeface="Crimson Pro Medium" pitchFamily="2" charset="77"/>
              </a:rPr>
              <a:t>Competing Endogenous RNA (ceRNA) Hypothesis</a:t>
            </a:r>
            <a:endParaRPr lang="en-US" sz="4000" dirty="0">
              <a:effectLst/>
              <a:latin typeface="Crimson Pro Medium" pitchFamily="2" charset="7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A04888-717D-C158-CC41-6E9ABF11EA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1382" y="1252802"/>
            <a:ext cx="10289232" cy="1520413"/>
          </a:xfrm>
        </p:spPr>
        <p:txBody>
          <a:bodyPr>
            <a:normAutofit/>
          </a:bodyPr>
          <a:lstStyle/>
          <a:p>
            <a:pPr marL="0" indent="0" fontAlgn="base">
              <a:lnSpc>
                <a:spcPct val="125000"/>
              </a:lnSpc>
              <a:buNone/>
            </a:pPr>
            <a:r>
              <a:rPr lang="en-US" sz="2400" dirty="0">
                <a:latin typeface="Montserrat" pitchFamily="2" charset="77"/>
              </a:rPr>
              <a:t>= complex network where </a:t>
            </a:r>
            <a:r>
              <a:rPr lang="en-US" sz="2400" b="1" dirty="0">
                <a:latin typeface="Montserrat" pitchFamily="2" charset="77"/>
              </a:rPr>
              <a:t>lncRNAs</a:t>
            </a:r>
            <a:r>
              <a:rPr lang="en-US" sz="2400" dirty="0">
                <a:latin typeface="Montserrat" pitchFamily="2" charset="77"/>
              </a:rPr>
              <a:t> and </a:t>
            </a:r>
            <a:r>
              <a:rPr lang="en-US" sz="2400" b="1" dirty="0">
                <a:latin typeface="Montserrat" pitchFamily="2" charset="77"/>
              </a:rPr>
              <a:t>mRNAs</a:t>
            </a:r>
            <a:r>
              <a:rPr lang="en-US" sz="2400" dirty="0">
                <a:latin typeface="Montserrat" pitchFamily="2" charset="77"/>
              </a:rPr>
              <a:t> sharing common </a:t>
            </a:r>
            <a:r>
              <a:rPr lang="en-US" sz="2400" u="sng" dirty="0">
                <a:latin typeface="Montserrat" pitchFamily="2" charset="77"/>
              </a:rPr>
              <a:t>miRNA response elements </a:t>
            </a:r>
            <a:r>
              <a:rPr lang="en-US" sz="2400" dirty="0">
                <a:latin typeface="Montserrat" pitchFamily="2" charset="77"/>
              </a:rPr>
              <a:t>(</a:t>
            </a:r>
            <a:r>
              <a:rPr lang="en-US" sz="2400" i="1" dirty="0">
                <a:latin typeface="Montserrat" pitchFamily="2" charset="77"/>
              </a:rPr>
              <a:t>MREs</a:t>
            </a:r>
            <a:r>
              <a:rPr lang="en-US" sz="2400" dirty="0">
                <a:latin typeface="Montserrat" pitchFamily="2" charset="77"/>
              </a:rPr>
              <a:t>) compete for a limited pool of </a:t>
            </a:r>
            <a:r>
              <a:rPr lang="en-US" sz="2400" b="1" dirty="0">
                <a:latin typeface="Montserrat" pitchFamily="2" charset="77"/>
              </a:rPr>
              <a:t>miRNAs</a:t>
            </a:r>
            <a:r>
              <a:rPr lang="en-US" sz="2400" dirty="0">
                <a:latin typeface="Montserrat" pitchFamily="2" charset="77"/>
              </a:rPr>
              <a:t> </a:t>
            </a:r>
            <a:r>
              <a:rPr lang="en-US" sz="2400" i="1" dirty="0">
                <a:latin typeface="Montserrat" pitchFamily="2" charset="77"/>
              </a:rPr>
              <a:t>(Salmena et al., 2011).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C79090D-DDF6-7B87-A597-710B3C68AC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696" y="2857373"/>
            <a:ext cx="10158604" cy="2663667"/>
          </a:xfrm>
          <a:prstGeom prst="rect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328AAEE-A7E3-FFD6-2781-3FD3B73E6C5C}"/>
              </a:ext>
            </a:extLst>
          </p:cNvPr>
          <p:cNvSpPr txBox="1"/>
          <p:nvPr/>
        </p:nvSpPr>
        <p:spPr>
          <a:xfrm>
            <a:off x="3515096" y="6274978"/>
            <a:ext cx="83532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Chen et al. (2024) </a:t>
            </a:r>
            <a:r>
              <a:rPr lang="en-US" sz="1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Small and long non-coding RNAs: Past, present, and future</a:t>
            </a: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Figure 6(b)(</a:t>
            </a:r>
            <a:r>
              <a:rPr lang="en-US" sz="16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776116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0783D-E06E-381D-D432-9608AA690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A3602-C97D-A66F-AACD-68251FB49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421" y="1833248"/>
            <a:ext cx="4649679" cy="2430690"/>
          </a:xfrm>
        </p:spPr>
        <p:txBody>
          <a:bodyPr anchor="b">
            <a:noAutofit/>
          </a:bodyPr>
          <a:lstStyle/>
          <a:p>
            <a:pPr algn="r"/>
            <a:r>
              <a:rPr lang="en-US" sz="5400" dirty="0">
                <a:latin typeface="Crimson Pro Medium" pitchFamily="2" charset="77"/>
              </a:rPr>
              <a:t>lncRNA-miRNA Interactions (LMIs)</a:t>
            </a:r>
            <a:endParaRPr lang="en-US" sz="5400" dirty="0">
              <a:effectLst/>
              <a:latin typeface="Crimson Pro Medium" pitchFamily="2" charset="77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B434D7-9639-2053-E8B2-5F8C962420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9" b="-1"/>
          <a:stretch>
            <a:fillRect/>
          </a:stretch>
        </p:blipFill>
        <p:spPr>
          <a:xfrm>
            <a:off x="5859561" y="243191"/>
            <a:ext cx="4850592" cy="561080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B3D9555-B73F-21EF-4AE8-BACC40F19963}"/>
              </a:ext>
            </a:extLst>
          </p:cNvPr>
          <p:cNvSpPr txBox="1"/>
          <p:nvPr/>
        </p:nvSpPr>
        <p:spPr>
          <a:xfrm>
            <a:off x="3515096" y="6274978"/>
            <a:ext cx="83532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Pooresmaeil</a:t>
            </a: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et al. (2025) </a:t>
            </a:r>
            <a:r>
              <a:rPr lang="en-US" sz="1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Pivotal Role of miRNA–lncRNA Interactions in Human Diseases</a:t>
            </a: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Figure 1</a:t>
            </a:r>
          </a:p>
        </p:txBody>
      </p:sp>
    </p:spTree>
    <p:extLst>
      <p:ext uri="{BB962C8B-B14F-4D97-AF65-F5344CB8AC3E}">
        <p14:creationId xmlns:p14="http://schemas.microsoft.com/office/powerpoint/2010/main" val="756833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22F51-CF05-1B8A-97BB-D7B3326EF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9BC89-A8F2-E9E2-E680-FF3FDA340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519" y="1860359"/>
            <a:ext cx="3606369" cy="2426579"/>
          </a:xfrm>
        </p:spPr>
        <p:txBody>
          <a:bodyPr anchor="ctr">
            <a:noAutofit/>
          </a:bodyPr>
          <a:lstStyle/>
          <a:p>
            <a:pPr algn="r"/>
            <a:r>
              <a:rPr lang="en-US" sz="4400" dirty="0">
                <a:latin typeface="Crimson Pro Medium" pitchFamily="2" charset="77"/>
              </a:rPr>
              <a:t>Reported LMIs in Disease</a:t>
            </a:r>
            <a:endParaRPr lang="en-US" sz="4400" dirty="0">
              <a:effectLst/>
              <a:latin typeface="Crimson Pro Medium" pitchFamily="2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3BFE06-52AE-9737-40FB-679728BD24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5550" y="213751"/>
            <a:ext cx="7684172" cy="571979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BEE304D-D373-22B6-554E-4D862C786611}"/>
              </a:ext>
            </a:extLst>
          </p:cNvPr>
          <p:cNvSpPr txBox="1"/>
          <p:nvPr/>
        </p:nvSpPr>
        <p:spPr>
          <a:xfrm>
            <a:off x="3515096" y="6274978"/>
            <a:ext cx="83532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Pooresmaeil</a:t>
            </a: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et al. (2025) </a:t>
            </a:r>
            <a:r>
              <a:rPr lang="en-US" sz="1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Pivotal Role of miRNA–lncRNA Interactions in Human Diseases</a:t>
            </a: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Figure 2</a:t>
            </a:r>
          </a:p>
        </p:txBody>
      </p:sp>
    </p:spTree>
    <p:extLst>
      <p:ext uri="{BB962C8B-B14F-4D97-AF65-F5344CB8AC3E}">
        <p14:creationId xmlns:p14="http://schemas.microsoft.com/office/powerpoint/2010/main" val="15867994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13ECF-BA08-2B49-2427-B87BDB18E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6595D-2EFF-DE63-232E-1089CBB77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71" y="213751"/>
            <a:ext cx="10666843" cy="727405"/>
          </a:xfrm>
        </p:spPr>
        <p:txBody>
          <a:bodyPr anchor="ctr">
            <a:noAutofit/>
          </a:bodyPr>
          <a:lstStyle/>
          <a:p>
            <a:r>
              <a:rPr lang="en-US" sz="4400" dirty="0">
                <a:latin typeface="Crimson Pro Medium" pitchFamily="2" charset="77"/>
              </a:rPr>
              <a:t>Reported LMIs in Disease (cont.)</a:t>
            </a:r>
            <a:endParaRPr lang="en-US" sz="4400" dirty="0">
              <a:effectLst/>
              <a:latin typeface="Crimson Pro Medium" pitchFamily="2" charset="77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F8F9B4-21CA-2C5E-B69F-ECEDC28F5C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09"/>
          <a:stretch>
            <a:fillRect/>
          </a:stretch>
        </p:blipFill>
        <p:spPr>
          <a:xfrm>
            <a:off x="1510809" y="941156"/>
            <a:ext cx="9170382" cy="495867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DFB6302-362F-3401-B1C2-09EC1C5F5B52}"/>
              </a:ext>
            </a:extLst>
          </p:cNvPr>
          <p:cNvSpPr txBox="1"/>
          <p:nvPr/>
        </p:nvSpPr>
        <p:spPr>
          <a:xfrm>
            <a:off x="4805465" y="6156749"/>
            <a:ext cx="72380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Singh et al. (2025</a:t>
            </a:r>
            <a:r>
              <a:rPr lang="en-US" sz="1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 Emerging landscape of lncRNA-miRNA interactions as architects of gene expression patterns</a:t>
            </a: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Table 3 (first 10 entries)</a:t>
            </a:r>
          </a:p>
        </p:txBody>
      </p:sp>
    </p:spTree>
    <p:extLst>
      <p:ext uri="{BB962C8B-B14F-4D97-AF65-F5344CB8AC3E}">
        <p14:creationId xmlns:p14="http://schemas.microsoft.com/office/powerpoint/2010/main" val="10405502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536F5-17D7-B656-39E7-FAE674580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5EC713-66BC-4478-DE41-5C9BF8558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5569" y="1926381"/>
            <a:ext cx="8180862" cy="2125578"/>
          </a:xfrm>
        </p:spPr>
        <p:txBody>
          <a:bodyPr>
            <a:noAutofit/>
          </a:bodyPr>
          <a:lstStyle/>
          <a:p>
            <a:pPr marL="1028700" indent="-10287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UcPeriod" startAt="3"/>
            </a:pPr>
            <a:r>
              <a:rPr lang="en-US" sz="5400" dirty="0">
                <a:latin typeface="Crimson Pro Medium" pitchFamily="2" charset="77"/>
                <a:cs typeface="Arial" panose="020B0604020202020204" pitchFamily="34" charset="0"/>
              </a:rPr>
              <a:t>Existing LMI-associated computational methods.</a:t>
            </a:r>
          </a:p>
        </p:txBody>
      </p:sp>
    </p:spTree>
    <p:extLst>
      <p:ext uri="{BB962C8B-B14F-4D97-AF65-F5344CB8AC3E}">
        <p14:creationId xmlns:p14="http://schemas.microsoft.com/office/powerpoint/2010/main" val="4034137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8108F-0410-7700-7078-1650F3E2D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7E02D-CABA-1AF2-FDDA-5C4F728FA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841" y="244468"/>
            <a:ext cx="3698645" cy="727405"/>
          </a:xfrm>
        </p:spPr>
        <p:txBody>
          <a:bodyPr anchor="ctr">
            <a:normAutofit/>
          </a:bodyPr>
          <a:lstStyle/>
          <a:p>
            <a:r>
              <a:rPr lang="en-US" sz="4400" dirty="0">
                <a:effectLst/>
                <a:latin typeface="Crimson Pro Medium" pitchFamily="2" charset="77"/>
              </a:rPr>
              <a:t>LMI Databases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C7AED7-BCF7-0B59-61EF-3F2593D65D16}"/>
              </a:ext>
            </a:extLst>
          </p:cNvPr>
          <p:cNvSpPr txBox="1"/>
          <p:nvPr/>
        </p:nvSpPr>
        <p:spPr>
          <a:xfrm>
            <a:off x="238841" y="1166842"/>
            <a:ext cx="448445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Montserrat" pitchFamily="2" charset="77"/>
              </a:rPr>
              <a:t>Updated LnCeCell v2.0</a:t>
            </a:r>
            <a:r>
              <a:rPr lang="en-US" sz="2400" dirty="0">
                <a:latin typeface="Montserrat" pitchFamily="2" charset="77"/>
              </a:rPr>
              <a:t>: </a:t>
            </a:r>
            <a:r>
              <a:rPr lang="en-US" sz="2400" dirty="0">
                <a:solidFill>
                  <a:srgbClr val="FF0000"/>
                </a:solidFill>
                <a:latin typeface="Montserrat" pitchFamily="2" charset="77"/>
              </a:rPr>
              <a:t>lncRNA-associated ceRNA networks </a:t>
            </a:r>
            <a:r>
              <a:rPr lang="en-US" sz="2400" dirty="0">
                <a:latin typeface="Montserrat" pitchFamily="2" charset="77"/>
              </a:rPr>
              <a:t>and web tools based on single-cell and spatial transcriptomics sequencing data</a:t>
            </a:r>
          </a:p>
          <a:p>
            <a:endParaRPr lang="en-US" sz="2400" dirty="0">
              <a:latin typeface="Montserrat" pitchFamily="2" charset="77"/>
            </a:endParaRPr>
          </a:p>
          <a:p>
            <a:r>
              <a:rPr lang="en-US" sz="2400" b="1" dirty="0">
                <a:latin typeface="Montserrat" pitchFamily="2" charset="77"/>
              </a:rPr>
              <a:t>starBase v2.0</a:t>
            </a:r>
            <a:r>
              <a:rPr lang="en-US" sz="2400" dirty="0">
                <a:latin typeface="Montserrat" pitchFamily="2" charset="77"/>
              </a:rPr>
              <a:t>: </a:t>
            </a:r>
            <a:r>
              <a:rPr lang="en-US" sz="2400" dirty="0">
                <a:solidFill>
                  <a:srgbClr val="FF0000"/>
                </a:solidFill>
                <a:latin typeface="Montserrat" pitchFamily="2" charset="77"/>
              </a:rPr>
              <a:t>RNA-RNA and RNA-protein networks </a:t>
            </a:r>
            <a:r>
              <a:rPr lang="en-US" sz="2400" dirty="0">
                <a:latin typeface="Montserrat" pitchFamily="2" charset="77"/>
              </a:rPr>
              <a:t>based on CLIP-seq datasets</a:t>
            </a:r>
          </a:p>
          <a:p>
            <a:endParaRPr lang="en-US" sz="2400" dirty="0">
              <a:latin typeface="Montserrat" pitchFamily="2" charset="77"/>
            </a:endParaRPr>
          </a:p>
          <a:p>
            <a:r>
              <a:rPr lang="en-US" sz="2400" i="1" dirty="0">
                <a:latin typeface="Montserrat" pitchFamily="2" charset="77"/>
                <a:hlinkClick r:id="rId3"/>
              </a:rPr>
              <a:t>And so many more…</a:t>
            </a:r>
            <a:endParaRPr lang="en-US" sz="2400" i="1" dirty="0">
              <a:latin typeface="Montserrat" pitchFamily="2" charset="77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682D245-46F2-77B6-3114-E392218FF3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9789" y="34079"/>
            <a:ext cx="7023370" cy="584174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A69F10B-F8A2-F0AA-B1DE-C38B2CFCFF88}"/>
              </a:ext>
            </a:extLst>
          </p:cNvPr>
          <p:cNvSpPr txBox="1"/>
          <p:nvPr/>
        </p:nvSpPr>
        <p:spPr>
          <a:xfrm>
            <a:off x="3515096" y="6274978"/>
            <a:ext cx="83532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Pooresmaeil</a:t>
            </a: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et al. (2025) </a:t>
            </a:r>
            <a:r>
              <a:rPr lang="en-US" sz="1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Pivotal Role of miRNA–lncRNA Interactions in Human Diseases</a:t>
            </a: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Table 1</a:t>
            </a:r>
          </a:p>
        </p:txBody>
      </p:sp>
    </p:spTree>
    <p:extLst>
      <p:ext uri="{BB962C8B-B14F-4D97-AF65-F5344CB8AC3E}">
        <p14:creationId xmlns:p14="http://schemas.microsoft.com/office/powerpoint/2010/main" val="18253963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1872D-DE25-DBEE-8C0E-A50D19607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EC6BF-332A-EC84-7FC6-2F8D18A71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574" y="393823"/>
            <a:ext cx="10615491" cy="727405"/>
          </a:xfrm>
        </p:spPr>
        <p:txBody>
          <a:bodyPr anchor="ctr">
            <a:normAutofit/>
          </a:bodyPr>
          <a:lstStyle/>
          <a:p>
            <a:r>
              <a:rPr lang="en-US" sz="4400" dirty="0">
                <a:effectLst/>
                <a:latin typeface="Crimson Pro Medium" pitchFamily="2" charset="77"/>
              </a:rPr>
              <a:t>Interaction Prediction </a:t>
            </a:r>
            <a:r>
              <a:rPr lang="en-US" sz="3200" i="1" dirty="0">
                <a:effectLst/>
                <a:latin typeface="Crimson Pro Medium" pitchFamily="2" charset="77"/>
              </a:rPr>
              <a:t>(EX: </a:t>
            </a:r>
            <a:r>
              <a:rPr lang="en-US" sz="3200" i="1" dirty="0" err="1">
                <a:effectLst/>
                <a:latin typeface="Crimson Pro Medium" pitchFamily="2" charset="77"/>
                <a:hlinkClick r:id="rId3"/>
              </a:rPr>
              <a:t>miRInter</a:t>
            </a:r>
            <a:r>
              <a:rPr lang="en-US" sz="3200" i="1" dirty="0">
                <a:effectLst/>
                <a:latin typeface="Crimson Pro Medium" pitchFamily="2" charset="77"/>
                <a:hlinkClick r:id="rId3"/>
              </a:rPr>
              <a:t>-Trans</a:t>
            </a:r>
            <a:r>
              <a:rPr lang="en-US" sz="3200" i="1" dirty="0">
                <a:effectLst/>
                <a:latin typeface="Crimson Pro Medium" pitchFamily="2" charset="77"/>
              </a:rPr>
              <a:t>)</a:t>
            </a:r>
            <a:endParaRPr lang="en-US" sz="4400" i="1" dirty="0">
              <a:effectLst/>
              <a:latin typeface="Crimson Pro Medium" pitchFamily="2" charset="77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1A5725C-A3D5-2954-DC60-998EA0F0F4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574" y="1121228"/>
            <a:ext cx="10289232" cy="470066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sz="2400" b="1" dirty="0">
                <a:latin typeface="Montserrat" pitchFamily="2" charset="77"/>
              </a:rPr>
              <a:t>Goal: </a:t>
            </a:r>
            <a:r>
              <a:rPr lang="en-US" sz="2400" dirty="0">
                <a:latin typeface="Montserrat" pitchFamily="2" charset="77"/>
              </a:rPr>
              <a:t>Predict novel lncRNA-miRNA interactions (LMIs)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7E6692-04F4-61D7-F299-B8452A0D44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2345" y="1591294"/>
            <a:ext cx="8807309" cy="41708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28F07B2-38C2-63A9-8D1D-960CC0D07649}"/>
              </a:ext>
            </a:extLst>
          </p:cNvPr>
          <p:cNvSpPr txBox="1"/>
          <p:nvPr/>
        </p:nvSpPr>
        <p:spPr>
          <a:xfrm>
            <a:off x="5116747" y="6171789"/>
            <a:ext cx="68683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Sheng et al. (2023) </a:t>
            </a:r>
            <a:r>
              <a:rPr lang="en-US" sz="1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Survey of Computational Methods and Databases for lncRNA-MiRNA Interaction Prediction</a:t>
            </a: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Figure 1</a:t>
            </a:r>
          </a:p>
        </p:txBody>
      </p:sp>
    </p:spTree>
    <p:extLst>
      <p:ext uri="{BB962C8B-B14F-4D97-AF65-F5344CB8AC3E}">
        <p14:creationId xmlns:p14="http://schemas.microsoft.com/office/powerpoint/2010/main" val="7884439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DAEAF-FCA5-65E2-E790-1C2B26F7C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E4548-A1E7-BF64-F1CE-E502320CF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574" y="393823"/>
            <a:ext cx="10615491" cy="727405"/>
          </a:xfrm>
        </p:spPr>
        <p:txBody>
          <a:bodyPr anchor="ctr">
            <a:normAutofit/>
          </a:bodyPr>
          <a:lstStyle/>
          <a:p>
            <a:r>
              <a:rPr lang="en-US" sz="4400" dirty="0">
                <a:effectLst/>
                <a:latin typeface="Crimson Pro Medium" pitchFamily="2" charset="77"/>
              </a:rPr>
              <a:t>ceRNA Network </a:t>
            </a:r>
            <a:r>
              <a:rPr lang="en-US" sz="4400" dirty="0">
                <a:latin typeface="Crimson Pro Medium" pitchFamily="2" charset="77"/>
              </a:rPr>
              <a:t>C</a:t>
            </a:r>
            <a:r>
              <a:rPr lang="en-US" sz="4400" dirty="0">
                <a:effectLst/>
                <a:latin typeface="Crimson Pro Medium" pitchFamily="2" charset="77"/>
              </a:rPr>
              <a:t>onstruction </a:t>
            </a:r>
            <a:r>
              <a:rPr lang="en-US" sz="3200" i="1" dirty="0">
                <a:latin typeface="Crimson Pro Medium" pitchFamily="2" charset="77"/>
              </a:rPr>
              <a:t>(EX: </a:t>
            </a:r>
            <a:r>
              <a:rPr lang="en-US" sz="3200" i="1" dirty="0" err="1">
                <a:latin typeface="Crimson Pro Medium" pitchFamily="2" charset="77"/>
                <a:hlinkClick r:id="rId3"/>
              </a:rPr>
              <a:t>miRTarBase</a:t>
            </a:r>
            <a:r>
              <a:rPr lang="en-US" sz="3200" i="1" dirty="0">
                <a:latin typeface="Crimson Pro Medium" pitchFamily="2" charset="77"/>
              </a:rPr>
              <a:t>)</a:t>
            </a:r>
            <a:endParaRPr lang="en-US" sz="4400" dirty="0">
              <a:effectLst/>
              <a:latin typeface="Crimson Pro Medium" pitchFamily="2" charset="77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C3D866A-D1D3-C980-9554-5D744B248C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574" y="1234042"/>
            <a:ext cx="10162094" cy="974767"/>
          </a:xfrm>
        </p:spPr>
        <p:txBody>
          <a:bodyPr>
            <a:normAutofit/>
          </a:bodyPr>
          <a:lstStyle/>
          <a:p>
            <a:pPr marL="0" indent="0" fontAlgn="base">
              <a:lnSpc>
                <a:spcPct val="125000"/>
              </a:lnSpc>
              <a:buNone/>
            </a:pPr>
            <a:r>
              <a:rPr lang="en-US" sz="2400" b="1" dirty="0">
                <a:latin typeface="Montserrat" pitchFamily="2" charset="77"/>
              </a:rPr>
              <a:t>Goal: </a:t>
            </a:r>
            <a:r>
              <a:rPr lang="en-US" sz="2400" dirty="0">
                <a:latin typeface="Montserrat" pitchFamily="2" charset="77"/>
              </a:rPr>
              <a:t>Infer physiologically associated full lncRNA-miRNA-mRNA regulatory networks.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DFD819F-9D55-2FF0-D7F8-254145B60A52}"/>
              </a:ext>
            </a:extLst>
          </p:cNvPr>
          <p:cNvSpPr txBox="1">
            <a:spLocks/>
          </p:cNvSpPr>
          <p:nvPr/>
        </p:nvSpPr>
        <p:spPr>
          <a:xfrm>
            <a:off x="537574" y="2287150"/>
            <a:ext cx="10615491" cy="7274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sz="4400" dirty="0">
                <a:latin typeface="Crimson Pro Medium" pitchFamily="2" charset="77"/>
              </a:rPr>
              <a:t>Biomarker Discovery</a:t>
            </a:r>
            <a:r>
              <a:rPr lang="en-US" sz="4400" i="1" dirty="0">
                <a:latin typeface="Crimson Pro Medium" pitchFamily="2" charset="77"/>
              </a:rPr>
              <a:t> </a:t>
            </a:r>
            <a:r>
              <a:rPr lang="en-US" sz="3200" i="1" dirty="0">
                <a:latin typeface="Crimson Pro Medium" pitchFamily="2" charset="77"/>
              </a:rPr>
              <a:t>(EX: </a:t>
            </a:r>
            <a:r>
              <a:rPr lang="en-US" sz="3200" i="1" dirty="0">
                <a:latin typeface="Crimson Pro Medium" pitchFamily="2" charset="77"/>
                <a:hlinkClick r:id="rId4"/>
              </a:rPr>
              <a:t>CERDA-HOSR</a:t>
            </a:r>
            <a:r>
              <a:rPr lang="en-US" sz="3200" i="1" dirty="0">
                <a:latin typeface="Crimson Pro Medium" pitchFamily="2" charset="77"/>
              </a:rPr>
              <a:t>)</a:t>
            </a:r>
            <a:endParaRPr lang="en-US" sz="4400" dirty="0">
              <a:latin typeface="Crimson Pro Medium" pitchFamily="2" charset="77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0C9245D-A2DC-6B39-3478-F6A2E6DFB6A3}"/>
              </a:ext>
            </a:extLst>
          </p:cNvPr>
          <p:cNvSpPr txBox="1">
            <a:spLocks/>
          </p:cNvSpPr>
          <p:nvPr/>
        </p:nvSpPr>
        <p:spPr>
          <a:xfrm>
            <a:off x="537574" y="3127370"/>
            <a:ext cx="10162094" cy="5145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en-US" sz="2400" b="1" dirty="0">
                <a:latin typeface="Montserrat" pitchFamily="2" charset="77"/>
              </a:rPr>
              <a:t>Goal: </a:t>
            </a:r>
            <a:r>
              <a:rPr lang="en-US" sz="2400" dirty="0">
                <a:latin typeface="Montserrat" pitchFamily="2" charset="77"/>
              </a:rPr>
              <a:t>Identify ncRNA that serve as biomarkers.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16AD182D-8FE9-E350-098C-5A6BF88A3116}"/>
              </a:ext>
            </a:extLst>
          </p:cNvPr>
          <p:cNvSpPr txBox="1">
            <a:spLocks/>
          </p:cNvSpPr>
          <p:nvPr/>
        </p:nvSpPr>
        <p:spPr>
          <a:xfrm>
            <a:off x="537574" y="3754703"/>
            <a:ext cx="10740026" cy="7274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sz="4400" dirty="0">
                <a:latin typeface="Crimson Pro Medium" pitchFamily="2" charset="77"/>
              </a:rPr>
              <a:t>Patient Stratification </a:t>
            </a:r>
            <a:r>
              <a:rPr lang="en-US" sz="3200" i="1" dirty="0">
                <a:latin typeface="Crimson Pro Medium" pitchFamily="2" charset="77"/>
              </a:rPr>
              <a:t>(EX: </a:t>
            </a:r>
            <a:r>
              <a:rPr lang="en-US" sz="3200" i="1" dirty="0">
                <a:latin typeface="Crimson Pro Medium" pitchFamily="2" charset="77"/>
                <a:hlinkClick r:id="rId5"/>
              </a:rPr>
              <a:t>Liu et al. Radiotherapy Model</a:t>
            </a:r>
            <a:r>
              <a:rPr lang="en-US" sz="3200" i="1" dirty="0">
                <a:latin typeface="Crimson Pro Medium" pitchFamily="2" charset="77"/>
              </a:rPr>
              <a:t>)</a:t>
            </a:r>
            <a:endParaRPr lang="en-US" sz="4400" dirty="0">
              <a:latin typeface="Crimson Pro Medium" pitchFamily="2" charset="77"/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A7D3B021-F51F-214F-DBDE-48D481AB6888}"/>
              </a:ext>
            </a:extLst>
          </p:cNvPr>
          <p:cNvSpPr txBox="1">
            <a:spLocks/>
          </p:cNvSpPr>
          <p:nvPr/>
        </p:nvSpPr>
        <p:spPr>
          <a:xfrm>
            <a:off x="537574" y="4594924"/>
            <a:ext cx="10162094" cy="10290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lnSpc>
                <a:spcPct val="125000"/>
              </a:lnSpc>
              <a:buNone/>
            </a:pPr>
            <a:r>
              <a:rPr lang="en-US" sz="2400" b="1" dirty="0">
                <a:latin typeface="Montserrat" pitchFamily="2" charset="77"/>
              </a:rPr>
              <a:t>Goal: </a:t>
            </a:r>
            <a:r>
              <a:rPr lang="en-US" sz="2400" dirty="0">
                <a:latin typeface="Montserrat" pitchFamily="2" charset="77"/>
              </a:rPr>
              <a:t>Predict prognosis, recurrence, therapeutic response, or disease subtype.</a:t>
            </a:r>
          </a:p>
        </p:txBody>
      </p:sp>
    </p:spTree>
    <p:extLst>
      <p:ext uri="{BB962C8B-B14F-4D97-AF65-F5344CB8AC3E}">
        <p14:creationId xmlns:p14="http://schemas.microsoft.com/office/powerpoint/2010/main" val="3434263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85AFD-800E-AFEC-03E9-553865725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3A487-9735-B2DD-69A5-A929173F3A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5369" y="2490624"/>
            <a:ext cx="6301262" cy="1116176"/>
          </a:xfrm>
        </p:spPr>
        <p:txBody>
          <a:bodyPr>
            <a:noAutofit/>
          </a:bodyPr>
          <a:lstStyle/>
          <a:p>
            <a:pPr marL="1028700" indent="-1028700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UcPeriod" startAt="4"/>
            </a:pPr>
            <a:r>
              <a:rPr lang="en-US" sz="5400" dirty="0">
                <a:latin typeface="Crimson Pro Medium" pitchFamily="2" charset="77"/>
                <a:cs typeface="Arial" panose="020B0604020202020204" pitchFamily="34" charset="0"/>
              </a:rPr>
              <a:t>Future directions.</a:t>
            </a:r>
          </a:p>
        </p:txBody>
      </p:sp>
    </p:spTree>
    <p:extLst>
      <p:ext uri="{BB962C8B-B14F-4D97-AF65-F5344CB8AC3E}">
        <p14:creationId xmlns:p14="http://schemas.microsoft.com/office/powerpoint/2010/main" val="12541305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52106-BCD7-E200-8136-42DB3C655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E83E2-0600-947C-E8B4-79E477923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593" y="270160"/>
            <a:ext cx="10515600" cy="727405"/>
          </a:xfrm>
        </p:spPr>
        <p:txBody>
          <a:bodyPr anchor="ctr">
            <a:normAutofit/>
          </a:bodyPr>
          <a:lstStyle/>
          <a:p>
            <a:r>
              <a:rPr lang="en-US" sz="4400" dirty="0">
                <a:latin typeface="Crimson Pro Medium" pitchFamily="2" charset="77"/>
              </a:rPr>
              <a:t>Future Directions</a:t>
            </a:r>
            <a:endParaRPr lang="en-US" sz="4400" dirty="0">
              <a:effectLst/>
              <a:latin typeface="Crimson Pro Medium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94DC2A-23B7-2C06-6D8D-30B14DDDCB25}"/>
              </a:ext>
            </a:extLst>
          </p:cNvPr>
          <p:cNvSpPr txBox="1"/>
          <p:nvPr/>
        </p:nvSpPr>
        <p:spPr>
          <a:xfrm>
            <a:off x="838200" y="1056979"/>
            <a:ext cx="10835244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US" sz="2800" b="1" dirty="0">
                <a:latin typeface="Montserrat" pitchFamily="2" charset="77"/>
              </a:rPr>
              <a:t>Current trends </a:t>
            </a:r>
            <a:r>
              <a:rPr lang="en-US" sz="2800" dirty="0">
                <a:latin typeface="Montserrat" pitchFamily="2" charset="77"/>
              </a:rPr>
              <a:t>of computational ncRNA research: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sz="2800" dirty="0">
                <a:latin typeface="Montserrat" pitchFamily="2" charset="77"/>
              </a:rPr>
              <a:t>Multi-omics integration.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sz="2800" i="1" dirty="0">
                <a:latin typeface="Montserrat" pitchFamily="2" charset="77"/>
              </a:rPr>
              <a:t>De novo </a:t>
            </a:r>
            <a:r>
              <a:rPr lang="en-US" sz="2800" dirty="0">
                <a:latin typeface="Montserrat" pitchFamily="2" charset="77"/>
              </a:rPr>
              <a:t>interaction prediction.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sz="2800" dirty="0">
                <a:latin typeface="Montserrat" pitchFamily="2" charset="77"/>
              </a:rPr>
              <a:t>Begging for experimental validation :[</a:t>
            </a:r>
          </a:p>
          <a:p>
            <a:pPr lvl="1" fontAlgn="base"/>
            <a:endParaRPr lang="en-US" sz="800" dirty="0">
              <a:latin typeface="Montserrat" pitchFamily="2" charset="77"/>
            </a:endParaRPr>
          </a:p>
          <a:p>
            <a:pPr fontAlgn="base"/>
            <a:r>
              <a:rPr lang="en-US" sz="2800" b="1" dirty="0">
                <a:latin typeface="Montserrat" pitchFamily="2" charset="77"/>
              </a:rPr>
              <a:t>Hypothetical Projects: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800" dirty="0">
                <a:latin typeface="Montserrat" pitchFamily="2" charset="77"/>
              </a:rPr>
              <a:t>Further investigate threshold patterns in ceRNA network expression.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sz="2800" dirty="0">
                <a:latin typeface="Montserrat" pitchFamily="2" charset="77"/>
              </a:rPr>
              <a:t>NS-Forest implementation with ncRNA: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sz="2800" dirty="0">
                <a:latin typeface="Montserrat" pitchFamily="2" charset="77"/>
              </a:rPr>
              <a:t>ceRNA network co-expression as biomarkers.</a:t>
            </a:r>
          </a:p>
          <a:p>
            <a:pPr marL="742950" lvl="1" indent="-285750" fontAlgn="base">
              <a:buFont typeface="Arial" panose="020B0604020202020204" pitchFamily="34" charset="0"/>
              <a:buChar char="•"/>
            </a:pPr>
            <a:r>
              <a:rPr lang="en-US" sz="2800" dirty="0">
                <a:latin typeface="Montserrat" pitchFamily="2" charset="77"/>
              </a:rPr>
              <a:t>How effective is ncRNA (or specifically lncRNA) as biomarkers? Across organs? Across development?</a:t>
            </a:r>
          </a:p>
        </p:txBody>
      </p:sp>
    </p:spTree>
    <p:extLst>
      <p:ext uri="{BB962C8B-B14F-4D97-AF65-F5344CB8AC3E}">
        <p14:creationId xmlns:p14="http://schemas.microsoft.com/office/powerpoint/2010/main" val="30858543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C9C8F-A93C-2180-1FDC-A82ABE8A7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289542"/>
            <a:ext cx="10515600" cy="727405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Crimson Pro Medium" pitchFamily="2" charset="77"/>
              </a:rPr>
              <a:t>Bibliography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18FEC-DC35-4BB4-4CEB-DA979AB9DB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250" y="1016947"/>
            <a:ext cx="11239500" cy="4913952"/>
          </a:xfrm>
        </p:spPr>
        <p:txBody>
          <a:bodyPr numCol="2" spcCol="457200">
            <a:noAutofit/>
          </a:bodyPr>
          <a:lstStyle/>
          <a:p>
            <a:pPr indent="-457200">
              <a:buNone/>
            </a:pPr>
            <a:r>
              <a:rPr lang="en-US" sz="1100" dirty="0">
                <a:latin typeface="Montserrat" pitchFamily="2" charset="77"/>
              </a:rPr>
              <a:t>Chai Z, Su Y, Tian X </a:t>
            </a:r>
            <a:r>
              <a:rPr lang="en-US" sz="1100" i="1" dirty="0">
                <a:latin typeface="Montserrat" pitchFamily="2" charset="77"/>
              </a:rPr>
              <a:t>et al.</a:t>
            </a:r>
            <a:r>
              <a:rPr lang="en-US" sz="1100" dirty="0">
                <a:latin typeface="Montserrat" pitchFamily="2" charset="77"/>
              </a:rPr>
              <a:t> </a:t>
            </a:r>
            <a:r>
              <a:rPr lang="en-US" sz="1100" b="1" dirty="0">
                <a:latin typeface="Montserrat" pitchFamily="2" charset="77"/>
              </a:rPr>
              <a:t>Predicting disease associations based on the higher order structure of ceRNA networks</a:t>
            </a:r>
            <a:r>
              <a:rPr lang="en-US" sz="1100" dirty="0">
                <a:latin typeface="Montserrat" pitchFamily="2" charset="77"/>
              </a:rPr>
              <a:t>. </a:t>
            </a:r>
            <a:r>
              <a:rPr lang="en-US" sz="1100" i="1" dirty="0">
                <a:latin typeface="Montserrat" pitchFamily="2" charset="77"/>
              </a:rPr>
              <a:t>Brief </a:t>
            </a:r>
            <a:r>
              <a:rPr lang="en-US" sz="1100" i="1" dirty="0" err="1">
                <a:latin typeface="Montserrat" pitchFamily="2" charset="77"/>
              </a:rPr>
              <a:t>Bioinform</a:t>
            </a:r>
            <a:r>
              <a:rPr lang="en-US" sz="1100" dirty="0">
                <a:latin typeface="Montserrat" pitchFamily="2" charset="77"/>
              </a:rPr>
              <a:t> 2025;26(5):bbaf518. </a:t>
            </a:r>
            <a:r>
              <a:rPr lang="en-US" sz="1100" dirty="0">
                <a:latin typeface="Montserrat" pitchFamily="2" charset="77"/>
                <a:hlinkClick r:id="rId2"/>
              </a:rPr>
              <a:t>https://doi.org/10.1093/bib/bbaf518</a:t>
            </a:r>
            <a:r>
              <a:rPr lang="en-US" sz="1100" dirty="0">
                <a:latin typeface="Montserrat" pitchFamily="2" charset="77"/>
              </a:rPr>
              <a:t>.</a:t>
            </a:r>
          </a:p>
          <a:p>
            <a:pPr indent="-457200">
              <a:buNone/>
            </a:pPr>
            <a:r>
              <a:rPr lang="en-US" sz="1100" dirty="0">
                <a:latin typeface="Montserrat" pitchFamily="2" charset="77"/>
              </a:rPr>
              <a:t>Chen LL, Kim VN. </a:t>
            </a:r>
            <a:r>
              <a:rPr lang="en-US" sz="1100" b="1" dirty="0">
                <a:latin typeface="Montserrat" pitchFamily="2" charset="77"/>
              </a:rPr>
              <a:t>Small and long non-coding RNAs: Past, present, and future</a:t>
            </a:r>
            <a:r>
              <a:rPr lang="en-US" sz="1100" dirty="0">
                <a:latin typeface="Montserrat" pitchFamily="2" charset="77"/>
              </a:rPr>
              <a:t>. </a:t>
            </a:r>
            <a:r>
              <a:rPr lang="en-US" sz="1100" i="1" dirty="0">
                <a:latin typeface="Montserrat" pitchFamily="2" charset="77"/>
              </a:rPr>
              <a:t>Cell</a:t>
            </a:r>
            <a:r>
              <a:rPr lang="en-US" sz="1100" dirty="0">
                <a:latin typeface="Montserrat" pitchFamily="2" charset="77"/>
              </a:rPr>
              <a:t> 2024;187(23):6451–85. </a:t>
            </a:r>
            <a:r>
              <a:rPr lang="en-US" sz="1100" dirty="0">
                <a:latin typeface="Montserrat" pitchFamily="2" charset="77"/>
                <a:hlinkClick r:id="rId3"/>
              </a:rPr>
              <a:t>https://doi.org/10.1016/j.cell.2024.10.024</a:t>
            </a:r>
            <a:r>
              <a:rPr lang="en-US" sz="1100" dirty="0">
                <a:latin typeface="Montserrat" pitchFamily="2" charset="77"/>
              </a:rPr>
              <a:t>.</a:t>
            </a:r>
          </a:p>
          <a:p>
            <a:pPr indent="-457200">
              <a:buNone/>
            </a:pPr>
            <a:r>
              <a:rPr lang="en-US" sz="1100" dirty="0">
                <a:latin typeface="Montserrat" pitchFamily="2" charset="77"/>
              </a:rPr>
              <a:t>Cui S, Yu S, Huang HY </a:t>
            </a:r>
            <a:r>
              <a:rPr lang="en-US" sz="1100" i="1" dirty="0">
                <a:latin typeface="Montserrat" pitchFamily="2" charset="77"/>
              </a:rPr>
              <a:t>et al.</a:t>
            </a:r>
            <a:r>
              <a:rPr lang="en-US" sz="1100" dirty="0">
                <a:latin typeface="Montserrat" pitchFamily="2" charset="77"/>
              </a:rPr>
              <a:t> </a:t>
            </a:r>
            <a:r>
              <a:rPr lang="en-US" sz="1100" b="1" dirty="0" err="1">
                <a:latin typeface="Montserrat" pitchFamily="2" charset="77"/>
              </a:rPr>
              <a:t>miRTarBase</a:t>
            </a:r>
            <a:r>
              <a:rPr lang="en-US" sz="1100" b="1" dirty="0">
                <a:latin typeface="Montserrat" pitchFamily="2" charset="77"/>
              </a:rPr>
              <a:t> 2025: updates to the collection of experimentally validated microRNA–target interactions</a:t>
            </a:r>
            <a:r>
              <a:rPr lang="en-US" sz="1100" dirty="0">
                <a:latin typeface="Montserrat" pitchFamily="2" charset="77"/>
              </a:rPr>
              <a:t>. </a:t>
            </a:r>
            <a:r>
              <a:rPr lang="en-US" sz="1100" i="1" dirty="0">
                <a:latin typeface="Montserrat" pitchFamily="2" charset="77"/>
              </a:rPr>
              <a:t>Nucleic Acids Res</a:t>
            </a:r>
            <a:r>
              <a:rPr lang="en-US" sz="1100" dirty="0">
                <a:latin typeface="Montserrat" pitchFamily="2" charset="77"/>
              </a:rPr>
              <a:t> 2025;53(D1):D147–56. </a:t>
            </a:r>
            <a:r>
              <a:rPr lang="en-US" sz="1100" dirty="0">
                <a:latin typeface="Montserrat" pitchFamily="2" charset="77"/>
                <a:hlinkClick r:id="rId4"/>
              </a:rPr>
              <a:t>https://doi.org/10.1093/nar/gkae1072</a:t>
            </a:r>
            <a:r>
              <a:rPr lang="en-US" sz="1100" dirty="0">
                <a:latin typeface="Montserrat" pitchFamily="2" charset="77"/>
              </a:rPr>
              <a:t>.</a:t>
            </a:r>
          </a:p>
          <a:p>
            <a:pPr indent="-457200">
              <a:buNone/>
            </a:pPr>
            <a:r>
              <a:rPr lang="en-US" sz="1100" dirty="0">
                <a:latin typeface="Montserrat" pitchFamily="2" charset="77"/>
              </a:rPr>
              <a:t>Gao Y, Takenaka K, Xu SM </a:t>
            </a:r>
            <a:r>
              <a:rPr lang="en-US" sz="1100" i="1" dirty="0">
                <a:latin typeface="Montserrat" pitchFamily="2" charset="77"/>
              </a:rPr>
              <a:t>et al.</a:t>
            </a:r>
            <a:r>
              <a:rPr lang="en-US" sz="1100" dirty="0">
                <a:latin typeface="Montserrat" pitchFamily="2" charset="77"/>
              </a:rPr>
              <a:t> </a:t>
            </a:r>
            <a:r>
              <a:rPr lang="en-US" sz="1100" b="1" dirty="0">
                <a:latin typeface="Montserrat" pitchFamily="2" charset="77"/>
              </a:rPr>
              <a:t>Recent advances in investigation of </a:t>
            </a:r>
            <a:r>
              <a:rPr lang="en-US" sz="1100" b="1" dirty="0" err="1">
                <a:latin typeface="Montserrat" pitchFamily="2" charset="77"/>
              </a:rPr>
              <a:t>circRNA</a:t>
            </a:r>
            <a:r>
              <a:rPr lang="en-US" sz="1100" b="1" dirty="0">
                <a:latin typeface="Montserrat" pitchFamily="2" charset="77"/>
              </a:rPr>
              <a:t>/lncRNA-miRNA-mRNA networks through RNA sequencing data analysis</a:t>
            </a:r>
            <a:r>
              <a:rPr lang="en-US" sz="1100" dirty="0">
                <a:latin typeface="Montserrat" pitchFamily="2" charset="77"/>
              </a:rPr>
              <a:t>. </a:t>
            </a:r>
            <a:r>
              <a:rPr lang="en-US" sz="1100" i="1" dirty="0">
                <a:latin typeface="Montserrat" pitchFamily="2" charset="77"/>
              </a:rPr>
              <a:t>Brief </a:t>
            </a:r>
            <a:r>
              <a:rPr lang="en-US" sz="1100" i="1" dirty="0" err="1">
                <a:latin typeface="Montserrat" pitchFamily="2" charset="77"/>
              </a:rPr>
              <a:t>Funct</a:t>
            </a:r>
            <a:r>
              <a:rPr lang="en-US" sz="1100" i="1" dirty="0">
                <a:latin typeface="Montserrat" pitchFamily="2" charset="77"/>
              </a:rPr>
              <a:t> Genomics</a:t>
            </a:r>
            <a:r>
              <a:rPr lang="en-US" sz="1100" dirty="0">
                <a:latin typeface="Montserrat" pitchFamily="2" charset="77"/>
              </a:rPr>
              <a:t> 2025;24:elaf005. </a:t>
            </a:r>
            <a:r>
              <a:rPr lang="en-US" sz="1100" dirty="0">
                <a:latin typeface="Montserrat" pitchFamily="2" charset="77"/>
                <a:hlinkClick r:id="rId5"/>
              </a:rPr>
              <a:t>https://doi.org/10.1093/bfgp/elaf005</a:t>
            </a:r>
            <a:r>
              <a:rPr lang="en-US" sz="1100" dirty="0">
                <a:latin typeface="Montserrat" pitchFamily="2" charset="77"/>
              </a:rPr>
              <a:t>.</a:t>
            </a:r>
          </a:p>
          <a:p>
            <a:pPr indent="-457200">
              <a:buNone/>
            </a:pPr>
            <a:r>
              <a:rPr lang="en-US" sz="1100" dirty="0">
                <a:latin typeface="Montserrat" pitchFamily="2" charset="77"/>
              </a:rPr>
              <a:t>Guo Q, Liu Q, He D </a:t>
            </a:r>
            <a:r>
              <a:rPr lang="en-US" sz="1100" i="1" dirty="0">
                <a:latin typeface="Montserrat" pitchFamily="2" charset="77"/>
              </a:rPr>
              <a:t>et al.</a:t>
            </a:r>
            <a:r>
              <a:rPr lang="en-US" sz="1100" dirty="0">
                <a:latin typeface="Montserrat" pitchFamily="2" charset="77"/>
              </a:rPr>
              <a:t> </a:t>
            </a:r>
            <a:r>
              <a:rPr lang="en-US" sz="1100" b="1" dirty="0">
                <a:latin typeface="Montserrat" pitchFamily="2" charset="77"/>
              </a:rPr>
              <a:t>LnCeCell 2.0: an updated resource for lncRNA-associated ceRNA networks and web tools based on single-cell and spatial transcriptomics sequencing data</a:t>
            </a:r>
            <a:r>
              <a:rPr lang="en-US" sz="1100" dirty="0">
                <a:latin typeface="Montserrat" pitchFamily="2" charset="77"/>
              </a:rPr>
              <a:t>. </a:t>
            </a:r>
            <a:r>
              <a:rPr lang="en-US" sz="1100" i="1" dirty="0">
                <a:latin typeface="Montserrat" pitchFamily="2" charset="77"/>
              </a:rPr>
              <a:t>Nucleic Acids Res</a:t>
            </a:r>
            <a:r>
              <a:rPr lang="en-US" sz="1100" dirty="0">
                <a:latin typeface="Montserrat" pitchFamily="2" charset="77"/>
              </a:rPr>
              <a:t> 2025;53(D1):D107–15. </a:t>
            </a:r>
            <a:r>
              <a:rPr lang="en-US" sz="1100" dirty="0">
                <a:latin typeface="Montserrat" pitchFamily="2" charset="77"/>
                <a:hlinkClick r:id="rId6"/>
              </a:rPr>
              <a:t>https://doi.org/10.1093/nar/gkae947</a:t>
            </a:r>
            <a:r>
              <a:rPr lang="en-US" sz="1100" dirty="0">
                <a:latin typeface="Montserrat" pitchFamily="2" charset="77"/>
              </a:rPr>
              <a:t>.</a:t>
            </a:r>
          </a:p>
          <a:p>
            <a:pPr indent="-457200">
              <a:buNone/>
            </a:pPr>
            <a:r>
              <a:rPr lang="en-US" sz="1100" dirty="0">
                <a:latin typeface="Montserrat" pitchFamily="2" charset="77"/>
              </a:rPr>
              <a:t>Li JH, Liu S, Zhou H </a:t>
            </a:r>
            <a:r>
              <a:rPr lang="en-US" sz="1100" i="1" dirty="0">
                <a:latin typeface="Montserrat" pitchFamily="2" charset="77"/>
              </a:rPr>
              <a:t>et al.</a:t>
            </a:r>
            <a:r>
              <a:rPr lang="en-US" sz="1100" dirty="0">
                <a:latin typeface="Montserrat" pitchFamily="2" charset="77"/>
              </a:rPr>
              <a:t> </a:t>
            </a:r>
            <a:r>
              <a:rPr lang="en-US" sz="1100" b="1" dirty="0">
                <a:latin typeface="Montserrat" pitchFamily="2" charset="77"/>
              </a:rPr>
              <a:t>starBase v2.0: decoding miRNA-ceRNA, miRNA-ncRNA and protein–RNA interaction networks from large-scale CLIP-Seq data</a:t>
            </a:r>
            <a:r>
              <a:rPr lang="en-US" sz="1100" dirty="0">
                <a:latin typeface="Montserrat" pitchFamily="2" charset="77"/>
              </a:rPr>
              <a:t>. </a:t>
            </a:r>
            <a:r>
              <a:rPr lang="en-US" sz="1100" i="1" dirty="0">
                <a:latin typeface="Montserrat" pitchFamily="2" charset="77"/>
              </a:rPr>
              <a:t>Nucleic Acids Res</a:t>
            </a:r>
            <a:r>
              <a:rPr lang="en-US" sz="1100" dirty="0">
                <a:latin typeface="Montserrat" pitchFamily="2" charset="77"/>
              </a:rPr>
              <a:t> 2014;42(Database issue):D92–7. </a:t>
            </a:r>
            <a:r>
              <a:rPr lang="en-US" sz="1100" dirty="0">
                <a:latin typeface="Montserrat" pitchFamily="2" charset="77"/>
                <a:hlinkClick r:id="rId7"/>
              </a:rPr>
              <a:t>https://doi.org/10.1093/nar/gkt1248</a:t>
            </a:r>
            <a:r>
              <a:rPr lang="en-US" sz="1100" dirty="0">
                <a:latin typeface="Montserrat" pitchFamily="2" charset="77"/>
              </a:rPr>
              <a:t>.</a:t>
            </a:r>
          </a:p>
          <a:p>
            <a:pPr indent="-457200">
              <a:buNone/>
            </a:pPr>
            <a:r>
              <a:rPr lang="en-US" sz="1100" dirty="0">
                <a:latin typeface="Montserrat" pitchFamily="2" charset="77"/>
              </a:rPr>
              <a:t>Liu A, Peng B, Pankajam AV </a:t>
            </a:r>
            <a:r>
              <a:rPr lang="en-US" sz="1100" i="1" dirty="0">
                <a:latin typeface="Montserrat" pitchFamily="2" charset="77"/>
              </a:rPr>
              <a:t>et al.</a:t>
            </a:r>
            <a:r>
              <a:rPr lang="en-US" sz="1100" dirty="0">
                <a:latin typeface="Montserrat" pitchFamily="2" charset="77"/>
              </a:rPr>
              <a:t> </a:t>
            </a:r>
            <a:r>
              <a:rPr lang="en-US" sz="1100" b="1" dirty="0">
                <a:latin typeface="Montserrat" pitchFamily="2" charset="77"/>
              </a:rPr>
              <a:t>Discovery of optimal cell type classification marker genes from single cell RNA sequencing data</a:t>
            </a:r>
            <a:r>
              <a:rPr lang="en-US" sz="1100" dirty="0">
                <a:latin typeface="Montserrat" pitchFamily="2" charset="77"/>
              </a:rPr>
              <a:t>. </a:t>
            </a:r>
            <a:r>
              <a:rPr lang="en-US" sz="1100" i="1" dirty="0">
                <a:latin typeface="Montserrat" pitchFamily="2" charset="77"/>
              </a:rPr>
              <a:t>BMC Methods</a:t>
            </a:r>
            <a:r>
              <a:rPr lang="en-US" sz="1100" dirty="0">
                <a:latin typeface="Montserrat" pitchFamily="2" charset="77"/>
              </a:rPr>
              <a:t> 2024;1:15. </a:t>
            </a:r>
            <a:r>
              <a:rPr lang="en-US" sz="1100" dirty="0">
                <a:latin typeface="Montserrat" pitchFamily="2" charset="77"/>
                <a:hlinkClick r:id="rId8"/>
              </a:rPr>
              <a:t>https://doi.org/10.1186/s44330-024-00015-2</a:t>
            </a:r>
            <a:r>
              <a:rPr lang="en-US" sz="1100" dirty="0">
                <a:latin typeface="Montserrat" pitchFamily="2" charset="77"/>
              </a:rPr>
              <a:t>.</a:t>
            </a:r>
          </a:p>
          <a:p>
            <a:pPr indent="-457200">
              <a:buNone/>
            </a:pPr>
            <a:r>
              <a:rPr lang="en-US" sz="1100" dirty="0">
                <a:latin typeface="Montserrat" pitchFamily="2" charset="77"/>
              </a:rPr>
              <a:t>Liu W, Zhang Y, Yang Y </a:t>
            </a:r>
            <a:r>
              <a:rPr lang="en-US" sz="1100" i="1" dirty="0">
                <a:latin typeface="Montserrat" pitchFamily="2" charset="77"/>
              </a:rPr>
              <a:t>et al.</a:t>
            </a:r>
            <a:r>
              <a:rPr lang="en-US" sz="1100" dirty="0">
                <a:latin typeface="Montserrat" pitchFamily="2" charset="77"/>
              </a:rPr>
              <a:t> </a:t>
            </a:r>
            <a:r>
              <a:rPr lang="en-US" sz="1100" b="1" dirty="0">
                <a:latin typeface="Montserrat" pitchFamily="2" charset="77"/>
              </a:rPr>
              <a:t>A prognostic model for head and neck squamous cell carcinoma based on a ceRNA network to predict radiotherapy response</a:t>
            </a:r>
            <a:r>
              <a:rPr lang="en-US" sz="1100" dirty="0">
                <a:latin typeface="Montserrat" pitchFamily="2" charset="77"/>
              </a:rPr>
              <a:t>. </a:t>
            </a:r>
            <a:r>
              <a:rPr lang="en-US" sz="1100" i="1" dirty="0">
                <a:latin typeface="Montserrat" pitchFamily="2" charset="77"/>
              </a:rPr>
              <a:t>Journal of Radiation Research and Applied Sciences</a:t>
            </a:r>
            <a:r>
              <a:rPr lang="en-US" sz="1100" dirty="0">
                <a:latin typeface="Montserrat" pitchFamily="2" charset="77"/>
              </a:rPr>
              <a:t> 2025;18(2):101501. </a:t>
            </a:r>
            <a:r>
              <a:rPr lang="en-US" sz="1100" dirty="0">
                <a:latin typeface="Montserrat" pitchFamily="2" charset="77"/>
                <a:hlinkClick r:id="rId9"/>
              </a:rPr>
              <a:t>https://doi.org/10.1016/j.jrras.2025.101501</a:t>
            </a:r>
            <a:r>
              <a:rPr lang="en-US" sz="1100" dirty="0">
                <a:latin typeface="Montserrat" pitchFamily="2" charset="77"/>
              </a:rPr>
              <a:t>.</a:t>
            </a:r>
          </a:p>
          <a:p>
            <a:pPr indent="-457200">
              <a:buNone/>
            </a:pPr>
            <a:r>
              <a:rPr lang="en-US" sz="1100" dirty="0" err="1">
                <a:latin typeface="Montserrat" pitchFamily="2" charset="77"/>
              </a:rPr>
              <a:t>Necsulea</a:t>
            </a:r>
            <a:r>
              <a:rPr lang="en-US" sz="1100" dirty="0">
                <a:latin typeface="Montserrat" pitchFamily="2" charset="77"/>
              </a:rPr>
              <a:t> A, </a:t>
            </a:r>
            <a:r>
              <a:rPr lang="en-US" sz="1100" dirty="0" err="1">
                <a:latin typeface="Montserrat" pitchFamily="2" charset="77"/>
              </a:rPr>
              <a:t>Soumillon</a:t>
            </a:r>
            <a:r>
              <a:rPr lang="en-US" sz="1100" dirty="0">
                <a:latin typeface="Montserrat" pitchFamily="2" charset="77"/>
              </a:rPr>
              <a:t> M, </a:t>
            </a:r>
            <a:r>
              <a:rPr lang="en-US" sz="1100" dirty="0" err="1">
                <a:latin typeface="Montserrat" pitchFamily="2" charset="77"/>
              </a:rPr>
              <a:t>Warnefors</a:t>
            </a:r>
            <a:r>
              <a:rPr lang="en-US" sz="1100" dirty="0">
                <a:latin typeface="Montserrat" pitchFamily="2" charset="77"/>
              </a:rPr>
              <a:t> M et al. </a:t>
            </a:r>
            <a:r>
              <a:rPr lang="en-US" sz="1100" b="1" dirty="0">
                <a:latin typeface="Montserrat" pitchFamily="2" charset="77"/>
              </a:rPr>
              <a:t>The evolution of lncRNA repertoires and expression patterns in </a:t>
            </a:r>
            <a:r>
              <a:rPr lang="en-US" sz="1100" b="1" dirty="0" err="1">
                <a:latin typeface="Montserrat" pitchFamily="2" charset="77"/>
              </a:rPr>
              <a:t>tetrapods</a:t>
            </a:r>
            <a:r>
              <a:rPr lang="en-US" sz="1100" dirty="0">
                <a:latin typeface="Montserrat" pitchFamily="2" charset="77"/>
              </a:rPr>
              <a:t>. Nature 2014;505(7485):635–40. https://</a:t>
            </a:r>
            <a:r>
              <a:rPr lang="en-US" sz="1100" dirty="0" err="1">
                <a:latin typeface="Montserrat" pitchFamily="2" charset="77"/>
              </a:rPr>
              <a:t>doi.org</a:t>
            </a:r>
            <a:r>
              <a:rPr lang="en-US" sz="1100" dirty="0">
                <a:latin typeface="Montserrat" pitchFamily="2" charset="77"/>
              </a:rPr>
              <a:t>/10.1038/nature12943.</a:t>
            </a:r>
          </a:p>
          <a:p>
            <a:pPr indent="-457200">
              <a:buNone/>
            </a:pPr>
            <a:r>
              <a:rPr lang="en-US" sz="1100" dirty="0">
                <a:latin typeface="Montserrat" pitchFamily="2" charset="77"/>
              </a:rPr>
              <a:t>Nicolini M, </a:t>
            </a:r>
            <a:r>
              <a:rPr lang="en-US" sz="1100" dirty="0" err="1">
                <a:latin typeface="Montserrat" pitchFamily="2" charset="77"/>
              </a:rPr>
              <a:t>Stacchietti</a:t>
            </a:r>
            <a:r>
              <a:rPr lang="en-US" sz="1100" dirty="0">
                <a:latin typeface="Montserrat" pitchFamily="2" charset="77"/>
              </a:rPr>
              <a:t> F, Molina FJ </a:t>
            </a:r>
            <a:r>
              <a:rPr lang="en-US" sz="1100" i="1" dirty="0">
                <a:latin typeface="Montserrat" pitchFamily="2" charset="77"/>
              </a:rPr>
              <a:t>et al.</a:t>
            </a:r>
            <a:r>
              <a:rPr lang="en-US" sz="1100" dirty="0">
                <a:latin typeface="Montserrat" pitchFamily="2" charset="77"/>
              </a:rPr>
              <a:t> </a:t>
            </a:r>
            <a:r>
              <a:rPr lang="en-US" sz="1100" b="1" dirty="0" err="1">
                <a:latin typeface="Montserrat" pitchFamily="2" charset="77"/>
              </a:rPr>
              <a:t>MiRInter</a:t>
            </a:r>
            <a:r>
              <a:rPr lang="en-US" sz="1100" b="1" dirty="0">
                <a:latin typeface="Montserrat" pitchFamily="2" charset="77"/>
              </a:rPr>
              <a:t>-Trans: a Transformer-Based Framework for microRNA Interaction Prediction</a:t>
            </a:r>
            <a:r>
              <a:rPr lang="en-US" sz="1100" dirty="0">
                <a:latin typeface="Montserrat" pitchFamily="2" charset="77"/>
              </a:rPr>
              <a:t>. </a:t>
            </a:r>
            <a:r>
              <a:rPr lang="en-US" sz="1100" i="1" dirty="0">
                <a:latin typeface="Montserrat" pitchFamily="2" charset="77"/>
              </a:rPr>
              <a:t>Bioinformatics Advances</a:t>
            </a:r>
            <a:r>
              <a:rPr lang="en-US" sz="1100" dirty="0">
                <a:latin typeface="Montserrat" pitchFamily="2" charset="77"/>
              </a:rPr>
              <a:t> 9 Mar. 2026:vbag073. </a:t>
            </a:r>
            <a:r>
              <a:rPr lang="en-US" sz="1100" dirty="0">
                <a:latin typeface="Montserrat" pitchFamily="2" charset="77"/>
                <a:hlinkClick r:id="rId10"/>
              </a:rPr>
              <a:t>https://doi.org/10.1093/bioadv/vbag073</a:t>
            </a:r>
            <a:r>
              <a:rPr lang="en-US" sz="1100" dirty="0">
                <a:latin typeface="Montserrat" pitchFamily="2" charset="77"/>
              </a:rPr>
              <a:t>.</a:t>
            </a:r>
          </a:p>
          <a:p>
            <a:pPr indent="-457200">
              <a:buNone/>
            </a:pPr>
            <a:r>
              <a:rPr lang="en-US" sz="1100" dirty="0">
                <a:latin typeface="Montserrat" pitchFamily="2" charset="77"/>
              </a:rPr>
              <a:t>Poloni J de F, Oliveira FHS de, Feltes BC. </a:t>
            </a:r>
            <a:r>
              <a:rPr lang="en-US" sz="1100" b="1" dirty="0">
                <a:latin typeface="Montserrat" pitchFamily="2" charset="77"/>
              </a:rPr>
              <a:t>Localization is the key to action: regulatory peculiarities of lncRNAs</a:t>
            </a:r>
            <a:r>
              <a:rPr lang="en-US" sz="1100" dirty="0">
                <a:latin typeface="Montserrat" pitchFamily="2" charset="77"/>
              </a:rPr>
              <a:t>. </a:t>
            </a:r>
            <a:r>
              <a:rPr lang="en-US" sz="1100" i="1" dirty="0">
                <a:latin typeface="Montserrat" pitchFamily="2" charset="77"/>
              </a:rPr>
              <a:t>Front Genet</a:t>
            </a:r>
            <a:r>
              <a:rPr lang="en-US" sz="1100" dirty="0">
                <a:latin typeface="Montserrat" pitchFamily="2" charset="77"/>
              </a:rPr>
              <a:t> 2024;15. </a:t>
            </a:r>
            <a:r>
              <a:rPr lang="en-US" sz="1100" dirty="0">
                <a:latin typeface="Montserrat" pitchFamily="2" charset="77"/>
                <a:hlinkClick r:id="rId11"/>
              </a:rPr>
              <a:t>https://doi.org/10.3389/fgene.2024.1478352</a:t>
            </a:r>
            <a:r>
              <a:rPr lang="en-US" sz="1100" dirty="0">
                <a:latin typeface="Montserrat" pitchFamily="2" charset="77"/>
              </a:rPr>
              <a:t>.</a:t>
            </a:r>
          </a:p>
          <a:p>
            <a:pPr indent="-457200">
              <a:buNone/>
            </a:pPr>
            <a:r>
              <a:rPr lang="en-US" sz="1100" dirty="0" err="1">
                <a:latin typeface="Montserrat" pitchFamily="2" charset="77"/>
              </a:rPr>
              <a:t>Pooresmaeil</a:t>
            </a:r>
            <a:r>
              <a:rPr lang="en-US" sz="1100" dirty="0">
                <a:latin typeface="Montserrat" pitchFamily="2" charset="77"/>
              </a:rPr>
              <a:t> F, Azadi S, </a:t>
            </a:r>
            <a:r>
              <a:rPr lang="en-US" sz="1100" dirty="0" err="1">
                <a:latin typeface="Montserrat" pitchFamily="2" charset="77"/>
              </a:rPr>
              <a:t>Hasannejad</a:t>
            </a:r>
            <a:r>
              <a:rPr lang="en-US" sz="1100" dirty="0">
                <a:latin typeface="Montserrat" pitchFamily="2" charset="77"/>
              </a:rPr>
              <a:t>-Asl B </a:t>
            </a:r>
            <a:r>
              <a:rPr lang="en-US" sz="1100" i="1" dirty="0">
                <a:latin typeface="Montserrat" pitchFamily="2" charset="77"/>
              </a:rPr>
              <a:t>et al.</a:t>
            </a:r>
            <a:r>
              <a:rPr lang="en-US" sz="1100" dirty="0">
                <a:latin typeface="Montserrat" pitchFamily="2" charset="77"/>
              </a:rPr>
              <a:t> </a:t>
            </a:r>
            <a:r>
              <a:rPr lang="en-US" sz="1100" b="1" dirty="0">
                <a:latin typeface="Montserrat" pitchFamily="2" charset="77"/>
              </a:rPr>
              <a:t>Pivotal Role of miRNA–lncRNA Interactions in Human Diseases</a:t>
            </a:r>
            <a:r>
              <a:rPr lang="en-US" sz="1100" dirty="0">
                <a:latin typeface="Montserrat" pitchFamily="2" charset="77"/>
              </a:rPr>
              <a:t>. </a:t>
            </a:r>
            <a:r>
              <a:rPr lang="en-US" sz="1100" i="1" dirty="0">
                <a:latin typeface="Montserrat" pitchFamily="2" charset="77"/>
              </a:rPr>
              <a:t>Mol </a:t>
            </a:r>
            <a:r>
              <a:rPr lang="en-US" sz="1100" i="1" dirty="0" err="1">
                <a:latin typeface="Montserrat" pitchFamily="2" charset="77"/>
              </a:rPr>
              <a:t>Biotechnol</a:t>
            </a:r>
            <a:r>
              <a:rPr lang="en-US" sz="1100" dirty="0">
                <a:latin typeface="Montserrat" pitchFamily="2" charset="77"/>
              </a:rPr>
              <a:t> 2025;67(12):4363–85. </a:t>
            </a:r>
            <a:r>
              <a:rPr lang="en-US" sz="1100" dirty="0">
                <a:latin typeface="Montserrat" pitchFamily="2" charset="77"/>
                <a:hlinkClick r:id="rId12"/>
              </a:rPr>
              <a:t>https://doi.org/10.1007/s12033-024-01343-y</a:t>
            </a:r>
            <a:r>
              <a:rPr lang="en-US" sz="1100" dirty="0">
                <a:latin typeface="Montserrat" pitchFamily="2" charset="77"/>
              </a:rPr>
              <a:t>.</a:t>
            </a:r>
          </a:p>
          <a:p>
            <a:pPr indent="-457200">
              <a:buNone/>
            </a:pPr>
            <a:r>
              <a:rPr lang="en-US" sz="1100" dirty="0">
                <a:latin typeface="Montserrat" pitchFamily="2" charset="77"/>
              </a:rPr>
              <a:t>Salmena L, Poliseno L, Tay Y </a:t>
            </a:r>
            <a:r>
              <a:rPr lang="en-US" sz="1100" i="1" dirty="0">
                <a:latin typeface="Montserrat" pitchFamily="2" charset="77"/>
              </a:rPr>
              <a:t>et al.</a:t>
            </a:r>
            <a:r>
              <a:rPr lang="en-US" sz="1100" dirty="0">
                <a:latin typeface="Montserrat" pitchFamily="2" charset="77"/>
              </a:rPr>
              <a:t> </a:t>
            </a:r>
            <a:r>
              <a:rPr lang="en-US" sz="1100" b="1" dirty="0">
                <a:latin typeface="Montserrat" pitchFamily="2" charset="77"/>
              </a:rPr>
              <a:t>A ceRNA hypothesis: the Rosetta stone of a hidden RNA language? </a:t>
            </a:r>
            <a:r>
              <a:rPr lang="en-US" sz="1100" i="1" dirty="0">
                <a:latin typeface="Montserrat" pitchFamily="2" charset="77"/>
              </a:rPr>
              <a:t>Cell</a:t>
            </a:r>
            <a:r>
              <a:rPr lang="en-US" sz="1100" dirty="0">
                <a:latin typeface="Montserrat" pitchFamily="2" charset="77"/>
              </a:rPr>
              <a:t> 2011;146(3):353–8. </a:t>
            </a:r>
            <a:r>
              <a:rPr lang="en-US" sz="1100" dirty="0">
                <a:latin typeface="Montserrat" pitchFamily="2" charset="77"/>
                <a:hlinkClick r:id="rId13"/>
              </a:rPr>
              <a:t>https://doi.org/10.1016/j.cell.2011.07.014</a:t>
            </a:r>
            <a:r>
              <a:rPr lang="en-US" sz="1100" dirty="0">
                <a:latin typeface="Montserrat" pitchFamily="2" charset="77"/>
              </a:rPr>
              <a:t>.</a:t>
            </a:r>
          </a:p>
          <a:p>
            <a:pPr indent="-457200">
              <a:buNone/>
            </a:pPr>
            <a:r>
              <a:rPr lang="en-US" sz="1100" dirty="0">
                <a:latin typeface="Montserrat" pitchFamily="2" charset="77"/>
              </a:rPr>
              <a:t>Sheng N, Huang L, Gao L </a:t>
            </a:r>
            <a:r>
              <a:rPr lang="en-US" sz="1100" i="1" dirty="0">
                <a:latin typeface="Montserrat" pitchFamily="2" charset="77"/>
              </a:rPr>
              <a:t>et al.</a:t>
            </a:r>
            <a:r>
              <a:rPr lang="en-US" sz="1100" dirty="0">
                <a:latin typeface="Montserrat" pitchFamily="2" charset="77"/>
              </a:rPr>
              <a:t> </a:t>
            </a:r>
            <a:r>
              <a:rPr lang="en-US" sz="1100" b="1" dirty="0">
                <a:latin typeface="Montserrat" pitchFamily="2" charset="77"/>
              </a:rPr>
              <a:t>A Survey of Computational Methods and Databases for lncRNA-MiRNA Interaction Prediction</a:t>
            </a:r>
            <a:r>
              <a:rPr lang="en-US" sz="1100" dirty="0">
                <a:latin typeface="Montserrat" pitchFamily="2" charset="77"/>
              </a:rPr>
              <a:t>. </a:t>
            </a:r>
            <a:r>
              <a:rPr lang="en-US" sz="1100" i="1" dirty="0">
                <a:latin typeface="Montserrat" pitchFamily="2" charset="77"/>
              </a:rPr>
              <a:t>IEEE/ACM Transactions on Computational Biology and Bioinformatics</a:t>
            </a:r>
            <a:r>
              <a:rPr lang="en-US" sz="1100" dirty="0">
                <a:latin typeface="Montserrat" pitchFamily="2" charset="77"/>
              </a:rPr>
              <a:t> 2023;20(5):2810–26. </a:t>
            </a:r>
            <a:r>
              <a:rPr lang="en-US" sz="1100" dirty="0">
                <a:latin typeface="Montserrat" pitchFamily="2" charset="77"/>
                <a:hlinkClick r:id="rId14"/>
              </a:rPr>
              <a:t>https://doi.org/10.1109/TCBB.2023.3264254</a:t>
            </a:r>
            <a:r>
              <a:rPr lang="en-US" sz="1100" dirty="0">
                <a:latin typeface="Montserrat" pitchFamily="2" charset="77"/>
              </a:rPr>
              <a:t>.</a:t>
            </a:r>
          </a:p>
          <a:p>
            <a:pPr indent="-457200">
              <a:buNone/>
            </a:pPr>
            <a:r>
              <a:rPr lang="en-US" sz="1100" dirty="0">
                <a:latin typeface="Montserrat" pitchFamily="2" charset="77"/>
              </a:rPr>
              <a:t>Singh M, Priya K, Nagar A </a:t>
            </a:r>
            <a:r>
              <a:rPr lang="en-US" sz="1100" i="1" dirty="0">
                <a:latin typeface="Montserrat" pitchFamily="2" charset="77"/>
              </a:rPr>
              <a:t>et al.</a:t>
            </a:r>
            <a:r>
              <a:rPr lang="en-US" sz="1100" dirty="0">
                <a:latin typeface="Montserrat" pitchFamily="2" charset="77"/>
              </a:rPr>
              <a:t> </a:t>
            </a:r>
            <a:r>
              <a:rPr lang="en-US" sz="1100" b="1" dirty="0">
                <a:latin typeface="Montserrat" pitchFamily="2" charset="77"/>
              </a:rPr>
              <a:t>Emerging landscape of lncRNA-miRNA interactions as architects of gene expression patterns</a:t>
            </a:r>
            <a:r>
              <a:rPr lang="en-US" sz="1100" dirty="0">
                <a:latin typeface="Montserrat" pitchFamily="2" charset="77"/>
              </a:rPr>
              <a:t>. </a:t>
            </a:r>
            <a:r>
              <a:rPr lang="en-US" sz="1100" i="1" dirty="0">
                <a:latin typeface="Montserrat" pitchFamily="2" charset="77"/>
              </a:rPr>
              <a:t>Mol Biol Rep</a:t>
            </a:r>
            <a:r>
              <a:rPr lang="en-US" sz="1100" dirty="0">
                <a:latin typeface="Montserrat" pitchFamily="2" charset="77"/>
              </a:rPr>
              <a:t> 2025;52(1):810. </a:t>
            </a:r>
            <a:r>
              <a:rPr lang="en-US" sz="1100" dirty="0">
                <a:latin typeface="Montserrat" pitchFamily="2" charset="77"/>
                <a:hlinkClick r:id="rId15"/>
              </a:rPr>
              <a:t>https://doi.org/10.1007/s11033-025-10906-4</a:t>
            </a:r>
            <a:r>
              <a:rPr lang="en-US" sz="1100" dirty="0">
                <a:latin typeface="Montserrat" pitchFamily="2" charset="77"/>
              </a:rPr>
              <a:t>.</a:t>
            </a:r>
            <a:endParaRPr lang="en-US" sz="1100" dirty="0">
              <a:effectLst/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3475445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FC19CD83-E18F-C37F-630C-7D1EBC5ECFCD}"/>
              </a:ext>
            </a:extLst>
          </p:cNvPr>
          <p:cNvGrpSpPr/>
          <p:nvPr/>
        </p:nvGrpSpPr>
        <p:grpSpPr>
          <a:xfrm>
            <a:off x="1058527" y="125831"/>
            <a:ext cx="10074946" cy="5687819"/>
            <a:chOff x="1055915" y="180259"/>
            <a:chExt cx="10074946" cy="568781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1FE7FD8-920D-9E35-C409-2011418DCF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38621" y="180259"/>
              <a:ext cx="6492240" cy="5687819"/>
            </a:xfrm>
            <a:prstGeom prst="rect">
              <a:avLst/>
            </a:prstGeom>
          </p:spPr>
        </p:pic>
        <p:sp>
          <p:nvSpPr>
            <p:cNvPr id="8" name="Title 1">
              <a:extLst>
                <a:ext uri="{FF2B5EF4-FFF2-40B4-BE49-F238E27FC236}">
                  <a16:creationId xmlns:a16="http://schemas.microsoft.com/office/drawing/2014/main" id="{BF80EC88-E8D3-51D8-AAA5-C47318F9DF20}"/>
                </a:ext>
              </a:extLst>
            </p:cNvPr>
            <p:cNvSpPr txBox="1">
              <a:spLocks/>
            </p:cNvSpPr>
            <p:nvPr/>
          </p:nvSpPr>
          <p:spPr>
            <a:xfrm>
              <a:off x="1055915" y="338755"/>
              <a:ext cx="3473850" cy="304970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00" kern="1200">
                  <a:solidFill>
                    <a:schemeClr val="tx1"/>
                  </a:solidFill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defRPr>
              </a:lvl1pPr>
            </a:lstStyle>
            <a:p>
              <a:pPr algn="r"/>
              <a:r>
                <a:rPr lang="en-US" sz="5400" dirty="0">
                  <a:latin typeface="Crimson Pro Medium" pitchFamily="2" charset="77"/>
                </a:rPr>
                <a:t>miRNA and lncRNA Biogenesis Pathways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2B3C7EA8-8101-8C84-0576-935C7D6DF5FD}"/>
              </a:ext>
            </a:extLst>
          </p:cNvPr>
          <p:cNvSpPr txBox="1"/>
          <p:nvPr/>
        </p:nvSpPr>
        <p:spPr>
          <a:xfrm>
            <a:off x="5266074" y="6137666"/>
            <a:ext cx="66989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Chen et al. (2024) </a:t>
            </a:r>
            <a:r>
              <a:rPr lang="en-US" sz="1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Small and long non-coding RNAs: Past, present, and future</a:t>
            </a: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Figure 3 and Figure 6(a)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7FB2ACB-CB64-2DB0-0A46-2ACF02BAD0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452" y="3426050"/>
            <a:ext cx="4279900" cy="238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1144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92C4A-1894-A46B-61D7-D9B44A110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D3F6FB58-5F4A-217C-D7CE-4D30DC6EF817}"/>
              </a:ext>
            </a:extLst>
          </p:cNvPr>
          <p:cNvSpPr txBox="1">
            <a:spLocks/>
          </p:cNvSpPr>
          <p:nvPr/>
        </p:nvSpPr>
        <p:spPr>
          <a:xfrm>
            <a:off x="639627" y="1475517"/>
            <a:ext cx="4182180" cy="30497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algn="r"/>
            <a:r>
              <a:rPr lang="en-US" sz="5400" dirty="0">
                <a:latin typeface="Crimson Pro Medium" pitchFamily="2" charset="77"/>
              </a:rPr>
              <a:t>Evolutionary Conservation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859C52-616C-883F-96E4-1D8D807FA1BB}"/>
              </a:ext>
            </a:extLst>
          </p:cNvPr>
          <p:cNvSpPr txBox="1"/>
          <p:nvPr/>
        </p:nvSpPr>
        <p:spPr>
          <a:xfrm>
            <a:off x="3515096" y="6274978"/>
            <a:ext cx="83532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Chen et al. (2024) </a:t>
            </a:r>
            <a:r>
              <a:rPr lang="en-US" sz="1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Small and long non-coding RNAs: Past, present, and future</a:t>
            </a: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Figure 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B15B51-CD90-D3D4-8200-89428B8C05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4480" y="244468"/>
            <a:ext cx="6464300" cy="551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8857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F80AD-BDA0-72C5-D45D-1585D52BA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49AD2F5C-87B6-EA04-EA21-8414295704D2}"/>
              </a:ext>
            </a:extLst>
          </p:cNvPr>
          <p:cNvSpPr txBox="1"/>
          <p:nvPr/>
        </p:nvSpPr>
        <p:spPr>
          <a:xfrm>
            <a:off x="3642096" y="6160678"/>
            <a:ext cx="83532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Necsulea</a:t>
            </a: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et al. (2014) </a:t>
            </a:r>
            <a:r>
              <a:rPr lang="en-US" sz="1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evolution of lncRNA repertoires and expression patterns in </a:t>
            </a:r>
            <a:r>
              <a:rPr lang="en-US" sz="16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tetrapods</a:t>
            </a: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Figure 1(a) and 2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1463456-1EDE-D606-8CD7-537D74562F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6294"/>
          <a:stretch>
            <a:fillRect/>
          </a:stretch>
        </p:blipFill>
        <p:spPr>
          <a:xfrm>
            <a:off x="677816" y="1466313"/>
            <a:ext cx="3845726" cy="39253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4F8FCAA-BD4A-8CEC-6B84-AB8A49C331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366" y="1466312"/>
            <a:ext cx="7467634" cy="4037271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9303366-7AF5-3E9C-EDEE-5E05F7F19D6E}"/>
              </a:ext>
            </a:extLst>
          </p:cNvPr>
          <p:cNvSpPr txBox="1">
            <a:spLocks/>
          </p:cNvSpPr>
          <p:nvPr/>
        </p:nvSpPr>
        <p:spPr>
          <a:xfrm>
            <a:off x="387586" y="423628"/>
            <a:ext cx="11105914" cy="76601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sz="4400" dirty="0">
                <a:latin typeface="Crimson Pro Medium" pitchFamily="2" charset="77"/>
              </a:rPr>
              <a:t>lncRNA Evolutionary Age (1) and Expression (2)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AEA0BAA-B8B5-50F9-4985-D3FDAE230B62}"/>
              </a:ext>
            </a:extLst>
          </p:cNvPr>
          <p:cNvSpPr txBox="1">
            <a:spLocks/>
          </p:cNvSpPr>
          <p:nvPr/>
        </p:nvSpPr>
        <p:spPr>
          <a:xfrm>
            <a:off x="163846" y="1278547"/>
            <a:ext cx="626291" cy="6012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sz="2800" dirty="0">
                <a:latin typeface="Crimson Pro Medium" pitchFamily="2" charset="77"/>
              </a:rPr>
              <a:t>(1)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E48D767-ADFA-0F1B-1AA2-2360DDD46F65}"/>
              </a:ext>
            </a:extLst>
          </p:cNvPr>
          <p:cNvSpPr txBox="1">
            <a:spLocks/>
          </p:cNvSpPr>
          <p:nvPr/>
        </p:nvSpPr>
        <p:spPr>
          <a:xfrm>
            <a:off x="4411220" y="1278547"/>
            <a:ext cx="626291" cy="6012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sz="2800" dirty="0">
                <a:latin typeface="Crimson Pro Medium" pitchFamily="2" charset="77"/>
              </a:rPr>
              <a:t>(2)</a:t>
            </a:r>
          </a:p>
        </p:txBody>
      </p:sp>
    </p:spTree>
    <p:extLst>
      <p:ext uri="{BB962C8B-B14F-4D97-AF65-F5344CB8AC3E}">
        <p14:creationId xmlns:p14="http://schemas.microsoft.com/office/powerpoint/2010/main" val="27222431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DAE86-1905-D414-8924-26969BF29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57599140-797E-1023-794D-5F50A4BC2FE4}"/>
              </a:ext>
            </a:extLst>
          </p:cNvPr>
          <p:cNvSpPr txBox="1">
            <a:spLocks/>
          </p:cNvSpPr>
          <p:nvPr/>
        </p:nvSpPr>
        <p:spPr>
          <a:xfrm>
            <a:off x="332200" y="227009"/>
            <a:ext cx="10738644" cy="9497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sz="4400" dirty="0">
                <a:latin typeface="Crimson Pro Medium" pitchFamily="2" charset="77"/>
              </a:rPr>
              <a:t>lncRNA-miRNA-mRNA Network in Disease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8B4F7B-217C-6ADE-7DE4-AA03508CCC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676" y="951592"/>
            <a:ext cx="10610524" cy="50547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7021843-AA1F-FAC7-8CA8-02EF0592C469}"/>
              </a:ext>
            </a:extLst>
          </p:cNvPr>
          <p:cNvSpPr txBox="1"/>
          <p:nvPr/>
        </p:nvSpPr>
        <p:spPr>
          <a:xfrm>
            <a:off x="3651281" y="6158248"/>
            <a:ext cx="83532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Gao et al. (2025) </a:t>
            </a:r>
            <a:r>
              <a:rPr lang="en-US" sz="1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Recent advances in investigation of </a:t>
            </a:r>
            <a:r>
              <a:rPr lang="en-US" sz="16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circRNA</a:t>
            </a:r>
            <a:r>
              <a:rPr lang="en-US" sz="1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/lncRNA-miRNA-mRNA networks through RNA sequencing data analysis</a:t>
            </a: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Table 1</a:t>
            </a:r>
          </a:p>
        </p:txBody>
      </p:sp>
    </p:spTree>
    <p:extLst>
      <p:ext uri="{BB962C8B-B14F-4D97-AF65-F5344CB8AC3E}">
        <p14:creationId xmlns:p14="http://schemas.microsoft.com/office/powerpoint/2010/main" val="2448422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A1A3D-2761-94E8-C5AA-D13153A19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DFE710D-F07A-CBED-8521-9C2077FD1D7B}"/>
              </a:ext>
            </a:extLst>
          </p:cNvPr>
          <p:cNvSpPr txBox="1">
            <a:spLocks/>
          </p:cNvSpPr>
          <p:nvPr/>
        </p:nvSpPr>
        <p:spPr>
          <a:xfrm>
            <a:off x="1227203" y="2020805"/>
            <a:ext cx="3870542" cy="18898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algn="r"/>
            <a:r>
              <a:rPr lang="en-US" sz="4400" dirty="0">
                <a:latin typeface="Crimson Pro Medium" pitchFamily="2" charset="77"/>
              </a:rPr>
              <a:t>LMI Prediction:</a:t>
            </a:r>
          </a:p>
          <a:p>
            <a:pPr algn="r"/>
            <a:r>
              <a:rPr lang="en-US" sz="4400" dirty="0">
                <a:latin typeface="Crimson Pro Medium" pitchFamily="2" charset="77"/>
              </a:rPr>
              <a:t>Network-Based Models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5B839A-7799-1171-A9E4-E82E172D9C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4546" y="0"/>
            <a:ext cx="5894153" cy="594130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91E1D67-5883-E9B6-39CA-4D3DE1B8B8C6}"/>
              </a:ext>
            </a:extLst>
          </p:cNvPr>
          <p:cNvSpPr txBox="1"/>
          <p:nvPr/>
        </p:nvSpPr>
        <p:spPr>
          <a:xfrm>
            <a:off x="5116747" y="6171789"/>
            <a:ext cx="68683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Sheng et al. (2023) </a:t>
            </a:r>
            <a:r>
              <a:rPr lang="en-US" sz="1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Survey of Computational Methods and Databases for lncRNA-MiRNA Interaction Prediction</a:t>
            </a: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Table 2</a:t>
            </a:r>
          </a:p>
        </p:txBody>
      </p:sp>
    </p:spTree>
    <p:extLst>
      <p:ext uri="{BB962C8B-B14F-4D97-AF65-F5344CB8AC3E}">
        <p14:creationId xmlns:p14="http://schemas.microsoft.com/office/powerpoint/2010/main" val="24743657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F174E-8A1C-9945-3DDE-4D9A0F93D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B2A1BB4-B1BD-E758-474A-CF57281C5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953" y="89222"/>
            <a:ext cx="7050047" cy="58647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55E9B97-9896-06B9-D2AA-164B14A39374}"/>
              </a:ext>
            </a:extLst>
          </p:cNvPr>
          <p:cNvSpPr txBox="1">
            <a:spLocks/>
          </p:cNvSpPr>
          <p:nvPr/>
        </p:nvSpPr>
        <p:spPr>
          <a:xfrm>
            <a:off x="964678" y="2076636"/>
            <a:ext cx="4020855" cy="18898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algn="r"/>
            <a:r>
              <a:rPr lang="en-US" sz="4400" dirty="0">
                <a:latin typeface="Crimson Pro Medium" pitchFamily="2" charset="77"/>
              </a:rPr>
              <a:t>LMI Prediction:</a:t>
            </a:r>
          </a:p>
          <a:p>
            <a:pPr algn="r"/>
            <a:r>
              <a:rPr lang="en-US" sz="4400" dirty="0">
                <a:latin typeface="Crimson Pro Medium" pitchFamily="2" charset="77"/>
              </a:rPr>
              <a:t>Sequence-Based Models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630A93-8521-EE55-0D62-1BE0518E9078}"/>
              </a:ext>
            </a:extLst>
          </p:cNvPr>
          <p:cNvSpPr txBox="1"/>
          <p:nvPr/>
        </p:nvSpPr>
        <p:spPr>
          <a:xfrm>
            <a:off x="5116747" y="6171789"/>
            <a:ext cx="68683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Sheng et al. (2023) </a:t>
            </a:r>
            <a:r>
              <a:rPr lang="en-US" sz="1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Survey of Computational Methods and Databases for lncRNA-MiRNA Interaction Prediction</a:t>
            </a: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Table 3</a:t>
            </a:r>
          </a:p>
        </p:txBody>
      </p:sp>
    </p:spTree>
    <p:extLst>
      <p:ext uri="{BB962C8B-B14F-4D97-AF65-F5344CB8AC3E}">
        <p14:creationId xmlns:p14="http://schemas.microsoft.com/office/powerpoint/2010/main" val="10845933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LM-CKN_2025_06_22  -  Read-Only" id="{99CFE9FB-BD86-2B44-BC7A-D8419F87F57D}" vid="{B4A67CAF-A6B9-AC44-B6ED-235348304A0F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LM-CKN_2025_06_22  -  Read-Only" id="{99CFE9FB-BD86-2B44-BC7A-D8419F87F57D}" vid="{05BCF2A0-0A02-9747-B1AE-CFD2E7CD41F6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LM-CKN_2025_06_22  -  Read-Only" id="{99CFE9FB-BD86-2B44-BC7A-D8419F87F57D}" vid="{1F563B07-A3B6-9044-8803-CF76EE09BA69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690759288C404409F2252B22162A91E" ma:contentTypeVersion="15" ma:contentTypeDescription="Create a new document." ma:contentTypeScope="" ma:versionID="8640dae9b4a0695d60698293740eff8d">
  <xsd:schema xmlns:xsd="http://www.w3.org/2001/XMLSchema" xmlns:xs="http://www.w3.org/2001/XMLSchema" xmlns:p="http://schemas.microsoft.com/office/2006/metadata/properties" xmlns:ns2="e29302da-b2f9-4288-a31a-52fbcfe93320" xmlns:ns3="a5e8744b-6de0-40df-8e0a-8933fd3368a6" targetNamespace="http://schemas.microsoft.com/office/2006/metadata/properties" ma:root="true" ma:fieldsID="1c10790bc1a111e166d2626e261a6c56" ns2:_="" ns3:_="">
    <xsd:import namespace="e29302da-b2f9-4288-a31a-52fbcfe93320"/>
    <xsd:import namespace="a5e8744b-6de0-40df-8e0a-8933fd3368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9302da-b2f9-4288-a31a-52fbcfe9332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8ce9f98e-9ad5-43de-b59a-72d7e946aae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e8744b-6de0-40df-8e0a-8933fd3368a6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463e1611-faea-4afc-b38e-a3c52ca141cd}" ma:internalName="TaxCatchAll" ma:showField="CatchAllData" ma:web="a5e8744b-6de0-40df-8e0a-8933fd3368a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29302da-b2f9-4288-a31a-52fbcfe93320">
      <Terms xmlns="http://schemas.microsoft.com/office/infopath/2007/PartnerControls"/>
    </lcf76f155ced4ddcb4097134ff3c332f>
    <TaxCatchAll xmlns="a5e8744b-6de0-40df-8e0a-8933fd3368a6" xsi:nil="true"/>
    <SharedWithUsers xmlns="a5e8744b-6de0-40df-8e0a-8933fd3368a6">
      <UserInfo>
        <DisplayName>Winderlin, Christine (NIH/NLM) [E]</DisplayName>
        <AccountId>71</AccountId>
        <AccountType/>
      </UserInfo>
      <UserInfo>
        <DisplayName>Dehoff, Jeffrey (NIH/NLM) [E]</DisplayName>
        <AccountId>135</AccountId>
        <AccountType/>
      </UserInfo>
      <UserInfo>
        <DisplayName>Manco, Dina (NIH/NLM) [E]</DisplayName>
        <AccountId>86</AccountId>
        <AccountType/>
      </UserInfo>
      <UserInfo>
        <DisplayName>Middleton, Grace (NIH/NLM) [C]</DisplayName>
        <AccountId>16</AccountId>
        <AccountType/>
      </UserInfo>
      <UserInfo>
        <DisplayName>Nurik, Jody (NIH/NLM) [E]</DisplayName>
        <AccountId>17</AccountId>
        <AccountType/>
      </UserInfo>
      <UserInfo>
        <DisplayName>Lemon, Alison (NIH/NLM) [E]</DisplayName>
        <AccountId>22</AccountId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D75208D-6BCD-46B9-9A60-E7C3508C3B3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29302da-b2f9-4288-a31a-52fbcfe93320"/>
    <ds:schemaRef ds:uri="a5e8744b-6de0-40df-8e0a-8933fd3368a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5033EEA-8F72-47E8-97DC-7CE869DC6F13}">
  <ds:schemaRefs>
    <ds:schemaRef ds:uri="http://purl.org/dc/dcmitype/"/>
    <ds:schemaRef ds:uri="http://schemas.microsoft.com/office/2006/metadata/properties"/>
    <ds:schemaRef ds:uri="e29302da-b2f9-4288-a31a-52fbcfe93320"/>
    <ds:schemaRef ds:uri="http://schemas.microsoft.com/office/2006/documentManagement/types"/>
    <ds:schemaRef ds:uri="http://purl.org/dc/elements/1.1/"/>
    <ds:schemaRef ds:uri="http://www.w3.org/XML/1998/namespace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a5e8744b-6de0-40df-8e0a-8933fd3368a6"/>
  </ds:schemaRefs>
</ds:datastoreItem>
</file>

<file path=customXml/itemProps3.xml><?xml version="1.0" encoding="utf-8"?>
<ds:datastoreItem xmlns:ds="http://schemas.openxmlformats.org/officeDocument/2006/customXml" ds:itemID="{79E27D62-6581-49A6-B4E8-4DBBDB69AC6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14b77578-9773-42d5-8507-251ca2dc2b06}" enabled="0" method="" siteId="{14b77578-9773-42d5-8507-251ca2dc2b0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28815</TotalTime>
  <Words>1573</Words>
  <Application>Microsoft Macintosh PowerPoint</Application>
  <PresentationFormat>Widescreen</PresentationFormat>
  <Paragraphs>126</Paragraphs>
  <Slides>24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24</vt:i4>
      </vt:variant>
    </vt:vector>
  </HeadingPairs>
  <TitlesOfParts>
    <vt:vector size="34" baseType="lpstr">
      <vt:lpstr>Arial</vt:lpstr>
      <vt:lpstr>Calibri</vt:lpstr>
      <vt:lpstr>Calibri Light</vt:lpstr>
      <vt:lpstr>Courier New</vt:lpstr>
      <vt:lpstr>Crimson Pro Medium</vt:lpstr>
      <vt:lpstr>Montserrat</vt:lpstr>
      <vt:lpstr>Times New Roman</vt:lpstr>
      <vt:lpstr>Office Theme</vt:lpstr>
      <vt:lpstr>Custom Design</vt:lpstr>
      <vt:lpstr>1_Custom Design</vt:lpstr>
      <vt:lpstr>State of the Literature: ncRNA and lncRNA-miRNA Interactions (LMIs)</vt:lpstr>
      <vt:lpstr>Overview</vt:lpstr>
      <vt:lpstr>PowerPoint Presentation</vt:lpstr>
      <vt:lpstr>Non-Coding RNA (ncRNA)</vt:lpstr>
      <vt:lpstr>Micro RNA (miRNA)</vt:lpstr>
      <vt:lpstr>Long Non-Coding RNA (lncRNA)</vt:lpstr>
      <vt:lpstr>PowerPoint Presentation</vt:lpstr>
      <vt:lpstr>Competing Endogenous RNA (ceRNA) Hypothesis</vt:lpstr>
      <vt:lpstr>lncRNA-miRNA Interactions (LMIs)</vt:lpstr>
      <vt:lpstr>Reported LMIs in Disease</vt:lpstr>
      <vt:lpstr>Reported LMIs in Disease (cont.)</vt:lpstr>
      <vt:lpstr>PowerPoint Presentation</vt:lpstr>
      <vt:lpstr>LMI Databases</vt:lpstr>
      <vt:lpstr>Interaction Prediction (EX: miRInter-Trans)</vt:lpstr>
      <vt:lpstr>ceRNA Network Construction (EX: miRTarBase)</vt:lpstr>
      <vt:lpstr>PowerPoint Presentation</vt:lpstr>
      <vt:lpstr>Future Directions</vt:lpstr>
      <vt:lpstr>Bibliography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Xu, Bingfang (NIH/NLM/NCBI) [E]</dc:creator>
  <cp:keywords/>
  <dc:description/>
  <cp:lastModifiedBy>Becker, Sasha (NIH/NLM) [F]</cp:lastModifiedBy>
  <cp:revision>53</cp:revision>
  <cp:lastPrinted>2023-08-17T16:46:21Z</cp:lastPrinted>
  <dcterms:created xsi:type="dcterms:W3CDTF">2025-07-04T00:37:52Z</dcterms:created>
  <dcterms:modified xsi:type="dcterms:W3CDTF">2026-06-15T17:20:55Z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0x0101006690759288C404409F2252B22162A91E</vt:lpwstr>
  </property>
  <property fmtid="{D5CDD505-2E9C-101B-9397-08002B2CF9AE}" pid="3" name="MediaServiceImageTags">
    <vt:lpwstr/>
  </property>
</Properties>
</file>