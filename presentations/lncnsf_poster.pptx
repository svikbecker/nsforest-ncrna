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png&amp;f=1&amp;nofb=1&amp;ipt=4e33dc177b97aa7834478ed38f4d24e6868f0ae3ae9899dfd021d1c135e13a5d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9" r:id="rId2"/>
  </p:sldIdLst>
  <p:sldSz cx="43891200" cy="32918400"/>
  <p:notesSz cx="6888163" cy="100203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2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2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2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2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68" userDrawn="1">
          <p15:clr>
            <a:srgbClr val="A4A3A4"/>
          </p15:clr>
        </p15:guide>
        <p15:guide id="2" orient="horz" pos="5928" userDrawn="1">
          <p15:clr>
            <a:srgbClr val="A4A3A4"/>
          </p15:clr>
        </p15:guide>
        <p15:guide id="3" orient="horz" pos="3960" userDrawn="1">
          <p15:clr>
            <a:srgbClr val="A4A3A4"/>
          </p15:clr>
        </p15:guide>
        <p15:guide id="4" orient="horz" pos="6504" userDrawn="1">
          <p15:clr>
            <a:srgbClr val="A4A3A4"/>
          </p15:clr>
        </p15:guide>
        <p15:guide id="5" pos="720" userDrawn="1">
          <p15:clr>
            <a:srgbClr val="A4A3A4"/>
          </p15:clr>
        </p15:guide>
        <p15:guide id="6" pos="6912" userDrawn="1">
          <p15:clr>
            <a:srgbClr val="A4A3A4"/>
          </p15:clr>
        </p15:guide>
        <p15:guide id="7" pos="7392" userDrawn="1">
          <p15:clr>
            <a:srgbClr val="A4A3A4"/>
          </p15:clr>
        </p15:guide>
        <p15:guide id="8" pos="13584" userDrawn="1">
          <p15:clr>
            <a:srgbClr val="A4A3A4"/>
          </p15:clr>
        </p15:guide>
        <p15:guide id="9" pos="14064" userDrawn="1">
          <p15:clr>
            <a:srgbClr val="A4A3A4"/>
          </p15:clr>
        </p15:guide>
        <p15:guide id="10" pos="20256" userDrawn="1">
          <p15:clr>
            <a:srgbClr val="A4A3A4"/>
          </p15:clr>
        </p15:guide>
        <p15:guide id="11" pos="20736" userDrawn="1">
          <p15:clr>
            <a:srgbClr val="A4A3A4"/>
          </p15:clr>
        </p15:guide>
        <p15:guide id="12" pos="2692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EB176E-2E55-E885-8C2C-BD5200079CEA}" name="Becker, Sasha (NIH/NLM) [F]" initials="BS([" userId="S::beckersv@nih.gov::7b36388a-d09b-4242-b7ee-9f747246d25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5493"/>
    <a:srgbClr val="0A0101"/>
    <a:srgbClr val="9BDAF1"/>
    <a:srgbClr val="E1F3F8"/>
    <a:srgbClr val="2E8540"/>
    <a:srgbClr val="981B1E"/>
    <a:srgbClr val="0071BC"/>
    <a:srgbClr val="FFFDFD"/>
    <a:srgbClr val="AEB0B5"/>
    <a:srgbClr val="F9C6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1" autoAdjust="0"/>
    <p:restoredTop sz="88252"/>
  </p:normalViewPr>
  <p:slideViewPr>
    <p:cSldViewPr>
      <p:cViewPr>
        <p:scale>
          <a:sx n="30" d="100"/>
          <a:sy n="30" d="100"/>
        </p:scale>
        <p:origin x="184" y="-256"/>
      </p:cViewPr>
      <p:guideLst>
        <p:guide orient="horz" pos="19368"/>
        <p:guide orient="horz" pos="5928"/>
        <p:guide orient="horz" pos="3960"/>
        <p:guide orient="horz" pos="6504"/>
        <p:guide pos="720"/>
        <p:guide pos="6912"/>
        <p:guide pos="7392"/>
        <p:guide pos="13584"/>
        <p:guide pos="14064"/>
        <p:guide pos="20256"/>
        <p:guide pos="20736"/>
        <p:guide pos="26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B1F8FB7-3E77-614C-9F95-CD51D69521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4975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569" tIns="44785" rIns="89569" bIns="44785" numCol="1" anchor="t" anchorCtr="0" compatLnSpc="1">
            <a:prstTxWarp prst="textNoShape">
              <a:avLst/>
            </a:prstTxWarp>
          </a:bodyPr>
          <a:lstStyle>
            <a:lvl1pPr defTabSz="896938">
              <a:defRPr sz="1200"/>
            </a:lvl1pPr>
          </a:lstStyle>
          <a:p>
            <a:endParaRPr lang="en-AU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65B7BCD-A739-2B4F-9701-4507FEA6468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7150" y="0"/>
            <a:ext cx="30480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569" tIns="44785" rIns="89569" bIns="44785" numCol="1" anchor="t" anchorCtr="0" compatLnSpc="1">
            <a:prstTxWarp prst="textNoShape">
              <a:avLst/>
            </a:prstTxWarp>
          </a:bodyPr>
          <a:lstStyle>
            <a:lvl1pPr algn="r" defTabSz="896938">
              <a:defRPr sz="1200"/>
            </a:lvl1pPr>
          </a:lstStyle>
          <a:p>
            <a:endParaRPr lang="en-AU" alt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FB958A19-17BF-8A4B-82E8-AE9ECB4633C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20238"/>
            <a:ext cx="29749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569" tIns="44785" rIns="89569" bIns="44785" numCol="1" anchor="b" anchorCtr="0" compatLnSpc="1">
            <a:prstTxWarp prst="textNoShape">
              <a:avLst/>
            </a:prstTxWarp>
          </a:bodyPr>
          <a:lstStyle>
            <a:lvl1pPr defTabSz="896938">
              <a:defRPr sz="1200"/>
            </a:lvl1pPr>
          </a:lstStyle>
          <a:p>
            <a:endParaRPr lang="en-AU" alt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934B63C-08C7-A242-9F7E-54AA501D936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7150" y="9520238"/>
            <a:ext cx="3048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569" tIns="44785" rIns="89569" bIns="44785" numCol="1" anchor="b" anchorCtr="0" compatLnSpc="1">
            <a:prstTxWarp prst="textNoShape">
              <a:avLst/>
            </a:prstTxWarp>
          </a:bodyPr>
          <a:lstStyle>
            <a:lvl1pPr algn="r" defTabSz="896938">
              <a:defRPr sz="1200"/>
            </a:lvl1pPr>
          </a:lstStyle>
          <a:p>
            <a:fld id="{0AFB36C2-D1D9-684B-BDAC-612A501B5EA5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B144CC2-B2D2-0948-8C6F-8D61969E3CB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4975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569" tIns="44785" rIns="89569" bIns="44785" numCol="1" anchor="t" anchorCtr="0" compatLnSpc="1">
            <a:prstTxWarp prst="textNoShape">
              <a:avLst/>
            </a:prstTxWarp>
          </a:bodyPr>
          <a:lstStyle>
            <a:lvl1pPr defTabSz="896938">
              <a:defRPr sz="1200"/>
            </a:lvl1pPr>
          </a:lstStyle>
          <a:p>
            <a:endParaRPr lang="en-AU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DC531CA-B98C-2449-96CC-15E5B54F809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67150" y="0"/>
            <a:ext cx="30480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569" tIns="44785" rIns="89569" bIns="44785" numCol="1" anchor="t" anchorCtr="0" compatLnSpc="1">
            <a:prstTxWarp prst="textNoShape">
              <a:avLst/>
            </a:prstTxWarp>
          </a:bodyPr>
          <a:lstStyle>
            <a:lvl1pPr algn="r" defTabSz="896938">
              <a:defRPr sz="1200"/>
            </a:lvl1pPr>
          </a:lstStyle>
          <a:p>
            <a:endParaRPr lang="en-AU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3392296-7327-6546-9B6F-9AD77E0215C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3925" y="749300"/>
            <a:ext cx="4997450" cy="37480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30AF2DFE-5DCD-0842-BE59-F37FB51439A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2175" y="4797425"/>
            <a:ext cx="5056188" cy="449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569" tIns="44785" rIns="89569" bIns="447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text styles</a:t>
            </a:r>
          </a:p>
          <a:p>
            <a:pPr lvl="1"/>
            <a:r>
              <a:rPr lang="en-AU" altLang="en-US"/>
              <a:t>Second level</a:t>
            </a:r>
          </a:p>
          <a:p>
            <a:pPr lvl="2"/>
            <a:r>
              <a:rPr lang="en-AU" altLang="en-US"/>
              <a:t>Third level</a:t>
            </a:r>
          </a:p>
          <a:p>
            <a:pPr lvl="3"/>
            <a:r>
              <a:rPr lang="en-AU" altLang="en-US"/>
              <a:t>Fourth level</a:t>
            </a:r>
          </a:p>
          <a:p>
            <a:pPr lvl="4"/>
            <a:r>
              <a:rPr lang="en-AU" altLang="en-US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42AB260B-A72C-FB46-9125-775C5075DFB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20238"/>
            <a:ext cx="29749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569" tIns="44785" rIns="89569" bIns="44785" numCol="1" anchor="b" anchorCtr="0" compatLnSpc="1">
            <a:prstTxWarp prst="textNoShape">
              <a:avLst/>
            </a:prstTxWarp>
          </a:bodyPr>
          <a:lstStyle>
            <a:lvl1pPr defTabSz="896938">
              <a:defRPr sz="1200"/>
            </a:lvl1pPr>
          </a:lstStyle>
          <a:p>
            <a:endParaRPr lang="en-AU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4E1E6B9-09AA-AF48-B2DF-46D1724EDC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150" y="9520238"/>
            <a:ext cx="3048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569" tIns="44785" rIns="89569" bIns="44785" numCol="1" anchor="b" anchorCtr="0" compatLnSpc="1">
            <a:prstTxWarp prst="textNoShape">
              <a:avLst/>
            </a:prstTxWarp>
          </a:bodyPr>
          <a:lstStyle>
            <a:lvl1pPr algn="r" defTabSz="896938">
              <a:defRPr sz="1200"/>
            </a:lvl1pPr>
          </a:lstStyle>
          <a:p>
            <a:fld id="{F67B0BCE-7CDD-FF48-BF4F-79E249BB8169}" type="slidenum">
              <a:rPr lang="en-AU" altLang="en-US"/>
              <a:pPr/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2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2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2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2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A7C92-F66D-04AF-1F84-DD3F3C4AB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3496E-2687-00E9-C1B7-754978D7D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F09E5-1702-1008-9965-017C010AD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default </a:t>
            </a:r>
            <a:r>
              <a:rPr lang="en-US" dirty="0" err="1"/>
              <a:t>positive_genes_only</a:t>
            </a:r>
            <a:r>
              <a:rPr lang="en-US" dirty="0"/>
              <a:t> parameter is true, which filters for genes with a positive median expression in at least one cluster. (Note that this preprocessing step based on medians is specific to NS-Forest and should not be used if evaluating the performance of marker genes produced by other approaches.) </a:t>
            </a:r>
          </a:p>
          <a:p>
            <a:endParaRPr lang="en-US" dirty="0"/>
          </a:p>
          <a:p>
            <a:r>
              <a:rPr lang="en-US" dirty="0"/>
              <a:t>Based on the median expression matrix, the Binary Expression Score of each gene (positive genes only by default) is calculated in each cluster. The Binary Expression Score has a range of [0,1], with values closer to 1 indicating a higher level of binary expression (i.e., the gene is expressed in the target cluster and not others).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F227F-A551-2FC2-A0CA-C4A135250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B0BCE-7CDD-FF48-BF4F-79E249BB8169}" type="slidenum">
              <a:rPr lang="en-AU" altLang="en-US" smtClean="0"/>
              <a:pPr/>
              <a:t>1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866699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94E13F-EBAA-254E-B8A8-F145D8311E87}"/>
              </a:ext>
            </a:extLst>
          </p:cNvPr>
          <p:cNvSpPr/>
          <p:nvPr userDrawn="1"/>
        </p:nvSpPr>
        <p:spPr bwMode="auto">
          <a:xfrm>
            <a:off x="0" y="0"/>
            <a:ext cx="43891200" cy="32918400"/>
          </a:xfrm>
          <a:prstGeom prst="rect">
            <a:avLst/>
          </a:prstGeom>
          <a:gradFill flip="none" rotWithShape="1">
            <a:gsLst>
              <a:gs pos="0">
                <a:srgbClr val="9BDAF1"/>
              </a:gs>
              <a:gs pos="100000">
                <a:srgbClr val="FFFDFD"/>
              </a:gs>
            </a:gsLst>
            <a:lin ang="90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37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A0101"/>
                </a:solidFill>
                <a:effectLst/>
                <a:latin typeface="Times New Roman" pitchFamily="2" charset="0"/>
              </a:rPr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21403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505876-6FD5-2941-90F3-1DCFAEFBA73A}"/>
              </a:ext>
            </a:extLst>
          </p:cNvPr>
          <p:cNvSpPr/>
          <p:nvPr userDrawn="1"/>
        </p:nvSpPr>
        <p:spPr bwMode="auto">
          <a:xfrm>
            <a:off x="0" y="0"/>
            <a:ext cx="43891200" cy="32918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48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ctr" defTabSz="4267094" rtl="0" eaLnBrk="1" fontAlgn="base" hangingPunct="1">
        <a:spcBef>
          <a:spcPct val="0"/>
        </a:spcBef>
        <a:spcAft>
          <a:spcPct val="0"/>
        </a:spcAft>
        <a:defRPr sz="205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267094" rtl="0" eaLnBrk="1" fontAlgn="base" hangingPunct="1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2" charset="0"/>
        </a:defRPr>
      </a:lvl2pPr>
      <a:lvl3pPr algn="ctr" defTabSz="4267094" rtl="0" eaLnBrk="1" fontAlgn="base" hangingPunct="1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2" charset="0"/>
        </a:defRPr>
      </a:lvl3pPr>
      <a:lvl4pPr algn="ctr" defTabSz="4267094" rtl="0" eaLnBrk="1" fontAlgn="base" hangingPunct="1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2" charset="0"/>
        </a:defRPr>
      </a:lvl4pPr>
      <a:lvl5pPr algn="ctr" defTabSz="4267094" rtl="0" eaLnBrk="1" fontAlgn="base" hangingPunct="1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2" charset="0"/>
        </a:defRPr>
      </a:lvl5pPr>
      <a:lvl6pPr marL="457189" algn="ctr" defTabSz="4267094" rtl="0" eaLnBrk="1" fontAlgn="base" hangingPunct="1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2" charset="0"/>
        </a:defRPr>
      </a:lvl6pPr>
      <a:lvl7pPr marL="914378" algn="ctr" defTabSz="4267094" rtl="0" eaLnBrk="1" fontAlgn="base" hangingPunct="1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2" charset="0"/>
        </a:defRPr>
      </a:lvl7pPr>
      <a:lvl8pPr marL="1371566" algn="ctr" defTabSz="4267094" rtl="0" eaLnBrk="1" fontAlgn="base" hangingPunct="1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2" charset="0"/>
        </a:defRPr>
      </a:lvl8pPr>
      <a:lvl9pPr marL="1828754" algn="ctr" defTabSz="4267094" rtl="0" eaLnBrk="1" fontAlgn="base" hangingPunct="1">
        <a:spcBef>
          <a:spcPct val="0"/>
        </a:spcBef>
        <a:spcAft>
          <a:spcPct val="0"/>
        </a:spcAft>
        <a:defRPr sz="20500">
          <a:solidFill>
            <a:schemeClr val="tx2"/>
          </a:solidFill>
          <a:latin typeface="Times New Roman" pitchFamily="2" charset="0"/>
        </a:defRPr>
      </a:lvl9pPr>
    </p:titleStyle>
    <p:bodyStyle>
      <a:lvl1pPr marL="1600160" indent="-1600160" algn="l" defTabSz="4267094" rtl="0" eaLnBrk="1" fontAlgn="base" hangingPunct="1">
        <a:spcBef>
          <a:spcPct val="20000"/>
        </a:spcBef>
        <a:spcAft>
          <a:spcPct val="0"/>
        </a:spcAft>
        <a:buChar char="•"/>
        <a:defRPr sz="14900" kern="1200">
          <a:solidFill>
            <a:schemeClr val="tx1"/>
          </a:solidFill>
          <a:latin typeface="+mn-lt"/>
          <a:ea typeface="+mn-ea"/>
          <a:cs typeface="+mn-cs"/>
        </a:defRPr>
      </a:lvl1pPr>
      <a:lvl2pPr marL="3467013" indent="-1333467" algn="l" defTabSz="4267094" rtl="0" eaLnBrk="1" fontAlgn="base" hangingPunct="1">
        <a:spcBef>
          <a:spcPct val="20000"/>
        </a:spcBef>
        <a:spcAft>
          <a:spcPct val="0"/>
        </a:spcAft>
        <a:buChar char="–"/>
        <a:defRPr sz="13100" kern="1200">
          <a:solidFill>
            <a:schemeClr val="tx1"/>
          </a:solidFill>
          <a:latin typeface="+mn-lt"/>
          <a:ea typeface="+mn-ea"/>
          <a:cs typeface="+mn-cs"/>
        </a:defRPr>
      </a:lvl2pPr>
      <a:lvl3pPr marL="5333867" indent="-1066773" algn="l" defTabSz="4267094" rtl="0" eaLnBrk="1" fontAlgn="base" hangingPunct="1">
        <a:spcBef>
          <a:spcPct val="20000"/>
        </a:spcBef>
        <a:spcAft>
          <a:spcPct val="0"/>
        </a:spcAft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3pPr>
      <a:lvl4pPr marL="7467413" indent="-1066773" algn="l" defTabSz="4267094" rtl="0" eaLnBrk="1" fontAlgn="base" hangingPunct="1">
        <a:spcBef>
          <a:spcPct val="20000"/>
        </a:spcBef>
        <a:spcAft>
          <a:spcPct val="0"/>
        </a:spcAft>
        <a:buChar char="–"/>
        <a:defRPr sz="9300" kern="1200">
          <a:solidFill>
            <a:schemeClr val="tx1"/>
          </a:solidFill>
          <a:latin typeface="+mn-lt"/>
          <a:ea typeface="+mn-ea"/>
          <a:cs typeface="+mn-cs"/>
        </a:defRPr>
      </a:lvl4pPr>
      <a:lvl5pPr marL="9600960" indent="-1066773" algn="l" defTabSz="4267094" rtl="0" eaLnBrk="1" fontAlgn="base" hangingPunct="1">
        <a:spcBef>
          <a:spcPct val="20000"/>
        </a:spcBef>
        <a:spcAft>
          <a:spcPct val="0"/>
        </a:spcAft>
        <a:buChar char="»"/>
        <a:defRPr sz="9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hyperlink" Target="https://doi.org/10.1038/s41588-024-01688-9" TargetMode="External"/><Relationship Id="rId18" Type="http://schemas.openxmlformats.org/officeDocument/2006/relationships/hyperlink" Target="https://doi.org/10.1038/s41588-025-02454-1" TargetMode="External"/><Relationship Id="rId3" Type="http://schemas.openxmlformats.org/officeDocument/2006/relationships/hyperlink" Target="https://hpc.nih.gov/" TargetMode="External"/><Relationship Id="rId7" Type="http://schemas.openxmlformats.org/officeDocument/2006/relationships/image" Target="../media/image4.png"/><Relationship Id="rId12" Type="http://schemas.openxmlformats.org/officeDocument/2006/relationships/hyperlink" Target="https://doi.org/10.1016/j.cell.2023.11.026" TargetMode="External"/><Relationship Id="rId17" Type="http://schemas.openxmlformats.org/officeDocument/2006/relationships/hyperlink" Target="https://doi.org/10.1038/s41586-019-1506-7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doi.org/10.1038/s41586-021-03950-0" TargetMode="External"/><Relationship Id="rId20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11" Type="http://schemas.openxmlformats.org/officeDocument/2006/relationships/hyperlink" Target="https://doi.org/10.1186/s44330-024-00015-2" TargetMode="External"/><Relationship Id="rId5" Type="http://schemas.openxmlformats.org/officeDocument/2006/relationships/image" Target="../media/image2.svg"/><Relationship Id="rId15" Type="http://schemas.openxmlformats.org/officeDocument/2006/relationships/hyperlink" Target="https://doi.org/10.1038/s41591-023-02327-2" TargetMode="External"/><Relationship Id="rId10" Type="http://schemas.openxmlformats.org/officeDocument/2006/relationships/hyperlink" Target="https://doi.org/10.1016/j.cell.2024.10.024" TargetMode="External"/><Relationship Id="rId19" Type="http://schemas.openxmlformats.org/officeDocument/2006/relationships/hyperlink" Target="https://doi.org/10.1093/brain/awaf426" TargetMode="External"/><Relationship Id="rId4" Type="http://schemas.openxmlformats.org/officeDocument/2006/relationships/image" Target="../media/image1.png&amp;f=1&amp;nofb=1&amp;ipt=4e33dc177b97aa7834478ed38f4d24e6868f0ae3ae9899dfd021d1c135e13a5d"/><Relationship Id="rId9" Type="http://schemas.openxmlformats.org/officeDocument/2006/relationships/hyperlink" Target="https://doi.org/10.3389/fgene.2024.1478352" TargetMode="External"/><Relationship Id="rId14" Type="http://schemas.openxmlformats.org/officeDocument/2006/relationships/hyperlink" Target="https://doi.org/10.1038/s41586-023-05769-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14B6CA-0A36-F1BD-1C22-E8FD2733F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59">
            <a:extLst>
              <a:ext uri="{FF2B5EF4-FFF2-40B4-BE49-F238E27FC236}">
                <a16:creationId xmlns:a16="http://schemas.microsoft.com/office/drawing/2014/main" id="{AB9582B3-40FA-FF13-7D98-6037F9F85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6604" y="5394642"/>
            <a:ext cx="20655997" cy="26289000"/>
          </a:xfrm>
          <a:prstGeom prst="rect">
            <a:avLst/>
          </a:prstGeom>
          <a:solidFill>
            <a:schemeClr val="bg1"/>
          </a:solidFill>
          <a:ln w="63500" cmpd="thinThick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71BC"/>
                </a:gs>
              </a:gsLst>
              <a:lin ang="13500000" scaled="1"/>
              <a:tileRect/>
            </a:gra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0" tIns="360000" rIns="360000" bIns="360000"/>
          <a:lstStyle>
            <a:lvl1pPr marL="381000" indent="-381000">
              <a:defRPr sz="2400">
                <a:solidFill>
                  <a:schemeClr val="tx1"/>
                </a:solidFill>
                <a:latin typeface="Times New Roman" pitchFamily="2" charset="0"/>
              </a:defRPr>
            </a:lvl1pPr>
            <a:lvl2pPr marL="571500">
              <a:defRPr sz="2400">
                <a:solidFill>
                  <a:schemeClr val="tx1"/>
                </a:solidFill>
                <a:latin typeface="Times New Roman" pitchFamily="2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2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2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2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2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5400" b="1" dirty="0">
                <a:solidFill>
                  <a:srgbClr val="205493"/>
                </a:solidFill>
                <a:latin typeface="Arial" panose="020B0604020202020204" pitchFamily="34" charset="0"/>
              </a:rPr>
              <a:t>Results</a:t>
            </a:r>
          </a:p>
        </p:txBody>
      </p:sp>
      <p:sp>
        <p:nvSpPr>
          <p:cNvPr id="15366" name="Text Box 6">
            <a:extLst>
              <a:ext uri="{FF2B5EF4-FFF2-40B4-BE49-F238E27FC236}">
                <a16:creationId xmlns:a16="http://schemas.microsoft.com/office/drawing/2014/main" id="{45604208-1F0A-826B-6CD5-1FCCF8F18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"/>
            <a:ext cx="43891200" cy="41374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lIns="540000" tIns="1080000" rIns="540000" bIns="540000"/>
          <a:lstStyle/>
          <a:p>
            <a:pPr algn="ctr"/>
            <a:endParaRPr lang="en-GB" altLang="en-US" sz="3200" dirty="0">
              <a:latin typeface="Arial" panose="020B0604020202020204" pitchFamily="34" charset="0"/>
            </a:endParaRPr>
          </a:p>
        </p:txBody>
      </p:sp>
      <p:sp>
        <p:nvSpPr>
          <p:cNvPr id="15417" name="Rectangle 57">
            <a:extLst>
              <a:ext uri="{FF2B5EF4-FFF2-40B4-BE49-F238E27FC236}">
                <a16:creationId xmlns:a16="http://schemas.microsoft.com/office/drawing/2014/main" id="{DC132DB9-83EC-E489-281E-02AED844B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174" y="21237336"/>
            <a:ext cx="9829800" cy="10461864"/>
          </a:xfrm>
          <a:prstGeom prst="rect">
            <a:avLst/>
          </a:prstGeom>
          <a:solidFill>
            <a:schemeClr val="bg1"/>
          </a:solidFill>
          <a:ln w="63500" cmpd="thinThick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71BC"/>
                </a:gs>
              </a:gsLst>
              <a:lin ang="13500000" scaled="1"/>
              <a:tileRect/>
            </a:gra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0" tIns="360000" rIns="360000" bIns="360000"/>
          <a:lstStyle/>
          <a:p>
            <a:pPr>
              <a:spcBef>
                <a:spcPct val="50000"/>
              </a:spcBef>
            </a:pPr>
            <a:r>
              <a:rPr lang="en-GB" altLang="en-US" sz="5400" b="1" dirty="0">
                <a:solidFill>
                  <a:srgbClr val="205493"/>
                </a:solidFill>
                <a:latin typeface="Arial" panose="020B0604020202020204" pitchFamily="34" charset="0"/>
              </a:rPr>
              <a:t>Methods</a:t>
            </a:r>
          </a:p>
          <a:p>
            <a:pPr>
              <a:spcBef>
                <a:spcPct val="50000"/>
              </a:spcBef>
            </a:pPr>
            <a:endParaRPr lang="en-GB" altLang="en-US" sz="5400" b="1" dirty="0">
              <a:solidFill>
                <a:srgbClr val="205493"/>
              </a:solidFill>
              <a:latin typeface="Arial" panose="020B0604020202020204" pitchFamily="34" charset="0"/>
            </a:endParaRPr>
          </a:p>
        </p:txBody>
      </p:sp>
      <p:sp>
        <p:nvSpPr>
          <p:cNvPr id="15389" name="Rectangle 29">
            <a:extLst>
              <a:ext uri="{FF2B5EF4-FFF2-40B4-BE49-F238E27FC236}">
                <a16:creationId xmlns:a16="http://schemas.microsoft.com/office/drawing/2014/main" id="{B1BAFF50-9C87-41F9-8D3E-6B7A2ADD8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98926"/>
            <a:ext cx="43891200" cy="244475"/>
          </a:xfrm>
          <a:prstGeom prst="rect">
            <a:avLst/>
          </a:prstGeom>
          <a:gradFill rotWithShape="0">
            <a:gsLst>
              <a:gs pos="0">
                <a:schemeClr val="accent3"/>
              </a:gs>
              <a:gs pos="100000">
                <a:srgbClr val="9BDAF1"/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8" name="Rectangle 58">
            <a:extLst>
              <a:ext uri="{FF2B5EF4-FFF2-40B4-BE49-F238E27FC236}">
                <a16:creationId xmlns:a16="http://schemas.microsoft.com/office/drawing/2014/main" id="{4DAF20AB-DC33-66D3-0A04-C1AE6AF0D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174" y="5419061"/>
            <a:ext cx="9829800" cy="15218368"/>
          </a:xfrm>
          <a:prstGeom prst="rect">
            <a:avLst/>
          </a:prstGeom>
          <a:solidFill>
            <a:schemeClr val="bg1"/>
          </a:solidFill>
          <a:ln w="63500" cmpd="thinThick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71BC"/>
                </a:gs>
              </a:gsLst>
              <a:lin ang="13500000" scaled="1"/>
              <a:tileRect/>
            </a:gradFill>
            <a:miter lim="800000"/>
            <a:headEnd/>
            <a:tailEnd/>
          </a:ln>
          <a:effectLst/>
        </p:spPr>
        <p:txBody>
          <a:bodyPr lIns="457200" tIns="360000" rIns="356616" bIns="360000"/>
          <a:lstStyle/>
          <a:p>
            <a:pPr>
              <a:spcBef>
                <a:spcPct val="50000"/>
              </a:spcBef>
            </a:pPr>
            <a:r>
              <a:rPr lang="en-GB" altLang="en-US" sz="5400" b="1" dirty="0">
                <a:solidFill>
                  <a:srgbClr val="205493"/>
                </a:solidFill>
                <a:latin typeface="Arial" panose="020B0604020202020204" pitchFamily="34" charset="0"/>
              </a:rPr>
              <a:t>Introduction</a:t>
            </a:r>
          </a:p>
          <a:p>
            <a:pPr>
              <a:lnSpc>
                <a:spcPts val="4140"/>
              </a:lnSpc>
              <a:spcBef>
                <a:spcPct val="50000"/>
              </a:spcBef>
            </a:pPr>
            <a:r>
              <a:rPr lang="en-AU" altLang="en-US" sz="3200" b="1" dirty="0">
                <a:latin typeface="Arial" panose="020B0604020202020204" pitchFamily="34" charset="0"/>
              </a:rPr>
              <a:t>Long non-coding RNA (lncRNA) </a:t>
            </a:r>
            <a:r>
              <a:rPr lang="en-AU" altLang="en-US" sz="3200" dirty="0">
                <a:latin typeface="Arial" panose="020B0604020202020204" pitchFamily="34" charset="0"/>
              </a:rPr>
              <a:t>are non-coding RNA transcripts longer than 200 nucleotides that regulate gene expression through diverse nuclear and cytoplasmic mechanisms.</a:t>
            </a:r>
            <a:r>
              <a:rPr lang="en-AU" altLang="en-US" sz="3200" baseline="30000" dirty="0">
                <a:latin typeface="Arial" panose="020B0604020202020204" pitchFamily="34" charset="0"/>
              </a:rPr>
              <a:t>1</a:t>
            </a:r>
            <a:r>
              <a:rPr lang="en-AU" altLang="en-US" sz="3200" dirty="0">
                <a:latin typeface="Arial" panose="020B0604020202020204" pitchFamily="34" charset="0"/>
              </a:rPr>
              <a:t> Compared to protein-coding genes, lncRNAs generally exhibit </a:t>
            </a:r>
            <a:r>
              <a:rPr lang="en-AU" altLang="en-US" sz="3200" b="1" dirty="0">
                <a:latin typeface="Arial" panose="020B0604020202020204" pitchFamily="34" charset="0"/>
              </a:rPr>
              <a:t>lower expression </a:t>
            </a:r>
            <a:r>
              <a:rPr lang="en-AU" altLang="en-US" sz="3200" dirty="0">
                <a:latin typeface="Arial" panose="020B0604020202020204" pitchFamily="34" charset="0"/>
              </a:rPr>
              <a:t>but </a:t>
            </a:r>
            <a:r>
              <a:rPr lang="en-AU" altLang="en-US" sz="3200" b="1" dirty="0">
                <a:latin typeface="Arial" panose="020B0604020202020204" pitchFamily="34" charset="0"/>
              </a:rPr>
              <a:t>greater cell-type specificity</a:t>
            </a:r>
            <a:r>
              <a:rPr lang="en-AU" altLang="en-US" sz="3200" dirty="0">
                <a:latin typeface="Arial" panose="020B0604020202020204" pitchFamily="34" charset="0"/>
              </a:rPr>
              <a:t>,</a:t>
            </a:r>
            <a:r>
              <a:rPr lang="en-AU" altLang="en-US" sz="3200" baseline="30000" dirty="0">
                <a:latin typeface="Arial" panose="020B0604020202020204" pitchFamily="34" charset="0"/>
              </a:rPr>
              <a:t>2</a:t>
            </a:r>
            <a:r>
              <a:rPr lang="en-AU" altLang="en-US" sz="3200" dirty="0">
                <a:latin typeface="Arial" panose="020B0604020202020204" pitchFamily="34" charset="0"/>
              </a:rPr>
              <a:t> making them promising candidate biomarkers for cellular identity. However, their utility for </a:t>
            </a:r>
            <a:r>
              <a:rPr lang="en-AU" altLang="en-US" sz="3200" b="1" dirty="0">
                <a:latin typeface="Arial" panose="020B0604020202020204" pitchFamily="34" charset="0"/>
              </a:rPr>
              <a:t>distinguishing healthy cell types </a:t>
            </a:r>
            <a:r>
              <a:rPr lang="en-AU" altLang="en-US" sz="3200" dirty="0">
                <a:latin typeface="Arial" panose="020B0604020202020204" pitchFamily="34" charset="0"/>
              </a:rPr>
              <a:t>across tissues remains </a:t>
            </a:r>
            <a:r>
              <a:rPr lang="en-AU" altLang="en-US" sz="3200" b="1" dirty="0">
                <a:latin typeface="Arial" panose="020B0604020202020204" pitchFamily="34" charset="0"/>
              </a:rPr>
              <a:t>poorly characterized</a:t>
            </a:r>
            <a:r>
              <a:rPr lang="en-AU" altLang="en-US" sz="3200" dirty="0">
                <a:latin typeface="Arial" panose="020B0604020202020204" pitchFamily="34" charset="0"/>
              </a:rPr>
              <a:t>.</a:t>
            </a:r>
          </a:p>
          <a:p>
            <a:pPr>
              <a:lnSpc>
                <a:spcPts val="4140"/>
              </a:lnSpc>
              <a:spcBef>
                <a:spcPct val="50000"/>
              </a:spcBef>
            </a:pPr>
            <a:r>
              <a:rPr lang="en-AU" altLang="en-US" sz="3200" b="1" dirty="0">
                <a:latin typeface="Arial" panose="020B0604020202020204" pitchFamily="34" charset="0"/>
              </a:rPr>
              <a:t>NS-Forest v4.1</a:t>
            </a:r>
            <a:r>
              <a:rPr lang="en-AU" altLang="en-US" sz="3200" baseline="30000" dirty="0">
                <a:latin typeface="Arial" panose="020B0604020202020204" pitchFamily="34" charset="0"/>
              </a:rPr>
              <a:t>3</a:t>
            </a:r>
            <a:r>
              <a:rPr lang="en-AU" altLang="en-US" sz="3200" b="1" dirty="0">
                <a:latin typeface="Arial" panose="020B0604020202020204" pitchFamily="34" charset="0"/>
              </a:rPr>
              <a:t> </a:t>
            </a:r>
            <a:r>
              <a:rPr lang="en-AU" altLang="en-US" sz="3200" dirty="0">
                <a:latin typeface="Arial" panose="020B0604020202020204" pitchFamily="34" charset="0"/>
              </a:rPr>
              <a:t>identifies minimal sets of </a:t>
            </a:r>
            <a:r>
              <a:rPr lang="en-AU" altLang="en-US" sz="3200" b="1" dirty="0">
                <a:latin typeface="Arial" panose="020B0604020202020204" pitchFamily="34" charset="0"/>
              </a:rPr>
              <a:t>marker genes</a:t>
            </a:r>
            <a:r>
              <a:rPr lang="en-AU" altLang="en-US" sz="3200" dirty="0">
                <a:latin typeface="Arial" panose="020B0604020202020204" pitchFamily="34" charset="0"/>
              </a:rPr>
              <a:t> that classify individual cell types using random forest models. Candidate biomarkers are prioritized based on </a:t>
            </a:r>
            <a:r>
              <a:rPr lang="en-AU" altLang="en-US" sz="3200" b="1" dirty="0">
                <a:latin typeface="Arial" panose="020B0604020202020204" pitchFamily="34" charset="0"/>
              </a:rPr>
              <a:t>positive binary expression patterns</a:t>
            </a:r>
            <a:r>
              <a:rPr lang="en-AU" altLang="en-US" sz="3200" dirty="0">
                <a:latin typeface="Arial" panose="020B0604020202020204" pitchFamily="34" charset="0"/>
              </a:rPr>
              <a:t>, quantified by NS-Forest's </a:t>
            </a:r>
            <a:r>
              <a:rPr lang="en-AU" altLang="en-US" sz="3200" b="1" dirty="0">
                <a:latin typeface="Arial" panose="020B0604020202020204" pitchFamily="34" charset="0"/>
              </a:rPr>
              <a:t>Binary Score</a:t>
            </a:r>
            <a:r>
              <a:rPr lang="en-AU" altLang="en-US" sz="3200" dirty="0">
                <a:latin typeface="Arial" panose="020B0604020202020204" pitchFamily="34" charset="0"/>
              </a:rPr>
              <a:t>, which measures the specificity of a gene's expression within a cell type. 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In running NS-Forest on diverse tissues, it </a:t>
            </a: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</a:rPr>
              <a:t>frequently identified lncRNAs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 as cell type specific markers if the tissue was enriched in </a:t>
            </a: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</a:rPr>
              <a:t>neuronal cell types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AU" altLang="en-US" sz="3200" dirty="0">
              <a:latin typeface="Arial" panose="020B0604020202020204" pitchFamily="34" charset="0"/>
            </a:endParaRPr>
          </a:p>
          <a:p>
            <a:pPr algn="ctr">
              <a:lnSpc>
                <a:spcPts val="4140"/>
              </a:lnSpc>
              <a:spcBef>
                <a:spcPct val="50000"/>
              </a:spcBef>
            </a:pPr>
            <a:r>
              <a:rPr lang="en-AU" altLang="en-US" sz="3200" b="1" dirty="0">
                <a:latin typeface="Arial" panose="020B0604020202020204" pitchFamily="34" charset="0"/>
              </a:rPr>
              <a:t>We aim to evaluate whether lncRNAs alone retain sufficient discriminatory information to classify cell types and whether their biomarker potential differs between neural and non-neural healthy human tissues.</a:t>
            </a:r>
          </a:p>
        </p:txBody>
      </p:sp>
      <p:sp>
        <p:nvSpPr>
          <p:cNvPr id="15415" name="Rectangle 55">
            <a:extLst>
              <a:ext uri="{FF2B5EF4-FFF2-40B4-BE49-F238E27FC236}">
                <a16:creationId xmlns:a16="http://schemas.microsoft.com/office/drawing/2014/main" id="{B7520A07-EEBB-1B9D-89C9-C82A5D819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18400" y="18073803"/>
            <a:ext cx="9829800" cy="5196870"/>
          </a:xfrm>
          <a:prstGeom prst="rect">
            <a:avLst/>
          </a:prstGeom>
          <a:solidFill>
            <a:schemeClr val="bg1"/>
          </a:solidFill>
          <a:ln w="63500" cmpd="thinThick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71BC"/>
                </a:gs>
              </a:gsLst>
              <a:lin ang="13500000" scaled="1"/>
              <a:tileRect/>
            </a:gra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0" tIns="360000" rIns="356616" bIns="360000"/>
          <a:lstStyle/>
          <a:p>
            <a:pPr>
              <a:spcBef>
                <a:spcPct val="50000"/>
              </a:spcBef>
            </a:pPr>
            <a:r>
              <a:rPr lang="en-GB" altLang="en-US" sz="5400" b="1" dirty="0">
                <a:solidFill>
                  <a:srgbClr val="205493"/>
                </a:solidFill>
                <a:latin typeface="Arial" panose="020B0604020202020204" pitchFamily="34" charset="0"/>
              </a:rPr>
              <a:t>Acknowledgements</a:t>
            </a:r>
          </a:p>
          <a:p>
            <a:pPr>
              <a:spcBef>
                <a:spcPct val="50000"/>
              </a:spcBef>
            </a:pP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14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research was supported by the Intramural Research Program of the NIH, National Library of Medicine.</a:t>
            </a:r>
          </a:p>
          <a:p>
            <a:pPr>
              <a:lnSpc>
                <a:spcPts val="414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work utilized the computational resources of the NIH HPC Biowulf cluster (</a:t>
            </a:r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https://hpc.nih.gov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>
              <a:lnSpc>
                <a:spcPts val="414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Thank you to the Scheuermann Lab for your thoughtful contributions and support throughout this project.</a:t>
            </a:r>
          </a:p>
        </p:txBody>
      </p:sp>
      <p:sp>
        <p:nvSpPr>
          <p:cNvPr id="15416" name="Rectangle 56">
            <a:extLst>
              <a:ext uri="{FF2B5EF4-FFF2-40B4-BE49-F238E27FC236}">
                <a16:creationId xmlns:a16="http://schemas.microsoft.com/office/drawing/2014/main" id="{C418AC70-8890-3188-3264-4E5AA47F2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18400" y="5419061"/>
            <a:ext cx="9829800" cy="12243202"/>
          </a:xfrm>
          <a:prstGeom prst="rect">
            <a:avLst/>
          </a:prstGeom>
          <a:solidFill>
            <a:schemeClr val="bg1"/>
          </a:solidFill>
          <a:ln w="63500" cmpd="thinThick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71BC"/>
                </a:gs>
              </a:gsLst>
              <a:lin ang="13500000" scaled="1"/>
              <a:tileRect/>
            </a:gra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0" tIns="360000" rIns="356616" bIns="360000"/>
          <a:lstStyle/>
          <a:p>
            <a:pPr>
              <a:spcBef>
                <a:spcPct val="50000"/>
              </a:spcBef>
            </a:pPr>
            <a:r>
              <a:rPr lang="en-GB" altLang="en-US" sz="5400" b="1" dirty="0">
                <a:solidFill>
                  <a:srgbClr val="205493"/>
                </a:solidFill>
                <a:latin typeface="Arial" panose="020B0604020202020204" pitchFamily="34" charset="0"/>
              </a:rPr>
              <a:t>Conclusions</a:t>
            </a:r>
            <a:endParaRPr lang="en-US" altLang="en-US" sz="3200" b="1" dirty="0">
              <a:solidFill>
                <a:srgbClr val="205493"/>
              </a:solidFill>
              <a:latin typeface="+mn-lt"/>
            </a:endParaRPr>
          </a:p>
          <a:p>
            <a:pPr>
              <a:spcBef>
                <a:spcPct val="50000"/>
              </a:spcBef>
            </a:pPr>
            <a:endParaRPr lang="en-US" sz="800" b="1" dirty="0">
              <a:latin typeface="+mn-lt"/>
            </a:endParaRPr>
          </a:p>
          <a:p>
            <a:pPr marL="457200" lvl="0" indent="-457200">
              <a:lnSpc>
                <a:spcPts val="414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3200" b="1" dirty="0">
                <a:latin typeface="+mn-lt"/>
              </a:rPr>
              <a:t>Neural tissues </a:t>
            </a:r>
            <a:r>
              <a:rPr lang="en-US" sz="3200" dirty="0">
                <a:latin typeface="+mn-lt"/>
              </a:rPr>
              <a:t>contain </a:t>
            </a:r>
            <a:r>
              <a:rPr lang="en-US" sz="3200" b="1" dirty="0">
                <a:latin typeface="+mn-lt"/>
              </a:rPr>
              <a:t>more candidate marker genes</a:t>
            </a:r>
            <a:r>
              <a:rPr lang="en-US" sz="3200" dirty="0">
                <a:latin typeface="+mn-lt"/>
              </a:rPr>
              <a:t> than non-neural tissues, with a </a:t>
            </a:r>
            <a:r>
              <a:rPr lang="en-US" sz="3200" b="1" dirty="0">
                <a:latin typeface="+mn-lt"/>
              </a:rPr>
              <a:t>larger contribution from lncRNAs</a:t>
            </a:r>
            <a:r>
              <a:rPr lang="en-US" sz="3200" dirty="0">
                <a:latin typeface="+mn-lt"/>
              </a:rPr>
              <a:t>, 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suggesting that lncRNAs are more highly expressed in neuronal cells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lang="en-US" sz="3200" dirty="0">
              <a:latin typeface="+mn-lt"/>
            </a:endParaRPr>
          </a:p>
          <a:p>
            <a:pPr marL="457200" indent="-457200">
              <a:lnSpc>
                <a:spcPts val="414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latin typeface="+mn-lt"/>
              </a:rPr>
              <a:t>lncRNAs</a:t>
            </a:r>
            <a:r>
              <a:rPr lang="en-US" sz="3200" dirty="0">
                <a:latin typeface="+mn-lt"/>
              </a:rPr>
              <a:t> exhibit </a:t>
            </a:r>
            <a:r>
              <a:rPr lang="en-US" sz="3200" b="1" dirty="0">
                <a:latin typeface="+mn-lt"/>
              </a:rPr>
              <a:t>greater cell type specificity</a:t>
            </a:r>
            <a:r>
              <a:rPr lang="en-US" sz="3200" dirty="0">
                <a:latin typeface="+mn-lt"/>
              </a:rPr>
              <a:t> than the full transcriptome in </a:t>
            </a:r>
            <a:r>
              <a:rPr lang="en-US" sz="3200" b="1" dirty="0">
                <a:latin typeface="+mn-lt"/>
              </a:rPr>
              <a:t>neural tissues</a:t>
            </a:r>
            <a:r>
              <a:rPr lang="en-US" sz="3200" dirty="0">
                <a:latin typeface="+mn-lt"/>
              </a:rPr>
              <a:t>.</a:t>
            </a:r>
          </a:p>
          <a:p>
            <a:pPr marL="457200" indent="-457200">
              <a:lnSpc>
                <a:spcPts val="414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+mn-lt"/>
              </a:rPr>
              <a:t>Restricting analyses to lncRNAs </a:t>
            </a:r>
            <a:r>
              <a:rPr lang="en-US" sz="3200" b="1" dirty="0">
                <a:latin typeface="+mn-lt"/>
              </a:rPr>
              <a:t>generally</a:t>
            </a:r>
            <a:r>
              <a:rPr lang="en-US" sz="3200" dirty="0">
                <a:latin typeface="+mn-lt"/>
              </a:rPr>
              <a:t>  </a:t>
            </a:r>
            <a:r>
              <a:rPr lang="en-US" sz="3200" b="1" dirty="0">
                <a:latin typeface="+mn-lt"/>
              </a:rPr>
              <a:t>decreases</a:t>
            </a:r>
            <a:r>
              <a:rPr lang="en-US" sz="3200" dirty="0">
                <a:latin typeface="+mn-lt"/>
              </a:rPr>
              <a:t> the </a:t>
            </a:r>
            <a:r>
              <a:rPr lang="en-US" sz="3200" b="1" dirty="0">
                <a:latin typeface="+mn-lt"/>
              </a:rPr>
              <a:t>precision</a:t>
            </a:r>
            <a:r>
              <a:rPr lang="en-US" sz="3200" dirty="0">
                <a:latin typeface="+mn-lt"/>
              </a:rPr>
              <a:t> of NS-Forest classification, but the </a:t>
            </a:r>
            <a:r>
              <a:rPr lang="en-US" sz="3200" b="1" dirty="0">
                <a:latin typeface="+mn-lt"/>
              </a:rPr>
              <a:t>reduction is smaller in neural tissues </a:t>
            </a:r>
            <a:r>
              <a:rPr lang="en-US" sz="3200" dirty="0">
                <a:latin typeface="+mn-lt"/>
              </a:rPr>
              <a:t>than in non-neural tissues.</a:t>
            </a:r>
          </a:p>
          <a:p>
            <a:pPr marL="457200" indent="-457200">
              <a:lnSpc>
                <a:spcPts val="414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lncRNAs may play a unique role in </a:t>
            </a: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</a:rPr>
              <a:t>establishing 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the</a:t>
            </a: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</a:rPr>
              <a:t> highly specific gene regulation 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necessary to generate the large number of </a:t>
            </a: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</a:rPr>
              <a:t>distinct neuron cell subtypes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sz="3200" dirty="0">
              <a:latin typeface="+mn-lt"/>
            </a:endParaRPr>
          </a:p>
          <a:p>
            <a:pPr marL="457200" indent="-457200">
              <a:lnSpc>
                <a:spcPts val="414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latin typeface="+mn-lt"/>
              </a:rPr>
              <a:t>Future analyses </a:t>
            </a:r>
            <a:r>
              <a:rPr lang="en-US" sz="3200" dirty="0">
                <a:latin typeface="+mn-lt"/>
              </a:rPr>
              <a:t>of coding-only and downsampled gene sets will help determine and quantify </a:t>
            </a:r>
            <a:r>
              <a:rPr lang="en-US" sz="3200" b="1" dirty="0">
                <a:latin typeface="+mn-lt"/>
              </a:rPr>
              <a:t>differences in biomarker potential</a:t>
            </a:r>
            <a:r>
              <a:rPr lang="en-US" sz="3200" dirty="0">
                <a:latin typeface="+mn-lt"/>
              </a:rPr>
              <a:t> between </a:t>
            </a:r>
            <a:r>
              <a:rPr lang="en-US" sz="3200" b="1" dirty="0">
                <a:latin typeface="+mn-lt"/>
              </a:rPr>
              <a:t>lncRNA</a:t>
            </a:r>
            <a:r>
              <a:rPr lang="en-US" sz="3200" dirty="0">
                <a:latin typeface="+mn-lt"/>
              </a:rPr>
              <a:t> and </a:t>
            </a:r>
            <a:r>
              <a:rPr lang="en-US" sz="3200" b="1" dirty="0">
                <a:latin typeface="+mn-lt"/>
              </a:rPr>
              <a:t>coding genes</a:t>
            </a:r>
            <a:r>
              <a:rPr lang="en-US" sz="3200" dirty="0">
                <a:latin typeface="+mn-lt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184BD-A6F8-2B63-DED2-CCC6B192B23D}"/>
              </a:ext>
            </a:extLst>
          </p:cNvPr>
          <p:cNvSpPr txBox="1"/>
          <p:nvPr/>
        </p:nvSpPr>
        <p:spPr>
          <a:xfrm>
            <a:off x="10035607" y="541527"/>
            <a:ext cx="23672800" cy="320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8000" b="1" dirty="0">
                <a:solidFill>
                  <a:srgbClr val="205493"/>
                </a:solidFill>
                <a:latin typeface="Arial" panose="020B0604020202020204" pitchFamily="34" charset="0"/>
              </a:rPr>
              <a:t>lncRNAs as cell type-specific biomarkers across neural and non-neural human tissues.</a:t>
            </a:r>
          </a:p>
          <a:p>
            <a:pPr algn="ctr">
              <a:lnSpc>
                <a:spcPct val="150000"/>
              </a:lnSpc>
            </a:pPr>
            <a:r>
              <a:rPr lang="en-GB" altLang="en-US" sz="3200" dirty="0">
                <a:latin typeface="Arial" panose="020B0604020202020204" pitchFamily="34" charset="0"/>
              </a:rPr>
              <a:t>Sasha Becker</a:t>
            </a:r>
            <a:r>
              <a:rPr lang="en-GB" altLang="en-US" sz="3200" baseline="30000" dirty="0">
                <a:latin typeface="Arial" panose="020B0604020202020204" pitchFamily="34" charset="0"/>
              </a:rPr>
              <a:t>1,2</a:t>
            </a:r>
            <a:r>
              <a:rPr lang="en-GB" altLang="en-US" sz="3200" dirty="0">
                <a:latin typeface="Arial" panose="020B0604020202020204" pitchFamily="34" charset="0"/>
              </a:rPr>
              <a:t>, Bingfang Xu</a:t>
            </a:r>
            <a:r>
              <a:rPr lang="en-GB" altLang="en-US" sz="3200" baseline="30000" dirty="0">
                <a:latin typeface="Arial" panose="020B0604020202020204" pitchFamily="34" charset="0"/>
              </a:rPr>
              <a:t>1</a:t>
            </a:r>
            <a:r>
              <a:rPr lang="en-GB" altLang="en-US" sz="3200" dirty="0">
                <a:latin typeface="Arial" panose="020B0604020202020204" pitchFamily="34" charset="0"/>
              </a:rPr>
              <a:t>, Ajith V. Pankajam</a:t>
            </a:r>
            <a:r>
              <a:rPr lang="en-GB" altLang="en-US" sz="3200" baseline="30000" dirty="0">
                <a:latin typeface="Arial" panose="020B0604020202020204" pitchFamily="34" charset="0"/>
              </a:rPr>
              <a:t>1</a:t>
            </a:r>
            <a:r>
              <a:rPr lang="en-GB" altLang="en-US" sz="3200" dirty="0">
                <a:latin typeface="Arial" panose="020B0604020202020204" pitchFamily="34" charset="0"/>
              </a:rPr>
              <a:t>, Richard Scheuermann</a:t>
            </a:r>
            <a:r>
              <a:rPr lang="en-GB" altLang="en-US" sz="3200" baseline="30000" dirty="0">
                <a:latin typeface="Arial" panose="020B0604020202020204" pitchFamily="34" charset="0"/>
              </a:rPr>
              <a:t>1</a:t>
            </a:r>
            <a:endParaRPr lang="en-GB" altLang="en-US" sz="3200" dirty="0">
              <a:latin typeface="Arial" panose="020B0604020202020204" pitchFamily="34" charset="0"/>
            </a:endParaRPr>
          </a:p>
        </p:txBody>
      </p:sp>
      <p:pic>
        <p:nvPicPr>
          <p:cNvPr id="17" name="Picture 16" descr="News, Events, and Updates">
            <a:extLst>
              <a:ext uri="{FF2B5EF4-FFF2-40B4-BE49-F238E27FC236}">
                <a16:creationId xmlns:a16="http://schemas.microsoft.com/office/drawing/2014/main" id="{96090910-C8A1-50A2-C65F-78F09A1FAD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99" t="35655" r="20205" b="35879"/>
          <a:stretch>
            <a:fillRect/>
          </a:stretch>
        </p:blipFill>
        <p:spPr>
          <a:xfrm>
            <a:off x="1077174" y="836810"/>
            <a:ext cx="9082845" cy="266567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E4CAA68-80E0-ED7E-9AC6-FEF4C8174C97}"/>
              </a:ext>
            </a:extLst>
          </p:cNvPr>
          <p:cNvSpPr txBox="1"/>
          <p:nvPr/>
        </p:nvSpPr>
        <p:spPr>
          <a:xfrm>
            <a:off x="34380202" y="202260"/>
            <a:ext cx="8977597" cy="369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altLang="en-US" sz="3200" baseline="30000" dirty="0">
                <a:latin typeface="Arial" panose="020B0604020202020204" pitchFamily="34" charset="0"/>
              </a:rPr>
              <a:t>1 </a:t>
            </a:r>
            <a:r>
              <a:rPr lang="en-GB" altLang="en-US" sz="3200" dirty="0">
                <a:latin typeface="Arial" panose="020B0604020202020204" pitchFamily="34" charset="0"/>
              </a:rPr>
              <a:t>Division of Intramural Research, National Library of Medicine, National Institutes of Health</a:t>
            </a:r>
          </a:p>
          <a:p>
            <a:pPr>
              <a:lnSpc>
                <a:spcPct val="150000"/>
              </a:lnSpc>
            </a:pPr>
            <a:r>
              <a:rPr lang="en-GB" altLang="en-US" sz="3200" baseline="30000" dirty="0">
                <a:latin typeface="Arial" panose="020B0604020202020204" pitchFamily="34" charset="0"/>
              </a:rPr>
              <a:t>2 </a:t>
            </a:r>
            <a:r>
              <a:rPr lang="en-GB" altLang="en-US" sz="3200" dirty="0">
                <a:latin typeface="Arial" panose="020B0604020202020204" pitchFamily="34" charset="0"/>
              </a:rPr>
              <a:t>Department of Biostatistics and Bioinformatics, Milken Institute School of Public Health, </a:t>
            </a:r>
          </a:p>
          <a:p>
            <a:pPr>
              <a:lnSpc>
                <a:spcPct val="150000"/>
              </a:lnSpc>
            </a:pPr>
            <a:r>
              <a:rPr lang="en-GB" altLang="en-US" sz="3200" dirty="0">
                <a:latin typeface="Arial" panose="020B0604020202020204" pitchFamily="34" charset="0"/>
              </a:rPr>
              <a:t>George Washington University</a:t>
            </a:r>
          </a:p>
        </p:txBody>
      </p:sp>
      <p:sp>
        <p:nvSpPr>
          <p:cNvPr id="2" name="Rectangle 56">
            <a:extLst>
              <a:ext uri="{FF2B5EF4-FFF2-40B4-BE49-F238E27FC236}">
                <a16:creationId xmlns:a16="http://schemas.microsoft.com/office/drawing/2014/main" id="{E61C05F3-971C-D9EB-DEC5-490940638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18400" y="23682214"/>
            <a:ext cx="9829800" cy="8016985"/>
          </a:xfrm>
          <a:prstGeom prst="rect">
            <a:avLst/>
          </a:prstGeom>
          <a:solidFill>
            <a:schemeClr val="bg1"/>
          </a:solidFill>
          <a:ln w="63500" cmpd="thinThick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71BC"/>
                </a:gs>
              </a:gsLst>
              <a:lin ang="13500000" scaled="1"/>
              <a:tileRect/>
            </a:gra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0" tIns="360000" rIns="356616" bIns="360000"/>
          <a:lstStyle/>
          <a:p>
            <a:pPr>
              <a:spcBef>
                <a:spcPct val="50000"/>
              </a:spcBef>
            </a:pPr>
            <a:r>
              <a:rPr lang="en-GB" altLang="en-US" sz="5400" b="1" dirty="0">
                <a:solidFill>
                  <a:srgbClr val="2054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pPr>
              <a:spcBef>
                <a:spcPct val="50000"/>
              </a:spcBef>
            </a:pPr>
            <a:endParaRPr lang="en-US" sz="6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A189FC-DC99-C9CB-E1CD-B32909193508}"/>
              </a:ext>
            </a:extLst>
          </p:cNvPr>
          <p:cNvSpPr txBox="1"/>
          <p:nvPr/>
        </p:nvSpPr>
        <p:spPr>
          <a:xfrm>
            <a:off x="14782800" y="595215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3200" b="1" i="1" dirty="0">
                <a:latin typeface="Arial" panose="020B0604020202020204" pitchFamily="34" charset="0"/>
              </a:rPr>
              <a:t>Table 1</a:t>
            </a:r>
            <a:r>
              <a:rPr lang="en-AU" altLang="en-US" sz="3200" b="1" dirty="0">
                <a:latin typeface="Arial" panose="020B0604020202020204" pitchFamily="34" charset="0"/>
              </a:rPr>
              <a:t>. Descriptive table of Cell x Gene data.</a:t>
            </a:r>
            <a:endParaRPr lang="en-US" sz="3200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2B21DA2C-6B4E-8A60-5042-A03EAE87953A}"/>
              </a:ext>
            </a:extLst>
          </p:cNvPr>
          <p:cNvGraphicFramePr>
            <a:graphicFrameLocks noGrp="1"/>
          </p:cNvGraphicFramePr>
          <p:nvPr/>
        </p:nvGraphicFramePr>
        <p:xfrm>
          <a:off x="12041458" y="6765504"/>
          <a:ext cx="15009542" cy="7404966"/>
        </p:xfrm>
        <a:graphic>
          <a:graphicData uri="http://schemas.openxmlformats.org/drawingml/2006/table">
            <a:tbl>
              <a:tblPr/>
              <a:tblGrid>
                <a:gridCol w="1551095">
                  <a:extLst>
                    <a:ext uri="{9D8B030D-6E8A-4147-A177-3AD203B41FA5}">
                      <a16:colId xmlns:a16="http://schemas.microsoft.com/office/drawing/2014/main" val="3532981784"/>
                    </a:ext>
                  </a:extLst>
                </a:gridCol>
                <a:gridCol w="1996583">
                  <a:extLst>
                    <a:ext uri="{9D8B030D-6E8A-4147-A177-3AD203B41FA5}">
                      <a16:colId xmlns:a16="http://schemas.microsoft.com/office/drawing/2014/main" val="573235696"/>
                    </a:ext>
                  </a:extLst>
                </a:gridCol>
                <a:gridCol w="1331055">
                  <a:extLst>
                    <a:ext uri="{9D8B030D-6E8A-4147-A177-3AD203B41FA5}">
                      <a16:colId xmlns:a16="http://schemas.microsoft.com/office/drawing/2014/main" val="400175957"/>
                    </a:ext>
                  </a:extLst>
                </a:gridCol>
                <a:gridCol w="1996583">
                  <a:extLst>
                    <a:ext uri="{9D8B030D-6E8A-4147-A177-3AD203B41FA5}">
                      <a16:colId xmlns:a16="http://schemas.microsoft.com/office/drawing/2014/main" val="1946398303"/>
                    </a:ext>
                  </a:extLst>
                </a:gridCol>
                <a:gridCol w="1331055">
                  <a:extLst>
                    <a:ext uri="{9D8B030D-6E8A-4147-A177-3AD203B41FA5}">
                      <a16:colId xmlns:a16="http://schemas.microsoft.com/office/drawing/2014/main" val="359856952"/>
                    </a:ext>
                  </a:extLst>
                </a:gridCol>
                <a:gridCol w="1552898">
                  <a:extLst>
                    <a:ext uri="{9D8B030D-6E8A-4147-A177-3AD203B41FA5}">
                      <a16:colId xmlns:a16="http://schemas.microsoft.com/office/drawing/2014/main" val="4171750332"/>
                    </a:ext>
                  </a:extLst>
                </a:gridCol>
                <a:gridCol w="2588163">
                  <a:extLst>
                    <a:ext uri="{9D8B030D-6E8A-4147-A177-3AD203B41FA5}">
                      <a16:colId xmlns:a16="http://schemas.microsoft.com/office/drawing/2014/main" val="4053228894"/>
                    </a:ext>
                  </a:extLst>
                </a:gridCol>
                <a:gridCol w="2662110">
                  <a:extLst>
                    <a:ext uri="{9D8B030D-6E8A-4147-A177-3AD203B41FA5}">
                      <a16:colId xmlns:a16="http://schemas.microsoft.com/office/drawing/2014/main" val="3759715175"/>
                    </a:ext>
                  </a:extLst>
                </a:gridCol>
              </a:tblGrid>
              <a:tr h="108309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en-US" sz="1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Tissue</a:t>
                      </a:r>
                      <a:endParaRPr lang="en-US" sz="1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Cell Types</a:t>
                      </a:r>
                      <a:endParaRPr lang="en-US" sz="1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Cells (filtered and downsampled)</a:t>
                      </a:r>
                      <a:endParaRPr lang="en-US" sz="1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Gene Set</a:t>
                      </a:r>
                      <a:endParaRPr lang="en-US" sz="1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Genes</a:t>
                      </a:r>
                      <a:endParaRPr lang="en-US" sz="1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Positive Genes (% of Set)</a:t>
                      </a:r>
                      <a:endParaRPr lang="en-US" sz="1400" i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Number of Genes Passing Threshold/Cell Type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810784"/>
                  </a:ext>
                </a:extLst>
              </a:tr>
              <a:tr h="351215">
                <a:tc rowSpan="10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Non-Neural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Bone Marrow</a:t>
                      </a:r>
                      <a:r>
                        <a:rPr lang="en-US" sz="2000" baseline="30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45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66.6k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Full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49,082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6,474 (13.19%)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622.11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740501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lncRNA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12,128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79 (0.65%)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7.26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034985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Breast</a:t>
                      </a:r>
                      <a:r>
                        <a:rPr lang="en-US" sz="2000" baseline="30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42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507.0k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Full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33,604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4,622 (13.75%)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425.64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28246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lncRNA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14,399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64 (0.44%)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5.11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705254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Kidney</a:t>
                      </a:r>
                      <a:r>
                        <a:rPr lang="en-US" sz="2000" baseline="30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75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107.7k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Full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33,140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5,249 (15.84%)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465.61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46981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lncRNA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11,509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203 (1.76%)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12.81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59322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Liver</a:t>
                      </a:r>
                      <a:r>
                        <a:rPr lang="en-US" sz="2000" baseline="30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259.6k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Full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35,659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3,073 (8.62%)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295.41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372586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lncRNA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11,560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41 (0.35%)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3.17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368761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Lung</a:t>
                      </a:r>
                      <a:r>
                        <a:rPr lang="en-US" sz="2000" baseline="30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61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491.2k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Full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27,402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5,288 (19.30%)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461.93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999558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lncRNA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8,744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83 (0.95%)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4.78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731477"/>
                  </a:ext>
                </a:extLst>
              </a:tr>
              <a:tr h="351215">
                <a:tc rowSpan="8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Neural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Motor Cortex</a:t>
                      </a:r>
                      <a:r>
                        <a:rPr lang="en-US" sz="2000" baseline="30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127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76.5k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Full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30,751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8,723 (28.37%)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651.53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426631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lncRNA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2,032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262 (12.89%)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22.03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057929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Middle Temporal Gyrus</a:t>
                      </a:r>
                      <a:r>
                        <a:rPr lang="en-US" sz="2000" baseline="30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75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15.6k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Full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30,751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11,529 (37.49%)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750.94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056367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lncRNA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2,032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386 (19.00%)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32.65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55691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Retina</a:t>
                      </a:r>
                      <a:r>
                        <a:rPr lang="en-US" sz="2000" baseline="30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509.0k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Full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35,475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6,925 (19.52%)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590.61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504779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lncRNA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15,491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703 (4.54%)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56.54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876844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Spinal Cord</a:t>
                      </a:r>
                      <a:r>
                        <a:rPr lang="en-US" sz="2000" baseline="30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28.6k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Full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35,467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8,425 (23.75%)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515.18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4378"/>
                  </a:ext>
                </a:extLst>
              </a:tr>
              <a:tr h="3512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lncRNA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15,488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703 (4.54%)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61.62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944069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F610EA1D-4399-0E4C-C6A3-4B671A47C40D}"/>
              </a:ext>
            </a:extLst>
          </p:cNvPr>
          <p:cNvSpPr txBox="1"/>
          <p:nvPr/>
        </p:nvSpPr>
        <p:spPr>
          <a:xfrm>
            <a:off x="12037991" y="22539930"/>
            <a:ext cx="18953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3200" b="1" i="1" dirty="0">
                <a:latin typeface="Arial" panose="020B0604020202020204" pitchFamily="34" charset="0"/>
              </a:rPr>
              <a:t>Figure 2</a:t>
            </a:r>
            <a:r>
              <a:rPr lang="en-AU" altLang="en-US" sz="3200" b="1" dirty="0">
                <a:latin typeface="Arial" panose="020B0604020202020204" pitchFamily="34" charset="0"/>
              </a:rPr>
              <a:t>. NS-Forest performance metrics by gene set and neural </a:t>
            </a:r>
            <a:r>
              <a:rPr lang="en-AU" altLang="en-US" sz="3200" b="1" i="1" dirty="0">
                <a:latin typeface="Arial" panose="020B0604020202020204" pitchFamily="34" charset="0"/>
              </a:rPr>
              <a:t>versus</a:t>
            </a:r>
            <a:r>
              <a:rPr lang="en-AU" altLang="en-US" sz="3200" b="1" dirty="0">
                <a:latin typeface="Arial" panose="020B0604020202020204" pitchFamily="34" charset="0"/>
              </a:rPr>
              <a:t> non-neural.</a:t>
            </a:r>
            <a:endParaRPr lang="en-US" sz="3200" dirty="0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CA1039BC-40E8-575D-D636-D5BC9372A1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89464" y="23362946"/>
            <a:ext cx="16317800" cy="812986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73541CA-44B7-FC2C-6523-EDFEAFD1B722}"/>
              </a:ext>
            </a:extLst>
          </p:cNvPr>
          <p:cNvSpPr txBox="1"/>
          <p:nvPr/>
        </p:nvSpPr>
        <p:spPr>
          <a:xfrm>
            <a:off x="12041459" y="14648599"/>
            <a:ext cx="15009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3200" b="1" i="1" dirty="0">
                <a:latin typeface="Arial" panose="020B0604020202020204" pitchFamily="34" charset="0"/>
              </a:rPr>
              <a:t>Figure 1</a:t>
            </a:r>
            <a:r>
              <a:rPr lang="en-AU" altLang="en-US" sz="3200" b="1" dirty="0">
                <a:latin typeface="Arial" panose="020B0604020202020204" pitchFamily="34" charset="0"/>
              </a:rPr>
              <a:t>. Distribution of non-zero Binary Scores of a gene within a cell type.</a:t>
            </a:r>
            <a:endParaRPr lang="en-US" sz="3200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F1536112-A8D3-898B-18CA-7CB05A5798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5771"/>
          <a:stretch>
            <a:fillRect/>
          </a:stretch>
        </p:blipFill>
        <p:spPr>
          <a:xfrm>
            <a:off x="21488399" y="15471615"/>
            <a:ext cx="10453340" cy="701788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73793EB-8C26-A454-0FF1-5BE9DC6844CA}"/>
              </a:ext>
            </a:extLst>
          </p:cNvPr>
          <p:cNvSpPr txBox="1"/>
          <p:nvPr/>
        </p:nvSpPr>
        <p:spPr>
          <a:xfrm>
            <a:off x="27317700" y="6276807"/>
            <a:ext cx="4648201" cy="8600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14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altLang="en-US" sz="2500" b="1" dirty="0">
                <a:latin typeface="Arial" panose="020B0604020202020204" pitchFamily="34" charset="0"/>
              </a:rPr>
              <a:t>Neural tissues </a:t>
            </a:r>
            <a:r>
              <a:rPr lang="en-AU" altLang="en-US" sz="2500" dirty="0">
                <a:latin typeface="Arial" panose="020B0604020202020204" pitchFamily="34" charset="0"/>
              </a:rPr>
              <a:t>contain a </a:t>
            </a:r>
            <a:r>
              <a:rPr lang="en-AU" altLang="en-US" sz="2500" b="1" dirty="0">
                <a:latin typeface="Arial" panose="020B0604020202020204" pitchFamily="34" charset="0"/>
              </a:rPr>
              <a:t>larger proportion of positive lncRNAs</a:t>
            </a:r>
            <a:r>
              <a:rPr lang="en-AU" altLang="en-US" sz="2500" dirty="0">
                <a:latin typeface="Arial" panose="020B0604020202020204" pitchFamily="34" charset="0"/>
              </a:rPr>
              <a:t>,</a:t>
            </a:r>
            <a:r>
              <a:rPr lang="en-AU" altLang="en-US" sz="2500" b="1" dirty="0">
                <a:latin typeface="Arial" panose="020B0604020202020204" pitchFamily="34" charset="0"/>
              </a:rPr>
              <a:t> </a:t>
            </a:r>
            <a:r>
              <a:rPr lang="en-AU" altLang="en-US" sz="2500" dirty="0">
                <a:latin typeface="Arial" panose="020B0604020202020204" pitchFamily="34" charset="0"/>
              </a:rPr>
              <a:t>increasing the </a:t>
            </a:r>
            <a:r>
              <a:rPr lang="en-AU" altLang="en-US" sz="2500" b="1" dirty="0">
                <a:latin typeface="Arial" panose="020B0604020202020204" pitchFamily="34" charset="0"/>
              </a:rPr>
              <a:t>contribution of lncRNAs </a:t>
            </a:r>
            <a:r>
              <a:rPr lang="en-AU" altLang="en-US" sz="2500" dirty="0">
                <a:latin typeface="Arial" panose="020B0604020202020204" pitchFamily="34" charset="0"/>
              </a:rPr>
              <a:t>to candidate neural biomarkers pools and indicating </a:t>
            </a:r>
            <a:r>
              <a:rPr lang="en-AU" altLang="en-US" sz="2500" b="1" dirty="0">
                <a:latin typeface="Arial" panose="020B0604020202020204" pitchFamily="34" charset="0"/>
              </a:rPr>
              <a:t>comparably higher lncRNA expression </a:t>
            </a:r>
            <a:r>
              <a:rPr lang="en-AU" altLang="en-US" sz="2500" dirty="0">
                <a:latin typeface="Arial" panose="020B0604020202020204" pitchFamily="34" charset="0"/>
              </a:rPr>
              <a:t>in neural cell types.</a:t>
            </a:r>
          </a:p>
          <a:p>
            <a:pPr marL="457200" indent="-457200">
              <a:lnSpc>
                <a:spcPts val="414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altLang="en-US" sz="2500" b="1" dirty="0">
                <a:latin typeface="Arial" panose="020B0604020202020204" pitchFamily="34" charset="0"/>
              </a:rPr>
              <a:t>Neural tissues </a:t>
            </a:r>
            <a:r>
              <a:rPr lang="en-AU" altLang="en-US" sz="2500" dirty="0">
                <a:latin typeface="Arial" panose="020B0604020202020204" pitchFamily="34" charset="0"/>
              </a:rPr>
              <a:t>retain a </a:t>
            </a:r>
            <a:r>
              <a:rPr lang="en-AU" altLang="en-US" sz="2500" b="1" dirty="0">
                <a:latin typeface="Arial" panose="020B0604020202020204" pitchFamily="34" charset="0"/>
              </a:rPr>
              <a:t>larger</a:t>
            </a:r>
            <a:r>
              <a:rPr lang="en-AU" altLang="en-US" sz="2500" dirty="0">
                <a:latin typeface="Arial" panose="020B0604020202020204" pitchFamily="34" charset="0"/>
              </a:rPr>
              <a:t> average of     </a:t>
            </a:r>
            <a:r>
              <a:rPr lang="en-AU" altLang="en-US" sz="2500" b="1" dirty="0">
                <a:latin typeface="Arial" panose="020B0604020202020204" pitchFamily="34" charset="0"/>
              </a:rPr>
              <a:t>candidate</a:t>
            </a:r>
            <a:r>
              <a:rPr lang="en-AU" altLang="en-US" sz="2500" dirty="0">
                <a:latin typeface="Arial" panose="020B0604020202020204" pitchFamily="34" charset="0"/>
              </a:rPr>
              <a:t> </a:t>
            </a:r>
            <a:r>
              <a:rPr lang="en-AU" altLang="en-US" sz="2500" b="1" dirty="0">
                <a:latin typeface="Arial" panose="020B0604020202020204" pitchFamily="34" charset="0"/>
              </a:rPr>
              <a:t>lncRNA biomarkers </a:t>
            </a:r>
            <a:r>
              <a:rPr lang="en-AU" altLang="en-US" sz="2500" dirty="0">
                <a:latin typeface="Arial" panose="020B0604020202020204" pitchFamily="34" charset="0"/>
              </a:rPr>
              <a:t>per cell type, reflecting </a:t>
            </a:r>
            <a:r>
              <a:rPr lang="en-AU" altLang="en-US" sz="2500" b="1" dirty="0">
                <a:latin typeface="Arial" panose="020B0604020202020204" pitchFamily="34" charset="0"/>
              </a:rPr>
              <a:t>greater diversity</a:t>
            </a:r>
            <a:r>
              <a:rPr lang="en-AU" altLang="en-US" sz="2500" dirty="0">
                <a:latin typeface="Arial" panose="020B0604020202020204" pitchFamily="34" charset="0"/>
              </a:rPr>
              <a:t> in cell type-specific </a:t>
            </a:r>
            <a:r>
              <a:rPr lang="en-AU" altLang="en-US" sz="2500" b="1" dirty="0">
                <a:latin typeface="Arial" panose="020B0604020202020204" pitchFamily="34" charset="0"/>
              </a:rPr>
              <a:t>lncRNA expression</a:t>
            </a:r>
            <a:r>
              <a:rPr lang="en-AU" altLang="en-US" sz="2500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F1C5BE-9FB6-E1FD-172F-8DA9CC0A67E8}"/>
              </a:ext>
            </a:extLst>
          </p:cNvPr>
          <p:cNvSpPr txBox="1"/>
          <p:nvPr/>
        </p:nvSpPr>
        <p:spPr>
          <a:xfrm>
            <a:off x="12051436" y="16106821"/>
            <a:ext cx="9146101" cy="5445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14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altLang="en-US" sz="2500" dirty="0">
                <a:latin typeface="Arial" panose="020B0604020202020204" pitchFamily="34" charset="0"/>
              </a:rPr>
              <a:t>There is </a:t>
            </a:r>
            <a:r>
              <a:rPr lang="en-AU" altLang="en-US" sz="2500" b="1" dirty="0">
                <a:latin typeface="Arial" panose="020B0604020202020204" pitchFamily="34" charset="0"/>
              </a:rPr>
              <a:t>some separation in distribution for the neural cells </a:t>
            </a:r>
            <a:r>
              <a:rPr lang="en-AU" altLang="en-US" sz="2500" dirty="0">
                <a:latin typeface="Arial" panose="020B0604020202020204" pitchFamily="34" charset="0"/>
              </a:rPr>
              <a:t>(δ = 0.228; lncRNA has higher Binary Scores) and </a:t>
            </a:r>
            <a:r>
              <a:rPr lang="en-AU" altLang="en-US" sz="2500" b="1" dirty="0">
                <a:latin typeface="Arial" panose="020B0604020202020204" pitchFamily="34" charset="0"/>
              </a:rPr>
              <a:t>negligible separation </a:t>
            </a:r>
            <a:r>
              <a:rPr lang="en-AU" altLang="en-US" sz="2500" dirty="0">
                <a:latin typeface="Arial" panose="020B0604020202020204" pitchFamily="34" charset="0"/>
              </a:rPr>
              <a:t>for the </a:t>
            </a:r>
            <a:r>
              <a:rPr lang="en-AU" altLang="en-US" sz="2500" b="1" dirty="0">
                <a:latin typeface="Arial" panose="020B0604020202020204" pitchFamily="34" charset="0"/>
              </a:rPr>
              <a:t>non-neural</a:t>
            </a:r>
            <a:r>
              <a:rPr lang="en-AU" altLang="en-US" sz="2500" dirty="0">
                <a:latin typeface="Arial" panose="020B0604020202020204" pitchFamily="34" charset="0"/>
              </a:rPr>
              <a:t> cells (δ = -0.032; full transcriptome has higher Binary Scores).</a:t>
            </a:r>
          </a:p>
          <a:p>
            <a:pPr marL="457200" indent="-457200">
              <a:lnSpc>
                <a:spcPts val="414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altLang="en-US" sz="2500" dirty="0">
                <a:latin typeface="Arial" panose="020B0604020202020204" pitchFamily="34" charset="0"/>
              </a:rPr>
              <a:t>In </a:t>
            </a:r>
            <a:r>
              <a:rPr lang="en-AU" altLang="en-US" sz="2500" b="1" dirty="0">
                <a:latin typeface="Arial" panose="020B0604020202020204" pitchFamily="34" charset="0"/>
              </a:rPr>
              <a:t>neural tissues</a:t>
            </a:r>
            <a:r>
              <a:rPr lang="en-AU" altLang="en-US" sz="2500" dirty="0">
                <a:latin typeface="Arial" panose="020B0604020202020204" pitchFamily="34" charset="0"/>
              </a:rPr>
              <a:t>, lncRNAs show a </a:t>
            </a:r>
            <a:r>
              <a:rPr lang="en-AU" altLang="en-US" sz="2500" b="1" dirty="0">
                <a:latin typeface="Arial" panose="020B0604020202020204" pitchFamily="34" charset="0"/>
              </a:rPr>
              <a:t>greater proportion of high Binary Scores </a:t>
            </a:r>
            <a:r>
              <a:rPr lang="en-AU" altLang="en-US" sz="2500" dirty="0">
                <a:latin typeface="Arial" panose="020B0604020202020204" pitchFamily="34" charset="0"/>
              </a:rPr>
              <a:t>compared with the full transcriptome, consistent with </a:t>
            </a:r>
            <a:r>
              <a:rPr lang="en-AU" altLang="en-US" sz="2500" b="1" dirty="0">
                <a:latin typeface="Arial" panose="020B0604020202020204" pitchFamily="34" charset="0"/>
              </a:rPr>
              <a:t>greater cell type-specific expression</a:t>
            </a:r>
            <a:r>
              <a:rPr lang="en-AU" altLang="en-US" sz="2500" dirty="0">
                <a:latin typeface="Arial" panose="020B0604020202020204" pitchFamily="34" charset="0"/>
              </a:rPr>
              <a:t>. </a:t>
            </a:r>
          </a:p>
          <a:p>
            <a:pPr marL="457200" indent="-457200">
              <a:lnSpc>
                <a:spcPts val="414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altLang="en-US" sz="2500" dirty="0">
                <a:latin typeface="Arial" panose="020B0604020202020204" pitchFamily="34" charset="0"/>
              </a:rPr>
              <a:t>In </a:t>
            </a:r>
            <a:r>
              <a:rPr lang="en-AU" altLang="en-US" sz="2500" b="1" dirty="0">
                <a:latin typeface="Arial" panose="020B0604020202020204" pitchFamily="34" charset="0"/>
              </a:rPr>
              <a:t>non-neural tissues</a:t>
            </a:r>
            <a:r>
              <a:rPr lang="en-AU" altLang="en-US" sz="2500" dirty="0">
                <a:latin typeface="Arial" panose="020B0604020202020204" pitchFamily="34" charset="0"/>
              </a:rPr>
              <a:t>, Binary Score distributions are </a:t>
            </a:r>
            <a:r>
              <a:rPr lang="en-AU" altLang="en-US" sz="2500" b="1" dirty="0">
                <a:latin typeface="Arial" panose="020B0604020202020204" pitchFamily="34" charset="0"/>
              </a:rPr>
              <a:t>broadly comparable</a:t>
            </a:r>
            <a:r>
              <a:rPr lang="en-AU" altLang="en-US" sz="2500" dirty="0">
                <a:latin typeface="Arial" panose="020B0604020202020204" pitchFamily="34" charset="0"/>
              </a:rPr>
              <a:t> between gene sets, suggesting that the two are </a:t>
            </a:r>
            <a:r>
              <a:rPr lang="en-AU" altLang="en-US" sz="2500" b="1" dirty="0">
                <a:latin typeface="Arial" panose="020B0604020202020204" pitchFamily="34" charset="0"/>
              </a:rPr>
              <a:t>similarly specific</a:t>
            </a:r>
            <a:r>
              <a:rPr lang="en-AU" altLang="en-US" sz="2500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C05AE6-52DC-065F-FCB6-DFA248FB44A1}"/>
              </a:ext>
            </a:extLst>
          </p:cNvPr>
          <p:cNvSpPr txBox="1"/>
          <p:nvPr/>
        </p:nvSpPr>
        <p:spPr>
          <a:xfrm>
            <a:off x="12026100" y="23362946"/>
            <a:ext cx="3838027" cy="799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14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altLang="en-US" sz="2500" b="1" dirty="0">
                <a:latin typeface="Arial" panose="020B0604020202020204" pitchFamily="34" charset="0"/>
              </a:rPr>
              <a:t>Restricting</a:t>
            </a:r>
            <a:r>
              <a:rPr lang="en-AU" altLang="en-US" sz="2500" dirty="0">
                <a:latin typeface="Arial" panose="020B0604020202020204" pitchFamily="34" charset="0"/>
              </a:rPr>
              <a:t> the gene set to lncRNAs  </a:t>
            </a:r>
            <a:r>
              <a:rPr lang="en-AU" altLang="en-US" sz="2500" b="1" dirty="0">
                <a:latin typeface="Arial" panose="020B0604020202020204" pitchFamily="34" charset="0"/>
              </a:rPr>
              <a:t>overall</a:t>
            </a:r>
            <a:r>
              <a:rPr lang="en-AU" altLang="en-US" sz="2500" dirty="0">
                <a:latin typeface="Arial" panose="020B0604020202020204" pitchFamily="34" charset="0"/>
              </a:rPr>
              <a:t> </a:t>
            </a:r>
            <a:r>
              <a:rPr lang="en-AU" altLang="en-US" sz="2500" b="1" dirty="0">
                <a:latin typeface="Arial" panose="020B0604020202020204" pitchFamily="34" charset="0"/>
              </a:rPr>
              <a:t>reduces precision</a:t>
            </a:r>
            <a:r>
              <a:rPr lang="en-AU" altLang="en-US" sz="2500" dirty="0">
                <a:latin typeface="Arial" panose="020B0604020202020204" pitchFamily="34" charset="0"/>
              </a:rPr>
              <a:t> indicating a </a:t>
            </a:r>
            <a:r>
              <a:rPr lang="en-AU" altLang="en-US" sz="2500" b="1" dirty="0">
                <a:latin typeface="Arial" panose="020B0604020202020204" pitchFamily="34" charset="0"/>
              </a:rPr>
              <a:t>loss of information </a:t>
            </a:r>
            <a:r>
              <a:rPr lang="en-AU" altLang="en-US" sz="2500" dirty="0">
                <a:latin typeface="Arial" panose="020B0604020202020204" pitchFamily="34" charset="0"/>
              </a:rPr>
              <a:t>when removing protein-coding genes.</a:t>
            </a:r>
          </a:p>
          <a:p>
            <a:pPr marL="457200" indent="-457200">
              <a:lnSpc>
                <a:spcPts val="414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altLang="en-US" sz="2500" b="1" dirty="0">
                <a:latin typeface="Arial" panose="020B0604020202020204" pitchFamily="34" charset="0"/>
              </a:rPr>
              <a:t>Better precision preservation </a:t>
            </a:r>
            <a:r>
              <a:rPr lang="en-AU" altLang="en-US" sz="2500" dirty="0">
                <a:latin typeface="Arial" panose="020B0604020202020204" pitchFamily="34" charset="0"/>
              </a:rPr>
              <a:t>in </a:t>
            </a:r>
            <a:r>
              <a:rPr lang="en-AU" altLang="en-US" sz="2500" b="1" dirty="0">
                <a:latin typeface="Arial" panose="020B0604020202020204" pitchFamily="34" charset="0"/>
              </a:rPr>
              <a:t>neural tissues</a:t>
            </a:r>
            <a:r>
              <a:rPr lang="en-AU" altLang="en-US" sz="2500" dirty="0">
                <a:latin typeface="Arial" panose="020B0604020202020204" pitchFamily="34" charset="0"/>
              </a:rPr>
              <a:t> indicates a greater retention of </a:t>
            </a:r>
            <a:r>
              <a:rPr lang="en-AU" altLang="en-US" sz="2500" b="1" dirty="0">
                <a:latin typeface="Arial" panose="020B0604020202020204" pitchFamily="34" charset="0"/>
              </a:rPr>
              <a:t>discriminatory information </a:t>
            </a:r>
            <a:r>
              <a:rPr lang="en-AU" altLang="en-US" sz="2500" dirty="0">
                <a:latin typeface="Arial" panose="020B0604020202020204" pitchFamily="34" charset="0"/>
              </a:rPr>
              <a:t>in the lncRNA gene set.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5864FE-5581-C53C-BB7A-BEC07FE9ABF3}"/>
                  </a:ext>
                </a:extLst>
              </p:cNvPr>
              <p:cNvSpPr txBox="1"/>
              <p:nvPr/>
            </p:nvSpPr>
            <p:spPr>
              <a:xfrm>
                <a:off x="18245540" y="23324710"/>
                <a:ext cx="1009828" cy="5813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5864FE-5581-C53C-BB7A-BEC07FE9A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5540" y="23324710"/>
                <a:ext cx="1009828" cy="581378"/>
              </a:xfrm>
              <a:prstGeom prst="rect">
                <a:avLst/>
              </a:prstGeom>
              <a:blipFill>
                <a:blip r:embed="rId7"/>
                <a:stretch>
                  <a:fillRect l="-4938" r="-493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A268701-880A-111D-D633-412AAD563329}"/>
                  </a:ext>
                </a:extLst>
              </p:cNvPr>
              <p:cNvSpPr txBox="1"/>
              <p:nvPr/>
            </p:nvSpPr>
            <p:spPr>
              <a:xfrm>
                <a:off x="24871334" y="23324710"/>
                <a:ext cx="1038682" cy="5813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A268701-880A-111D-D633-412AAD563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1334" y="23324710"/>
                <a:ext cx="1038682" cy="581378"/>
              </a:xfrm>
              <a:prstGeom prst="rect">
                <a:avLst/>
              </a:prstGeom>
              <a:blipFill>
                <a:blip r:embed="rId8"/>
                <a:stretch>
                  <a:fillRect l="-4819" r="-3614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95E15D99-22D6-285E-3CFC-D21D4E04BC1A}"/>
              </a:ext>
            </a:extLst>
          </p:cNvPr>
          <p:cNvSpPr txBox="1">
            <a:spLocks/>
          </p:cNvSpPr>
          <p:nvPr/>
        </p:nvSpPr>
        <p:spPr>
          <a:xfrm>
            <a:off x="33284993" y="24841199"/>
            <a:ext cx="9234607" cy="6842443"/>
          </a:xfrm>
          <a:prstGeom prst="rect">
            <a:avLst/>
          </a:prstGeom>
        </p:spPr>
        <p:txBody>
          <a:bodyPr numCol="2" spcCol="457200">
            <a:noAutofit/>
          </a:bodyPr>
          <a:lstStyle>
            <a:lvl1pPr marL="1600160" indent="-1600160" algn="l" defTabSz="4267094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67013" indent="-1333467" algn="l" defTabSz="4267094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67" indent="-1066773" algn="l" defTabSz="4267094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67413" indent="-1066773" algn="l" defTabSz="4267094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9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600960" indent="-1066773" algn="l" defTabSz="4267094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9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91437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8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indent="-457200">
              <a:lnSpc>
                <a:spcPts val="192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Poloni J de F, Oliveira FHS de, Feltes BC. Localization is the key to action: regulatory peculiarities of lncRNAs.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Front Genet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2024;15.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https://doi.org/10.3389/fgene.2024.1478352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82880" indent="-457200">
              <a:lnSpc>
                <a:spcPts val="192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Chen LL, Kim VN. Small and long non-coding RNAs: Past, present, and future.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Cell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2024;187(23):6451–85.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https://doi.org/10.1016/j.cell.2024.10.024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82880" indent="-457200">
              <a:lnSpc>
                <a:spcPts val="192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Liu A, Peng B, Pankajam AV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et al.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Discovery of optimal cell type classification marker genes from single cell RNA sequencing data.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BMC Methods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2024;1:15.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https://doi.org/10.1186/s44330-024-00015-2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82880" indent="-457200">
              <a:lnSpc>
                <a:spcPts val="192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1400" dirty="0">
                <a:effectLst/>
              </a:rPr>
              <a:t>Xu C, Prete M, Webb S </a:t>
            </a:r>
            <a:r>
              <a:rPr lang="en-US" sz="1400" i="1" dirty="0">
                <a:effectLst/>
              </a:rPr>
              <a:t>et al.</a:t>
            </a:r>
            <a:r>
              <a:rPr lang="en-US" sz="1400" dirty="0">
                <a:effectLst/>
              </a:rPr>
              <a:t> Automatic cell-type harmonization and integration across Human Cell Atlas datasets. </a:t>
            </a:r>
            <a:r>
              <a:rPr lang="en-US" sz="1400" i="1" dirty="0">
                <a:effectLst/>
              </a:rPr>
              <a:t>Cell</a:t>
            </a:r>
            <a:r>
              <a:rPr lang="en-US" sz="1400" dirty="0">
                <a:effectLst/>
              </a:rPr>
              <a:t> 2023;186(26):5876-5891.e20. </a:t>
            </a:r>
            <a:r>
              <a:rPr lang="en-US" sz="1400" dirty="0">
                <a:effectLst/>
                <a:hlinkClick r:id="rId12"/>
              </a:rPr>
              <a:t>https://doi.org/10.1016/j.cell.2023.11.026</a:t>
            </a:r>
            <a:r>
              <a:rPr lang="en-US" sz="1400" dirty="0">
                <a:effectLst/>
              </a:rPr>
              <a:t>.</a:t>
            </a:r>
          </a:p>
          <a:p>
            <a:pPr marL="182880" indent="-457200">
              <a:lnSpc>
                <a:spcPts val="1920"/>
              </a:lnSpc>
              <a:spcAft>
                <a:spcPts val="1000"/>
              </a:spcAft>
              <a:buNone/>
            </a:pP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</a:rPr>
              <a:t>Reed AD, Pensa S, Steif A </a:t>
            </a:r>
            <a:r>
              <a:rPr lang="en-US" sz="1400" i="1" dirty="0">
                <a:effectLst/>
              </a:rPr>
              <a:t>et al.</a:t>
            </a:r>
            <a:r>
              <a:rPr lang="en-US" sz="1400" dirty="0">
                <a:effectLst/>
              </a:rPr>
              <a:t> A single-cell atlas enables mapping of homeostatic cellular shifts in the adult human breast. </a:t>
            </a:r>
            <a:r>
              <a:rPr lang="en-US" sz="1400" i="1" dirty="0">
                <a:effectLst/>
              </a:rPr>
              <a:t>Nat Genet</a:t>
            </a:r>
            <a:r>
              <a:rPr lang="en-US" sz="1400" dirty="0">
                <a:effectLst/>
              </a:rPr>
              <a:t> 2024;56(4):652–62. </a:t>
            </a:r>
            <a:r>
              <a:rPr lang="en-US" sz="1400" dirty="0">
                <a:effectLst/>
                <a:hlinkClick r:id="rId13"/>
              </a:rPr>
              <a:t>https://doi.org/10.1038/s41588-024-01688-9</a:t>
            </a:r>
            <a:r>
              <a:rPr lang="en-US" sz="1400" dirty="0">
                <a:effectLst/>
              </a:rPr>
              <a:t>.</a:t>
            </a:r>
            <a:endParaRPr lang="en-US" sz="1400" dirty="0"/>
          </a:p>
          <a:p>
            <a:pPr marL="182880" indent="-457200">
              <a:lnSpc>
                <a:spcPts val="1920"/>
              </a:lnSpc>
              <a:spcAft>
                <a:spcPts val="1000"/>
              </a:spcAft>
              <a:buNone/>
            </a:pP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n-US" sz="1400" dirty="0">
                <a:effectLst/>
              </a:rPr>
              <a:t>Lake BB, Menon R, Winfree S </a:t>
            </a:r>
            <a:r>
              <a:rPr lang="en-US" sz="1400" i="1" dirty="0">
                <a:effectLst/>
              </a:rPr>
              <a:t>et al.</a:t>
            </a:r>
            <a:r>
              <a:rPr lang="en-US" sz="1400" dirty="0">
                <a:effectLst/>
              </a:rPr>
              <a:t> An atlas of healthy and injured cell states and niches in the human kidney. </a:t>
            </a:r>
            <a:r>
              <a:rPr lang="en-US" sz="1400" i="1" dirty="0">
                <a:effectLst/>
              </a:rPr>
              <a:t>Nature</a:t>
            </a:r>
            <a:r>
              <a:rPr lang="en-US" sz="1400" dirty="0">
                <a:effectLst/>
              </a:rPr>
              <a:t> 2023;619(7970):585–94. </a:t>
            </a:r>
            <a:r>
              <a:rPr lang="en-US" sz="1400" dirty="0">
                <a:effectLst/>
                <a:hlinkClick r:id="rId14"/>
              </a:rPr>
              <a:t>https://doi.org/10.1038/s41586-023-05769-3</a:t>
            </a:r>
            <a:r>
              <a:rPr lang="en-US" sz="1400" dirty="0">
                <a:effectLst/>
              </a:rPr>
              <a:t>.</a:t>
            </a:r>
            <a:endParaRPr lang="en-US" sz="14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 indent="-457200">
              <a:lnSpc>
                <a:spcPts val="1920"/>
              </a:lnSpc>
              <a:spcAft>
                <a:spcPts val="1000"/>
              </a:spcAft>
              <a:buNone/>
            </a:pP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en-US" sz="1400" dirty="0">
                <a:effectLst/>
              </a:rPr>
              <a:t>Sikkema L, Ramírez-</a:t>
            </a:r>
            <a:r>
              <a:rPr lang="en-US" sz="1400" dirty="0" err="1">
                <a:effectLst/>
              </a:rPr>
              <a:t>Suástegui</a:t>
            </a:r>
            <a:r>
              <a:rPr lang="en-US" sz="1400" dirty="0">
                <a:effectLst/>
              </a:rPr>
              <a:t> C, Strobl DC </a:t>
            </a:r>
            <a:r>
              <a:rPr lang="en-US" sz="1400" i="1" dirty="0">
                <a:effectLst/>
              </a:rPr>
              <a:t>et al.</a:t>
            </a:r>
            <a:r>
              <a:rPr lang="en-US" sz="1400" dirty="0">
                <a:effectLst/>
              </a:rPr>
              <a:t> An integrated cell atlas of the lung in health and disease. </a:t>
            </a:r>
            <a:r>
              <a:rPr lang="en-US" sz="1400" i="1" dirty="0">
                <a:effectLst/>
              </a:rPr>
              <a:t>Nat Med</a:t>
            </a:r>
            <a:r>
              <a:rPr lang="en-US" sz="1400" dirty="0">
                <a:effectLst/>
              </a:rPr>
              <a:t> 2023;29(6):1563–77. </a:t>
            </a:r>
            <a:r>
              <a:rPr lang="en-US" sz="1400" dirty="0">
                <a:effectLst/>
                <a:hlinkClick r:id="rId15"/>
              </a:rPr>
              <a:t>https://doi.org/10.1038/s41591-023-02327-2</a:t>
            </a:r>
            <a:r>
              <a:rPr lang="en-US" sz="1400" dirty="0">
                <a:effectLst/>
              </a:rPr>
              <a:t>.</a:t>
            </a:r>
            <a:endParaRPr lang="en-US" sz="14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 indent="-457200">
              <a:lnSpc>
                <a:spcPts val="1920"/>
              </a:lnSpc>
              <a:spcAft>
                <a:spcPts val="1000"/>
              </a:spcAft>
              <a:buNone/>
            </a:pP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8 </a:t>
            </a:r>
            <a:r>
              <a:rPr lang="en-US" sz="1400" dirty="0">
                <a:effectLst/>
              </a:rPr>
              <a:t>Callaway EM, Dong HW, Ecker JR </a:t>
            </a:r>
            <a:r>
              <a:rPr lang="en-US" sz="1400" i="1" dirty="0">
                <a:effectLst/>
              </a:rPr>
              <a:t>et al.</a:t>
            </a:r>
            <a:r>
              <a:rPr lang="en-US" sz="1400" dirty="0">
                <a:effectLst/>
              </a:rPr>
              <a:t> A multimodal cell census and atlas of the mammalian primary motor cortex. </a:t>
            </a:r>
            <a:r>
              <a:rPr lang="en-US" sz="1400" i="1" dirty="0">
                <a:effectLst/>
              </a:rPr>
              <a:t>Nature</a:t>
            </a:r>
            <a:r>
              <a:rPr lang="en-US" sz="1400" dirty="0">
                <a:effectLst/>
              </a:rPr>
              <a:t> 2021;598(7879):86–102. </a:t>
            </a:r>
            <a:r>
              <a:rPr lang="en-US" sz="1400" dirty="0">
                <a:effectLst/>
                <a:hlinkClick r:id="rId16"/>
              </a:rPr>
              <a:t>https://doi.org/10.1038/s41586-021-03950-0</a:t>
            </a:r>
            <a:r>
              <a:rPr lang="en-US" sz="1400" dirty="0">
                <a:effectLst/>
              </a:rPr>
              <a:t>.</a:t>
            </a:r>
            <a:endParaRPr lang="en-US" sz="14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 indent="-457200">
              <a:lnSpc>
                <a:spcPts val="1920"/>
              </a:lnSpc>
              <a:spcAft>
                <a:spcPts val="1000"/>
              </a:spcAft>
              <a:buNone/>
            </a:pP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</a:rPr>
              <a:t>Hodge RD, Bakken TE, Miller JA </a:t>
            </a:r>
            <a:r>
              <a:rPr lang="en-US" sz="1400" i="1" dirty="0">
                <a:effectLst/>
              </a:rPr>
              <a:t>et al.</a:t>
            </a:r>
            <a:r>
              <a:rPr lang="en-US" sz="1400" dirty="0">
                <a:effectLst/>
              </a:rPr>
              <a:t> Conserved cell types with divergent features in human versus mouse cortex. </a:t>
            </a:r>
            <a:r>
              <a:rPr lang="en-US" sz="1400" i="1" dirty="0">
                <a:effectLst/>
              </a:rPr>
              <a:t>Nature</a:t>
            </a:r>
            <a:r>
              <a:rPr lang="en-US" sz="1400" dirty="0">
                <a:effectLst/>
              </a:rPr>
              <a:t> 2019;573(7772):61–8. </a:t>
            </a:r>
            <a:r>
              <a:rPr lang="en-US" sz="1400" dirty="0">
                <a:effectLst/>
                <a:hlinkClick r:id="rId17"/>
              </a:rPr>
              <a:t>https://doi.org/10.1038/s41586-019-1506-7</a:t>
            </a:r>
            <a:r>
              <a:rPr lang="en-US" sz="1400" dirty="0">
                <a:effectLst/>
              </a:rPr>
              <a:t>.</a:t>
            </a:r>
          </a:p>
          <a:p>
            <a:pPr marL="182880" indent="-457200">
              <a:lnSpc>
                <a:spcPts val="1920"/>
              </a:lnSpc>
              <a:spcAft>
                <a:spcPts val="1000"/>
              </a:spcAft>
              <a:buNone/>
            </a:pP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</a:rPr>
              <a:t>Li J, Wang J, Ibarra IL </a:t>
            </a:r>
            <a:r>
              <a:rPr lang="en-US" sz="1400" i="1" dirty="0">
                <a:effectLst/>
              </a:rPr>
              <a:t>et al.</a:t>
            </a:r>
            <a:r>
              <a:rPr lang="en-US" sz="1400" dirty="0">
                <a:effectLst/>
              </a:rPr>
              <a:t> Single-cell atlas of the transcriptome and chromatin accessibility in the human retina. </a:t>
            </a:r>
            <a:r>
              <a:rPr lang="en-US" sz="1400" i="1" dirty="0">
                <a:effectLst/>
              </a:rPr>
              <a:t>Nat Genet</a:t>
            </a:r>
            <a:r>
              <a:rPr lang="en-US" sz="1400" dirty="0">
                <a:effectLst/>
              </a:rPr>
              <a:t> 2026;58(2):418–33. </a:t>
            </a:r>
            <a:r>
              <a:rPr lang="en-US" sz="1400" dirty="0">
                <a:effectLst/>
                <a:hlinkClick r:id="rId18"/>
              </a:rPr>
              <a:t>https://doi.org/10.1038/s41588-025-02454-1</a:t>
            </a:r>
            <a:r>
              <a:rPr lang="en-US" sz="1400" dirty="0">
                <a:effectLst/>
              </a:rPr>
              <a:t>.</a:t>
            </a:r>
            <a:endParaRPr lang="en-US" sz="14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 indent="-457200">
              <a:lnSpc>
                <a:spcPts val="1920"/>
              </a:lnSpc>
              <a:spcAft>
                <a:spcPts val="1000"/>
              </a:spcAft>
              <a:buNone/>
            </a:pP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11 </a:t>
            </a:r>
            <a:r>
              <a:rPr lang="en-US" sz="1400" dirty="0">
                <a:effectLst/>
              </a:rPr>
              <a:t>Takeuchi E, </a:t>
            </a:r>
            <a:r>
              <a:rPr lang="en-US" sz="1400" dirty="0" err="1">
                <a:effectLst/>
              </a:rPr>
              <a:t>Yasumizu</a:t>
            </a:r>
            <a:r>
              <a:rPr lang="en-US" sz="1400" dirty="0">
                <a:effectLst/>
              </a:rPr>
              <a:t> Y, Morita J </a:t>
            </a:r>
            <a:r>
              <a:rPr lang="en-US" sz="1400" i="1" dirty="0">
                <a:effectLst/>
              </a:rPr>
              <a:t>et al.</a:t>
            </a:r>
            <a:r>
              <a:rPr lang="en-US" sz="1400" dirty="0">
                <a:effectLst/>
              </a:rPr>
              <a:t> Single-nucleus </a:t>
            </a:r>
            <a:r>
              <a:rPr lang="en-US" sz="1400" dirty="0" err="1">
                <a:effectLst/>
              </a:rPr>
              <a:t>multiome</a:t>
            </a:r>
            <a:r>
              <a:rPr lang="en-US" sz="1400" dirty="0">
                <a:effectLst/>
              </a:rPr>
              <a:t> shows motor neuron glutamate overactivation in amyotrophic lateral sclerosis. </a:t>
            </a:r>
            <a:r>
              <a:rPr lang="en-US" sz="1400" i="1" dirty="0">
                <a:effectLst/>
              </a:rPr>
              <a:t>Brain</a:t>
            </a:r>
            <a:r>
              <a:rPr lang="en-US" sz="1400" dirty="0">
                <a:effectLst/>
              </a:rPr>
              <a:t> 2026;149(7):2480–94. </a:t>
            </a:r>
            <a:r>
              <a:rPr lang="en-US" sz="1400" dirty="0">
                <a:effectLst/>
                <a:hlinkClick r:id="rId19"/>
              </a:rPr>
              <a:t>https://doi.org/10.1093/brain/awaf426</a:t>
            </a:r>
            <a:r>
              <a:rPr lang="en-US" sz="1600" dirty="0">
                <a:effectLst/>
              </a:rPr>
              <a:t>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53B205-9B20-E829-E27B-968B90585E11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4961" t="26515" r="23470" b="15152"/>
          <a:stretch>
            <a:fillRect/>
          </a:stretch>
        </p:blipFill>
        <p:spPr>
          <a:xfrm>
            <a:off x="1373808" y="21748100"/>
            <a:ext cx="9325957" cy="983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16918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81A1D"/>
      </a:accent1>
      <a:accent2>
        <a:srgbClr val="9BDAF0"/>
      </a:accent2>
      <a:accent3>
        <a:srgbClr val="205392"/>
      </a:accent3>
      <a:accent4>
        <a:srgbClr val="F0F0F0"/>
      </a:accent4>
      <a:accent5>
        <a:srgbClr val="AEAFB5"/>
      </a:accent5>
      <a:accent6>
        <a:srgbClr val="E1F3F7"/>
      </a:accent6>
      <a:hlink>
        <a:srgbClr val="205392"/>
      </a:hlink>
      <a:folHlink>
        <a:srgbClr val="B2B2B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2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5" id="{3B6A4B8A-7F13-5D42-97FC-B8EC77574F5E}" vid="{ADA6E786-DBAE-E74F-94FA-7D561BA54AF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 Presentation</Template>
  <TotalTime>6519</TotalTime>
  <Words>1398</Words>
  <Application>Microsoft Macintosh PowerPoint</Application>
  <PresentationFormat>Custom</PresentationFormat>
  <Paragraphs>160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Cambria Math</vt:lpstr>
      <vt:lpstr>Times New Roman</vt:lpstr>
      <vt:lpstr>Blank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Becker, Sasha (NIH/NLM) [F]</dc:creator>
  <cp:lastModifiedBy>Becker, Sasha (NIH/NLM) [F]</cp:lastModifiedBy>
  <cp:revision>19</cp:revision>
  <cp:lastPrinted>2018-06-01T16:16:40Z</cp:lastPrinted>
  <dcterms:created xsi:type="dcterms:W3CDTF">2026-07-09T16:04:48Z</dcterms:created>
  <dcterms:modified xsi:type="dcterms:W3CDTF">2026-07-29T14:53:40Z</dcterms:modified>
</cp:coreProperties>
</file>